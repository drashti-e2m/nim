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224">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E788136-AE12-4A8D-8108-555795C820F7}">
  <a:tblStyle styleId="{1E788136-AE12-4A8D-8108-555795C820F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224"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17" Type="http://schemas.openxmlformats.org/officeDocument/2006/relationships/slide" Target="slides/slide111.xml"/><Relationship Id="rId116" Type="http://schemas.openxmlformats.org/officeDocument/2006/relationships/slide" Target="slides/slide110.xml"/><Relationship Id="rId115" Type="http://schemas.openxmlformats.org/officeDocument/2006/relationships/slide" Target="slides/slide109.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slide" Target="slides/slide108.xml"/><Relationship Id="rId18" Type="http://schemas.openxmlformats.org/officeDocument/2006/relationships/slide" Target="slides/slide12.xml"/><Relationship Id="rId113" Type="http://schemas.openxmlformats.org/officeDocument/2006/relationships/slide" Target="slides/slide107.xml"/><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1434eda91d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g1434eda91d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fddc564d5e_0_6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gfddc564d5e_0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1405d41e7ed_1_1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g1405d41e7ed_1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147d0867b72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g147d0867b72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153efc85b47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g153efc85b47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153efc85b47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g153efc85b47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53efc85b47_0_2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153efc85b47_0_2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153efc85b47_0_2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g153efc85b47_0_2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147d0867b72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147d0867b72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147d0867b72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g147d0867b72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53efc85b47_0_2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g153efc85b47_0_2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53efc85b47_0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8" name="Google Shape;208;g153efc85b47_0_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147d0867b72_0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g147d0867b72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147d0867b72_0_6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g147d0867b72_0_6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153ab46a580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g153ab46a580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1405d41e7ed_1_1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g1405d41e7ed_1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153ab46a580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g153ab46a580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47d0867b72_0_16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g147d0867b72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147d0867b72_0_6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g147d0867b72_0_6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153ab46a580_0_6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g153ab46a580_0_6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153ab46a580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g153ab46a580_0_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53ab46a580_0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g153ab46a580_0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53ab46a580_0_65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g153ab46a580_0_6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153ab46a580_0_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g153ab46a580_0_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53ab46a580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g153ab46a580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53efc85b47_0_2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g153efc85b47_0_2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5626759ce9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g15626759ce9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53ab46a580_0_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8" name="Google Shape;338;g153ab46a580_0_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53efc85b47_0_1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4" name="Google Shape;344;g153efc85b47_0_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153ab46a580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0" name="Google Shape;350;g153ab46a580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147d0867b72_0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147d0867b72_0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53efc85b47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153efc85b47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47d0867b72_0_6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8" name="Google Shape;378;g147d0867b72_0_6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147d0867b72_0_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g147d0867b72_0_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153ab46a580_0_58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153ab46a580_0_58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147d0867b72_0_58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6" name="Google Shape;396;g147d0867b72_0_5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47d0867b72_0_5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147d0867b72_0_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53efc85b47_0_3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5" name="Google Shape;425;g153efc85b47_0_3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147d0867b72_0_62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g147d0867b72_0_6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147d0867b72_0_6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4" name="Google Shape;444;g147d0867b72_0_6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153ab46a580_0_68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g153ab46a580_0_6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153ab46a580_0_68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g153ab46a580_0_6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53ab46a580_0_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9" name="Google Shape;489;g153ab46a580_0_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53efc85b47_0_20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6" name="Google Shape;496;g153efc85b47_0_2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147d0867b72_0_5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g147d0867b72_0_5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53ab46a580_0_59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2" name="Google Shape;522;g153ab46a580_0_5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153ab46a580_0_6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8" name="Google Shape;528;g153ab46a580_0_6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147d0867b72_0_66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7" name="Google Shape;547;g147d0867b72_0_6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47d0867b72_0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2" name="Google Shape;552;g147d0867b72_0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153efc85b47_0_2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8" name="Google Shape;558;g153efc85b47_0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153efc85b47_0_2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g153efc85b47_0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153efc85b47_0_3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g153efc85b47_0_3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53efc85b47_0_3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0" name="Google Shape;580;g153efc85b47_0_3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153efc85b47_0_3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8" name="Google Shape;588;g153efc85b47_0_3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53efc85b47_0_2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7" name="Google Shape;597;g153efc85b47_0_2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153efc85b47_0_2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g153efc85b47_0_2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153ab46a580_0_4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9" name="Google Shape;609;g153ab46a580_0_4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53efc85b47_0_27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5" name="Google Shape;615;g153efc85b47_0_2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153efc85b47_0_28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g153efc85b47_0_2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153efc85b47_0_2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0" name="Google Shape;630;g153efc85b47_0_2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153efc85b47_0_29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6" name="Google Shape;636;g153efc85b47_0_2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153efc85b47_0_29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2" name="Google Shape;642;g153efc85b47_0_29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g153ab46a580_0_4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g153ab46a580_0_4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153efc85b47_0_3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g153efc85b47_0_3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g153efc85b47_0_3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3" name="Google Shape;663;g153efc85b47_0_3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153efc85b47_0_7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8" name="Google Shape;668;g153efc85b47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153efc85b47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6" name="Google Shape;676;g153efc85b47_0_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153efc85b47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4" name="Google Shape;684;g153efc85b47_0_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153efc85b47_0_3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2" name="Google Shape;692;g153efc85b47_0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g153efc85b47_0_2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7" name="Google Shape;697;g153efc85b47_0_2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147d0867b72_0_1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g147d0867b72_0_1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153efc85b47_0_3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1" name="Google Shape;711;g153efc85b47_0_3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147d0867b72_0_69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7" name="Google Shape;717;g147d0867b72_0_69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g147d0867b72_0_7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3" name="Google Shape;723;g147d0867b72_0_7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g147d0867b72_0_67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g147d0867b72_0_6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g1479a2d9a56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734" name="Google Shape;734;g1479a2d9a56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5" name="Google Shape;735;g1479a2d9a56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137588d45ff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g137588d45ff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147bc94b09a_0_2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g147bc94b09a_0_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1479f86f5e1_0_3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g1479f86f5e1_0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137588d45ff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6" name="Google Shape;766;g137588d45ff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137588d45ff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4" name="Google Shape;774;g137588d45ff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147bc94b09a_0_1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2" name="Google Shape;782;g147bc94b09a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g147bc94b09a_0_4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8" name="Google Shape;788;g147bc94b09a_0_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147eceb6032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g147eceb6032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1479f86f5e1_0_1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0" name="Google Shape;800;g1479f86f5e1_0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6" name="Shape 806"/>
        <p:cNvGrpSpPr/>
        <p:nvPr/>
      </p:nvGrpSpPr>
      <p:grpSpPr>
        <a:xfrm>
          <a:off x="0" y="0"/>
          <a:ext cx="0" cy="0"/>
          <a:chOff x="0" y="0"/>
          <a:chExt cx="0" cy="0"/>
        </a:xfrm>
      </p:grpSpPr>
      <p:sp>
        <p:nvSpPr>
          <p:cNvPr id="807" name="Google Shape;807;g147bc94b09a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8" name="Google Shape;808;g147bc94b09a_0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147bc94b09a_0_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5" name="Google Shape;815;g147bc94b09a_0_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fe91e26072_1_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2" name="Google Shape;822;gfe91e26072_1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gfe91e26072_1_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7" name="Google Shape;827;gfe91e26072_1_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0" name="Shape 830"/>
        <p:cNvGrpSpPr/>
        <p:nvPr/>
      </p:nvGrpSpPr>
      <p:grpSpPr>
        <a:xfrm>
          <a:off x="0" y="0"/>
          <a:ext cx="0" cy="0"/>
          <a:chOff x="0" y="0"/>
          <a:chExt cx="0" cy="0"/>
        </a:xfrm>
      </p:grpSpPr>
      <p:sp>
        <p:nvSpPr>
          <p:cNvPr id="831" name="Google Shape;831;gfe91e26072_1_6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2" name="Google Shape;832;gfe91e26072_1_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5" name="Shape 835"/>
        <p:cNvGrpSpPr/>
        <p:nvPr/>
      </p:nvGrpSpPr>
      <p:grpSpPr>
        <a:xfrm>
          <a:off x="0" y="0"/>
          <a:ext cx="0" cy="0"/>
          <a:chOff x="0" y="0"/>
          <a:chExt cx="0" cy="0"/>
        </a:xfrm>
      </p:grpSpPr>
      <p:sp>
        <p:nvSpPr>
          <p:cNvPr id="836" name="Google Shape;836;gfe91e26072_1_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7" name="Google Shape;837;gfe91e26072_1_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0" name="Shape 840"/>
        <p:cNvGrpSpPr/>
        <p:nvPr/>
      </p:nvGrpSpPr>
      <p:grpSpPr>
        <a:xfrm>
          <a:off x="0" y="0"/>
          <a:ext cx="0" cy="0"/>
          <a:chOff x="0" y="0"/>
          <a:chExt cx="0" cy="0"/>
        </a:xfrm>
      </p:grpSpPr>
      <p:sp>
        <p:nvSpPr>
          <p:cNvPr id="841" name="Google Shape;841;gfe91e26072_1_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2" name="Google Shape;842;gfe91e26072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g147eceb6032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7" name="Google Shape;847;g147eceb6032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fe91e26072_0_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2" name="Google Shape;852;gfe91e26072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fe91e26072_1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8" name="Google Shape;858;gfe91e26072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fe91e26072_1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gfe91e26072_1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147bc94b09a_0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0" name="Google Shape;870;g147bc94b09a_0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147eceb6032_0_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6" name="Google Shape;876;g147eceb6032_0_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1479f86f5e1_0_2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g1479f86f5e1_0_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6" name="Shape 886"/>
        <p:cNvGrpSpPr/>
        <p:nvPr/>
      </p:nvGrpSpPr>
      <p:grpSpPr>
        <a:xfrm>
          <a:off x="0" y="0"/>
          <a:ext cx="0" cy="0"/>
          <a:chOff x="0" y="0"/>
          <a:chExt cx="0" cy="0"/>
        </a:xfrm>
      </p:grpSpPr>
      <p:sp>
        <p:nvSpPr>
          <p:cNvPr id="887" name="Google Shape;887;g147eceb6032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8" name="Google Shape;888;g147eceb6032_0_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147eceb6032_0_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g147eceb6032_0_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147d0867b72_0_7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9" name="Google Shape;899;g147d0867b72_0_7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g147d0867b72_0_74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5" name="Google Shape;905;g147d0867b72_0_7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147d0867b72_0_7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 name="Google Shape;911;g147d0867b72_0_7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g147d0867b72_0_7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8" name="Google Shape;918;g147d0867b72_0_7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2" name="Shape 922"/>
        <p:cNvGrpSpPr/>
        <p:nvPr/>
      </p:nvGrpSpPr>
      <p:grpSpPr>
        <a:xfrm>
          <a:off x="0" y="0"/>
          <a:ext cx="0" cy="0"/>
          <a:chOff x="0" y="0"/>
          <a:chExt cx="0" cy="0"/>
        </a:xfrm>
      </p:grpSpPr>
      <p:sp>
        <p:nvSpPr>
          <p:cNvPr id="923" name="Google Shape;923;g153efc85b47_0_32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4" name="Google Shape;924;g153efc85b47_0_3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147d0867b72_0_76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g147d0867b72_0_7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g147d0867b72_0_77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6" name="Google Shape;936;g147d0867b72_0_7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147d0867b72_0_7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1" name="Google Shape;941;g147d0867b72_0_7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6.png"/><Relationship Id="rId3"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3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b="0" l="1" r="32964" t="39928"/>
          <a:stretch/>
        </p:blipFill>
        <p:spPr>
          <a:xfrm>
            <a:off x="1714500" y="-1"/>
            <a:ext cx="10477500" cy="6496051"/>
          </a:xfrm>
          <a:prstGeom prst="rect">
            <a:avLst/>
          </a:prstGeom>
          <a:noFill/>
          <a:ln>
            <a:noFill/>
          </a:ln>
        </p:spPr>
      </p:pic>
      <p:sp>
        <p:nvSpPr>
          <p:cNvPr id="17" name="Google Shape;17;p2"/>
          <p:cNvSpPr txBox="1"/>
          <p:nvPr>
            <p:ph type="ctrTitle"/>
          </p:nvPr>
        </p:nvSpPr>
        <p:spPr>
          <a:xfrm>
            <a:off x="723900" y="3133664"/>
            <a:ext cx="5372100" cy="1296194"/>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accent1"/>
              </a:buClr>
              <a:buSzPts val="5400"/>
              <a:buFont typeface="Calibri"/>
              <a:buNone/>
              <a:defRPr sz="5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0" type="dt"/>
          </p:nvPr>
        </p:nvSpPr>
        <p:spPr>
          <a:xfrm>
            <a:off x="838200" y="5901897"/>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sz="2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descr="Logo&#10;&#10;Description automatically generated" id="21" name="Google Shape;21;p2"/>
          <p:cNvPicPr preferRelativeResize="0"/>
          <p:nvPr/>
        </p:nvPicPr>
        <p:blipFill rotWithShape="1">
          <a:blip r:embed="rId3">
            <a:alphaModFix/>
          </a:blip>
          <a:srcRect b="0" l="0" r="0" t="0"/>
          <a:stretch/>
        </p:blipFill>
        <p:spPr>
          <a:xfrm>
            <a:off x="10026684" y="646174"/>
            <a:ext cx="1430036" cy="156759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3"/>
          <p:cNvSpPr txBox="1"/>
          <p:nvPr>
            <p:ph type="title"/>
          </p:nvPr>
        </p:nvSpPr>
        <p:spPr>
          <a:xfrm>
            <a:off x="838200" y="784225"/>
            <a:ext cx="10515600"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28" name="Google Shape;28;p3"/>
          <p:cNvSpPr/>
          <p:nvPr/>
        </p:nvSpPr>
        <p:spPr>
          <a:xfrm>
            <a:off x="838198" y="655794"/>
            <a:ext cx="10515599" cy="262616"/>
          </a:xfrm>
          <a:custGeom>
            <a:rect b="b" l="l" r="r" t="t"/>
            <a:pathLst>
              <a:path extrusionOk="0" h="134683" w="5329428">
                <a:moveTo>
                  <a:pt x="0" y="0"/>
                </a:moveTo>
                <a:lnTo>
                  <a:pt x="5152263" y="0"/>
                </a:lnTo>
                <a:lnTo>
                  <a:pt x="5329428" y="134684"/>
                </a:lnTo>
              </a:path>
            </a:pathLst>
          </a:custGeom>
          <a:noFill/>
          <a:ln cap="flat" cmpd="sng" w="9525">
            <a:solidFill>
              <a:srgbClr val="F36E2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3"/>
          <p:cNvSpPr/>
          <p:nvPr/>
        </p:nvSpPr>
        <p:spPr>
          <a:xfrm>
            <a:off x="9637485" y="6476186"/>
            <a:ext cx="2554876" cy="379904"/>
          </a:xfrm>
          <a:custGeom>
            <a:rect b="b" l="l" r="r" t="t"/>
            <a:pathLst>
              <a:path extrusionOk="0" h="379904" w="2554876">
                <a:moveTo>
                  <a:pt x="2554877" y="0"/>
                </a:moveTo>
                <a:lnTo>
                  <a:pt x="2554877" y="379905"/>
                </a:lnTo>
                <a:lnTo>
                  <a:pt x="0" y="379905"/>
                </a:lnTo>
                <a:lnTo>
                  <a:pt x="0" y="0"/>
                </a:lnTo>
                <a:lnTo>
                  <a:pt x="1324801" y="0"/>
                </a:lnTo>
                <a:lnTo>
                  <a:pt x="1762523" y="308815"/>
                </a:lnTo>
                <a:lnTo>
                  <a:pt x="1762523" y="0"/>
                </a:lnTo>
                <a:lnTo>
                  <a:pt x="2554877" y="0"/>
                </a:lnTo>
                <a:close/>
              </a:path>
            </a:pathLst>
          </a:custGeom>
          <a:solidFill>
            <a:srgbClr val="62C9D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 name="Google Shape;30;p3"/>
          <p:cNvSpPr/>
          <p:nvPr/>
        </p:nvSpPr>
        <p:spPr>
          <a:xfrm>
            <a:off x="0" y="6476186"/>
            <a:ext cx="9637485" cy="37990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31" name="Google Shape;31;p3"/>
          <p:cNvPicPr preferRelativeResize="0"/>
          <p:nvPr/>
        </p:nvPicPr>
        <p:blipFill rotWithShape="1">
          <a:blip r:embed="rId2">
            <a:alphaModFix/>
          </a:blip>
          <a:srcRect b="0" l="0" r="0" t="0"/>
          <a:stretch/>
        </p:blipFill>
        <p:spPr>
          <a:xfrm>
            <a:off x="10053634" y="5948363"/>
            <a:ext cx="1300163" cy="228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32" name="Shape 32"/>
        <p:cNvGrpSpPr/>
        <p:nvPr/>
      </p:nvGrpSpPr>
      <p:grpSpPr>
        <a:xfrm>
          <a:off x="0" y="0"/>
          <a:ext cx="0" cy="0"/>
          <a:chOff x="0" y="0"/>
          <a:chExt cx="0" cy="0"/>
        </a:xfrm>
      </p:grpSpPr>
      <p:sp>
        <p:nvSpPr>
          <p:cNvPr id="33" name="Google Shape;33;p4"/>
          <p:cNvSpPr txBox="1"/>
          <p:nvPr>
            <p:ph type="title"/>
          </p:nvPr>
        </p:nvSpPr>
        <p:spPr>
          <a:xfrm>
            <a:off x="838200" y="784225"/>
            <a:ext cx="10515600"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38" name="Google Shape;38;p4"/>
          <p:cNvSpPr/>
          <p:nvPr/>
        </p:nvSpPr>
        <p:spPr>
          <a:xfrm>
            <a:off x="838198" y="655794"/>
            <a:ext cx="10515599" cy="262616"/>
          </a:xfrm>
          <a:custGeom>
            <a:rect b="b" l="l" r="r" t="t"/>
            <a:pathLst>
              <a:path extrusionOk="0" h="134683" w="5329428">
                <a:moveTo>
                  <a:pt x="0" y="0"/>
                </a:moveTo>
                <a:lnTo>
                  <a:pt x="5152263" y="0"/>
                </a:lnTo>
                <a:lnTo>
                  <a:pt x="5329428" y="134684"/>
                </a:lnTo>
              </a:path>
            </a:pathLst>
          </a:custGeom>
          <a:noFill/>
          <a:ln cap="flat" cmpd="sng" w="9525">
            <a:solidFill>
              <a:srgbClr val="F36E2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4"/>
          <p:cNvSpPr/>
          <p:nvPr/>
        </p:nvSpPr>
        <p:spPr>
          <a:xfrm>
            <a:off x="9637485" y="6476186"/>
            <a:ext cx="2554876" cy="379904"/>
          </a:xfrm>
          <a:custGeom>
            <a:rect b="b" l="l" r="r" t="t"/>
            <a:pathLst>
              <a:path extrusionOk="0" h="379904" w="2554876">
                <a:moveTo>
                  <a:pt x="2554877" y="0"/>
                </a:moveTo>
                <a:lnTo>
                  <a:pt x="2554877" y="379905"/>
                </a:lnTo>
                <a:lnTo>
                  <a:pt x="0" y="379905"/>
                </a:lnTo>
                <a:lnTo>
                  <a:pt x="0" y="0"/>
                </a:lnTo>
                <a:lnTo>
                  <a:pt x="1324801" y="0"/>
                </a:lnTo>
                <a:lnTo>
                  <a:pt x="1762523" y="308815"/>
                </a:lnTo>
                <a:lnTo>
                  <a:pt x="1762523" y="0"/>
                </a:lnTo>
                <a:lnTo>
                  <a:pt x="2554877" y="0"/>
                </a:lnTo>
                <a:close/>
              </a:path>
            </a:pathLst>
          </a:cu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 name="Google Shape;40;p4"/>
          <p:cNvSpPr/>
          <p:nvPr/>
        </p:nvSpPr>
        <p:spPr>
          <a:xfrm>
            <a:off x="0" y="6476186"/>
            <a:ext cx="9637485" cy="379904"/>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1" name="Google Shape;41;p4"/>
          <p:cNvPicPr preferRelativeResize="0"/>
          <p:nvPr/>
        </p:nvPicPr>
        <p:blipFill rotWithShape="1">
          <a:blip r:embed="rId2">
            <a:alphaModFix/>
          </a:blip>
          <a:srcRect b="0" l="0" r="0" t="0"/>
          <a:stretch/>
        </p:blipFill>
        <p:spPr>
          <a:xfrm>
            <a:off x="10053634" y="5948363"/>
            <a:ext cx="1300163" cy="2286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42" name="Shape 42"/>
        <p:cNvGrpSpPr/>
        <p:nvPr/>
      </p:nvGrpSpPr>
      <p:grpSpPr>
        <a:xfrm>
          <a:off x="0" y="0"/>
          <a:ext cx="0" cy="0"/>
          <a:chOff x="0" y="0"/>
          <a:chExt cx="0" cy="0"/>
        </a:xfrm>
      </p:grpSpPr>
      <p:sp>
        <p:nvSpPr>
          <p:cNvPr id="43" name="Google Shape;43;p5"/>
          <p:cNvSpPr txBox="1"/>
          <p:nvPr>
            <p:ph type="ctrTitle"/>
          </p:nvPr>
        </p:nvSpPr>
        <p:spPr>
          <a:xfrm>
            <a:off x="5981700" y="2780903"/>
            <a:ext cx="5372100" cy="1296194"/>
          </a:xfrm>
          <a:prstGeom prst="rect">
            <a:avLst/>
          </a:prstGeom>
          <a:noFill/>
          <a:ln>
            <a:noFill/>
          </a:ln>
        </p:spPr>
        <p:txBody>
          <a:bodyPr anchorCtr="0" anchor="b" bIns="45700" lIns="91425" spcFirstLastPara="1" rIns="91425" wrap="square" tIns="45700">
            <a:noAutofit/>
          </a:bodyPr>
          <a:lstStyle>
            <a:lvl1pPr lvl="0" algn="r">
              <a:lnSpc>
                <a:spcPct val="90000"/>
              </a:lnSpc>
              <a:spcBef>
                <a:spcPts val="0"/>
              </a:spcBef>
              <a:spcAft>
                <a:spcPts val="0"/>
              </a:spcAft>
              <a:buClr>
                <a:schemeClr val="accent1"/>
              </a:buClr>
              <a:buSzPts val="5400"/>
              <a:buFont typeface="Calibri"/>
              <a:buNone/>
              <a:defRPr sz="5400">
                <a:solidFill>
                  <a:schemeClr val="accen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5"/>
          <p:cNvSpPr txBox="1"/>
          <p:nvPr>
            <p:ph idx="10" type="dt"/>
          </p:nvPr>
        </p:nvSpPr>
        <p:spPr>
          <a:xfrm>
            <a:off x="8610600" y="5901897"/>
            <a:ext cx="274320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sz="20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7" name="Google Shape;47;p5"/>
          <p:cNvPicPr preferRelativeResize="0"/>
          <p:nvPr/>
        </p:nvPicPr>
        <p:blipFill rotWithShape="1">
          <a:blip r:embed="rId2">
            <a:alphaModFix/>
          </a:blip>
          <a:srcRect b="46699" l="59298" r="24139" t="30195"/>
          <a:stretch/>
        </p:blipFill>
        <p:spPr>
          <a:xfrm flipH="1">
            <a:off x="-3" y="-9525"/>
            <a:ext cx="7312075" cy="6867526"/>
          </a:xfrm>
          <a:prstGeom prst="rect">
            <a:avLst/>
          </a:prstGeom>
          <a:noFill/>
          <a:ln>
            <a:noFill/>
          </a:ln>
        </p:spPr>
      </p:pic>
      <p:pic>
        <p:nvPicPr>
          <p:cNvPr id="48" name="Google Shape;48;p5"/>
          <p:cNvPicPr preferRelativeResize="0"/>
          <p:nvPr/>
        </p:nvPicPr>
        <p:blipFill rotWithShape="1">
          <a:blip r:embed="rId3">
            <a:alphaModFix/>
          </a:blip>
          <a:srcRect b="0" l="0" r="0" t="0"/>
          <a:stretch/>
        </p:blipFill>
        <p:spPr>
          <a:xfrm>
            <a:off x="8813798" y="590978"/>
            <a:ext cx="2540002" cy="44659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49" name="Shape 49"/>
        <p:cNvGrpSpPr/>
        <p:nvPr/>
      </p:nvGrpSpPr>
      <p:grpSpPr>
        <a:xfrm>
          <a:off x="0" y="0"/>
          <a:ext cx="0" cy="0"/>
          <a:chOff x="0" y="0"/>
          <a:chExt cx="0" cy="0"/>
        </a:xfrm>
      </p:grpSpPr>
      <p:sp>
        <p:nvSpPr>
          <p:cNvPr id="50" name="Google Shape;50;p6"/>
          <p:cNvSpPr txBox="1"/>
          <p:nvPr>
            <p:ph type="title"/>
          </p:nvPr>
        </p:nvSpPr>
        <p:spPr>
          <a:xfrm>
            <a:off x="838200" y="784225"/>
            <a:ext cx="10515600" cy="1325563"/>
          </a:xfrm>
          <a:prstGeom prst="rect">
            <a:avLst/>
          </a:prstGeom>
          <a:noFill/>
          <a:ln>
            <a:noFill/>
          </a:ln>
        </p:spPr>
        <p:txBody>
          <a:bodyPr anchorCtr="0" anchor="t" bIns="45700" lIns="91425" spcFirstLastPara="1" rIns="91425" wrap="square" tIns="45700">
            <a:normAutofit/>
          </a:bodyPr>
          <a:lstStyle>
            <a:lvl1pPr lvl="0" algn="l">
              <a:lnSpc>
                <a:spcPct val="90000"/>
              </a:lnSpc>
              <a:spcBef>
                <a:spcPts val="0"/>
              </a:spcBef>
              <a:spcAft>
                <a:spcPts val="0"/>
              </a:spcAft>
              <a:buClr>
                <a:schemeClr val="accent2"/>
              </a:buClr>
              <a:buSzPts val="4400"/>
              <a:buFont typeface="Calibri"/>
              <a:buNone/>
              <a:defRPr>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5" name="Google Shape;55;p6"/>
          <p:cNvSpPr/>
          <p:nvPr/>
        </p:nvSpPr>
        <p:spPr>
          <a:xfrm>
            <a:off x="9637485" y="6476186"/>
            <a:ext cx="2554876" cy="379904"/>
          </a:xfrm>
          <a:custGeom>
            <a:rect b="b" l="l" r="r" t="t"/>
            <a:pathLst>
              <a:path extrusionOk="0" h="379904" w="2554876">
                <a:moveTo>
                  <a:pt x="2554877" y="0"/>
                </a:moveTo>
                <a:lnTo>
                  <a:pt x="2554877" y="379905"/>
                </a:lnTo>
                <a:lnTo>
                  <a:pt x="0" y="379905"/>
                </a:lnTo>
                <a:lnTo>
                  <a:pt x="0" y="0"/>
                </a:lnTo>
                <a:lnTo>
                  <a:pt x="1324801" y="0"/>
                </a:lnTo>
                <a:lnTo>
                  <a:pt x="1762523" y="308815"/>
                </a:lnTo>
                <a:lnTo>
                  <a:pt x="1762523" y="0"/>
                </a:lnTo>
                <a:lnTo>
                  <a:pt x="2554877" y="0"/>
                </a:lnTo>
                <a:close/>
              </a:path>
            </a:pathLst>
          </a:custGeom>
          <a:solidFill>
            <a:srgbClr val="62C9D7"/>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6"/>
          <p:cNvSpPr/>
          <p:nvPr/>
        </p:nvSpPr>
        <p:spPr>
          <a:xfrm>
            <a:off x="0" y="6476186"/>
            <a:ext cx="9637485" cy="379904"/>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7" name="Google Shape;57;p6"/>
          <p:cNvPicPr preferRelativeResize="0"/>
          <p:nvPr/>
        </p:nvPicPr>
        <p:blipFill rotWithShape="1">
          <a:blip r:embed="rId2">
            <a:alphaModFix/>
          </a:blip>
          <a:srcRect b="0" l="0" r="0" t="0"/>
          <a:stretch/>
        </p:blipFill>
        <p:spPr>
          <a:xfrm>
            <a:off x="8813798" y="5788487"/>
            <a:ext cx="2540002" cy="446594"/>
          </a:xfrm>
          <a:prstGeom prst="rect">
            <a:avLst/>
          </a:prstGeom>
          <a:noFill/>
          <a:ln>
            <a:noFill/>
          </a:ln>
        </p:spPr>
      </p:pic>
      <p:pic>
        <p:nvPicPr>
          <p:cNvPr id="58" name="Google Shape;58;p6"/>
          <p:cNvPicPr preferRelativeResize="0"/>
          <p:nvPr/>
        </p:nvPicPr>
        <p:blipFill rotWithShape="1">
          <a:blip r:embed="rId3">
            <a:alphaModFix/>
          </a:blip>
          <a:srcRect b="55217" l="9574" r="13719" t="38875"/>
          <a:stretch/>
        </p:blipFill>
        <p:spPr>
          <a:xfrm>
            <a:off x="0" y="-1"/>
            <a:ext cx="12192000" cy="649611"/>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5" name="Shape 65"/>
        <p:cNvGrpSpPr/>
        <p:nvPr/>
      </p:nvGrpSpPr>
      <p:grpSpPr>
        <a:xfrm>
          <a:off x="0" y="0"/>
          <a:ext cx="0" cy="0"/>
          <a:chOff x="0" y="0"/>
          <a:chExt cx="0" cy="0"/>
        </a:xfrm>
      </p:grpSpPr>
      <p:sp>
        <p:nvSpPr>
          <p:cNvPr id="66" name="Google Shape;6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2" name="Shape 72"/>
        <p:cNvGrpSpPr/>
        <p:nvPr/>
      </p:nvGrpSpPr>
      <p:grpSpPr>
        <a:xfrm>
          <a:off x="0" y="0"/>
          <a:ext cx="0" cy="0"/>
          <a:chOff x="0" y="0"/>
          <a:chExt cx="0" cy="0"/>
        </a:xfrm>
      </p:grpSpPr>
      <p:sp>
        <p:nvSpPr>
          <p:cNvPr id="73" name="Google Shape;73;p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5" name="Google Shape;75;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77" name="Google Shape;77;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0" name="Shape 90"/>
        <p:cNvGrpSpPr/>
        <p:nvPr/>
      </p:nvGrpSpPr>
      <p:grpSpPr>
        <a:xfrm>
          <a:off x="0" y="0"/>
          <a:ext cx="0" cy="0"/>
          <a:chOff x="0" y="0"/>
          <a:chExt cx="0" cy="0"/>
        </a:xfrm>
      </p:grpSpPr>
      <p:sp>
        <p:nvSpPr>
          <p:cNvPr id="91" name="Google Shape;91;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93" name="Google Shape;93;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94" name="Google Shape;9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7" name="Shape 97"/>
        <p:cNvGrpSpPr/>
        <p:nvPr/>
      </p:nvGrpSpPr>
      <p:grpSpPr>
        <a:xfrm>
          <a:off x="0" y="0"/>
          <a:ext cx="0" cy="0"/>
          <a:chOff x="0" y="0"/>
          <a:chExt cx="0" cy="0"/>
        </a:xfrm>
      </p:grpSpPr>
      <p:sp>
        <p:nvSpPr>
          <p:cNvPr id="98" name="Google Shape;98;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9" name="Google Shape;99;p13"/>
          <p:cNvSpPr/>
          <p:nvPr>
            <p:ph idx="2" type="pic"/>
          </p:nvPr>
        </p:nvSpPr>
        <p:spPr>
          <a:xfrm>
            <a:off x="5183188" y="987425"/>
            <a:ext cx="6172200" cy="4873625"/>
          </a:xfrm>
          <a:prstGeom prst="rect">
            <a:avLst/>
          </a:prstGeom>
          <a:noFill/>
          <a:ln>
            <a:noFill/>
          </a:ln>
        </p:spPr>
      </p:sp>
      <p:sp>
        <p:nvSpPr>
          <p:cNvPr id="100" name="Google Shape;100;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01" name="Google Shape;10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4" name="Shape 104"/>
        <p:cNvGrpSpPr/>
        <p:nvPr/>
      </p:nvGrpSpPr>
      <p:grpSpPr>
        <a:xfrm>
          <a:off x="0" y="0"/>
          <a:ext cx="0" cy="0"/>
          <a:chOff x="0" y="0"/>
          <a:chExt cx="0" cy="0"/>
        </a:xfrm>
      </p:grpSpPr>
      <p:sp>
        <p:nvSpPr>
          <p:cNvPr id="105" name="Google Shape;105;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0" name="Shape 110"/>
        <p:cNvGrpSpPr/>
        <p:nvPr/>
      </p:nvGrpSpPr>
      <p:grpSpPr>
        <a:xfrm>
          <a:off x="0" y="0"/>
          <a:ext cx="0" cy="0"/>
          <a:chOff x="0" y="0"/>
          <a:chExt cx="0" cy="0"/>
        </a:xfrm>
      </p:grpSpPr>
      <p:sp>
        <p:nvSpPr>
          <p:cNvPr id="111" name="Google Shape;111;p15"/>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2" name="Google Shape;112;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3" name="Google Shape;11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
    <p:spTree>
      <p:nvGrpSpPr>
        <p:cNvPr id="116" name="Shape 116"/>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type="title">
  <p:cSld name="TITLE">
    <p:spTree>
      <p:nvGrpSpPr>
        <p:cNvPr id="117" name="Shape 117"/>
        <p:cNvGrpSpPr/>
        <p:nvPr/>
      </p:nvGrpSpPr>
      <p:grpSpPr>
        <a:xfrm>
          <a:off x="0" y="0"/>
          <a:ext cx="0" cy="0"/>
          <a:chOff x="0" y="0"/>
          <a:chExt cx="0" cy="0"/>
        </a:xfrm>
      </p:grpSpPr>
      <p:sp>
        <p:nvSpPr>
          <p:cNvPr id="118" name="Google Shape;118;p17"/>
          <p:cNvSpPr txBox="1"/>
          <p:nvPr>
            <p:ph type="ctrTitle"/>
          </p:nvPr>
        </p:nvSpPr>
        <p:spPr>
          <a:xfrm>
            <a:off x="914400" y="2130425"/>
            <a:ext cx="10363200" cy="14700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9" name="Google Shape;119;p17"/>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rmAutofit/>
          </a:bodyPr>
          <a:lstStyle>
            <a:lvl1pPr lvl="0" rtl="0" algn="ctr">
              <a:spcBef>
                <a:spcPts val="640"/>
              </a:spcBef>
              <a:spcAft>
                <a:spcPts val="0"/>
              </a:spcAft>
              <a:buClr>
                <a:srgbClr val="888888"/>
              </a:buClr>
              <a:buSzPts val="3200"/>
              <a:buNone/>
              <a:defRPr>
                <a:solidFill>
                  <a:srgbClr val="888888"/>
                </a:solidFill>
              </a:defRPr>
            </a:lvl1pPr>
            <a:lvl2pPr lvl="1" rtl="0" algn="ctr">
              <a:spcBef>
                <a:spcPts val="560"/>
              </a:spcBef>
              <a:spcAft>
                <a:spcPts val="0"/>
              </a:spcAft>
              <a:buClr>
                <a:srgbClr val="888888"/>
              </a:buClr>
              <a:buSzPts val="2800"/>
              <a:buNone/>
              <a:defRPr>
                <a:solidFill>
                  <a:srgbClr val="888888"/>
                </a:solidFill>
              </a:defRPr>
            </a:lvl2pPr>
            <a:lvl3pPr lvl="2" rtl="0" algn="ctr">
              <a:spcBef>
                <a:spcPts val="480"/>
              </a:spcBef>
              <a:spcAft>
                <a:spcPts val="0"/>
              </a:spcAft>
              <a:buClr>
                <a:srgbClr val="888888"/>
              </a:buClr>
              <a:buSzPts val="2400"/>
              <a:buNone/>
              <a:defRPr>
                <a:solidFill>
                  <a:srgbClr val="888888"/>
                </a:solidFill>
              </a:defRPr>
            </a:lvl3pPr>
            <a:lvl4pPr lvl="3" rtl="0" algn="ctr">
              <a:spcBef>
                <a:spcPts val="400"/>
              </a:spcBef>
              <a:spcAft>
                <a:spcPts val="0"/>
              </a:spcAft>
              <a:buClr>
                <a:srgbClr val="888888"/>
              </a:buClr>
              <a:buSzPts val="2000"/>
              <a:buNone/>
              <a:defRPr>
                <a:solidFill>
                  <a:srgbClr val="888888"/>
                </a:solidFill>
              </a:defRPr>
            </a:lvl4pPr>
            <a:lvl5pPr lvl="4" rtl="0" algn="ctr">
              <a:spcBef>
                <a:spcPts val="400"/>
              </a:spcBef>
              <a:spcAft>
                <a:spcPts val="0"/>
              </a:spcAft>
              <a:buClr>
                <a:srgbClr val="888888"/>
              </a:buClr>
              <a:buSzPts val="2000"/>
              <a:buNone/>
              <a:defRPr>
                <a:solidFill>
                  <a:srgbClr val="888888"/>
                </a:solidFill>
              </a:defRPr>
            </a:lvl5pPr>
            <a:lvl6pPr lvl="5" rtl="0" algn="ctr">
              <a:spcBef>
                <a:spcPts val="400"/>
              </a:spcBef>
              <a:spcAft>
                <a:spcPts val="0"/>
              </a:spcAft>
              <a:buClr>
                <a:srgbClr val="888888"/>
              </a:buClr>
              <a:buSzPts val="2000"/>
              <a:buNone/>
              <a:defRPr>
                <a:solidFill>
                  <a:srgbClr val="888888"/>
                </a:solidFill>
              </a:defRPr>
            </a:lvl6pPr>
            <a:lvl7pPr lvl="6" rtl="0" algn="ctr">
              <a:spcBef>
                <a:spcPts val="400"/>
              </a:spcBef>
              <a:spcAft>
                <a:spcPts val="0"/>
              </a:spcAft>
              <a:buClr>
                <a:srgbClr val="888888"/>
              </a:buClr>
              <a:buSzPts val="2000"/>
              <a:buNone/>
              <a:defRPr>
                <a:solidFill>
                  <a:srgbClr val="888888"/>
                </a:solidFill>
              </a:defRPr>
            </a:lvl7pPr>
            <a:lvl8pPr lvl="7" rtl="0" algn="ctr">
              <a:spcBef>
                <a:spcPts val="400"/>
              </a:spcBef>
              <a:spcAft>
                <a:spcPts val="0"/>
              </a:spcAft>
              <a:buClr>
                <a:srgbClr val="888888"/>
              </a:buClr>
              <a:buSzPts val="2000"/>
              <a:buNone/>
              <a:defRPr>
                <a:solidFill>
                  <a:srgbClr val="888888"/>
                </a:solidFill>
              </a:defRPr>
            </a:lvl8pPr>
            <a:lvl9pPr lvl="8" rtl="0" algn="ctr">
              <a:spcBef>
                <a:spcPts val="400"/>
              </a:spcBef>
              <a:spcAft>
                <a:spcPts val="0"/>
              </a:spcAft>
              <a:buClr>
                <a:srgbClr val="888888"/>
              </a:buClr>
              <a:buSzPts val="2000"/>
              <a:buNone/>
              <a:defRPr>
                <a:solidFill>
                  <a:srgbClr val="888888"/>
                </a:solidFill>
              </a:defRPr>
            </a:lvl9pPr>
          </a:lstStyle>
          <a:p/>
        </p:txBody>
      </p:sp>
      <p:sp>
        <p:nvSpPr>
          <p:cNvPr id="120" name="Google Shape;120;p17"/>
          <p:cNvSpPr txBox="1"/>
          <p:nvPr>
            <p:ph idx="10" type="dt"/>
          </p:nvPr>
        </p:nvSpPr>
        <p:spPr>
          <a:xfrm>
            <a:off x="609600" y="6356350"/>
            <a:ext cx="2844900" cy="3651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1" name="Google Shape;121;p17"/>
          <p:cNvSpPr txBox="1"/>
          <p:nvPr>
            <p:ph idx="11" type="ftr"/>
          </p:nvPr>
        </p:nvSpPr>
        <p:spPr>
          <a:xfrm>
            <a:off x="4165600" y="6356350"/>
            <a:ext cx="3860700" cy="3651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122" name="Google Shape;122;p17"/>
          <p:cNvSpPr txBox="1"/>
          <p:nvPr>
            <p:ph idx="12" type="sldNum"/>
          </p:nvPr>
        </p:nvSpPr>
        <p:spPr>
          <a:xfrm>
            <a:off x="8737600" y="6356350"/>
            <a:ext cx="2844900" cy="365100"/>
          </a:xfrm>
          <a:prstGeom prst="rect">
            <a:avLst/>
          </a:prstGeom>
          <a:noFill/>
          <a:ln>
            <a:noFill/>
          </a:ln>
        </p:spPr>
        <p:txBody>
          <a:bodyPr anchorCtr="0" anchor="ctr" bIns="45700" lIns="91425" spcFirstLastPara="1" rIns="91425" wrap="square" tIns="45700">
            <a:no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1"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6.png"/><Relationship Id="rId4" Type="http://schemas.openxmlformats.org/officeDocument/2006/relationships/image" Target="../media/image18.png"/><Relationship Id="rId5" Type="http://schemas.openxmlformats.org/officeDocument/2006/relationships/image" Target="../media/image1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24.png"/><Relationship Id="rId4" Type="http://schemas.openxmlformats.org/officeDocument/2006/relationships/image" Target="../media/image2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21.png"/><Relationship Id="rId4" Type="http://schemas.openxmlformats.org/officeDocument/2006/relationships/image" Target="../media/image27.png"/><Relationship Id="rId5" Type="http://schemas.openxmlformats.org/officeDocument/2006/relationships/image" Target="../media/image3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2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 Id="rId3" Type="http://schemas.openxmlformats.org/officeDocument/2006/relationships/image" Target="../media/image2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 Id="rId3" Type="http://schemas.openxmlformats.org/officeDocument/2006/relationships/image" Target="../media/image2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 Id="rId3" Type="http://schemas.openxmlformats.org/officeDocument/2006/relationships/image" Target="../media/image2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2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 Id="rId3" Type="http://schemas.openxmlformats.org/officeDocument/2006/relationships/image" Target="../media/image4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 Id="rId3" Type="http://schemas.openxmlformats.org/officeDocument/2006/relationships/image" Target="../media/image28.png"/><Relationship Id="rId4" Type="http://schemas.openxmlformats.org/officeDocument/2006/relationships/image" Target="../media/image2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 Id="rId3" Type="http://schemas.openxmlformats.org/officeDocument/2006/relationships/image" Target="../media/image3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 Id="rId3" Type="http://schemas.openxmlformats.org/officeDocument/2006/relationships/image" Target="../media/image23.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 Id="rId3" Type="http://schemas.openxmlformats.org/officeDocument/2006/relationships/image" Target="../media/image23.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 Id="rId3" Type="http://schemas.openxmlformats.org/officeDocument/2006/relationships/image" Target="../media/image23.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 Id="rId3" Type="http://schemas.openxmlformats.org/officeDocument/2006/relationships/image" Target="../media/image34.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 Id="rId3" Type="http://schemas.openxmlformats.org/officeDocument/2006/relationships/image" Target="../media/image30.png"/><Relationship Id="rId4" Type="http://schemas.openxmlformats.org/officeDocument/2006/relationships/image" Target="../media/image29.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 Id="rId3" Type="http://schemas.openxmlformats.org/officeDocument/2006/relationships/image" Target="../media/image4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 Id="rId3" Type="http://schemas.openxmlformats.org/officeDocument/2006/relationships/image" Target="../media/image43.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 Id="rId3" Type="http://schemas.openxmlformats.org/officeDocument/2006/relationships/image" Target="../media/image44.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 Id="rId3" Type="http://schemas.openxmlformats.org/officeDocument/2006/relationships/image" Target="../media/image37.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 Id="rId3" Type="http://schemas.openxmlformats.org/officeDocument/2006/relationships/image" Target="../media/image39.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4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3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1" Type="http://schemas.openxmlformats.org/officeDocument/2006/relationships/hyperlink" Target="https://cawic.ca/" TargetMode="External"/><Relationship Id="rId10" Type="http://schemas.openxmlformats.org/officeDocument/2006/relationships/hyperlink" Target="https://www.cca-acc.com/" TargetMode="External"/><Relationship Id="rId12" Type="http://schemas.openxmlformats.org/officeDocument/2006/relationships/hyperlink" Target="https://www.women-in-construction.ca/" TargetMode="External"/><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hyperlink" Target="https://ceca.org/" TargetMode="External"/><Relationship Id="rId4" Type="http://schemas.openxmlformats.org/officeDocument/2006/relationships/hyperlink" Target="https://suretycanada.com/" TargetMode="External"/><Relationship Id="rId9" Type="http://schemas.openxmlformats.org/officeDocument/2006/relationships/hyperlink" Target="https://www.chba.ca/" TargetMode="External"/><Relationship Id="rId5" Type="http://schemas.openxmlformats.org/officeDocument/2006/relationships/hyperlink" Target="https://roofingcanada.com/" TargetMode="External"/><Relationship Id="rId6" Type="http://schemas.openxmlformats.org/officeDocument/2006/relationships/hyperlink" Target="https://www.cisc-icca.ca/" TargetMode="External"/><Relationship Id="rId7" Type="http://schemas.openxmlformats.org/officeDocument/2006/relationships/hyperlink" Target="https://cfcsa.ca/" TargetMode="External"/><Relationship Id="rId8" Type="http://schemas.openxmlformats.org/officeDocument/2006/relationships/hyperlink" Target="https://pmac-agpc.ca/" TargetMode="Externa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hyperlink" Target="https://www.restaurantscanada.org/" TargetMode="External"/><Relationship Id="rId4" Type="http://schemas.openxmlformats.org/officeDocument/2006/relationships/hyperlink" Target="https://www.hospitalitynet.org/organization/17003657.html" TargetMode="External"/><Relationship Id="rId5" Type="http://schemas.openxmlformats.org/officeDocument/2006/relationships/hyperlink" Target="https://www.orhma.com/" TargetMode="External"/><Relationship Id="rId6" Type="http://schemas.openxmlformats.org/officeDocument/2006/relationships/hyperlink" Target="http://sommelierscanada.com/" TargetMode="External"/><Relationship Id="rId7" Type="http://schemas.openxmlformats.org/officeDocument/2006/relationships/hyperlink" Target="https://canadianbartenders.com/" TargetMode="External"/><Relationship Id="rId8" Type="http://schemas.openxmlformats.org/officeDocument/2006/relationships/hyperlink" Target="https://www.canadianculinaryinstitute.ca/canadian-culinary-federation.html"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3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8"/>
          <p:cNvSpPr txBox="1"/>
          <p:nvPr>
            <p:ph type="ctrTitle"/>
          </p:nvPr>
        </p:nvSpPr>
        <p:spPr>
          <a:xfrm>
            <a:off x="723900" y="3044225"/>
            <a:ext cx="6402300" cy="1296300"/>
          </a:xfrm>
          <a:prstGeom prst="rect">
            <a:avLst/>
          </a:prstGeom>
          <a:noFill/>
          <a:ln>
            <a:noFill/>
          </a:ln>
        </p:spPr>
        <p:txBody>
          <a:bodyPr anchorCtr="0" anchor="b" bIns="45700" lIns="91425" spcFirstLastPara="1" rIns="91425" wrap="square" tIns="45700">
            <a:noAutofit/>
          </a:bodyPr>
          <a:lstStyle/>
          <a:p>
            <a:pPr indent="0" lvl="0" marL="0" rtl="0" algn="l">
              <a:lnSpc>
                <a:spcPct val="90000"/>
              </a:lnSpc>
              <a:spcBef>
                <a:spcPts val="0"/>
              </a:spcBef>
              <a:spcAft>
                <a:spcPts val="0"/>
              </a:spcAft>
              <a:buClr>
                <a:schemeClr val="accent1"/>
              </a:buClr>
              <a:buSzPts val="5400"/>
              <a:buFont typeface="Calibri"/>
              <a:buNone/>
            </a:pPr>
            <a:r>
              <a:rPr lang="en-US" sz="5100">
                <a:solidFill>
                  <a:schemeClr val="accent2"/>
                </a:solidFill>
              </a:rPr>
              <a:t>Marketing</a:t>
            </a:r>
            <a:r>
              <a:rPr lang="en-US" sz="5100"/>
              <a:t> </a:t>
            </a:r>
            <a:r>
              <a:rPr lang="en-US" sz="5100">
                <a:solidFill>
                  <a:schemeClr val="accent2"/>
                </a:solidFill>
              </a:rPr>
              <a:t>Strategy</a:t>
            </a:r>
            <a:endParaRPr sz="5100">
              <a:solidFill>
                <a:schemeClr val="accent2"/>
              </a:solidFill>
            </a:endParaRPr>
          </a:p>
        </p:txBody>
      </p:sp>
      <p:sp>
        <p:nvSpPr>
          <p:cNvPr id="128" name="Google Shape;128;p18"/>
          <p:cNvSpPr txBox="1"/>
          <p:nvPr>
            <p:ph idx="10" type="dt"/>
          </p:nvPr>
        </p:nvSpPr>
        <p:spPr>
          <a:xfrm>
            <a:off x="838200" y="5901897"/>
            <a:ext cx="2743200" cy="36512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000"/>
              <a:buFont typeface="Arial"/>
              <a:buNone/>
            </a:pPr>
            <a:r>
              <a:rPr lang="en-US"/>
              <a:t>9/8/2022</a:t>
            </a:r>
            <a:endParaRPr/>
          </a:p>
        </p:txBody>
      </p:sp>
      <p:pic>
        <p:nvPicPr>
          <p:cNvPr id="129" name="Google Shape;129;p18"/>
          <p:cNvPicPr preferRelativeResize="0"/>
          <p:nvPr/>
        </p:nvPicPr>
        <p:blipFill>
          <a:blip r:embed="rId3">
            <a:alphaModFix/>
          </a:blip>
          <a:stretch>
            <a:fillRect/>
          </a:stretch>
        </p:blipFill>
        <p:spPr>
          <a:xfrm>
            <a:off x="225425" y="4420025"/>
            <a:ext cx="3467100" cy="1257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19"/>
          <p:cNvPicPr preferRelativeResize="0"/>
          <p:nvPr/>
        </p:nvPicPr>
        <p:blipFill rotWithShape="1">
          <a:blip r:embed="rId3">
            <a:alphaModFix/>
          </a:blip>
          <a:srcRect b="0" l="0" r="0" t="0"/>
          <a:stretch/>
        </p:blipFill>
        <p:spPr>
          <a:xfrm>
            <a:off x="8836977" y="2278505"/>
            <a:ext cx="2825480" cy="2300990"/>
          </a:xfrm>
          <a:prstGeom prst="rect">
            <a:avLst/>
          </a:prstGeom>
          <a:noFill/>
          <a:ln>
            <a:noFill/>
          </a:ln>
        </p:spPr>
      </p:pic>
      <p:sp>
        <p:nvSpPr>
          <p:cNvPr id="135" name="Google Shape;135;p19"/>
          <p:cNvSpPr txBox="1"/>
          <p:nvPr>
            <p:ph type="title"/>
          </p:nvPr>
        </p:nvSpPr>
        <p:spPr>
          <a:xfrm>
            <a:off x="838200" y="784225"/>
            <a:ext cx="10515600" cy="13255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Agenda &amp; Purpose</a:t>
            </a:r>
            <a:endParaRPr/>
          </a:p>
        </p:txBody>
      </p:sp>
      <p:sp>
        <p:nvSpPr>
          <p:cNvPr id="136" name="Google Shape;136;p19"/>
          <p:cNvSpPr txBox="1"/>
          <p:nvPr>
            <p:ph idx="1" type="body"/>
          </p:nvPr>
        </p:nvSpPr>
        <p:spPr>
          <a:xfrm>
            <a:off x="838200" y="1825625"/>
            <a:ext cx="8384400" cy="43512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Font typeface="Arial"/>
              <a:buNone/>
            </a:pPr>
            <a:r>
              <a:rPr lang="en-US" sz="2400"/>
              <a:t>Purpose</a:t>
            </a:r>
            <a:r>
              <a:rPr lang="en-US" sz="2400"/>
              <a:t>:</a:t>
            </a:r>
            <a:endParaRPr sz="2400"/>
          </a:p>
          <a:p>
            <a:pPr indent="-368300" lvl="1" marL="800100" rtl="0" algn="l">
              <a:lnSpc>
                <a:spcPct val="130000"/>
              </a:lnSpc>
              <a:spcBef>
                <a:spcPts val="1000"/>
              </a:spcBef>
              <a:spcAft>
                <a:spcPts val="0"/>
              </a:spcAft>
              <a:buClr>
                <a:schemeClr val="accent2"/>
              </a:buClr>
              <a:buSzPts val="2000"/>
              <a:buFont typeface="Noto Sans Symbols"/>
              <a:buChar char="✔"/>
            </a:pPr>
            <a:r>
              <a:rPr lang="en-US" sz="2000"/>
              <a:t>Present the strategy &amp; focus areas for WBE for the next year</a:t>
            </a:r>
            <a:endParaRPr sz="2000"/>
          </a:p>
          <a:p>
            <a:pPr indent="0" lvl="0" marL="0" rtl="0" algn="l">
              <a:lnSpc>
                <a:spcPct val="90000"/>
              </a:lnSpc>
              <a:spcBef>
                <a:spcPts val="0"/>
              </a:spcBef>
              <a:spcAft>
                <a:spcPts val="0"/>
              </a:spcAft>
              <a:buClr>
                <a:schemeClr val="dk1"/>
              </a:buClr>
              <a:buSzPts val="2400"/>
              <a:buNone/>
            </a:pPr>
            <a:r>
              <a:t/>
            </a:r>
            <a:endParaRPr sz="2400"/>
          </a:p>
          <a:p>
            <a:pPr indent="0" lvl="0" marL="0" rtl="0" algn="l">
              <a:lnSpc>
                <a:spcPct val="90000"/>
              </a:lnSpc>
              <a:spcBef>
                <a:spcPts val="0"/>
              </a:spcBef>
              <a:spcAft>
                <a:spcPts val="0"/>
              </a:spcAft>
              <a:buClr>
                <a:schemeClr val="dk1"/>
              </a:buClr>
              <a:buSzPts val="2400"/>
              <a:buNone/>
            </a:pPr>
            <a:r>
              <a:rPr lang="en-US" sz="2400"/>
              <a:t>Agenda:</a:t>
            </a:r>
            <a:endParaRPr sz="2400"/>
          </a:p>
          <a:p>
            <a:pPr indent="-368300" lvl="1" marL="800100" marR="0" rtl="0" algn="l">
              <a:lnSpc>
                <a:spcPct val="130000"/>
              </a:lnSpc>
              <a:spcBef>
                <a:spcPts val="1000"/>
              </a:spcBef>
              <a:spcAft>
                <a:spcPts val="0"/>
              </a:spcAft>
              <a:buClr>
                <a:schemeClr val="accent2"/>
              </a:buClr>
              <a:buSzPts val="2000"/>
              <a:buFont typeface="Noto Sans Symbols"/>
              <a:buChar char="✔"/>
            </a:pPr>
            <a:r>
              <a:rPr lang="en-US" sz="2000"/>
              <a:t>Marketing Strategy Review</a:t>
            </a:r>
            <a:endParaRPr sz="2000"/>
          </a:p>
          <a:p>
            <a:pPr indent="-368300" lvl="1" marL="800100" marR="0" rtl="0" algn="l">
              <a:lnSpc>
                <a:spcPct val="130000"/>
              </a:lnSpc>
              <a:spcBef>
                <a:spcPts val="1000"/>
              </a:spcBef>
              <a:spcAft>
                <a:spcPts val="0"/>
              </a:spcAft>
              <a:buClr>
                <a:schemeClr val="accent2"/>
              </a:buClr>
              <a:buSzPts val="2000"/>
              <a:buFont typeface="Noto Sans Symbols"/>
              <a:buChar char="✔"/>
            </a:pPr>
            <a:r>
              <a:rPr lang="en-US" sz="2000"/>
              <a:t>Proposed Action Plan </a:t>
            </a:r>
            <a:endParaRPr sz="2000"/>
          </a:p>
          <a:p>
            <a:pPr indent="-368300" lvl="1" marL="800100" marR="0" rtl="0" algn="l">
              <a:lnSpc>
                <a:spcPct val="130000"/>
              </a:lnSpc>
              <a:spcBef>
                <a:spcPts val="1000"/>
              </a:spcBef>
              <a:spcAft>
                <a:spcPts val="0"/>
              </a:spcAft>
              <a:buClr>
                <a:schemeClr val="accent2"/>
              </a:buClr>
              <a:buSzPts val="2000"/>
              <a:buChar char="✔"/>
            </a:pPr>
            <a:r>
              <a:rPr lang="en-US" sz="2000"/>
              <a:t>Next Steps</a:t>
            </a:r>
            <a:endParaRPr sz="2000"/>
          </a:p>
          <a:p>
            <a:pPr indent="0" lvl="0" marL="685800" marR="0" rtl="0" algn="l">
              <a:lnSpc>
                <a:spcPct val="130000"/>
              </a:lnSpc>
              <a:spcBef>
                <a:spcPts val="1000"/>
              </a:spcBef>
              <a:spcAft>
                <a:spcPts val="0"/>
              </a:spcAft>
              <a:buNone/>
            </a:pPr>
            <a:r>
              <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Marketing Strategy</a:t>
            </a:r>
            <a:r>
              <a:rPr lang="en-US">
                <a:solidFill>
                  <a:srgbClr val="073763"/>
                </a:solidFill>
              </a:rPr>
              <a:t> - </a:t>
            </a:r>
            <a:r>
              <a:rPr b="0" i="1" lang="en-US">
                <a:solidFill>
                  <a:srgbClr val="073763"/>
                </a:solidFill>
                <a:latin typeface="Calibri"/>
                <a:ea typeface="Calibri"/>
                <a:cs typeface="Calibri"/>
                <a:sym typeface="Calibri"/>
              </a:rPr>
              <a:t>Overview</a:t>
            </a:r>
            <a:endParaRPr>
              <a:solidFill>
                <a:srgbClr val="073763"/>
              </a:solidFill>
            </a:endParaRPr>
          </a:p>
        </p:txBody>
      </p:sp>
      <p:sp>
        <p:nvSpPr>
          <p:cNvPr id="142" name="Google Shape;142;p20"/>
          <p:cNvSpPr txBox="1"/>
          <p:nvPr>
            <p:ph idx="1" type="body"/>
          </p:nvPr>
        </p:nvSpPr>
        <p:spPr>
          <a:xfrm>
            <a:off x="81100" y="1749425"/>
            <a:ext cx="3731700" cy="4563300"/>
          </a:xfrm>
          <a:prstGeom prst="rect">
            <a:avLst/>
          </a:prstGeom>
          <a:noFill/>
          <a:ln>
            <a:noFill/>
          </a:ln>
        </p:spPr>
        <p:txBody>
          <a:bodyPr anchorCtr="0" anchor="t" bIns="45700" lIns="91425" spcFirstLastPara="1" rIns="91425" wrap="square" tIns="45700">
            <a:noAutofit/>
          </a:bodyPr>
          <a:lstStyle/>
          <a:p>
            <a:pPr indent="457200" lvl="0" marL="0" rtl="0" algn="l">
              <a:lnSpc>
                <a:spcPct val="100000"/>
              </a:lnSpc>
              <a:spcBef>
                <a:spcPts val="1000"/>
              </a:spcBef>
              <a:spcAft>
                <a:spcPts val="0"/>
              </a:spcAft>
              <a:buNone/>
            </a:pPr>
            <a:r>
              <a:rPr b="1" lang="en-US" sz="1400">
                <a:solidFill>
                  <a:schemeClr val="accent2"/>
                </a:solidFill>
              </a:rPr>
              <a:t>Marketing Foundation:</a:t>
            </a:r>
            <a:endParaRPr b="1" sz="1400">
              <a:solidFill>
                <a:schemeClr val="accent2"/>
              </a:solidFill>
            </a:endParaRPr>
          </a:p>
          <a:p>
            <a:pPr indent="-200025" lvl="1" marL="685800" rtl="0" algn="l">
              <a:lnSpc>
                <a:spcPct val="100000"/>
              </a:lnSpc>
              <a:spcBef>
                <a:spcPts val="1000"/>
              </a:spcBef>
              <a:spcAft>
                <a:spcPts val="0"/>
              </a:spcAft>
              <a:buClr>
                <a:schemeClr val="accent2"/>
              </a:buClr>
              <a:buSzPts val="1350"/>
              <a:buFont typeface="Noto Sans Symbols"/>
              <a:buChar char="✔"/>
            </a:pPr>
            <a:r>
              <a:rPr lang="en-US" sz="1350"/>
              <a:t>Define the personas for WBEs and Corporates:</a:t>
            </a:r>
            <a:endParaRPr sz="1350"/>
          </a:p>
          <a:p>
            <a:pPr indent="-200025" lvl="2" marL="914400" rtl="0" algn="l">
              <a:lnSpc>
                <a:spcPct val="100000"/>
              </a:lnSpc>
              <a:spcBef>
                <a:spcPts val="1000"/>
              </a:spcBef>
              <a:spcAft>
                <a:spcPts val="0"/>
              </a:spcAft>
              <a:buClr>
                <a:schemeClr val="accent2"/>
              </a:buClr>
              <a:buSzPts val="1350"/>
              <a:buFont typeface="Noto Sans Symbols"/>
              <a:buChar char="•"/>
            </a:pPr>
            <a:r>
              <a:rPr lang="en-US" sz="1350"/>
              <a:t>WBEs - different personas for Certification &amp; Pre-Certification levels, new niche industry personas</a:t>
            </a:r>
            <a:endParaRPr sz="1350"/>
          </a:p>
          <a:p>
            <a:pPr indent="-200025" lvl="2" marL="914400" rtl="0" algn="l">
              <a:lnSpc>
                <a:spcPct val="100000"/>
              </a:lnSpc>
              <a:spcBef>
                <a:spcPts val="1000"/>
              </a:spcBef>
              <a:spcAft>
                <a:spcPts val="0"/>
              </a:spcAft>
              <a:buClr>
                <a:schemeClr val="accent2"/>
              </a:buClr>
              <a:buSzPts val="1350"/>
              <a:buFont typeface="Noto Sans Symbols"/>
              <a:buChar char="•"/>
            </a:pPr>
            <a:r>
              <a:rPr lang="en-US" sz="1350"/>
              <a:t>Corporates: Break out Corporates into two personas: Corporate &amp; Public Sector</a:t>
            </a:r>
            <a:endParaRPr sz="1350"/>
          </a:p>
          <a:p>
            <a:pPr indent="-200025" lvl="1" marL="685800" rtl="0" algn="l">
              <a:lnSpc>
                <a:spcPct val="100000"/>
              </a:lnSpc>
              <a:spcBef>
                <a:spcPts val="1000"/>
              </a:spcBef>
              <a:spcAft>
                <a:spcPts val="0"/>
              </a:spcAft>
              <a:buClr>
                <a:schemeClr val="accent2"/>
              </a:buClr>
              <a:buSzPts val="1350"/>
              <a:buFont typeface="Noto Sans Symbols"/>
              <a:buChar char="✔"/>
            </a:pPr>
            <a:r>
              <a:rPr lang="en-US" sz="1350"/>
              <a:t>Adjust messaging to be more accessible and relatable to all women business owners &amp; update on website, social media, and key marketing assets</a:t>
            </a:r>
            <a:endParaRPr sz="1350"/>
          </a:p>
          <a:p>
            <a:pPr indent="-200025" lvl="1" marL="685800" rtl="0" algn="l">
              <a:lnSpc>
                <a:spcPct val="100000"/>
              </a:lnSpc>
              <a:spcBef>
                <a:spcPts val="1000"/>
              </a:spcBef>
              <a:spcAft>
                <a:spcPts val="0"/>
              </a:spcAft>
              <a:buClr>
                <a:schemeClr val="accent2"/>
              </a:buClr>
              <a:buSzPts val="1350"/>
              <a:buFont typeface="Noto Sans Symbols"/>
              <a:buChar char="✔"/>
            </a:pPr>
            <a:r>
              <a:rPr lang="en-US" sz="1350"/>
              <a:t>More clearly communicate the levels for WBEs (Certification &amp; Pre-Certification (Tools for Growth) &amp; help prospective WBEs decide which is for them</a:t>
            </a:r>
            <a:endParaRPr sz="900"/>
          </a:p>
          <a:p>
            <a:pPr indent="0" lvl="0" marL="1143000" rtl="0" algn="l">
              <a:lnSpc>
                <a:spcPct val="100000"/>
              </a:lnSpc>
              <a:spcBef>
                <a:spcPts val="0"/>
              </a:spcBef>
              <a:spcAft>
                <a:spcPts val="0"/>
              </a:spcAft>
              <a:buNone/>
            </a:pPr>
            <a:r>
              <a:t/>
            </a:r>
            <a:endParaRPr sz="1900"/>
          </a:p>
        </p:txBody>
      </p:sp>
      <p:sp>
        <p:nvSpPr>
          <p:cNvPr id="143" name="Google Shape;143;p20"/>
          <p:cNvSpPr txBox="1"/>
          <p:nvPr>
            <p:ph idx="1" type="body"/>
          </p:nvPr>
        </p:nvSpPr>
        <p:spPr>
          <a:xfrm>
            <a:off x="4314500" y="1825625"/>
            <a:ext cx="3132300" cy="456330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100000"/>
              </a:lnSpc>
              <a:spcBef>
                <a:spcPts val="1000"/>
              </a:spcBef>
              <a:spcAft>
                <a:spcPts val="0"/>
              </a:spcAft>
              <a:buNone/>
            </a:pPr>
            <a:r>
              <a:rPr b="1" lang="en-US" sz="2100">
                <a:solidFill>
                  <a:schemeClr val="accent2"/>
                </a:solidFill>
              </a:rPr>
              <a:t>New Marketing Funnels &amp; Processes:</a:t>
            </a:r>
            <a:endParaRPr sz="2100">
              <a:solidFill>
                <a:schemeClr val="accent2"/>
              </a:solidFill>
            </a:endParaRPr>
          </a:p>
          <a:p>
            <a:pPr indent="-198755" lvl="1" marL="342900" rtl="0" algn="l">
              <a:lnSpc>
                <a:spcPct val="100000"/>
              </a:lnSpc>
              <a:spcBef>
                <a:spcPts val="1000"/>
              </a:spcBef>
              <a:spcAft>
                <a:spcPts val="0"/>
              </a:spcAft>
              <a:buSzPct val="100000"/>
              <a:buChar char="✔"/>
            </a:pPr>
            <a:r>
              <a:rPr lang="en-US" sz="1900"/>
              <a:t>Create new marketing funnels for each persona:</a:t>
            </a:r>
            <a:endParaRPr sz="1900"/>
          </a:p>
          <a:p>
            <a:pPr indent="-198755" lvl="2" marL="571500" rtl="0" algn="l">
              <a:lnSpc>
                <a:spcPct val="100000"/>
              </a:lnSpc>
              <a:spcBef>
                <a:spcPts val="1000"/>
              </a:spcBef>
              <a:spcAft>
                <a:spcPts val="0"/>
              </a:spcAft>
              <a:buSzPct val="100000"/>
              <a:buChar char="•"/>
            </a:pPr>
            <a:r>
              <a:rPr lang="en-US" sz="1900"/>
              <a:t>WBEs (main funnel + niche funnel)</a:t>
            </a:r>
            <a:endParaRPr sz="1900"/>
          </a:p>
          <a:p>
            <a:pPr indent="-198755" lvl="2" marL="571500" rtl="0" algn="l">
              <a:lnSpc>
                <a:spcPct val="100000"/>
              </a:lnSpc>
              <a:spcBef>
                <a:spcPts val="1000"/>
              </a:spcBef>
              <a:spcAft>
                <a:spcPts val="0"/>
              </a:spcAft>
              <a:buSzPct val="100000"/>
              <a:buChar char="•"/>
            </a:pPr>
            <a:r>
              <a:rPr lang="en-US" sz="1900"/>
              <a:t>Corporate</a:t>
            </a:r>
            <a:endParaRPr sz="1900"/>
          </a:p>
          <a:p>
            <a:pPr indent="-198755" lvl="2" marL="571500" rtl="0" algn="l">
              <a:lnSpc>
                <a:spcPct val="100000"/>
              </a:lnSpc>
              <a:spcBef>
                <a:spcPts val="1000"/>
              </a:spcBef>
              <a:spcAft>
                <a:spcPts val="0"/>
              </a:spcAft>
              <a:buSzPct val="100000"/>
              <a:buChar char="•"/>
            </a:pPr>
            <a:r>
              <a:rPr lang="en-US" sz="1900"/>
              <a:t>Public Sector</a:t>
            </a:r>
            <a:endParaRPr sz="1900"/>
          </a:p>
          <a:p>
            <a:pPr indent="-198755" lvl="1" marL="342900" rtl="0" algn="l">
              <a:lnSpc>
                <a:spcPct val="100000"/>
              </a:lnSpc>
              <a:spcBef>
                <a:spcPts val="1000"/>
              </a:spcBef>
              <a:spcAft>
                <a:spcPts val="0"/>
              </a:spcAft>
              <a:buSzPct val="100000"/>
              <a:buChar char="✔"/>
            </a:pPr>
            <a:r>
              <a:rPr lang="en-US" sz="1900"/>
              <a:t>WBE funnel designed to:</a:t>
            </a:r>
            <a:endParaRPr sz="1900"/>
          </a:p>
          <a:p>
            <a:pPr indent="-198755" lvl="2" marL="571500" rtl="0" algn="l">
              <a:lnSpc>
                <a:spcPct val="100000"/>
              </a:lnSpc>
              <a:spcBef>
                <a:spcPts val="1000"/>
              </a:spcBef>
              <a:spcAft>
                <a:spcPts val="0"/>
              </a:spcAft>
              <a:buSzPct val="100000"/>
              <a:buChar char="•"/>
            </a:pPr>
            <a:r>
              <a:rPr lang="en-US" sz="1900"/>
              <a:t>Get more prospective WBEs on the initial email list</a:t>
            </a:r>
            <a:endParaRPr sz="1900"/>
          </a:p>
          <a:p>
            <a:pPr indent="-198755" lvl="2" marL="571500" rtl="0" algn="l">
              <a:lnSpc>
                <a:spcPct val="100000"/>
              </a:lnSpc>
              <a:spcBef>
                <a:spcPts val="1000"/>
              </a:spcBef>
              <a:spcAft>
                <a:spcPts val="0"/>
              </a:spcAft>
              <a:buSzPct val="100000"/>
              <a:buChar char="•"/>
            </a:pPr>
            <a:r>
              <a:rPr lang="en-US" sz="1900"/>
              <a:t>Convert them to Certification or Pre-Certification (Tools for Growth) level</a:t>
            </a:r>
            <a:endParaRPr sz="1900"/>
          </a:p>
          <a:p>
            <a:pPr indent="-198755" lvl="2" marL="571500" rtl="0" algn="l">
              <a:lnSpc>
                <a:spcPct val="100000"/>
              </a:lnSpc>
              <a:spcBef>
                <a:spcPts val="1000"/>
              </a:spcBef>
              <a:spcAft>
                <a:spcPts val="0"/>
              </a:spcAft>
              <a:buSzPct val="100000"/>
              <a:buChar char="•"/>
            </a:pPr>
            <a:r>
              <a:rPr lang="en-US" sz="1900"/>
              <a:t>Convert Pre-Certification (Tools for Growth) sign ups  to Certification</a:t>
            </a:r>
            <a:endParaRPr sz="1900"/>
          </a:p>
          <a:p>
            <a:pPr indent="-198755" lvl="1" marL="342900" rtl="0" algn="l">
              <a:lnSpc>
                <a:spcPct val="100000"/>
              </a:lnSpc>
              <a:spcBef>
                <a:spcPts val="1000"/>
              </a:spcBef>
              <a:spcAft>
                <a:spcPts val="0"/>
              </a:spcAft>
              <a:buSzPct val="100000"/>
              <a:buChar char="✔"/>
            </a:pPr>
            <a:r>
              <a:rPr lang="en-US" sz="1900"/>
              <a:t>Similar for corporates and public sector</a:t>
            </a:r>
            <a:endParaRPr sz="6400"/>
          </a:p>
        </p:txBody>
      </p:sp>
      <p:sp>
        <p:nvSpPr>
          <p:cNvPr id="144" name="Google Shape;144;p20"/>
          <p:cNvSpPr txBox="1"/>
          <p:nvPr/>
        </p:nvSpPr>
        <p:spPr>
          <a:xfrm>
            <a:off x="7446800" y="1707725"/>
            <a:ext cx="4102800" cy="3732600"/>
          </a:xfrm>
          <a:prstGeom prst="rect">
            <a:avLst/>
          </a:prstGeom>
          <a:noFill/>
          <a:ln>
            <a:noFill/>
          </a:ln>
        </p:spPr>
        <p:txBody>
          <a:bodyPr anchorCtr="0" anchor="t" bIns="91425" lIns="91425" spcFirstLastPara="1" rIns="91425" wrap="square" tIns="91425">
            <a:spAutoFit/>
          </a:bodyPr>
          <a:lstStyle/>
          <a:p>
            <a:pPr indent="457200" lvl="0" marL="0" rtl="0" algn="l">
              <a:spcBef>
                <a:spcPts val="1000"/>
              </a:spcBef>
              <a:spcAft>
                <a:spcPts val="0"/>
              </a:spcAft>
              <a:buNone/>
            </a:pPr>
            <a:r>
              <a:rPr b="1" lang="en-US" sz="1450">
                <a:solidFill>
                  <a:schemeClr val="accent2"/>
                </a:solidFill>
                <a:latin typeface="Calibri"/>
                <a:ea typeface="Calibri"/>
                <a:cs typeface="Calibri"/>
                <a:sym typeface="Calibri"/>
              </a:rPr>
              <a:t>Marketing Outreach:</a:t>
            </a:r>
            <a:endParaRPr b="1" sz="1450">
              <a:solidFill>
                <a:schemeClr val="accent2"/>
              </a:solidFill>
              <a:latin typeface="Calibri"/>
              <a:ea typeface="Calibri"/>
              <a:cs typeface="Calibri"/>
              <a:sym typeface="Calibri"/>
            </a:endParaRPr>
          </a:p>
          <a:p>
            <a:pPr indent="-200025" lvl="1" marL="685800" rtl="0" algn="l">
              <a:spcBef>
                <a:spcPts val="0"/>
              </a:spcBef>
              <a:spcAft>
                <a:spcPts val="0"/>
              </a:spcAft>
              <a:buClr>
                <a:schemeClr val="accent2"/>
              </a:buClr>
              <a:buSzPts val="1350"/>
              <a:buFont typeface="Noto Sans Symbols"/>
              <a:buChar char="✔"/>
            </a:pPr>
            <a:r>
              <a:rPr lang="en-US" sz="1250">
                <a:solidFill>
                  <a:schemeClr val="dk1"/>
                </a:solidFill>
                <a:latin typeface="Calibri"/>
                <a:ea typeface="Calibri"/>
                <a:cs typeface="Calibri"/>
                <a:sym typeface="Calibri"/>
              </a:rPr>
              <a:t>Generate more awareness of WBE Canada:</a:t>
            </a:r>
            <a:endParaRPr sz="1350">
              <a:solidFill>
                <a:schemeClr val="dk1"/>
              </a:solidFill>
              <a:latin typeface="Calibri"/>
              <a:ea typeface="Calibri"/>
              <a:cs typeface="Calibri"/>
              <a:sym typeface="Calibri"/>
            </a:endParaRPr>
          </a:p>
          <a:p>
            <a:pPr indent="-200025" lvl="2" marL="914400" rtl="0" algn="l">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SEO to capture potential WBEs and Corporates while searching</a:t>
            </a:r>
            <a:endParaRPr sz="1350">
              <a:solidFill>
                <a:schemeClr val="dk1"/>
              </a:solidFill>
              <a:latin typeface="Calibri"/>
              <a:ea typeface="Calibri"/>
              <a:cs typeface="Calibri"/>
              <a:sym typeface="Calibri"/>
            </a:endParaRPr>
          </a:p>
          <a:p>
            <a:pPr indent="-200025" lvl="2" marL="914400" rtl="0" algn="l">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Content marketing, Social Media, Hub Pages</a:t>
            </a:r>
            <a:endParaRPr sz="1350">
              <a:solidFill>
                <a:schemeClr val="dk1"/>
              </a:solidFill>
              <a:latin typeface="Calibri"/>
              <a:ea typeface="Calibri"/>
              <a:cs typeface="Calibri"/>
              <a:sym typeface="Calibri"/>
            </a:endParaRPr>
          </a:p>
          <a:p>
            <a:pPr indent="-200025" lvl="2" marL="914400" rtl="0" algn="l">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Facebook Advertising + Group Participation</a:t>
            </a:r>
            <a:endParaRPr sz="1350">
              <a:solidFill>
                <a:schemeClr val="dk1"/>
              </a:solidFill>
              <a:latin typeface="Calibri"/>
              <a:ea typeface="Calibri"/>
              <a:cs typeface="Calibri"/>
              <a:sym typeface="Calibri"/>
            </a:endParaRPr>
          </a:p>
          <a:p>
            <a:pPr indent="-200025" lvl="2" marL="914400" rtl="0" algn="l">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LinkedIn Networking + Group Participation</a:t>
            </a:r>
            <a:endParaRPr sz="1350">
              <a:solidFill>
                <a:schemeClr val="dk1"/>
              </a:solidFill>
              <a:latin typeface="Calibri"/>
              <a:ea typeface="Calibri"/>
              <a:cs typeface="Calibri"/>
              <a:sym typeface="Calibri"/>
            </a:endParaRPr>
          </a:p>
          <a:p>
            <a:pPr indent="-200025" lvl="2" marL="914400" rtl="0" algn="l">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Business, women’s, and trade associations - sponsorship, advertising, events, other participation</a:t>
            </a:r>
            <a:endParaRPr sz="1350">
              <a:solidFill>
                <a:schemeClr val="dk1"/>
              </a:solidFill>
              <a:latin typeface="Calibri"/>
              <a:ea typeface="Calibri"/>
              <a:cs typeface="Calibri"/>
              <a:sym typeface="Calibri"/>
            </a:endParaRPr>
          </a:p>
          <a:p>
            <a:pPr indent="-200025" lvl="1" marL="685800" rtl="0" algn="l">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Targeted Campaigns:</a:t>
            </a:r>
            <a:endParaRPr sz="1350">
              <a:solidFill>
                <a:schemeClr val="dk1"/>
              </a:solidFill>
              <a:latin typeface="Calibri"/>
              <a:ea typeface="Calibri"/>
              <a:cs typeface="Calibri"/>
              <a:sym typeface="Calibri"/>
            </a:endParaRPr>
          </a:p>
          <a:p>
            <a:pPr indent="-200025" lvl="2" marL="914400" rtl="0" algn="l">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Target key WBE niches with specific messaging around their industry - eg Construction, etc. </a:t>
            </a:r>
            <a:endParaRPr sz="1350">
              <a:solidFill>
                <a:schemeClr val="dk1"/>
              </a:solidFill>
              <a:latin typeface="Calibri"/>
              <a:ea typeface="Calibri"/>
              <a:cs typeface="Calibri"/>
              <a:sym typeface="Calibri"/>
            </a:endParaRPr>
          </a:p>
          <a:p>
            <a:pPr indent="-200025" lvl="2" marL="914400" rtl="0" algn="l">
              <a:spcBef>
                <a:spcPts val="0"/>
              </a:spcBef>
              <a:spcAft>
                <a:spcPts val="0"/>
              </a:spcAft>
              <a:buClr>
                <a:schemeClr val="accent2"/>
              </a:buClr>
              <a:buSzPts val="1350"/>
              <a:buFont typeface="Noto Sans Symbols"/>
              <a:buChar char="•"/>
            </a:pPr>
            <a:r>
              <a:rPr lang="en-US" sz="1350">
                <a:solidFill>
                  <a:schemeClr val="dk1"/>
                </a:solidFill>
                <a:latin typeface="Calibri"/>
                <a:ea typeface="Calibri"/>
                <a:cs typeface="Calibri"/>
                <a:sym typeface="Calibri"/>
              </a:rPr>
              <a:t>Reach more corporates and public sector partners through association marketing</a:t>
            </a:r>
            <a:endParaRPr sz="1100"/>
          </a:p>
        </p:txBody>
      </p:sp>
      <p:cxnSp>
        <p:nvCxnSpPr>
          <p:cNvPr id="145" name="Google Shape;145;p20"/>
          <p:cNvCxnSpPr/>
          <p:nvPr/>
        </p:nvCxnSpPr>
        <p:spPr>
          <a:xfrm>
            <a:off x="4057000" y="1658000"/>
            <a:ext cx="13200" cy="4624500"/>
          </a:xfrm>
          <a:prstGeom prst="straightConnector1">
            <a:avLst/>
          </a:prstGeom>
          <a:noFill/>
          <a:ln cap="flat" cmpd="sng" w="9525">
            <a:solidFill>
              <a:srgbClr val="AFDFE4"/>
            </a:solidFill>
            <a:prstDash val="solid"/>
            <a:round/>
            <a:headEnd len="med" w="med" type="none"/>
            <a:tailEnd len="med" w="med" type="none"/>
          </a:ln>
        </p:spPr>
      </p:cxnSp>
      <p:cxnSp>
        <p:nvCxnSpPr>
          <p:cNvPr id="146" name="Google Shape;146;p20"/>
          <p:cNvCxnSpPr/>
          <p:nvPr/>
        </p:nvCxnSpPr>
        <p:spPr>
          <a:xfrm>
            <a:off x="7808450" y="1688975"/>
            <a:ext cx="13200" cy="4624500"/>
          </a:xfrm>
          <a:prstGeom prst="straightConnector1">
            <a:avLst/>
          </a:prstGeom>
          <a:noFill/>
          <a:ln cap="flat" cmpd="sng" w="9525">
            <a:solidFill>
              <a:srgbClr val="AFDFE4"/>
            </a:solidFill>
            <a:prstDash val="solid"/>
            <a:round/>
            <a:headEnd len="med" w="med" type="none"/>
            <a:tailEnd len="med" w="med" type="non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1"/>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Background &amp; Research </a:t>
            </a:r>
            <a:endParaRPr>
              <a:solidFill>
                <a:srgbClr val="073763"/>
              </a:solidFill>
            </a:endParaRPr>
          </a:p>
          <a:p>
            <a:pPr indent="0" lvl="0" marL="0" rtl="0" algn="l">
              <a:lnSpc>
                <a:spcPct val="90000"/>
              </a:lnSpc>
              <a:spcBef>
                <a:spcPts val="0"/>
              </a:spcBef>
              <a:spcAft>
                <a:spcPts val="0"/>
              </a:spcAft>
              <a:buClr>
                <a:schemeClr val="accent2"/>
              </a:buClr>
              <a:buSzPts val="4400"/>
              <a:buFont typeface="Calibri"/>
              <a:buNone/>
            </a:pPr>
            <a:r>
              <a:t/>
            </a:r>
            <a:endParaRPr b="0" i="1" sz="3400">
              <a:solidFill>
                <a:srgbClr val="073763"/>
              </a:solidFill>
              <a:latin typeface="Calibri"/>
              <a:ea typeface="Calibri"/>
              <a:cs typeface="Calibri"/>
              <a:sym typeface="Calibri"/>
            </a:endParaRPr>
          </a:p>
        </p:txBody>
      </p:sp>
      <p:sp>
        <p:nvSpPr>
          <p:cNvPr id="152" name="Google Shape;152;p21"/>
          <p:cNvSpPr txBox="1"/>
          <p:nvPr>
            <p:ph idx="1" type="body"/>
          </p:nvPr>
        </p:nvSpPr>
        <p:spPr>
          <a:xfrm>
            <a:off x="838225" y="1805125"/>
            <a:ext cx="8097900" cy="4630200"/>
          </a:xfrm>
          <a:prstGeom prst="rect">
            <a:avLst/>
          </a:prstGeom>
          <a:noFill/>
          <a:ln>
            <a:noFill/>
          </a:ln>
        </p:spPr>
        <p:txBody>
          <a:bodyPr anchorCtr="0" anchor="t" bIns="45700" lIns="91425" spcFirstLastPara="1" rIns="91425" wrap="square" tIns="45700">
            <a:noAutofit/>
          </a:bodyPr>
          <a:lstStyle/>
          <a:p>
            <a:pPr indent="0" lvl="0" marL="228600" marR="0" rtl="0" algn="l">
              <a:lnSpc>
                <a:spcPct val="100000"/>
              </a:lnSpc>
              <a:spcBef>
                <a:spcPts val="1000"/>
              </a:spcBef>
              <a:spcAft>
                <a:spcPts val="0"/>
              </a:spcAft>
              <a:buNone/>
            </a:pPr>
            <a:r>
              <a:t/>
            </a:r>
            <a:endParaRPr sz="2050"/>
          </a:p>
          <a:p>
            <a:pPr indent="0" lvl="0" marL="0" marR="0" rtl="0" algn="l">
              <a:lnSpc>
                <a:spcPct val="100000"/>
              </a:lnSpc>
              <a:spcBef>
                <a:spcPts val="1000"/>
              </a:spcBef>
              <a:spcAft>
                <a:spcPts val="0"/>
              </a:spcAft>
              <a:buNone/>
            </a:pPr>
            <a:r>
              <a:t/>
            </a:r>
            <a:endParaRPr sz="2050"/>
          </a:p>
          <a:p>
            <a:pPr indent="-244475" lvl="1" marL="685800" marR="0" rtl="0" algn="l">
              <a:lnSpc>
                <a:spcPct val="100000"/>
              </a:lnSpc>
              <a:spcBef>
                <a:spcPts val="1000"/>
              </a:spcBef>
              <a:spcAft>
                <a:spcPts val="0"/>
              </a:spcAft>
              <a:buClr>
                <a:schemeClr val="accent2"/>
              </a:buClr>
              <a:buSzPts val="2050"/>
              <a:buFont typeface="Calibri"/>
              <a:buChar char="✔"/>
            </a:pPr>
            <a:r>
              <a:rPr lang="en-US" sz="2050"/>
              <a:t>WBE, Corporate &amp; Team interviews and insights summaries</a:t>
            </a:r>
            <a:endParaRPr sz="2050"/>
          </a:p>
          <a:p>
            <a:pPr indent="-244475" lvl="1" marL="685800" marR="0" rtl="0" algn="l">
              <a:lnSpc>
                <a:spcPct val="100000"/>
              </a:lnSpc>
              <a:spcBef>
                <a:spcPts val="1000"/>
              </a:spcBef>
              <a:spcAft>
                <a:spcPts val="0"/>
              </a:spcAft>
              <a:buClr>
                <a:schemeClr val="accent2"/>
              </a:buClr>
              <a:buSzPts val="2050"/>
              <a:buFont typeface="Calibri"/>
              <a:buChar char="✔"/>
            </a:pPr>
            <a:r>
              <a:rPr lang="en-US" sz="2050"/>
              <a:t>Competitive &amp; market review</a:t>
            </a:r>
            <a:endParaRPr sz="2050"/>
          </a:p>
          <a:p>
            <a:pPr indent="-244475" lvl="1" marL="685800" marR="0" rtl="0" algn="l">
              <a:lnSpc>
                <a:spcPct val="100000"/>
              </a:lnSpc>
              <a:spcBef>
                <a:spcPts val="1000"/>
              </a:spcBef>
              <a:spcAft>
                <a:spcPts val="0"/>
              </a:spcAft>
              <a:buClr>
                <a:schemeClr val="accent2"/>
              </a:buClr>
              <a:buSzPts val="2050"/>
              <a:buFont typeface="Calibri"/>
              <a:buChar char="✔"/>
            </a:pPr>
            <a:r>
              <a:rPr lang="en-US" sz="2050"/>
              <a:t>Total Online Presence Review</a:t>
            </a:r>
            <a:endParaRPr sz="2050"/>
          </a:p>
          <a:p>
            <a:pPr indent="-244475" lvl="1" marL="685800" marR="0" rtl="0" algn="l">
              <a:lnSpc>
                <a:spcPct val="100000"/>
              </a:lnSpc>
              <a:spcBef>
                <a:spcPts val="1000"/>
              </a:spcBef>
              <a:spcAft>
                <a:spcPts val="0"/>
              </a:spcAft>
              <a:buClr>
                <a:schemeClr val="accent2"/>
              </a:buClr>
              <a:buSzPts val="2050"/>
              <a:buFont typeface="Calibri"/>
              <a:buChar char="✔"/>
            </a:pPr>
            <a:r>
              <a:rPr lang="en-US" sz="2050"/>
              <a:t>Key findings and recommendations (strategy first interim meeting)</a:t>
            </a:r>
            <a:endParaRPr sz="205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Marketing Strategy </a:t>
            </a:r>
            <a:endParaRPr/>
          </a:p>
          <a:p>
            <a:pPr indent="0" lvl="0" marL="0" rtl="0" algn="ctr">
              <a:lnSpc>
                <a:spcPct val="90000"/>
              </a:lnSpc>
              <a:spcBef>
                <a:spcPts val="0"/>
              </a:spcBef>
              <a:spcAft>
                <a:spcPts val="0"/>
              </a:spcAft>
              <a:buClr>
                <a:schemeClr val="accent2"/>
              </a:buClr>
              <a:buSzPts val="4400"/>
              <a:buFont typeface="Calibri"/>
              <a:buNone/>
            </a:pPr>
            <a:r>
              <a:rPr lang="en-US"/>
              <a:t>Goals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3"/>
          <p:cNvSpPr txBox="1"/>
          <p:nvPr>
            <p:ph type="title"/>
          </p:nvPr>
        </p:nvSpPr>
        <p:spPr>
          <a:xfrm>
            <a:off x="838200" y="784225"/>
            <a:ext cx="11117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4200"/>
              <a:t>Goal: </a:t>
            </a:r>
            <a:r>
              <a:rPr b="0" lang="en-US" sz="4200">
                <a:latin typeface="Calibri"/>
                <a:ea typeface="Calibri"/>
                <a:cs typeface="Calibri"/>
                <a:sym typeface="Calibri"/>
              </a:rPr>
              <a:t>Clarify WBE Messaging</a:t>
            </a:r>
            <a:r>
              <a:rPr lang="en-US" sz="4200">
                <a:latin typeface="Calibri"/>
                <a:ea typeface="Calibri"/>
                <a:cs typeface="Calibri"/>
                <a:sym typeface="Calibri"/>
              </a:rPr>
              <a:t>			</a:t>
            </a:r>
            <a:endParaRPr sz="4200">
              <a:latin typeface="Calibri"/>
              <a:ea typeface="Calibri"/>
              <a:cs typeface="Calibri"/>
              <a:sym typeface="Calibri"/>
            </a:endParaRPr>
          </a:p>
        </p:txBody>
      </p:sp>
      <p:sp>
        <p:nvSpPr>
          <p:cNvPr id="163" name="Google Shape;163;p23"/>
          <p:cNvSpPr txBox="1"/>
          <p:nvPr>
            <p:ph idx="1" type="body"/>
          </p:nvPr>
        </p:nvSpPr>
        <p:spPr>
          <a:xfrm>
            <a:off x="632675" y="1880075"/>
            <a:ext cx="10400400" cy="4126500"/>
          </a:xfrm>
          <a:prstGeom prst="rect">
            <a:avLst/>
          </a:prstGeom>
          <a:noFill/>
          <a:ln>
            <a:noFill/>
          </a:ln>
        </p:spPr>
        <p:txBody>
          <a:bodyPr anchorCtr="0" anchor="t" bIns="45700" lIns="91425" spcFirstLastPara="1" rIns="91425" wrap="square" tIns="45700">
            <a:noAutofit/>
          </a:bodyPr>
          <a:lstStyle/>
          <a:p>
            <a:pPr indent="-292100" lvl="1" marL="742950" marR="0" rtl="0" algn="l">
              <a:lnSpc>
                <a:spcPct val="115000"/>
              </a:lnSpc>
              <a:spcBef>
                <a:spcPts val="1000"/>
              </a:spcBef>
              <a:spcAft>
                <a:spcPts val="0"/>
              </a:spcAft>
              <a:buClr>
                <a:schemeClr val="accent2"/>
              </a:buClr>
              <a:buSzPts val="1900"/>
              <a:buChar char="✔"/>
            </a:pPr>
            <a:r>
              <a:rPr b="1" lang="en-US" sz="1900"/>
              <a:t>Challenge:</a:t>
            </a:r>
            <a:r>
              <a:rPr b="1" lang="en-US" sz="1900">
                <a:solidFill>
                  <a:srgbClr val="F36E25"/>
                </a:solidFill>
              </a:rPr>
              <a:t> </a:t>
            </a:r>
            <a:r>
              <a:rPr lang="en-US" sz="1900"/>
              <a:t>Many WBEs who land on the website or social media pages may not be converting to sign-ups or Certification applications because the current messaging for potential WBEs:</a:t>
            </a:r>
            <a:endParaRPr sz="1900"/>
          </a:p>
          <a:p>
            <a:pPr indent="-234950" lvl="2" marL="1143000" marR="0" rtl="0" algn="l">
              <a:lnSpc>
                <a:spcPct val="115000"/>
              </a:lnSpc>
              <a:spcBef>
                <a:spcPts val="1000"/>
              </a:spcBef>
              <a:spcAft>
                <a:spcPts val="0"/>
              </a:spcAft>
              <a:buClr>
                <a:schemeClr val="accent2"/>
              </a:buClr>
              <a:buSzPts val="1900"/>
              <a:buChar char="•"/>
            </a:pPr>
            <a:r>
              <a:rPr lang="en-US" sz="1900"/>
              <a:t>May be too technical and use insider terms that all WBEs may not be familiar with (supplier diversity, procurement)</a:t>
            </a:r>
            <a:endParaRPr sz="1900"/>
          </a:p>
          <a:p>
            <a:pPr indent="-234950" lvl="2" marL="1143000" marR="0" rtl="0" algn="l">
              <a:lnSpc>
                <a:spcPct val="115000"/>
              </a:lnSpc>
              <a:spcBef>
                <a:spcPts val="1000"/>
              </a:spcBef>
              <a:spcAft>
                <a:spcPts val="0"/>
              </a:spcAft>
              <a:buClr>
                <a:schemeClr val="accent2"/>
              </a:buClr>
              <a:buSzPts val="1900"/>
              <a:buChar char="•"/>
            </a:pPr>
            <a:r>
              <a:rPr lang="en-US" sz="1900"/>
              <a:t>May not position WBE as </a:t>
            </a:r>
            <a:r>
              <a:rPr lang="en-US" sz="1900"/>
              <a:t>different</a:t>
            </a:r>
            <a:r>
              <a:rPr lang="en-US" sz="1900"/>
              <a:t> from other women organizations. </a:t>
            </a:r>
            <a:endParaRPr sz="1900"/>
          </a:p>
          <a:p>
            <a:pPr indent="-234950" lvl="1" marL="685800" rtl="0" algn="l">
              <a:lnSpc>
                <a:spcPct val="130000"/>
              </a:lnSpc>
              <a:spcBef>
                <a:spcPts val="1000"/>
              </a:spcBef>
              <a:spcAft>
                <a:spcPts val="0"/>
              </a:spcAft>
              <a:buClr>
                <a:schemeClr val="accent2"/>
              </a:buClr>
              <a:buSzPts val="1900"/>
              <a:buChar char="✔"/>
            </a:pPr>
            <a:r>
              <a:rPr b="1" lang="en-US" sz="1900"/>
              <a:t>Goal: </a:t>
            </a:r>
            <a:r>
              <a:rPr lang="en-US" sz="1900"/>
              <a:t>Use plain language that all WBEs can relate to and clearly differentiate WBE Canada from other women business organizations</a:t>
            </a:r>
            <a:endParaRPr sz="1900">
              <a:solidFill>
                <a:srgbClr val="F36E25"/>
              </a:solidFill>
            </a:endParaRPr>
          </a:p>
          <a:p>
            <a:pPr indent="-234950" lvl="1" marL="685800" rtl="0" algn="l">
              <a:lnSpc>
                <a:spcPct val="115000"/>
              </a:lnSpc>
              <a:spcBef>
                <a:spcPts val="1000"/>
              </a:spcBef>
              <a:spcAft>
                <a:spcPts val="0"/>
              </a:spcAft>
              <a:buClr>
                <a:schemeClr val="accent2"/>
              </a:buClr>
              <a:buSzPts val="1900"/>
              <a:buChar char="✔"/>
            </a:pPr>
            <a:r>
              <a:rPr b="1" lang="en-US" sz="1900"/>
              <a:t>Action Steps: </a:t>
            </a:r>
            <a:r>
              <a:rPr lang="en-US" sz="1900"/>
              <a:t>New messaging guide, updated messaging on the website and in key online and foundational marketing assets. </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4"/>
          <p:cNvSpPr txBox="1"/>
          <p:nvPr>
            <p:ph type="title"/>
          </p:nvPr>
        </p:nvSpPr>
        <p:spPr>
          <a:xfrm>
            <a:off x="838200" y="784225"/>
            <a:ext cx="11117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4200"/>
              <a:t>Goal: </a:t>
            </a:r>
            <a:r>
              <a:rPr b="0" lang="en-US" sz="4200">
                <a:latin typeface="Calibri"/>
                <a:ea typeface="Calibri"/>
                <a:cs typeface="Calibri"/>
                <a:sym typeface="Calibri"/>
              </a:rPr>
              <a:t>Clarify WBE Levels</a:t>
            </a:r>
            <a:endParaRPr sz="4200">
              <a:latin typeface="Calibri"/>
              <a:ea typeface="Calibri"/>
              <a:cs typeface="Calibri"/>
              <a:sym typeface="Calibri"/>
            </a:endParaRPr>
          </a:p>
        </p:txBody>
      </p:sp>
      <p:sp>
        <p:nvSpPr>
          <p:cNvPr id="169" name="Google Shape;169;p24"/>
          <p:cNvSpPr txBox="1"/>
          <p:nvPr>
            <p:ph idx="1" type="body"/>
          </p:nvPr>
        </p:nvSpPr>
        <p:spPr>
          <a:xfrm>
            <a:off x="605275" y="2167750"/>
            <a:ext cx="10400400" cy="4126500"/>
          </a:xfrm>
          <a:prstGeom prst="rect">
            <a:avLst/>
          </a:prstGeom>
          <a:noFill/>
          <a:ln>
            <a:noFill/>
          </a:ln>
        </p:spPr>
        <p:txBody>
          <a:bodyPr anchorCtr="0" anchor="t" bIns="45700" lIns="91425" spcFirstLastPara="1" rIns="91425" wrap="square" tIns="45700">
            <a:noAutofit/>
          </a:bodyPr>
          <a:lstStyle/>
          <a:p>
            <a:pPr indent="-234950" lvl="1" marL="685800" marR="0" rtl="0" algn="l">
              <a:lnSpc>
                <a:spcPct val="115000"/>
              </a:lnSpc>
              <a:spcBef>
                <a:spcPts val="1000"/>
              </a:spcBef>
              <a:spcAft>
                <a:spcPts val="0"/>
              </a:spcAft>
              <a:buClr>
                <a:schemeClr val="accent2"/>
              </a:buClr>
              <a:buSzPts val="1900"/>
              <a:buChar char="✔"/>
            </a:pPr>
            <a:r>
              <a:rPr b="1" lang="en-US" sz="1900"/>
              <a:t>Challenge:</a:t>
            </a:r>
            <a:r>
              <a:rPr b="1" lang="en-US" sz="1900">
                <a:solidFill>
                  <a:srgbClr val="F36E25"/>
                </a:solidFill>
              </a:rPr>
              <a:t> </a:t>
            </a:r>
            <a:r>
              <a:rPr lang="en-US" sz="1900"/>
              <a:t>Potential WBEs may not realize there are two paid participation levels with WBE Canada: Certification &amp; Pre-Certification (Tools for Growth), and WBE Canada may be missing an opportunity to convert more potential WBEs to sign up for the lower priced entry level option. </a:t>
            </a:r>
            <a:endParaRPr sz="1900"/>
          </a:p>
          <a:p>
            <a:pPr indent="-234950" lvl="1" marL="685800" rtl="0" algn="l">
              <a:lnSpc>
                <a:spcPct val="130000"/>
              </a:lnSpc>
              <a:spcBef>
                <a:spcPts val="1000"/>
              </a:spcBef>
              <a:spcAft>
                <a:spcPts val="0"/>
              </a:spcAft>
              <a:buClr>
                <a:schemeClr val="accent2"/>
              </a:buClr>
              <a:buSzPts val="1900"/>
              <a:buChar char="✔"/>
            </a:pPr>
            <a:r>
              <a:rPr b="1" lang="en-US" sz="1900"/>
              <a:t>Goal: </a:t>
            </a:r>
            <a:r>
              <a:rPr lang="en-US" sz="1900"/>
              <a:t>Make the two levels more clear, and encourage more WBEs who aren’t ready for Certification to sign up for Tools for Growth</a:t>
            </a:r>
            <a:endParaRPr sz="1900">
              <a:solidFill>
                <a:srgbClr val="F36E25"/>
              </a:solidFill>
            </a:endParaRPr>
          </a:p>
          <a:p>
            <a:pPr indent="-234950" lvl="1" marL="685800" rtl="0" algn="l">
              <a:lnSpc>
                <a:spcPct val="115000"/>
              </a:lnSpc>
              <a:spcBef>
                <a:spcPts val="1000"/>
              </a:spcBef>
              <a:spcAft>
                <a:spcPts val="0"/>
              </a:spcAft>
              <a:buClr>
                <a:schemeClr val="accent2"/>
              </a:buClr>
              <a:buSzPts val="1900"/>
              <a:buChar char="✔"/>
            </a:pPr>
            <a:r>
              <a:rPr b="1" lang="en-US" sz="1900"/>
              <a:t>Action Steps: </a:t>
            </a:r>
            <a:r>
              <a:rPr lang="en-US" sz="1900"/>
              <a:t>Create two WBE personas (Certification &amp; Pre-Certification), create checklist or similar to help potential WBEs take action, update key areas of the website to make these levels more clear. </a:t>
            </a:r>
            <a:endParaRPr sz="19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type="title"/>
          </p:nvPr>
        </p:nvSpPr>
        <p:spPr>
          <a:xfrm>
            <a:off x="838200" y="784225"/>
            <a:ext cx="107079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4200"/>
              <a:t>Goal: </a:t>
            </a:r>
            <a:r>
              <a:rPr b="0" lang="en-US" sz="4200">
                <a:latin typeface="Calibri"/>
                <a:ea typeface="Calibri"/>
                <a:cs typeface="Calibri"/>
                <a:sym typeface="Calibri"/>
              </a:rPr>
              <a:t>Get More Potential WBE Email Sign-Ups	</a:t>
            </a:r>
            <a:endParaRPr sz="4200">
              <a:latin typeface="Calibri"/>
              <a:ea typeface="Calibri"/>
              <a:cs typeface="Calibri"/>
              <a:sym typeface="Calibri"/>
            </a:endParaRPr>
          </a:p>
        </p:txBody>
      </p:sp>
      <p:sp>
        <p:nvSpPr>
          <p:cNvPr id="175" name="Google Shape;175;p25"/>
          <p:cNvSpPr txBox="1"/>
          <p:nvPr>
            <p:ph idx="1" type="body"/>
          </p:nvPr>
        </p:nvSpPr>
        <p:spPr>
          <a:xfrm>
            <a:off x="605275" y="2167750"/>
            <a:ext cx="10400400" cy="4126500"/>
          </a:xfrm>
          <a:prstGeom prst="rect">
            <a:avLst/>
          </a:prstGeom>
          <a:noFill/>
          <a:ln>
            <a:noFill/>
          </a:ln>
        </p:spPr>
        <p:txBody>
          <a:bodyPr anchorCtr="0" anchor="t" bIns="45700" lIns="91425" spcFirstLastPara="1" rIns="91425" wrap="square" tIns="45700">
            <a:noAutofit/>
          </a:bodyPr>
          <a:lstStyle/>
          <a:p>
            <a:pPr indent="-234950" lvl="1" marL="685800" rtl="0" algn="l">
              <a:lnSpc>
                <a:spcPct val="115000"/>
              </a:lnSpc>
              <a:spcBef>
                <a:spcPts val="1000"/>
              </a:spcBef>
              <a:spcAft>
                <a:spcPts val="0"/>
              </a:spcAft>
              <a:buClr>
                <a:schemeClr val="accent2"/>
              </a:buClr>
              <a:buSzPts val="1900"/>
              <a:buChar char="✔"/>
            </a:pPr>
            <a:r>
              <a:rPr b="1" lang="en-US" sz="1900"/>
              <a:t>Challenge:</a:t>
            </a:r>
            <a:r>
              <a:rPr b="1" lang="en-US" sz="1900">
                <a:solidFill>
                  <a:schemeClr val="accent1"/>
                </a:solidFill>
              </a:rPr>
              <a:t> </a:t>
            </a:r>
            <a:r>
              <a:rPr lang="en-US" sz="1900"/>
              <a:t>The current offer on the website to get more WBEs on the email list is a generic newsletter sign up form. There is no compelling offer to get potential WBEs on the email list so they can eventually convert to Certification or Pre-Certification (Tools for Growth) </a:t>
            </a:r>
            <a:endParaRPr sz="1900"/>
          </a:p>
          <a:p>
            <a:pPr indent="-234950" lvl="1" marL="685800" rtl="0" algn="l">
              <a:lnSpc>
                <a:spcPct val="130000"/>
              </a:lnSpc>
              <a:spcBef>
                <a:spcPts val="1000"/>
              </a:spcBef>
              <a:spcAft>
                <a:spcPts val="0"/>
              </a:spcAft>
              <a:buClr>
                <a:schemeClr val="accent2"/>
              </a:buClr>
              <a:buSzPts val="1900"/>
              <a:buChar char="✔"/>
            </a:pPr>
            <a:r>
              <a:rPr b="1" lang="en-US" sz="1900"/>
              <a:t>Goal: </a:t>
            </a:r>
            <a:r>
              <a:rPr lang="en-US" sz="1900"/>
              <a:t>Get more potential WBEs on the email list as a first step to increasing conversions.</a:t>
            </a:r>
            <a:endParaRPr sz="1900">
              <a:solidFill>
                <a:schemeClr val="accent1"/>
              </a:solidFill>
            </a:endParaRPr>
          </a:p>
          <a:p>
            <a:pPr indent="-234950" lvl="1" marL="685800" rtl="0" algn="l">
              <a:lnSpc>
                <a:spcPct val="115000"/>
              </a:lnSpc>
              <a:spcBef>
                <a:spcPts val="1000"/>
              </a:spcBef>
              <a:spcAft>
                <a:spcPts val="0"/>
              </a:spcAft>
              <a:buClr>
                <a:schemeClr val="accent2"/>
              </a:buClr>
              <a:buSzPts val="1900"/>
              <a:buChar char="✔"/>
            </a:pPr>
            <a:r>
              <a:rPr b="1" lang="en-US" sz="1900"/>
              <a:t>Action Steps: </a:t>
            </a:r>
            <a:r>
              <a:rPr lang="en-US" sz="1900"/>
              <a:t>Create a new offer (free guide to accessing corporate &amp; government contracts or similar), update the email sign up form on the website, and add a Thank You page and email auto-responder</a:t>
            </a:r>
            <a:endParaRPr b="1" sz="1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6"/>
          <p:cNvSpPr txBox="1"/>
          <p:nvPr>
            <p:ph type="title"/>
          </p:nvPr>
        </p:nvSpPr>
        <p:spPr>
          <a:xfrm>
            <a:off x="838200" y="784225"/>
            <a:ext cx="103101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4200"/>
              <a:t>Goal: </a:t>
            </a:r>
            <a:r>
              <a:rPr b="0" lang="en-US" sz="4200">
                <a:latin typeface="Calibri"/>
                <a:ea typeface="Calibri"/>
                <a:cs typeface="Calibri"/>
                <a:sym typeface="Calibri"/>
              </a:rPr>
              <a:t>Convert More WBEs to Certification</a:t>
            </a:r>
            <a:endParaRPr sz="4200">
              <a:latin typeface="Calibri"/>
              <a:ea typeface="Calibri"/>
              <a:cs typeface="Calibri"/>
              <a:sym typeface="Calibri"/>
            </a:endParaRPr>
          </a:p>
        </p:txBody>
      </p:sp>
      <p:sp>
        <p:nvSpPr>
          <p:cNvPr id="181" name="Google Shape;181;p26"/>
          <p:cNvSpPr txBox="1"/>
          <p:nvPr>
            <p:ph idx="1" type="body"/>
          </p:nvPr>
        </p:nvSpPr>
        <p:spPr>
          <a:xfrm>
            <a:off x="605275" y="2167750"/>
            <a:ext cx="10400400" cy="4126500"/>
          </a:xfrm>
          <a:prstGeom prst="rect">
            <a:avLst/>
          </a:prstGeom>
          <a:noFill/>
          <a:ln>
            <a:noFill/>
          </a:ln>
        </p:spPr>
        <p:txBody>
          <a:bodyPr anchorCtr="0" anchor="t" bIns="45700" lIns="91425" spcFirstLastPara="1" rIns="91425" wrap="square" tIns="45700">
            <a:noAutofit/>
          </a:bodyPr>
          <a:lstStyle/>
          <a:p>
            <a:pPr indent="-234950" lvl="1" marL="685800" rtl="0" algn="l">
              <a:lnSpc>
                <a:spcPct val="115000"/>
              </a:lnSpc>
              <a:spcBef>
                <a:spcPts val="1000"/>
              </a:spcBef>
              <a:spcAft>
                <a:spcPts val="0"/>
              </a:spcAft>
              <a:buClr>
                <a:schemeClr val="accent2"/>
              </a:buClr>
              <a:buSzPts val="1900"/>
              <a:buChar char="✔"/>
            </a:pPr>
            <a:r>
              <a:rPr b="1" lang="en-US" sz="1900"/>
              <a:t>Challenge:</a:t>
            </a:r>
            <a:r>
              <a:rPr b="1" lang="en-US" sz="1900">
                <a:solidFill>
                  <a:schemeClr val="accent1"/>
                </a:solidFill>
              </a:rPr>
              <a:t> </a:t>
            </a:r>
            <a:r>
              <a:rPr lang="en-US" sz="1900"/>
              <a:t>Once potential WBEs get on the email list, there is no nurturing sequence to encourage them to take more action and convert to Certification.</a:t>
            </a:r>
            <a:endParaRPr sz="1900"/>
          </a:p>
          <a:p>
            <a:pPr indent="-234950" lvl="1" marL="685800" rtl="0" algn="l">
              <a:lnSpc>
                <a:spcPct val="130000"/>
              </a:lnSpc>
              <a:spcBef>
                <a:spcPts val="1000"/>
              </a:spcBef>
              <a:spcAft>
                <a:spcPts val="0"/>
              </a:spcAft>
              <a:buClr>
                <a:schemeClr val="accent2"/>
              </a:buClr>
              <a:buSzPts val="1900"/>
              <a:buChar char="✔"/>
            </a:pPr>
            <a:r>
              <a:rPr b="1" lang="en-US" sz="1900"/>
              <a:t>Goal: </a:t>
            </a:r>
            <a:r>
              <a:rPr lang="en-US" sz="1900"/>
              <a:t>Get more potential WBEs to convert from an email sign-up to applying for Certification.</a:t>
            </a:r>
            <a:endParaRPr sz="1900">
              <a:solidFill>
                <a:schemeClr val="accent1"/>
              </a:solidFill>
            </a:endParaRPr>
          </a:p>
          <a:p>
            <a:pPr indent="-234950" lvl="1" marL="685800" rtl="0" algn="l">
              <a:lnSpc>
                <a:spcPct val="115000"/>
              </a:lnSpc>
              <a:spcBef>
                <a:spcPts val="1000"/>
              </a:spcBef>
              <a:spcAft>
                <a:spcPts val="0"/>
              </a:spcAft>
              <a:buClr>
                <a:schemeClr val="accent2"/>
              </a:buClr>
              <a:buSzPts val="1900"/>
              <a:buChar char="✔"/>
            </a:pPr>
            <a:r>
              <a:rPr b="1" lang="en-US" sz="1900"/>
              <a:t>Action Steps: </a:t>
            </a:r>
            <a:r>
              <a:rPr lang="en-US" sz="1900"/>
              <a:t>Create an email nurture sequence of 4 to 6 emails to encourage new email sign-ups to convert to Certification Applications. </a:t>
            </a:r>
            <a:endParaRPr b="1" sz="19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7"/>
          <p:cNvSpPr txBox="1"/>
          <p:nvPr>
            <p:ph type="title"/>
          </p:nvPr>
        </p:nvSpPr>
        <p:spPr>
          <a:xfrm>
            <a:off x="838200" y="784225"/>
            <a:ext cx="103101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4200"/>
              <a:t>Goal: </a:t>
            </a:r>
            <a:r>
              <a:rPr b="0" lang="en-US" sz="4200">
                <a:latin typeface="Calibri"/>
                <a:ea typeface="Calibri"/>
                <a:cs typeface="Calibri"/>
                <a:sym typeface="Calibri"/>
              </a:rPr>
              <a:t>Convert More WBEs to Tools for Growth</a:t>
            </a:r>
            <a:endParaRPr sz="4200">
              <a:latin typeface="Calibri"/>
              <a:ea typeface="Calibri"/>
              <a:cs typeface="Calibri"/>
              <a:sym typeface="Calibri"/>
            </a:endParaRPr>
          </a:p>
        </p:txBody>
      </p:sp>
      <p:sp>
        <p:nvSpPr>
          <p:cNvPr id="187" name="Google Shape;187;p27"/>
          <p:cNvSpPr txBox="1"/>
          <p:nvPr>
            <p:ph idx="1" type="body"/>
          </p:nvPr>
        </p:nvSpPr>
        <p:spPr>
          <a:xfrm>
            <a:off x="605275" y="2167750"/>
            <a:ext cx="10400400" cy="4126500"/>
          </a:xfrm>
          <a:prstGeom prst="rect">
            <a:avLst/>
          </a:prstGeom>
          <a:noFill/>
          <a:ln>
            <a:noFill/>
          </a:ln>
        </p:spPr>
        <p:txBody>
          <a:bodyPr anchorCtr="0" anchor="t" bIns="45700" lIns="91425" spcFirstLastPara="1" rIns="91425" wrap="square" tIns="45700">
            <a:noAutofit/>
          </a:bodyPr>
          <a:lstStyle/>
          <a:p>
            <a:pPr indent="-234950" lvl="1" marL="685800" rtl="0" algn="l">
              <a:lnSpc>
                <a:spcPct val="115000"/>
              </a:lnSpc>
              <a:spcBef>
                <a:spcPts val="1000"/>
              </a:spcBef>
              <a:spcAft>
                <a:spcPts val="0"/>
              </a:spcAft>
              <a:buClr>
                <a:schemeClr val="accent2"/>
              </a:buClr>
              <a:buSzPts val="1900"/>
              <a:buChar char="✔"/>
            </a:pPr>
            <a:r>
              <a:rPr b="1" lang="en-US" sz="1900"/>
              <a:t>Challenge:</a:t>
            </a:r>
            <a:r>
              <a:rPr b="1" lang="en-US" sz="1900">
                <a:solidFill>
                  <a:schemeClr val="accent1"/>
                </a:solidFill>
              </a:rPr>
              <a:t> </a:t>
            </a:r>
            <a:r>
              <a:rPr lang="en-US" sz="1900"/>
              <a:t>If a potential WBE is either not ready for Certification or is not convinced to Certify through the initial email sequence, there is a missed opportunity to have them join WBE at a lower risk paid level (Tools for Growth) in order to help them either get ready for Certification - or encourage them to apply. </a:t>
            </a:r>
            <a:endParaRPr sz="1900"/>
          </a:p>
          <a:p>
            <a:pPr indent="-234950" lvl="1" marL="685800" rtl="0" algn="l">
              <a:lnSpc>
                <a:spcPct val="130000"/>
              </a:lnSpc>
              <a:spcBef>
                <a:spcPts val="1000"/>
              </a:spcBef>
              <a:spcAft>
                <a:spcPts val="0"/>
              </a:spcAft>
              <a:buClr>
                <a:schemeClr val="accent2"/>
              </a:buClr>
              <a:buSzPts val="1900"/>
              <a:buChar char="✔"/>
            </a:pPr>
            <a:r>
              <a:rPr b="1" lang="en-US" sz="1900"/>
              <a:t>Goal: </a:t>
            </a:r>
            <a:r>
              <a:rPr lang="en-US" sz="1900"/>
              <a:t>Get more potential WBEs who don’t take action to apply for Certification to sign up for Tools for Growth. </a:t>
            </a:r>
            <a:endParaRPr sz="1900">
              <a:solidFill>
                <a:schemeClr val="accent1"/>
              </a:solidFill>
            </a:endParaRPr>
          </a:p>
          <a:p>
            <a:pPr indent="-234950" lvl="1" marL="685800" rtl="0" algn="l">
              <a:lnSpc>
                <a:spcPct val="115000"/>
              </a:lnSpc>
              <a:spcBef>
                <a:spcPts val="1000"/>
              </a:spcBef>
              <a:spcAft>
                <a:spcPts val="0"/>
              </a:spcAft>
              <a:buClr>
                <a:schemeClr val="accent2"/>
              </a:buClr>
              <a:buSzPts val="1900"/>
              <a:buChar char="✔"/>
            </a:pPr>
            <a:r>
              <a:rPr b="1" lang="en-US" sz="1900"/>
              <a:t>Action Steps: </a:t>
            </a:r>
            <a:r>
              <a:rPr lang="en-US" sz="1900"/>
              <a:t>After the main WBE certification email nurture sequence is complete, send a follow up email encouraging sign-up for Tools for Growth. Create a six month sequence of six monthly emails to encourage sign ups for Tools of Growth/Apply for Certification</a:t>
            </a:r>
            <a:endParaRPr b="1"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8"/>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Goal</a:t>
            </a:r>
            <a:r>
              <a:rPr lang="en-US"/>
              <a:t>: </a:t>
            </a:r>
            <a:r>
              <a:rPr b="0" lang="en-US" sz="4200">
                <a:latin typeface="Calibri"/>
                <a:ea typeface="Calibri"/>
                <a:cs typeface="Calibri"/>
                <a:sym typeface="Calibri"/>
              </a:rPr>
              <a:t>Increase Awareness with Potential WBEs </a:t>
            </a:r>
            <a:endParaRPr b="0" sz="4200">
              <a:latin typeface="Calibri"/>
              <a:ea typeface="Calibri"/>
              <a:cs typeface="Calibri"/>
              <a:sym typeface="Calibri"/>
            </a:endParaRPr>
          </a:p>
        </p:txBody>
      </p:sp>
      <p:sp>
        <p:nvSpPr>
          <p:cNvPr id="193" name="Google Shape;193;p28"/>
          <p:cNvSpPr txBox="1"/>
          <p:nvPr>
            <p:ph idx="1" type="body"/>
          </p:nvPr>
        </p:nvSpPr>
        <p:spPr>
          <a:xfrm>
            <a:off x="838200" y="1943100"/>
            <a:ext cx="10194300" cy="4233600"/>
          </a:xfrm>
          <a:prstGeom prst="rect">
            <a:avLst/>
          </a:prstGeom>
          <a:noFill/>
          <a:ln>
            <a:noFill/>
          </a:ln>
        </p:spPr>
        <p:txBody>
          <a:bodyPr anchorCtr="0" anchor="t" bIns="45700" lIns="91425" spcFirstLastPara="1" rIns="91425" wrap="square" tIns="45700">
            <a:normAutofit/>
          </a:bodyPr>
          <a:lstStyle/>
          <a:p>
            <a:pPr indent="-387350" lvl="1" marL="800100" marR="0" rtl="0" algn="l">
              <a:lnSpc>
                <a:spcPct val="130000"/>
              </a:lnSpc>
              <a:spcBef>
                <a:spcPts val="1000"/>
              </a:spcBef>
              <a:spcAft>
                <a:spcPts val="0"/>
              </a:spcAft>
              <a:buClr>
                <a:schemeClr val="accent2"/>
              </a:buClr>
              <a:buSzPts val="2300"/>
              <a:buChar char="✔"/>
            </a:pPr>
            <a:r>
              <a:rPr b="1" lang="en-US" sz="2000"/>
              <a:t>Challenge:</a:t>
            </a:r>
            <a:r>
              <a:rPr lang="en-US" sz="2000"/>
              <a:t> Lack of awareness of WBE Canada in general with many women business owners across Canada. </a:t>
            </a:r>
            <a:endParaRPr sz="2000"/>
          </a:p>
          <a:p>
            <a:pPr indent="-368300" lvl="1" marL="800100" marR="0" rtl="0" algn="l">
              <a:lnSpc>
                <a:spcPct val="130000"/>
              </a:lnSpc>
              <a:spcBef>
                <a:spcPts val="1000"/>
              </a:spcBef>
              <a:spcAft>
                <a:spcPts val="0"/>
              </a:spcAft>
              <a:buClr>
                <a:schemeClr val="accent2"/>
              </a:buClr>
              <a:buSzPts val="2000"/>
              <a:buChar char="✔"/>
            </a:pPr>
            <a:r>
              <a:rPr b="1" lang="en-US" sz="2000"/>
              <a:t>Goals:</a:t>
            </a:r>
            <a:r>
              <a:rPr lang="en-US" sz="2000"/>
              <a:t> Increase awareness of WBE Canada with women business owners and referring organizations across Canada.</a:t>
            </a:r>
            <a:endParaRPr sz="2000"/>
          </a:p>
          <a:p>
            <a:pPr indent="-361950" lvl="1" marL="800100" marR="0" rtl="0" algn="l">
              <a:lnSpc>
                <a:spcPct val="130000"/>
              </a:lnSpc>
              <a:spcBef>
                <a:spcPts val="1000"/>
              </a:spcBef>
              <a:spcAft>
                <a:spcPts val="0"/>
              </a:spcAft>
              <a:buClr>
                <a:schemeClr val="accent2"/>
              </a:buClr>
              <a:buSzPts val="1900"/>
              <a:buChar char="✔"/>
            </a:pPr>
            <a:r>
              <a:rPr b="1" lang="en-US" sz="2000"/>
              <a:t>Action Steps:</a:t>
            </a:r>
            <a:r>
              <a:rPr lang="en-US" sz="2000"/>
              <a:t> General awareness campaign targeted to all Women Owned Businesses through persona Hub Pages, SEO, social advertising, content marketing, and event/association marketing. While we aren’t specifically targeting Corporates, this campaign will have a residual awareness impact. </a:t>
            </a:r>
            <a:endParaRPr sz="1600"/>
          </a:p>
          <a:p>
            <a:pPr indent="0" lvl="0" marL="1143000" marR="0" rtl="0" algn="l">
              <a:lnSpc>
                <a:spcPct val="130000"/>
              </a:lnSpc>
              <a:spcBef>
                <a:spcPts val="1000"/>
              </a:spcBef>
              <a:spcAft>
                <a:spcPts val="0"/>
              </a:spcAft>
              <a:buNone/>
            </a:pPr>
            <a:r>
              <a:t/>
            </a:r>
            <a:endParaRPr sz="2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9"/>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4300"/>
              <a:t>Goal: </a:t>
            </a:r>
            <a:r>
              <a:rPr b="0" lang="en-US" sz="4300">
                <a:latin typeface="Calibri"/>
                <a:ea typeface="Calibri"/>
                <a:cs typeface="Calibri"/>
                <a:sym typeface="Calibri"/>
              </a:rPr>
              <a:t>Increase WBE Certifications through </a:t>
            </a:r>
            <a:r>
              <a:rPr b="0" lang="en-US" sz="4300">
                <a:latin typeface="Calibri"/>
                <a:ea typeface="Calibri"/>
                <a:cs typeface="Calibri"/>
                <a:sym typeface="Calibri"/>
              </a:rPr>
              <a:t>General </a:t>
            </a:r>
            <a:r>
              <a:rPr b="0" lang="en-US" sz="4300">
                <a:latin typeface="Calibri"/>
                <a:ea typeface="Calibri"/>
                <a:cs typeface="Calibri"/>
                <a:sym typeface="Calibri"/>
              </a:rPr>
              <a:t>Outreach</a:t>
            </a:r>
            <a:endParaRPr b="0" sz="4300">
              <a:latin typeface="Calibri"/>
              <a:ea typeface="Calibri"/>
              <a:cs typeface="Calibri"/>
              <a:sym typeface="Calibri"/>
            </a:endParaRPr>
          </a:p>
        </p:txBody>
      </p:sp>
      <p:sp>
        <p:nvSpPr>
          <p:cNvPr id="199" name="Google Shape;199;p29"/>
          <p:cNvSpPr txBox="1"/>
          <p:nvPr>
            <p:ph idx="1" type="body"/>
          </p:nvPr>
        </p:nvSpPr>
        <p:spPr>
          <a:xfrm>
            <a:off x="595275" y="2430525"/>
            <a:ext cx="10685700" cy="3700800"/>
          </a:xfrm>
          <a:prstGeom prst="rect">
            <a:avLst/>
          </a:prstGeom>
          <a:noFill/>
          <a:ln>
            <a:noFill/>
          </a:ln>
        </p:spPr>
        <p:txBody>
          <a:bodyPr anchorCtr="0" anchor="t" bIns="45700" lIns="91425" spcFirstLastPara="1" rIns="91425" wrap="square" tIns="45700">
            <a:normAutofit lnSpcReduction="10000"/>
          </a:bodyPr>
          <a:lstStyle/>
          <a:p>
            <a:pPr indent="-387350" lvl="1" marL="800100" marR="0" rtl="0" algn="l">
              <a:lnSpc>
                <a:spcPct val="115000"/>
              </a:lnSpc>
              <a:spcBef>
                <a:spcPts val="1000"/>
              </a:spcBef>
              <a:spcAft>
                <a:spcPts val="0"/>
              </a:spcAft>
              <a:buClr>
                <a:schemeClr val="accent2"/>
              </a:buClr>
              <a:buSzPts val="2300"/>
              <a:buChar char="✔"/>
            </a:pPr>
            <a:r>
              <a:rPr b="1" lang="en-US" sz="2000"/>
              <a:t>Challenge:</a:t>
            </a:r>
            <a:r>
              <a:rPr lang="en-US" sz="2000"/>
              <a:t> WBE Canada needs to </a:t>
            </a:r>
            <a:r>
              <a:rPr lang="en-US" sz="2000"/>
              <a:t>significantly</a:t>
            </a:r>
            <a:r>
              <a:rPr lang="en-US" sz="2000"/>
              <a:t> increase its base of Certified WBEs.</a:t>
            </a:r>
            <a:endParaRPr sz="2000"/>
          </a:p>
          <a:p>
            <a:pPr indent="-368300" lvl="1" marL="800100" marR="0" rtl="0" algn="l">
              <a:lnSpc>
                <a:spcPct val="130000"/>
              </a:lnSpc>
              <a:spcBef>
                <a:spcPts val="1000"/>
              </a:spcBef>
              <a:spcAft>
                <a:spcPts val="0"/>
              </a:spcAft>
              <a:buClr>
                <a:schemeClr val="accent2"/>
              </a:buClr>
              <a:buSzPts val="2000"/>
              <a:buChar char="✔"/>
            </a:pPr>
            <a:r>
              <a:rPr b="1" lang="en-US" sz="2000"/>
              <a:t>Goals:</a:t>
            </a:r>
            <a:r>
              <a:rPr lang="en-US" sz="2000"/>
              <a:t> Get more new potential WBEs to apply for Certification, either right away or by first signing-up for the email list or purchasing Tools for Growth, and then going through the email nurture </a:t>
            </a:r>
            <a:r>
              <a:rPr lang="en-US" sz="2000"/>
              <a:t>sequence</a:t>
            </a:r>
            <a:r>
              <a:rPr lang="en-US" sz="2000"/>
              <a:t> to convert to applying for Certification</a:t>
            </a:r>
            <a:endParaRPr sz="2000"/>
          </a:p>
          <a:p>
            <a:pPr indent="-361950" lvl="1" marL="800100" marR="0" rtl="0" algn="l">
              <a:lnSpc>
                <a:spcPct val="130000"/>
              </a:lnSpc>
              <a:spcBef>
                <a:spcPts val="1000"/>
              </a:spcBef>
              <a:spcAft>
                <a:spcPts val="0"/>
              </a:spcAft>
              <a:buClr>
                <a:schemeClr val="accent2"/>
              </a:buClr>
              <a:buSzPts val="1900"/>
              <a:buChar char="✔"/>
            </a:pPr>
            <a:r>
              <a:rPr b="1" lang="en-US" sz="2000"/>
              <a:t>Action Steps:</a:t>
            </a:r>
            <a:r>
              <a:rPr lang="en-US" sz="2000"/>
              <a:t> Create targeted campaigns aimed at the main WBE Certification persona:</a:t>
            </a:r>
            <a:endParaRPr sz="2000"/>
          </a:p>
          <a:p>
            <a:pPr indent="-241300" lvl="2" marL="1143000" marR="0" rtl="0" algn="l">
              <a:lnSpc>
                <a:spcPct val="130000"/>
              </a:lnSpc>
              <a:spcBef>
                <a:spcPts val="1000"/>
              </a:spcBef>
              <a:spcAft>
                <a:spcPts val="0"/>
              </a:spcAft>
              <a:buSzPts val="2000"/>
              <a:buChar char="•"/>
            </a:pPr>
            <a:r>
              <a:rPr lang="en-US"/>
              <a:t>Direct response social advertising (LinkedIn, Facebook)</a:t>
            </a:r>
            <a:endParaRPr/>
          </a:p>
          <a:p>
            <a:pPr indent="-228600" lvl="2" marL="1143000" marR="0" rtl="0" algn="l">
              <a:lnSpc>
                <a:spcPct val="130000"/>
              </a:lnSpc>
              <a:spcBef>
                <a:spcPts val="1000"/>
              </a:spcBef>
              <a:spcAft>
                <a:spcPts val="0"/>
              </a:spcAft>
              <a:buSzPts val="1800"/>
              <a:buChar char="•"/>
            </a:pPr>
            <a:r>
              <a:rPr lang="en-US"/>
              <a:t>Social Outreach</a:t>
            </a:r>
            <a:endParaRPr/>
          </a:p>
          <a:p>
            <a:pPr indent="-228600" lvl="2" marL="1143000" marR="0" rtl="0" algn="l">
              <a:lnSpc>
                <a:spcPct val="130000"/>
              </a:lnSpc>
              <a:spcBef>
                <a:spcPts val="1000"/>
              </a:spcBef>
              <a:spcAft>
                <a:spcPts val="0"/>
              </a:spcAft>
              <a:buSzPts val="1800"/>
              <a:buChar char="•"/>
            </a:pPr>
            <a:r>
              <a:rPr lang="en-US"/>
              <a:t>Direct Response Association/Event Marketing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4300"/>
              <a:t>Goal: </a:t>
            </a:r>
            <a:r>
              <a:rPr b="0" lang="en-US" sz="4300">
                <a:latin typeface="Calibri"/>
                <a:ea typeface="Calibri"/>
                <a:cs typeface="Calibri"/>
                <a:sym typeface="Calibri"/>
              </a:rPr>
              <a:t>Increase WBE Certifications through Targeted Niche Outreach</a:t>
            </a:r>
            <a:endParaRPr b="0" sz="4300">
              <a:latin typeface="Calibri"/>
              <a:ea typeface="Calibri"/>
              <a:cs typeface="Calibri"/>
              <a:sym typeface="Calibri"/>
            </a:endParaRPr>
          </a:p>
        </p:txBody>
      </p:sp>
      <p:sp>
        <p:nvSpPr>
          <p:cNvPr id="205" name="Google Shape;205;p30"/>
          <p:cNvSpPr txBox="1"/>
          <p:nvPr>
            <p:ph idx="1" type="body"/>
          </p:nvPr>
        </p:nvSpPr>
        <p:spPr>
          <a:xfrm>
            <a:off x="595275" y="2201925"/>
            <a:ext cx="10685700" cy="4046400"/>
          </a:xfrm>
          <a:prstGeom prst="rect">
            <a:avLst/>
          </a:prstGeom>
          <a:noFill/>
          <a:ln>
            <a:noFill/>
          </a:ln>
        </p:spPr>
        <p:txBody>
          <a:bodyPr anchorCtr="0" anchor="t" bIns="45700" lIns="91425" spcFirstLastPara="1" rIns="91425" wrap="square" tIns="45700">
            <a:normAutofit fontScale="92500" lnSpcReduction="20000"/>
          </a:bodyPr>
          <a:lstStyle/>
          <a:p>
            <a:pPr indent="-376396" lvl="1" marL="800100" marR="0" rtl="0" algn="l">
              <a:lnSpc>
                <a:spcPct val="115000"/>
              </a:lnSpc>
              <a:spcBef>
                <a:spcPts val="1000"/>
              </a:spcBef>
              <a:spcAft>
                <a:spcPts val="0"/>
              </a:spcAft>
              <a:buClr>
                <a:schemeClr val="accent2"/>
              </a:buClr>
              <a:buSzPct val="115000"/>
              <a:buChar char="✔"/>
            </a:pPr>
            <a:r>
              <a:rPr b="1" lang="en-US" sz="2000"/>
              <a:t>Challenge:</a:t>
            </a:r>
            <a:r>
              <a:rPr lang="en-US" sz="2000"/>
              <a:t> WBE Canada needs to significantly increase its base of Certified WBEs in specific target niches where they have Corporate Buyers (such as construction)</a:t>
            </a:r>
            <a:endParaRPr sz="2000"/>
          </a:p>
          <a:p>
            <a:pPr indent="-358775" lvl="1" marL="800100" marR="0" rtl="0" algn="l">
              <a:lnSpc>
                <a:spcPct val="130000"/>
              </a:lnSpc>
              <a:spcBef>
                <a:spcPts val="1000"/>
              </a:spcBef>
              <a:spcAft>
                <a:spcPts val="0"/>
              </a:spcAft>
              <a:buClr>
                <a:schemeClr val="accent2"/>
              </a:buClr>
              <a:buSzPct val="100000"/>
              <a:buChar char="✔"/>
            </a:pPr>
            <a:r>
              <a:rPr b="1" lang="en-US" sz="2000"/>
              <a:t>Goals:</a:t>
            </a:r>
            <a:r>
              <a:rPr lang="en-US" sz="2000"/>
              <a:t> Get more new potential WBEs in targeted industry niches to apply for Certification, either right away or by first signing-up for the email list or purchasing Tools for Growth, and then going through the email nurture sequence to convert to applying for Certification</a:t>
            </a:r>
            <a:endParaRPr sz="2000"/>
          </a:p>
          <a:p>
            <a:pPr indent="-352901" lvl="1" marL="800100" marR="0" rtl="0" algn="l">
              <a:lnSpc>
                <a:spcPct val="130000"/>
              </a:lnSpc>
              <a:spcBef>
                <a:spcPts val="1000"/>
              </a:spcBef>
              <a:spcAft>
                <a:spcPts val="0"/>
              </a:spcAft>
              <a:buClr>
                <a:schemeClr val="accent2"/>
              </a:buClr>
              <a:buSzPct val="95000"/>
              <a:buChar char="✔"/>
            </a:pPr>
            <a:r>
              <a:rPr b="1" lang="en-US" sz="2000"/>
              <a:t>Action Steps:</a:t>
            </a:r>
            <a:r>
              <a:rPr lang="en-US" sz="2000"/>
              <a:t> Create targeted campaigns aimed at individual WBE Niche personas (such as construction):</a:t>
            </a:r>
            <a:endParaRPr sz="2000"/>
          </a:p>
          <a:p>
            <a:pPr indent="-231775" lvl="2" marL="1143000" marR="0" rtl="0" algn="l">
              <a:lnSpc>
                <a:spcPct val="130000"/>
              </a:lnSpc>
              <a:spcBef>
                <a:spcPts val="0"/>
              </a:spcBef>
              <a:spcAft>
                <a:spcPts val="0"/>
              </a:spcAft>
              <a:buSzPct val="100000"/>
              <a:buChar char="•"/>
            </a:pPr>
            <a:r>
              <a:rPr lang="en-US"/>
              <a:t>Identify key industry associations, events and publications/online assets</a:t>
            </a:r>
            <a:endParaRPr/>
          </a:p>
          <a:p>
            <a:pPr indent="-231775" lvl="2" marL="1143000" marR="0" rtl="0" algn="l">
              <a:lnSpc>
                <a:spcPct val="130000"/>
              </a:lnSpc>
              <a:spcBef>
                <a:spcPts val="0"/>
              </a:spcBef>
              <a:spcAft>
                <a:spcPts val="0"/>
              </a:spcAft>
              <a:buSzPct val="100000"/>
              <a:buChar char="•"/>
            </a:pPr>
            <a:r>
              <a:rPr lang="en-US"/>
              <a:t>Create an association marketing kit (templates)</a:t>
            </a:r>
            <a:endParaRPr/>
          </a:p>
          <a:p>
            <a:pPr indent="-231775" lvl="2" marL="1143000" marR="0" rtl="0" algn="l">
              <a:lnSpc>
                <a:spcPct val="130000"/>
              </a:lnSpc>
              <a:spcBef>
                <a:spcPts val="0"/>
              </a:spcBef>
              <a:spcAft>
                <a:spcPts val="0"/>
              </a:spcAft>
              <a:buSzPct val="100000"/>
              <a:buChar char="•"/>
            </a:pPr>
            <a:r>
              <a:rPr lang="en-US"/>
              <a:t>Direct response social advertising (LinkedIn, Facebook)</a:t>
            </a:r>
            <a:endParaRPr/>
          </a:p>
          <a:p>
            <a:pPr indent="-220027" lvl="2" marL="1143000" marR="0" rtl="0" algn="l">
              <a:lnSpc>
                <a:spcPct val="130000"/>
              </a:lnSpc>
              <a:spcBef>
                <a:spcPts val="0"/>
              </a:spcBef>
              <a:spcAft>
                <a:spcPts val="0"/>
              </a:spcAft>
              <a:buSzPct val="90000"/>
              <a:buChar char="•"/>
            </a:pPr>
            <a:r>
              <a:rPr lang="en-US"/>
              <a:t>Social Outreach</a:t>
            </a:r>
            <a:endParaRPr/>
          </a:p>
          <a:p>
            <a:pPr indent="-220027" lvl="2" marL="1143000" marR="0" rtl="0" algn="l">
              <a:lnSpc>
                <a:spcPct val="130000"/>
              </a:lnSpc>
              <a:spcBef>
                <a:spcPts val="0"/>
              </a:spcBef>
              <a:spcAft>
                <a:spcPts val="0"/>
              </a:spcAft>
              <a:buSzPct val="90000"/>
              <a:buChar char="•"/>
            </a:pPr>
            <a:r>
              <a:rPr lang="en-US"/>
              <a:t>Direct Response Association/Event Marketing</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1"/>
          <p:cNvSpPr txBox="1"/>
          <p:nvPr>
            <p:ph type="title"/>
          </p:nvPr>
        </p:nvSpPr>
        <p:spPr>
          <a:xfrm>
            <a:off x="838200" y="784225"/>
            <a:ext cx="11117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4200"/>
              <a:t>Goal: </a:t>
            </a:r>
            <a:r>
              <a:rPr b="0" lang="en-US" sz="4200">
                <a:latin typeface="Calibri"/>
                <a:ea typeface="Calibri"/>
                <a:cs typeface="Calibri"/>
                <a:sym typeface="Calibri"/>
              </a:rPr>
              <a:t>Attract &amp; C</a:t>
            </a:r>
            <a:r>
              <a:rPr b="0" lang="en-US" sz="4200">
                <a:latin typeface="Calibri"/>
                <a:ea typeface="Calibri"/>
                <a:cs typeface="Calibri"/>
                <a:sym typeface="Calibri"/>
              </a:rPr>
              <a:t>onvert More Corporate Buyers</a:t>
            </a:r>
            <a:endParaRPr sz="4200">
              <a:latin typeface="Calibri"/>
              <a:ea typeface="Calibri"/>
              <a:cs typeface="Calibri"/>
              <a:sym typeface="Calibri"/>
            </a:endParaRPr>
          </a:p>
        </p:txBody>
      </p:sp>
      <p:sp>
        <p:nvSpPr>
          <p:cNvPr id="211" name="Google Shape;211;p31"/>
          <p:cNvSpPr txBox="1"/>
          <p:nvPr>
            <p:ph idx="1" type="body"/>
          </p:nvPr>
        </p:nvSpPr>
        <p:spPr>
          <a:xfrm>
            <a:off x="605275" y="2167750"/>
            <a:ext cx="10400400" cy="4126500"/>
          </a:xfrm>
          <a:prstGeom prst="rect">
            <a:avLst/>
          </a:prstGeom>
          <a:noFill/>
          <a:ln>
            <a:noFill/>
          </a:ln>
        </p:spPr>
        <p:txBody>
          <a:bodyPr anchorCtr="0" anchor="t" bIns="45700" lIns="91425" spcFirstLastPara="1" rIns="91425" wrap="square" tIns="45700">
            <a:noAutofit/>
          </a:bodyPr>
          <a:lstStyle/>
          <a:p>
            <a:pPr indent="-361950" lvl="1" marL="800100" marR="0" rtl="0" algn="l">
              <a:lnSpc>
                <a:spcPct val="115000"/>
              </a:lnSpc>
              <a:spcBef>
                <a:spcPts val="1000"/>
              </a:spcBef>
              <a:spcAft>
                <a:spcPts val="0"/>
              </a:spcAft>
              <a:buClr>
                <a:schemeClr val="accent2"/>
              </a:buClr>
              <a:buSzPts val="1900"/>
              <a:buChar char="✔"/>
            </a:pPr>
            <a:r>
              <a:rPr b="1" lang="en-US" sz="1900"/>
              <a:t>Challenge:</a:t>
            </a:r>
            <a:r>
              <a:rPr b="1" lang="en-US" sz="1900">
                <a:solidFill>
                  <a:srgbClr val="F36E25"/>
                </a:solidFill>
              </a:rPr>
              <a:t> </a:t>
            </a:r>
            <a:r>
              <a:rPr lang="en-US" sz="1900"/>
              <a:t>WBE Canada would like to onboard more corporate buyers. While the marketing and messaging on the corporate side is currently highly effective, there may be “marketing gap” for some public sector buyers who may not resonate with the more corporate language.</a:t>
            </a:r>
            <a:endParaRPr sz="1900"/>
          </a:p>
          <a:p>
            <a:pPr indent="-234950" lvl="1" marL="685800" rtl="0" algn="l">
              <a:lnSpc>
                <a:spcPct val="130000"/>
              </a:lnSpc>
              <a:spcBef>
                <a:spcPts val="1000"/>
              </a:spcBef>
              <a:spcAft>
                <a:spcPts val="0"/>
              </a:spcAft>
              <a:buClr>
                <a:schemeClr val="accent2"/>
              </a:buClr>
              <a:buSzPts val="1900"/>
              <a:buChar char="✔"/>
            </a:pPr>
            <a:r>
              <a:rPr b="1" lang="en-US" sz="1900"/>
              <a:t>Goal: </a:t>
            </a:r>
            <a:r>
              <a:rPr lang="en-US" sz="1900"/>
              <a:t>Attract and convert more buyers from the public sector by adjusting messaging to reflect their core values.</a:t>
            </a:r>
            <a:endParaRPr sz="1900">
              <a:solidFill>
                <a:srgbClr val="F36E25"/>
              </a:solidFill>
            </a:endParaRPr>
          </a:p>
          <a:p>
            <a:pPr indent="-234950" lvl="1" marL="685800" rtl="0" algn="l">
              <a:lnSpc>
                <a:spcPct val="115000"/>
              </a:lnSpc>
              <a:spcBef>
                <a:spcPts val="1000"/>
              </a:spcBef>
              <a:spcAft>
                <a:spcPts val="0"/>
              </a:spcAft>
              <a:buClr>
                <a:schemeClr val="accent2"/>
              </a:buClr>
              <a:buSzPts val="1900"/>
              <a:buChar char="✔"/>
            </a:pPr>
            <a:r>
              <a:rPr b="1" lang="en-US" sz="1900"/>
              <a:t>Action Steps: </a:t>
            </a:r>
            <a:r>
              <a:rPr lang="en-US" sz="1900"/>
              <a:t>Create two marketing personas: Corporate Buyer and Public Sector Buyer, along with marketing hubpages/landing pages for each and customized messaging to better resonate with the public sector buyer.  </a:t>
            </a:r>
            <a:endParaRPr sz="1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2"/>
          <p:cNvSpPr txBox="1"/>
          <p:nvPr>
            <p:ph type="title"/>
          </p:nvPr>
        </p:nvSpPr>
        <p:spPr>
          <a:xfrm>
            <a:off x="680325"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Goal: </a:t>
            </a:r>
            <a:r>
              <a:rPr b="0" lang="en-US">
                <a:latin typeface="Calibri"/>
                <a:ea typeface="Calibri"/>
                <a:cs typeface="Calibri"/>
                <a:sym typeface="Calibri"/>
              </a:rPr>
              <a:t>Engage &amp; Retain More WBEs &amp; Corporate Buyers</a:t>
            </a:r>
            <a:endParaRPr b="0">
              <a:latin typeface="Calibri"/>
              <a:ea typeface="Calibri"/>
              <a:cs typeface="Calibri"/>
              <a:sym typeface="Calibri"/>
            </a:endParaRPr>
          </a:p>
        </p:txBody>
      </p:sp>
      <p:sp>
        <p:nvSpPr>
          <p:cNvPr id="217" name="Google Shape;217;p32"/>
          <p:cNvSpPr txBox="1"/>
          <p:nvPr>
            <p:ph idx="1" type="body"/>
          </p:nvPr>
        </p:nvSpPr>
        <p:spPr>
          <a:xfrm>
            <a:off x="595275" y="2252875"/>
            <a:ext cx="10685700" cy="3878700"/>
          </a:xfrm>
          <a:prstGeom prst="rect">
            <a:avLst/>
          </a:prstGeom>
          <a:noFill/>
          <a:ln>
            <a:noFill/>
          </a:ln>
        </p:spPr>
        <p:txBody>
          <a:bodyPr anchorCtr="0" anchor="t" bIns="45700" lIns="91425" spcFirstLastPara="1" rIns="91425" wrap="square" tIns="45700">
            <a:normAutofit lnSpcReduction="10000"/>
          </a:bodyPr>
          <a:lstStyle/>
          <a:p>
            <a:pPr indent="-387350" lvl="1" marL="800100" marR="0" rtl="0" algn="l">
              <a:lnSpc>
                <a:spcPct val="115000"/>
              </a:lnSpc>
              <a:spcBef>
                <a:spcPts val="1000"/>
              </a:spcBef>
              <a:spcAft>
                <a:spcPts val="0"/>
              </a:spcAft>
              <a:buClr>
                <a:schemeClr val="accent2"/>
              </a:buClr>
              <a:buSzPts val="2300"/>
              <a:buChar char="✔"/>
            </a:pPr>
            <a:r>
              <a:rPr b="1" lang="en-US" sz="2000"/>
              <a:t>Challenge:</a:t>
            </a:r>
            <a:r>
              <a:rPr lang="en-US" sz="2000"/>
              <a:t> Some current WBEs &amp; Corporate Buyers are not reading emails from WBE Canada or participating in WBE activities. The interviews indicate that some WBEs may have an expectation gap in terms of what they expected to get from WBE Canada and what they did get.   </a:t>
            </a:r>
            <a:endParaRPr sz="2000"/>
          </a:p>
          <a:p>
            <a:pPr indent="-368300" lvl="1" marL="800100" marR="0" rtl="0" algn="l">
              <a:lnSpc>
                <a:spcPct val="130000"/>
              </a:lnSpc>
              <a:spcBef>
                <a:spcPts val="1000"/>
              </a:spcBef>
              <a:spcAft>
                <a:spcPts val="0"/>
              </a:spcAft>
              <a:buClr>
                <a:schemeClr val="accent2"/>
              </a:buClr>
              <a:buSzPts val="2000"/>
              <a:buChar char="✔"/>
            </a:pPr>
            <a:r>
              <a:rPr b="1" lang="en-US" sz="2000"/>
              <a:t>Goals:</a:t>
            </a:r>
            <a:r>
              <a:rPr lang="en-US" sz="2000"/>
              <a:t> Set the right expectations with WBEs right from the beginning so they know exactly what WBE Canada will do for them, and what they need to also do in order to get the value they want. Create a new way of communicating with WBEs to encourage participation and engagement.</a:t>
            </a:r>
            <a:endParaRPr sz="2000"/>
          </a:p>
          <a:p>
            <a:pPr indent="-361950" lvl="1" marL="800100" marR="0" rtl="0" algn="l">
              <a:lnSpc>
                <a:spcPct val="130000"/>
              </a:lnSpc>
              <a:spcBef>
                <a:spcPts val="1000"/>
              </a:spcBef>
              <a:spcAft>
                <a:spcPts val="0"/>
              </a:spcAft>
              <a:buClr>
                <a:schemeClr val="accent2"/>
              </a:buClr>
              <a:buSzPts val="1900"/>
              <a:buChar char="✔"/>
            </a:pPr>
            <a:r>
              <a:rPr b="1" lang="en-US" sz="2000"/>
              <a:t>Action Steps:</a:t>
            </a:r>
            <a:r>
              <a:rPr lang="en-US" sz="2000"/>
              <a:t> Create a Welcome Kit/Onboarding guide for WBE Canada Staff to use with new WBEs. Create a new Communication Guide &amp; Process for WBE Staff to use. </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3"/>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Marketing Strategy </a:t>
            </a:r>
            <a:endParaRPr/>
          </a:p>
          <a:p>
            <a:pPr indent="0" lvl="0" marL="0" rtl="0" algn="ctr">
              <a:lnSpc>
                <a:spcPct val="90000"/>
              </a:lnSpc>
              <a:spcBef>
                <a:spcPts val="0"/>
              </a:spcBef>
              <a:spcAft>
                <a:spcPts val="0"/>
              </a:spcAft>
              <a:buClr>
                <a:schemeClr val="accent2"/>
              </a:buClr>
              <a:buSzPts val="4400"/>
              <a:buFont typeface="Calibri"/>
              <a:buNone/>
            </a:pPr>
            <a:r>
              <a:rPr lang="en-US"/>
              <a:t>Overview</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4"/>
          <p:cNvSpPr txBox="1"/>
          <p:nvPr>
            <p:ph type="title"/>
          </p:nvPr>
        </p:nvSpPr>
        <p:spPr>
          <a:xfrm>
            <a:off x="450625" y="8153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Marketing Challenges </a:t>
            </a:r>
            <a:endParaRPr b="0" i="1">
              <a:solidFill>
                <a:srgbClr val="073763"/>
              </a:solidFill>
              <a:latin typeface="Calibri"/>
              <a:ea typeface="Calibri"/>
              <a:cs typeface="Calibri"/>
              <a:sym typeface="Calibri"/>
            </a:endParaRPr>
          </a:p>
        </p:txBody>
      </p:sp>
      <p:sp>
        <p:nvSpPr>
          <p:cNvPr id="228" name="Google Shape;228;p34"/>
          <p:cNvSpPr txBox="1"/>
          <p:nvPr>
            <p:ph idx="1" type="body"/>
          </p:nvPr>
        </p:nvSpPr>
        <p:spPr>
          <a:xfrm>
            <a:off x="930125" y="1714500"/>
            <a:ext cx="9578100" cy="4630200"/>
          </a:xfrm>
          <a:prstGeom prst="rect">
            <a:avLst/>
          </a:prstGeom>
          <a:noFill/>
          <a:ln>
            <a:noFill/>
          </a:ln>
        </p:spPr>
        <p:txBody>
          <a:bodyPr anchorCtr="0" anchor="t" bIns="45700" lIns="91425" spcFirstLastPara="1" rIns="91425" wrap="square" tIns="45700">
            <a:noAutofit/>
          </a:bodyPr>
          <a:lstStyle/>
          <a:p>
            <a:pPr indent="-368300" lvl="1" marL="800100" marR="0" rtl="0" algn="l">
              <a:lnSpc>
                <a:spcPct val="130000"/>
              </a:lnSpc>
              <a:spcBef>
                <a:spcPts val="1000"/>
              </a:spcBef>
              <a:spcAft>
                <a:spcPts val="0"/>
              </a:spcAft>
              <a:buClr>
                <a:schemeClr val="accent2"/>
              </a:buClr>
              <a:buSzPts val="2000"/>
              <a:buChar char="✔"/>
            </a:pPr>
            <a:r>
              <a:rPr lang="en-US" sz="2000"/>
              <a:t>Lack of awareness of WBE in general with WOBs</a:t>
            </a:r>
            <a:endParaRPr sz="2000"/>
          </a:p>
          <a:p>
            <a:pPr indent="-368300" lvl="1" marL="800100" marR="0" rtl="0" algn="l">
              <a:lnSpc>
                <a:spcPct val="130000"/>
              </a:lnSpc>
              <a:spcBef>
                <a:spcPts val="1000"/>
              </a:spcBef>
              <a:spcAft>
                <a:spcPts val="0"/>
              </a:spcAft>
              <a:buClr>
                <a:schemeClr val="accent2"/>
              </a:buClr>
              <a:buSzPts val="2000"/>
              <a:buChar char="✔"/>
            </a:pPr>
            <a:r>
              <a:rPr lang="en-US" sz="2000"/>
              <a:t>Lack of awareness of what supplier diversity is, and the opportunity for WOB</a:t>
            </a:r>
            <a:endParaRPr sz="2000"/>
          </a:p>
          <a:p>
            <a:pPr indent="-368300" lvl="1" marL="800100" marR="0" rtl="0" algn="l">
              <a:lnSpc>
                <a:spcPct val="130000"/>
              </a:lnSpc>
              <a:spcBef>
                <a:spcPts val="1000"/>
              </a:spcBef>
              <a:spcAft>
                <a:spcPts val="0"/>
              </a:spcAft>
              <a:buClr>
                <a:schemeClr val="accent2"/>
              </a:buClr>
              <a:buSzPts val="2000"/>
              <a:buChar char="✔"/>
            </a:pPr>
            <a:r>
              <a:rPr lang="en-US" sz="2000"/>
              <a:t>Misconceptions about what WBE really is and the benefits for WOBs</a:t>
            </a:r>
            <a:endParaRPr sz="2000"/>
          </a:p>
          <a:p>
            <a:pPr indent="-368300" lvl="1" marL="800100" marR="0" rtl="0" algn="l">
              <a:lnSpc>
                <a:spcPct val="130000"/>
              </a:lnSpc>
              <a:spcBef>
                <a:spcPts val="1000"/>
              </a:spcBef>
              <a:spcAft>
                <a:spcPts val="0"/>
              </a:spcAft>
              <a:buClr>
                <a:schemeClr val="accent2"/>
              </a:buClr>
              <a:buSzPts val="2000"/>
              <a:buChar char="✔"/>
            </a:pPr>
            <a:r>
              <a:rPr lang="en-US" sz="2000"/>
              <a:t>Messaging may not be clear for some WOBs</a:t>
            </a:r>
            <a:endParaRPr sz="2000"/>
          </a:p>
          <a:p>
            <a:pPr indent="-368300" lvl="1" marL="800100" marR="0" rtl="0" algn="l">
              <a:lnSpc>
                <a:spcPct val="130000"/>
              </a:lnSpc>
              <a:spcBef>
                <a:spcPts val="1000"/>
              </a:spcBef>
              <a:spcAft>
                <a:spcPts val="0"/>
              </a:spcAft>
              <a:buClr>
                <a:schemeClr val="accent2"/>
              </a:buClr>
              <a:buSzPts val="2000"/>
              <a:buChar char="✔"/>
            </a:pPr>
            <a:r>
              <a:rPr lang="en-US" sz="2000"/>
              <a:t>Different membership levels may not be clear for WOBs</a:t>
            </a:r>
            <a:endParaRPr sz="2000"/>
          </a:p>
          <a:p>
            <a:pPr indent="-368300" lvl="1" marL="800100" marR="0" rtl="0" algn="l">
              <a:lnSpc>
                <a:spcPct val="130000"/>
              </a:lnSpc>
              <a:spcBef>
                <a:spcPts val="1000"/>
              </a:spcBef>
              <a:spcAft>
                <a:spcPts val="0"/>
              </a:spcAft>
              <a:buClr>
                <a:schemeClr val="accent2"/>
              </a:buClr>
              <a:buSzPts val="2000"/>
              <a:buChar char="✔"/>
            </a:pPr>
            <a:r>
              <a:rPr lang="en-US" sz="2000"/>
              <a:t>WOBs are so diverse, targeting with a general message is challenging</a:t>
            </a:r>
            <a:endParaRPr sz="2000"/>
          </a:p>
          <a:p>
            <a:pPr indent="-368300" lvl="1" marL="800100" marR="0" rtl="0" algn="l">
              <a:lnSpc>
                <a:spcPct val="130000"/>
              </a:lnSpc>
              <a:spcBef>
                <a:spcPts val="1000"/>
              </a:spcBef>
              <a:spcAft>
                <a:spcPts val="0"/>
              </a:spcAft>
              <a:buClr>
                <a:schemeClr val="accent2"/>
              </a:buClr>
              <a:buSzPts val="2000"/>
              <a:buChar char="✔"/>
            </a:pPr>
            <a:r>
              <a:rPr lang="en-US" sz="2000"/>
              <a:t>Some internal challenges (such as email) may be impacting participation, retention and referrals</a:t>
            </a:r>
            <a:endParaRPr sz="2000"/>
          </a:p>
          <a:p>
            <a:pPr indent="0" lvl="0" marL="0" marR="0" rtl="0" algn="l">
              <a:lnSpc>
                <a:spcPct val="100000"/>
              </a:lnSpc>
              <a:spcBef>
                <a:spcPts val="1000"/>
              </a:spcBef>
              <a:spcAft>
                <a:spcPts val="0"/>
              </a:spcAft>
              <a:buNone/>
            </a:pPr>
            <a:r>
              <a:t/>
            </a:r>
            <a:endParaRPr sz="205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Marketing Strategy Overview </a:t>
            </a:r>
            <a:r>
              <a:rPr b="0" i="1" lang="en-US" sz="3600">
                <a:solidFill>
                  <a:srgbClr val="073763"/>
                </a:solidFill>
                <a:latin typeface="Calibri"/>
                <a:ea typeface="Calibri"/>
                <a:cs typeface="Calibri"/>
                <a:sym typeface="Calibri"/>
              </a:rPr>
              <a:t>Customer Journey </a:t>
            </a:r>
            <a:endParaRPr sz="3600">
              <a:solidFill>
                <a:srgbClr val="073763"/>
              </a:solidFill>
            </a:endParaRPr>
          </a:p>
        </p:txBody>
      </p:sp>
      <p:pic>
        <p:nvPicPr>
          <p:cNvPr id="234" name="Google Shape;234;p35"/>
          <p:cNvPicPr preferRelativeResize="0"/>
          <p:nvPr/>
        </p:nvPicPr>
        <p:blipFill>
          <a:blip r:embed="rId3">
            <a:alphaModFix/>
          </a:blip>
          <a:stretch>
            <a:fillRect/>
          </a:stretch>
        </p:blipFill>
        <p:spPr>
          <a:xfrm>
            <a:off x="2142375" y="1598725"/>
            <a:ext cx="3502345" cy="4443273"/>
          </a:xfrm>
          <a:prstGeom prst="rect">
            <a:avLst/>
          </a:prstGeom>
          <a:noFill/>
          <a:ln>
            <a:noFill/>
          </a:ln>
        </p:spPr>
      </p:pic>
      <p:pic>
        <p:nvPicPr>
          <p:cNvPr id="235" name="Google Shape;235;p35"/>
          <p:cNvPicPr preferRelativeResize="0"/>
          <p:nvPr/>
        </p:nvPicPr>
        <p:blipFill>
          <a:blip r:embed="rId4">
            <a:alphaModFix/>
          </a:blip>
          <a:stretch>
            <a:fillRect/>
          </a:stretch>
        </p:blipFill>
        <p:spPr>
          <a:xfrm>
            <a:off x="6379620" y="2768513"/>
            <a:ext cx="3524250" cy="27051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6"/>
          <p:cNvSpPr txBox="1"/>
          <p:nvPr>
            <p:ph type="title"/>
          </p:nvPr>
        </p:nvSpPr>
        <p:spPr>
          <a:xfrm>
            <a:off x="450625" y="8153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Strategy: Your Customer/Member Journey </a:t>
            </a:r>
            <a:endParaRPr b="0" i="1">
              <a:solidFill>
                <a:srgbClr val="073763"/>
              </a:solidFill>
              <a:latin typeface="Calibri"/>
              <a:ea typeface="Calibri"/>
              <a:cs typeface="Calibri"/>
              <a:sym typeface="Calibri"/>
            </a:endParaRPr>
          </a:p>
        </p:txBody>
      </p:sp>
      <p:sp>
        <p:nvSpPr>
          <p:cNvPr id="241" name="Google Shape;241;p36"/>
          <p:cNvSpPr txBox="1"/>
          <p:nvPr>
            <p:ph idx="1" type="body"/>
          </p:nvPr>
        </p:nvSpPr>
        <p:spPr>
          <a:xfrm>
            <a:off x="680600" y="1714500"/>
            <a:ext cx="98277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b="1" lang="en-US" sz="2050"/>
              <a:t>WBEs:</a:t>
            </a:r>
            <a:endParaRPr b="1" sz="2050"/>
          </a:p>
        </p:txBody>
      </p:sp>
      <p:graphicFrame>
        <p:nvGraphicFramePr>
          <p:cNvPr id="242" name="Google Shape;242;p36"/>
          <p:cNvGraphicFramePr/>
          <p:nvPr/>
        </p:nvGraphicFramePr>
        <p:xfrm>
          <a:off x="824038" y="2619763"/>
          <a:ext cx="3000000" cy="3000000"/>
        </p:xfrm>
        <a:graphic>
          <a:graphicData uri="http://schemas.openxmlformats.org/drawingml/2006/table">
            <a:tbl>
              <a:tblPr>
                <a:noFill/>
                <a:tableStyleId>{1E788136-AE12-4A8D-8108-555795C820F7}</a:tableStyleId>
              </a:tblPr>
              <a:tblGrid>
                <a:gridCol w="1506275"/>
                <a:gridCol w="1506275"/>
                <a:gridCol w="1506275"/>
                <a:gridCol w="1506275"/>
                <a:gridCol w="1506275"/>
                <a:gridCol w="1506275"/>
                <a:gridCol w="1506275"/>
              </a:tblGrid>
              <a:tr h="396200">
                <a:tc>
                  <a:txBody>
                    <a:bodyPr/>
                    <a:lstStyle/>
                    <a:p>
                      <a:pPr indent="0" lvl="0" marL="0" rtl="0" algn="l">
                        <a:spcBef>
                          <a:spcPts val="0"/>
                        </a:spcBef>
                        <a:spcAft>
                          <a:spcPts val="0"/>
                        </a:spcAft>
                        <a:buNone/>
                      </a:pPr>
                      <a:r>
                        <a:rPr b="1" lang="en-US"/>
                        <a:t>Know</a:t>
                      </a:r>
                      <a:endParaRPr b="1"/>
                    </a:p>
                  </a:txBody>
                  <a:tcPr marT="91425" marB="91425" marR="91425" marL="91425">
                    <a:solidFill>
                      <a:srgbClr val="AFDFE4"/>
                    </a:solidFill>
                  </a:tcPr>
                </a:tc>
                <a:tc>
                  <a:txBody>
                    <a:bodyPr/>
                    <a:lstStyle/>
                    <a:p>
                      <a:pPr indent="0" lvl="0" marL="0" rtl="0" algn="l">
                        <a:spcBef>
                          <a:spcPts val="0"/>
                        </a:spcBef>
                        <a:spcAft>
                          <a:spcPts val="0"/>
                        </a:spcAft>
                        <a:buNone/>
                      </a:pPr>
                      <a:r>
                        <a:rPr b="1" lang="en-US"/>
                        <a:t>Like</a:t>
                      </a:r>
                      <a:endParaRPr b="1"/>
                    </a:p>
                  </a:txBody>
                  <a:tcPr marT="91425" marB="91425" marR="91425" marL="91425">
                    <a:solidFill>
                      <a:srgbClr val="AFDFE4"/>
                    </a:solidFill>
                  </a:tcPr>
                </a:tc>
                <a:tc>
                  <a:txBody>
                    <a:bodyPr/>
                    <a:lstStyle/>
                    <a:p>
                      <a:pPr indent="0" lvl="0" marL="0" rtl="0" algn="l">
                        <a:spcBef>
                          <a:spcPts val="0"/>
                        </a:spcBef>
                        <a:spcAft>
                          <a:spcPts val="0"/>
                        </a:spcAft>
                        <a:buNone/>
                      </a:pPr>
                      <a:r>
                        <a:rPr b="1" lang="en-US"/>
                        <a:t>Trust</a:t>
                      </a:r>
                      <a:endParaRPr b="1"/>
                    </a:p>
                  </a:txBody>
                  <a:tcPr marT="91425" marB="91425" marR="91425" marL="91425">
                    <a:solidFill>
                      <a:srgbClr val="AFDFE4"/>
                    </a:solidFill>
                  </a:tcPr>
                </a:tc>
                <a:tc>
                  <a:txBody>
                    <a:bodyPr/>
                    <a:lstStyle/>
                    <a:p>
                      <a:pPr indent="0" lvl="0" marL="0" rtl="0" algn="l">
                        <a:spcBef>
                          <a:spcPts val="0"/>
                        </a:spcBef>
                        <a:spcAft>
                          <a:spcPts val="0"/>
                        </a:spcAft>
                        <a:buNone/>
                      </a:pPr>
                      <a:r>
                        <a:rPr b="1" lang="en-US"/>
                        <a:t>Try</a:t>
                      </a:r>
                      <a:endParaRPr b="1"/>
                    </a:p>
                  </a:txBody>
                  <a:tcPr marT="91425" marB="91425" marR="91425" marL="91425">
                    <a:solidFill>
                      <a:srgbClr val="AFDFE4"/>
                    </a:solidFill>
                  </a:tcPr>
                </a:tc>
                <a:tc>
                  <a:txBody>
                    <a:bodyPr/>
                    <a:lstStyle/>
                    <a:p>
                      <a:pPr indent="0" lvl="0" marL="0" rtl="0" algn="l">
                        <a:spcBef>
                          <a:spcPts val="0"/>
                        </a:spcBef>
                        <a:spcAft>
                          <a:spcPts val="0"/>
                        </a:spcAft>
                        <a:buNone/>
                      </a:pPr>
                      <a:r>
                        <a:rPr b="1" lang="en-US"/>
                        <a:t>Buy</a:t>
                      </a:r>
                      <a:endParaRPr b="1"/>
                    </a:p>
                  </a:txBody>
                  <a:tcPr marT="91425" marB="91425" marR="91425" marL="91425">
                    <a:solidFill>
                      <a:srgbClr val="AFDFE4"/>
                    </a:solidFill>
                  </a:tcPr>
                </a:tc>
                <a:tc>
                  <a:txBody>
                    <a:bodyPr/>
                    <a:lstStyle/>
                    <a:p>
                      <a:pPr indent="0" lvl="0" marL="0" rtl="0" algn="l">
                        <a:spcBef>
                          <a:spcPts val="0"/>
                        </a:spcBef>
                        <a:spcAft>
                          <a:spcPts val="0"/>
                        </a:spcAft>
                        <a:buNone/>
                      </a:pPr>
                      <a:r>
                        <a:rPr b="1" lang="en-US"/>
                        <a:t>Repeat</a:t>
                      </a:r>
                      <a:endParaRPr b="1"/>
                    </a:p>
                  </a:txBody>
                  <a:tcPr marT="91425" marB="91425" marR="91425" marL="91425">
                    <a:solidFill>
                      <a:srgbClr val="AFDFE4"/>
                    </a:solidFill>
                  </a:tcPr>
                </a:tc>
                <a:tc>
                  <a:txBody>
                    <a:bodyPr/>
                    <a:lstStyle/>
                    <a:p>
                      <a:pPr indent="0" lvl="0" marL="0" rtl="0" algn="l">
                        <a:spcBef>
                          <a:spcPts val="0"/>
                        </a:spcBef>
                        <a:spcAft>
                          <a:spcPts val="0"/>
                        </a:spcAft>
                        <a:buNone/>
                      </a:pPr>
                      <a:r>
                        <a:rPr b="1" lang="en-US"/>
                        <a:t>Refer</a:t>
                      </a:r>
                      <a:endParaRPr b="1"/>
                    </a:p>
                  </a:txBody>
                  <a:tcPr marT="91425" marB="91425" marR="91425" marL="91425">
                    <a:solidFill>
                      <a:srgbClr val="AFDFE4"/>
                    </a:solidFill>
                  </a:tcPr>
                </a:tc>
              </a:tr>
              <a:tr h="1676375">
                <a:tc>
                  <a:txBody>
                    <a:bodyPr/>
                    <a:lstStyle/>
                    <a:p>
                      <a:pPr indent="0" lvl="0" marL="0" rtl="0" algn="l">
                        <a:spcBef>
                          <a:spcPts val="0"/>
                        </a:spcBef>
                        <a:spcAft>
                          <a:spcPts val="0"/>
                        </a:spcAft>
                        <a:buNone/>
                      </a:pPr>
                      <a:r>
                        <a:rPr lang="en-US">
                          <a:latin typeface="Calibri"/>
                          <a:ea typeface="Calibri"/>
                          <a:cs typeface="Calibri"/>
                          <a:sym typeface="Calibri"/>
                        </a:rPr>
                        <a:t>Not much - BDC, other contracts</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Messaging, Videos, People, Mission</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Case studies, examples, results, people</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Low: Newsletter Sign Up</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Mid: Tools for Growth</a:t>
                      </a:r>
                      <a:endParaRPr>
                        <a:latin typeface="Calibri"/>
                        <a:ea typeface="Calibri"/>
                        <a:cs typeface="Calibri"/>
                        <a:sym typeface="Calibri"/>
                      </a:endParaRPr>
                    </a:p>
                    <a:p>
                      <a:pPr indent="0" lvl="0" marL="0" rtl="0" algn="l">
                        <a:spcBef>
                          <a:spcPts val="0"/>
                        </a:spcBef>
                        <a:spcAft>
                          <a:spcPts val="0"/>
                        </a:spcAft>
                        <a:buNone/>
                      </a:pPr>
                      <a:r>
                        <a:rPr lang="en-US">
                          <a:latin typeface="Calibri"/>
                          <a:ea typeface="Calibri"/>
                          <a:cs typeface="Calibri"/>
                          <a:sym typeface="Calibri"/>
                        </a:rPr>
                        <a:t>Videos, Events, etc.</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Membership, Certification Application, Onboarding Processes, Initial Ramp Up &amp; Training</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Member retention, engagement</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Great experience, get what they expected</a:t>
                      </a:r>
                      <a:endParaRPr>
                        <a:latin typeface="Calibri"/>
                        <a:ea typeface="Calibri"/>
                        <a:cs typeface="Calibri"/>
                        <a:sym typeface="Calibri"/>
                      </a:endParaRPr>
                    </a:p>
                  </a:txBody>
                  <a:tcPr marT="91425" marB="91425" marR="91425" marL="91425"/>
                </a:tc>
              </a:tr>
              <a:tr h="396200">
                <a:tc>
                  <a:txBody>
                    <a:bodyPr/>
                    <a:lstStyle/>
                    <a:p>
                      <a:pPr indent="0" lvl="0" marL="0" rtl="0" algn="l">
                        <a:spcBef>
                          <a:spcPts val="0"/>
                        </a:spcBef>
                        <a:spcAft>
                          <a:spcPts val="0"/>
                        </a:spcAft>
                        <a:buNone/>
                      </a:pPr>
                      <a:r>
                        <a:rPr lang="en-US">
                          <a:latin typeface="Calibri"/>
                          <a:ea typeface="Calibri"/>
                          <a:cs typeface="Calibri"/>
                          <a:sym typeface="Calibri"/>
                        </a:rPr>
                        <a:t>Biggest gap - Big Opportunity</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Messaging gap - Big Opportunity</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Good - Need More</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Big opportunity</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Improvements</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Improvements</a:t>
                      </a:r>
                      <a:endParaRPr>
                        <a:latin typeface="Calibri"/>
                        <a:ea typeface="Calibri"/>
                        <a:cs typeface="Calibri"/>
                        <a:sym typeface="Calibri"/>
                      </a:endParaRPr>
                    </a:p>
                  </a:txBody>
                  <a:tcPr marT="91425" marB="91425" marR="91425" marL="91425"/>
                </a:tc>
                <a:tc>
                  <a:txBody>
                    <a:bodyPr/>
                    <a:lstStyle/>
                    <a:p>
                      <a:pPr indent="0" lvl="0" marL="0" rtl="0" algn="l">
                        <a:spcBef>
                          <a:spcPts val="0"/>
                        </a:spcBef>
                        <a:spcAft>
                          <a:spcPts val="0"/>
                        </a:spcAft>
                        <a:buNone/>
                      </a:pPr>
                      <a:r>
                        <a:rPr lang="en-US">
                          <a:latin typeface="Calibri"/>
                          <a:ea typeface="Calibri"/>
                          <a:cs typeface="Calibri"/>
                          <a:sym typeface="Calibri"/>
                        </a:rPr>
                        <a:t>Improvements</a:t>
                      </a:r>
                      <a:endParaRPr>
                        <a:latin typeface="Calibri"/>
                        <a:ea typeface="Calibri"/>
                        <a:cs typeface="Calibri"/>
                        <a:sym typeface="Calibri"/>
                      </a:endParaRPr>
                    </a:p>
                  </a:txBody>
                  <a:tcPr marT="91425" marB="91425" marR="91425" marL="91425"/>
                </a:tc>
              </a:tr>
            </a:tbl>
          </a:graphicData>
        </a:graphic>
      </p:graphicFrame>
      <p:pic>
        <p:nvPicPr>
          <p:cNvPr id="243" name="Google Shape;243;p36"/>
          <p:cNvPicPr preferRelativeResize="0"/>
          <p:nvPr/>
        </p:nvPicPr>
        <p:blipFill rotWithShape="1">
          <a:blip r:embed="rId3">
            <a:alphaModFix/>
          </a:blip>
          <a:srcRect b="-22380" l="-339000" r="339000" t="22380"/>
          <a:stretch/>
        </p:blipFill>
        <p:spPr>
          <a:xfrm>
            <a:off x="450625" y="2409997"/>
            <a:ext cx="2553250" cy="3239201"/>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solidFill>
                  <a:schemeClr val="dk1"/>
                </a:solidFill>
              </a:rPr>
              <a:t>Marketing Strategy </a:t>
            </a:r>
            <a:r>
              <a:rPr b="0" i="1" lang="en-US">
                <a:solidFill>
                  <a:schemeClr val="dk1"/>
                </a:solidFill>
                <a:latin typeface="Calibri"/>
                <a:ea typeface="Calibri"/>
                <a:cs typeface="Calibri"/>
                <a:sym typeface="Calibri"/>
              </a:rPr>
              <a:t>Overview</a:t>
            </a:r>
            <a:endParaRPr b="0" i="1">
              <a:solidFill>
                <a:schemeClr val="dk1"/>
              </a:solidFill>
              <a:latin typeface="Calibri"/>
              <a:ea typeface="Calibri"/>
              <a:cs typeface="Calibri"/>
              <a:sym typeface="Calibri"/>
            </a:endParaRPr>
          </a:p>
        </p:txBody>
      </p:sp>
      <p:sp>
        <p:nvSpPr>
          <p:cNvPr id="249" name="Google Shape;249;p37"/>
          <p:cNvSpPr/>
          <p:nvPr/>
        </p:nvSpPr>
        <p:spPr>
          <a:xfrm>
            <a:off x="2694475" y="1943100"/>
            <a:ext cx="2159400" cy="1210500"/>
          </a:xfrm>
          <a:prstGeom prst="snip1Rect">
            <a:avLst>
              <a:gd fmla="val 16667" name="adj"/>
            </a:avLst>
          </a:prstGeom>
          <a:solidFill>
            <a:schemeClr val="accent3"/>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Clr>
                <a:schemeClr val="dk1"/>
              </a:buClr>
              <a:buFont typeface="Arial"/>
              <a:buNone/>
            </a:pPr>
            <a:r>
              <a:rPr b="1" lang="en-US" sz="1500">
                <a:solidFill>
                  <a:schemeClr val="accent5"/>
                </a:solidFill>
                <a:latin typeface="Calibri"/>
                <a:ea typeface="Calibri"/>
                <a:cs typeface="Calibri"/>
                <a:sym typeface="Calibri"/>
              </a:rPr>
              <a:t>Awareness Campaigns:</a:t>
            </a:r>
            <a:endParaRPr b="1" sz="15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500">
                <a:solidFill>
                  <a:schemeClr val="accent5"/>
                </a:solidFill>
                <a:latin typeface="Calibri"/>
                <a:ea typeface="Calibri"/>
                <a:cs typeface="Calibri"/>
                <a:sym typeface="Calibri"/>
              </a:rPr>
              <a:t>SEO/Google Ads</a:t>
            </a:r>
            <a:endParaRPr sz="15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500">
                <a:solidFill>
                  <a:schemeClr val="accent5"/>
                </a:solidFill>
                <a:latin typeface="Calibri"/>
                <a:ea typeface="Calibri"/>
                <a:cs typeface="Calibri"/>
                <a:sym typeface="Calibri"/>
              </a:rPr>
              <a:t>Persona Hub Pages</a:t>
            </a:r>
            <a:endParaRPr sz="1500">
              <a:solidFill>
                <a:schemeClr val="accent5"/>
              </a:solidFill>
              <a:latin typeface="Calibri"/>
              <a:ea typeface="Calibri"/>
              <a:cs typeface="Calibri"/>
              <a:sym typeface="Calibri"/>
            </a:endParaRPr>
          </a:p>
        </p:txBody>
      </p:sp>
      <p:sp>
        <p:nvSpPr>
          <p:cNvPr id="250" name="Google Shape;250;p37"/>
          <p:cNvSpPr/>
          <p:nvPr/>
        </p:nvSpPr>
        <p:spPr>
          <a:xfrm>
            <a:off x="10041900" y="4037000"/>
            <a:ext cx="1452000" cy="447900"/>
          </a:xfrm>
          <a:prstGeom prst="snip1Rect">
            <a:avLst>
              <a:gd fmla="val 16667" name="adj"/>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500">
                <a:solidFill>
                  <a:schemeClr val="accent5"/>
                </a:solidFill>
                <a:latin typeface="Calibri"/>
                <a:ea typeface="Calibri"/>
                <a:cs typeface="Calibri"/>
                <a:sym typeface="Calibri"/>
              </a:rPr>
              <a:t>Newsletter</a:t>
            </a:r>
            <a:endParaRPr sz="1500"/>
          </a:p>
        </p:txBody>
      </p:sp>
      <p:sp>
        <p:nvSpPr>
          <p:cNvPr id="251" name="Google Shape;251;p37"/>
          <p:cNvSpPr/>
          <p:nvPr/>
        </p:nvSpPr>
        <p:spPr>
          <a:xfrm>
            <a:off x="5300725" y="2549000"/>
            <a:ext cx="2039015" cy="2451129"/>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600">
                <a:solidFill>
                  <a:schemeClr val="accent5"/>
                </a:solidFill>
                <a:latin typeface="Calibri"/>
                <a:ea typeface="Calibri"/>
                <a:cs typeface="Calibri"/>
                <a:sym typeface="Calibri"/>
              </a:rPr>
              <a:t>New Personas &amp; Marketing Funnels</a:t>
            </a:r>
            <a:br>
              <a:rPr lang="en-US" sz="1600">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WBE Certification</a:t>
            </a:r>
            <a:endParaRPr sz="16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rPr lang="en-US" sz="1600">
                <a:solidFill>
                  <a:schemeClr val="accent5"/>
                </a:solidFill>
                <a:latin typeface="Calibri"/>
                <a:ea typeface="Calibri"/>
                <a:cs typeface="Calibri"/>
                <a:sym typeface="Calibri"/>
              </a:rPr>
              <a:t>WBE Targeted Niche</a:t>
            </a: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Corporate</a:t>
            </a: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Public Sector</a:t>
            </a:r>
            <a:endParaRPr sz="1600"/>
          </a:p>
        </p:txBody>
      </p:sp>
      <p:pic>
        <p:nvPicPr>
          <p:cNvPr id="252" name="Google Shape;252;p37"/>
          <p:cNvPicPr preferRelativeResize="0"/>
          <p:nvPr/>
        </p:nvPicPr>
        <p:blipFill rotWithShape="1">
          <a:blip r:embed="rId3">
            <a:alphaModFix/>
          </a:blip>
          <a:srcRect b="0" l="0" r="0" t="0"/>
          <a:stretch/>
        </p:blipFill>
        <p:spPr>
          <a:xfrm>
            <a:off x="4983450" y="3604539"/>
            <a:ext cx="221894" cy="308722"/>
          </a:xfrm>
          <a:prstGeom prst="rect">
            <a:avLst/>
          </a:prstGeom>
          <a:noFill/>
          <a:ln>
            <a:noFill/>
          </a:ln>
        </p:spPr>
      </p:pic>
      <p:pic>
        <p:nvPicPr>
          <p:cNvPr id="253" name="Google Shape;253;p37"/>
          <p:cNvPicPr preferRelativeResize="0"/>
          <p:nvPr/>
        </p:nvPicPr>
        <p:blipFill rotWithShape="1">
          <a:blip r:embed="rId3">
            <a:alphaModFix/>
          </a:blip>
          <a:srcRect b="0" l="0" r="0" t="0"/>
          <a:stretch/>
        </p:blipFill>
        <p:spPr>
          <a:xfrm>
            <a:off x="7491025" y="3604531"/>
            <a:ext cx="221894" cy="308722"/>
          </a:xfrm>
          <a:prstGeom prst="rect">
            <a:avLst/>
          </a:prstGeom>
          <a:noFill/>
          <a:ln>
            <a:noFill/>
          </a:ln>
        </p:spPr>
      </p:pic>
      <p:sp>
        <p:nvSpPr>
          <p:cNvPr id="254" name="Google Shape;254;p37"/>
          <p:cNvSpPr/>
          <p:nvPr/>
        </p:nvSpPr>
        <p:spPr>
          <a:xfrm>
            <a:off x="2694475" y="3394050"/>
            <a:ext cx="2159400" cy="1325400"/>
          </a:xfrm>
          <a:prstGeom prst="snip1Rect">
            <a:avLst>
              <a:gd fmla="val 16667" name="adj"/>
            </a:avLst>
          </a:prstGeom>
          <a:solidFill>
            <a:schemeClr val="accent3"/>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Clr>
                <a:schemeClr val="dk1"/>
              </a:buClr>
              <a:buFont typeface="Arial"/>
              <a:buNone/>
            </a:pPr>
            <a:r>
              <a:rPr b="1" lang="en-US" sz="1500">
                <a:solidFill>
                  <a:schemeClr val="accent5"/>
                </a:solidFill>
                <a:latin typeface="Calibri"/>
                <a:ea typeface="Calibri"/>
                <a:cs typeface="Calibri"/>
                <a:sym typeface="Calibri"/>
              </a:rPr>
              <a:t>Targeted Outreach:</a:t>
            </a:r>
            <a:r>
              <a:rPr b="1" lang="en-US" sz="1500">
                <a:solidFill>
                  <a:schemeClr val="accent5"/>
                </a:solidFill>
                <a:latin typeface="Calibri"/>
                <a:ea typeface="Calibri"/>
                <a:cs typeface="Calibri"/>
                <a:sym typeface="Calibri"/>
              </a:rPr>
              <a:t>:</a:t>
            </a:r>
            <a:endParaRPr b="1" sz="1500">
              <a:solidFill>
                <a:schemeClr val="accent5"/>
              </a:solidFill>
              <a:latin typeface="Calibri"/>
              <a:ea typeface="Calibri"/>
              <a:cs typeface="Calibri"/>
              <a:sym typeface="Calibri"/>
            </a:endParaRPr>
          </a:p>
          <a:p>
            <a:pPr indent="0" lvl="0" marL="0" rtl="0" algn="ctr">
              <a:lnSpc>
                <a:spcPct val="105000"/>
              </a:lnSpc>
              <a:spcBef>
                <a:spcPts val="0"/>
              </a:spcBef>
              <a:spcAft>
                <a:spcPts val="0"/>
              </a:spcAft>
              <a:buNone/>
            </a:pPr>
            <a:r>
              <a:rPr lang="en-US" sz="1500">
                <a:solidFill>
                  <a:schemeClr val="accent5"/>
                </a:solidFill>
                <a:latin typeface="Calibri"/>
                <a:ea typeface="Calibri"/>
                <a:cs typeface="Calibri"/>
                <a:sym typeface="Calibri"/>
              </a:rPr>
              <a:t>Social Ads</a:t>
            </a:r>
            <a:endParaRPr sz="1500">
              <a:solidFill>
                <a:schemeClr val="accent5"/>
              </a:solidFill>
              <a:latin typeface="Calibri"/>
              <a:ea typeface="Calibri"/>
              <a:cs typeface="Calibri"/>
              <a:sym typeface="Calibri"/>
            </a:endParaRPr>
          </a:p>
          <a:p>
            <a:pPr indent="0" lvl="0" marL="0" rtl="0" algn="ctr">
              <a:lnSpc>
                <a:spcPct val="105000"/>
              </a:lnSpc>
              <a:spcBef>
                <a:spcPts val="0"/>
              </a:spcBef>
              <a:spcAft>
                <a:spcPts val="0"/>
              </a:spcAft>
              <a:buClr>
                <a:schemeClr val="dk1"/>
              </a:buClr>
              <a:buFont typeface="Arial"/>
              <a:buNone/>
            </a:pPr>
            <a:r>
              <a:rPr lang="en-US" sz="1500">
                <a:solidFill>
                  <a:schemeClr val="accent5"/>
                </a:solidFill>
                <a:latin typeface="Calibri"/>
                <a:ea typeface="Calibri"/>
                <a:cs typeface="Calibri"/>
                <a:sym typeface="Calibri"/>
              </a:rPr>
              <a:t>   Events/Associations	</a:t>
            </a:r>
            <a:endParaRPr sz="15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t/>
            </a:r>
            <a:endParaRPr sz="1500">
              <a:solidFill>
                <a:schemeClr val="accent5"/>
              </a:solidFill>
              <a:latin typeface="Calibri"/>
              <a:ea typeface="Calibri"/>
              <a:cs typeface="Calibri"/>
              <a:sym typeface="Calibri"/>
            </a:endParaRPr>
          </a:p>
        </p:txBody>
      </p:sp>
      <p:sp>
        <p:nvSpPr>
          <p:cNvPr id="255" name="Google Shape;255;p37"/>
          <p:cNvSpPr/>
          <p:nvPr/>
        </p:nvSpPr>
        <p:spPr>
          <a:xfrm>
            <a:off x="2652475" y="4959875"/>
            <a:ext cx="2159400" cy="1049700"/>
          </a:xfrm>
          <a:prstGeom prst="snip1Rect">
            <a:avLst>
              <a:gd fmla="val 16667" name="adj"/>
            </a:avLst>
          </a:prstGeom>
          <a:solidFill>
            <a:schemeClr val="accent3"/>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Content Marketing</a:t>
            </a:r>
            <a:endParaRPr b="1" sz="15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500">
                <a:solidFill>
                  <a:schemeClr val="accent5"/>
                </a:solidFill>
                <a:latin typeface="Calibri"/>
                <a:ea typeface="Calibri"/>
                <a:cs typeface="Calibri"/>
                <a:sym typeface="Calibri"/>
              </a:rPr>
              <a:t>Ongoing Content + Social Sharing </a:t>
            </a:r>
            <a:endParaRPr sz="1500">
              <a:solidFill>
                <a:schemeClr val="accent5"/>
              </a:solidFill>
              <a:latin typeface="Calibri"/>
              <a:ea typeface="Calibri"/>
              <a:cs typeface="Calibri"/>
              <a:sym typeface="Calibri"/>
            </a:endParaRPr>
          </a:p>
        </p:txBody>
      </p:sp>
      <p:sp>
        <p:nvSpPr>
          <p:cNvPr id="256" name="Google Shape;256;p37"/>
          <p:cNvSpPr/>
          <p:nvPr/>
        </p:nvSpPr>
        <p:spPr>
          <a:xfrm>
            <a:off x="7766300" y="2602950"/>
            <a:ext cx="1841100" cy="23970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600">
                <a:solidFill>
                  <a:schemeClr val="accent5"/>
                </a:solidFill>
                <a:latin typeface="Calibri"/>
                <a:ea typeface="Calibri"/>
                <a:cs typeface="Calibri"/>
                <a:sym typeface="Calibri"/>
              </a:rPr>
              <a:t>Lead Nurture Sequence</a:t>
            </a:r>
            <a:endParaRPr b="1" sz="16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600">
                <a:solidFill>
                  <a:schemeClr val="accent5"/>
                </a:solidFill>
                <a:latin typeface="Calibri"/>
                <a:ea typeface="Calibri"/>
                <a:cs typeface="Calibri"/>
                <a:sym typeface="Calibri"/>
              </a:rPr>
              <a:t>for each persona</a:t>
            </a:r>
            <a:endParaRPr sz="1600">
              <a:solidFill>
                <a:schemeClr val="accent5"/>
              </a:solidFill>
              <a:latin typeface="Calibri"/>
              <a:ea typeface="Calibri"/>
              <a:cs typeface="Calibri"/>
              <a:sym typeface="Calibri"/>
            </a:endParaRPr>
          </a:p>
        </p:txBody>
      </p:sp>
      <p:pic>
        <p:nvPicPr>
          <p:cNvPr id="257" name="Google Shape;257;p37"/>
          <p:cNvPicPr preferRelativeResize="0"/>
          <p:nvPr/>
        </p:nvPicPr>
        <p:blipFill rotWithShape="1">
          <a:blip r:embed="rId3">
            <a:alphaModFix/>
          </a:blip>
          <a:srcRect b="0" l="0" r="0" t="0"/>
          <a:stretch/>
        </p:blipFill>
        <p:spPr>
          <a:xfrm>
            <a:off x="9715625" y="3597593"/>
            <a:ext cx="221894" cy="308722"/>
          </a:xfrm>
          <a:prstGeom prst="rect">
            <a:avLst/>
          </a:prstGeom>
          <a:noFill/>
          <a:ln>
            <a:noFill/>
          </a:ln>
        </p:spPr>
      </p:pic>
      <p:sp>
        <p:nvSpPr>
          <p:cNvPr id="258" name="Google Shape;258;p37"/>
          <p:cNvSpPr/>
          <p:nvPr/>
        </p:nvSpPr>
        <p:spPr>
          <a:xfrm>
            <a:off x="10032900" y="2169200"/>
            <a:ext cx="1451930" cy="562797"/>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500">
                <a:solidFill>
                  <a:schemeClr val="accent5"/>
                </a:solidFill>
                <a:latin typeface="Calibri"/>
                <a:ea typeface="Calibri"/>
                <a:cs typeface="Calibri"/>
                <a:sym typeface="Calibri"/>
              </a:rPr>
              <a:t>Video</a:t>
            </a:r>
            <a:endParaRPr sz="1500"/>
          </a:p>
        </p:txBody>
      </p:sp>
      <p:pic>
        <p:nvPicPr>
          <p:cNvPr id="259" name="Google Shape;259;p37"/>
          <p:cNvPicPr preferRelativeResize="0"/>
          <p:nvPr/>
        </p:nvPicPr>
        <p:blipFill rotWithShape="1">
          <a:blip r:embed="rId3">
            <a:alphaModFix/>
          </a:blip>
          <a:srcRect b="0" l="0" r="0" t="0"/>
          <a:stretch/>
        </p:blipFill>
        <p:spPr>
          <a:xfrm rot="5400000">
            <a:off x="10643214" y="3688087"/>
            <a:ext cx="197825" cy="275250"/>
          </a:xfrm>
          <a:prstGeom prst="rect">
            <a:avLst/>
          </a:prstGeom>
          <a:noFill/>
          <a:ln>
            <a:noFill/>
          </a:ln>
        </p:spPr>
      </p:pic>
      <p:sp>
        <p:nvSpPr>
          <p:cNvPr id="260" name="Google Shape;260;p37"/>
          <p:cNvSpPr/>
          <p:nvPr/>
        </p:nvSpPr>
        <p:spPr>
          <a:xfrm>
            <a:off x="10041900" y="4849225"/>
            <a:ext cx="1452000" cy="562800"/>
          </a:xfrm>
          <a:prstGeom prst="snip1Rect">
            <a:avLst>
              <a:gd fmla="val 16667" name="adj"/>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sz="1500">
                <a:solidFill>
                  <a:schemeClr val="accent5"/>
                </a:solidFill>
                <a:latin typeface="Calibri"/>
                <a:ea typeface="Calibri"/>
                <a:cs typeface="Calibri"/>
                <a:sym typeface="Calibri"/>
              </a:rPr>
              <a:t>Re-Engagement</a:t>
            </a:r>
            <a:endParaRPr sz="900"/>
          </a:p>
        </p:txBody>
      </p:sp>
      <p:sp>
        <p:nvSpPr>
          <p:cNvPr id="261" name="Google Shape;261;p37"/>
          <p:cNvSpPr/>
          <p:nvPr/>
        </p:nvSpPr>
        <p:spPr>
          <a:xfrm>
            <a:off x="10041938" y="3110162"/>
            <a:ext cx="1451930" cy="562797"/>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500">
                <a:solidFill>
                  <a:schemeClr val="accent5"/>
                </a:solidFill>
                <a:latin typeface="Calibri"/>
                <a:ea typeface="Calibri"/>
                <a:cs typeface="Calibri"/>
                <a:sym typeface="Calibri"/>
              </a:rPr>
              <a:t>Book a Call/Sign Up</a:t>
            </a:r>
            <a:endParaRPr sz="1500"/>
          </a:p>
        </p:txBody>
      </p:sp>
      <p:pic>
        <p:nvPicPr>
          <p:cNvPr id="262" name="Google Shape;262;p37"/>
          <p:cNvPicPr preferRelativeResize="0"/>
          <p:nvPr/>
        </p:nvPicPr>
        <p:blipFill rotWithShape="1">
          <a:blip r:embed="rId3">
            <a:alphaModFix/>
          </a:blip>
          <a:srcRect b="0" l="0" r="0" t="0"/>
          <a:stretch/>
        </p:blipFill>
        <p:spPr>
          <a:xfrm rot="5400000">
            <a:off x="10641314" y="2811412"/>
            <a:ext cx="188125" cy="261750"/>
          </a:xfrm>
          <a:prstGeom prst="rect">
            <a:avLst/>
          </a:prstGeom>
          <a:noFill/>
          <a:ln>
            <a:noFill/>
          </a:ln>
        </p:spPr>
      </p:pic>
      <p:sp>
        <p:nvSpPr>
          <p:cNvPr id="263" name="Google Shape;263;p37"/>
          <p:cNvSpPr/>
          <p:nvPr/>
        </p:nvSpPr>
        <p:spPr>
          <a:xfrm>
            <a:off x="461050" y="1962225"/>
            <a:ext cx="1704440" cy="4050657"/>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600">
                <a:solidFill>
                  <a:schemeClr val="accent5"/>
                </a:solidFill>
                <a:latin typeface="Calibri"/>
                <a:ea typeface="Calibri"/>
                <a:cs typeface="Calibri"/>
                <a:sym typeface="Calibri"/>
              </a:rPr>
              <a:t>Marketing Foundation</a:t>
            </a:r>
            <a:endParaRPr b="1" sz="16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sz="16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rPr lang="en-US" sz="1600">
                <a:solidFill>
                  <a:schemeClr val="accent5"/>
                </a:solidFill>
                <a:latin typeface="Calibri"/>
                <a:ea typeface="Calibri"/>
                <a:cs typeface="Calibri"/>
                <a:sym typeface="Calibri"/>
              </a:rPr>
              <a:t>Clear Plain Language</a:t>
            </a:r>
            <a:endParaRPr sz="16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rPr lang="en-US" sz="1600">
                <a:solidFill>
                  <a:schemeClr val="accent5"/>
                </a:solidFill>
                <a:latin typeface="Calibri"/>
                <a:ea typeface="Calibri"/>
                <a:cs typeface="Calibri"/>
                <a:sym typeface="Calibri"/>
              </a:rPr>
              <a:t>Messaging</a:t>
            </a:r>
            <a:br>
              <a:rPr lang="en-US" sz="1600">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Website &amp; Online Assets</a:t>
            </a:r>
            <a:endParaRPr sz="16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16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rPr lang="en-US" sz="1600">
                <a:solidFill>
                  <a:schemeClr val="accent5"/>
                </a:solidFill>
                <a:latin typeface="Calibri"/>
                <a:ea typeface="Calibri"/>
                <a:cs typeface="Calibri"/>
                <a:sym typeface="Calibri"/>
              </a:rPr>
              <a:t>Personas</a:t>
            </a:r>
            <a:br>
              <a:rPr lang="en-US" sz="1600">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Foundation Content</a:t>
            </a:r>
            <a:endParaRPr sz="16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1600"/>
          </a:p>
        </p:txBody>
      </p:sp>
      <p:pic>
        <p:nvPicPr>
          <p:cNvPr id="264" name="Google Shape;264;p37"/>
          <p:cNvPicPr preferRelativeResize="0"/>
          <p:nvPr/>
        </p:nvPicPr>
        <p:blipFill rotWithShape="1">
          <a:blip r:embed="rId3">
            <a:alphaModFix/>
          </a:blip>
          <a:srcRect b="0" l="0" r="0" t="0"/>
          <a:stretch/>
        </p:blipFill>
        <p:spPr>
          <a:xfrm rot="5400000">
            <a:off x="10673839" y="4536187"/>
            <a:ext cx="188125" cy="2617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8"/>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fontScale="90000"/>
          </a:bodyPr>
          <a:lstStyle/>
          <a:p>
            <a:pPr indent="0" lvl="0" marL="0" rtl="0" algn="ctr">
              <a:lnSpc>
                <a:spcPct val="90000"/>
              </a:lnSpc>
              <a:spcBef>
                <a:spcPts val="0"/>
              </a:spcBef>
              <a:spcAft>
                <a:spcPts val="0"/>
              </a:spcAft>
              <a:buClr>
                <a:schemeClr val="accent2"/>
              </a:buClr>
              <a:buSzPct val="100000"/>
              <a:buFont typeface="Calibri"/>
              <a:buNone/>
            </a:pPr>
            <a:r>
              <a:rPr lang="en-US"/>
              <a:t>Marketing Foundation</a:t>
            </a:r>
            <a:endParaRPr/>
          </a:p>
          <a:p>
            <a:pPr indent="0" lvl="0" marL="0" rtl="0" algn="ctr">
              <a:lnSpc>
                <a:spcPct val="90000"/>
              </a:lnSpc>
              <a:spcBef>
                <a:spcPts val="0"/>
              </a:spcBef>
              <a:spcAft>
                <a:spcPts val="0"/>
              </a:spcAft>
              <a:buClr>
                <a:schemeClr val="accent2"/>
              </a:buClr>
              <a:buSzPct val="100000"/>
              <a:buFont typeface="Calibri"/>
              <a:buNone/>
            </a:pPr>
            <a:r>
              <a:rPr lang="en-US"/>
              <a:t>Actions</a:t>
            </a:r>
            <a:endParaRPr/>
          </a:p>
          <a:p>
            <a:pPr indent="0" lvl="0" marL="0" rtl="0" algn="ctr">
              <a:lnSpc>
                <a:spcPct val="90000"/>
              </a:lnSpc>
              <a:spcBef>
                <a:spcPts val="0"/>
              </a:spcBef>
              <a:spcAft>
                <a:spcPts val="0"/>
              </a:spcAft>
              <a:buClr>
                <a:schemeClr val="accent2"/>
              </a:buClr>
              <a:buSzPct val="121472"/>
              <a:buFont typeface="Calibri"/>
              <a:buNone/>
            </a:pPr>
            <a:r>
              <a:t/>
            </a:r>
            <a:endParaRPr sz="3622">
              <a:solidFill>
                <a:schemeClr val="accent4"/>
              </a:solidFill>
            </a:endParaRPr>
          </a:p>
          <a:p>
            <a:pPr indent="0" lvl="0" marL="457200" rtl="0" algn="ctr">
              <a:lnSpc>
                <a:spcPct val="90000"/>
              </a:lnSpc>
              <a:spcBef>
                <a:spcPts val="0"/>
              </a:spcBef>
              <a:spcAft>
                <a:spcPts val="0"/>
              </a:spcAft>
              <a:buNone/>
            </a:pPr>
            <a:r>
              <a:t/>
            </a:r>
            <a:endParaRPr sz="3622">
              <a:solidFill>
                <a:schemeClr val="accent4"/>
              </a:solidFill>
            </a:endParaRPr>
          </a:p>
          <a:p>
            <a:pPr indent="0" lvl="0" marL="0" rtl="0" algn="ctr">
              <a:lnSpc>
                <a:spcPct val="90000"/>
              </a:lnSpc>
              <a:spcBef>
                <a:spcPts val="0"/>
              </a:spcBef>
              <a:spcAft>
                <a:spcPts val="0"/>
              </a:spcAft>
              <a:buClr>
                <a:schemeClr val="accent2"/>
              </a:buClr>
              <a:buSzPct val="100000"/>
              <a:buFont typeface="Calibri"/>
              <a:buNone/>
            </a:pPr>
            <a:r>
              <a:t/>
            </a:r>
            <a:endParaRPr/>
          </a:p>
          <a:p>
            <a:pPr indent="0" lvl="0" marL="457200" rtl="0" algn="l">
              <a:lnSpc>
                <a:spcPct val="90000"/>
              </a:lnSpc>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9"/>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a:t>Marketing Foundation </a:t>
            </a:r>
            <a:r>
              <a:rPr b="0" i="1" lang="en-US">
                <a:latin typeface="Calibri"/>
                <a:ea typeface="Calibri"/>
                <a:cs typeface="Calibri"/>
                <a:sym typeface="Calibri"/>
              </a:rPr>
              <a:t>Actions</a:t>
            </a:r>
            <a:endParaRPr b="0" i="1">
              <a:latin typeface="Calibri"/>
              <a:ea typeface="Calibri"/>
              <a:cs typeface="Calibri"/>
              <a:sym typeface="Calibri"/>
            </a:endParaRPr>
          </a:p>
        </p:txBody>
      </p:sp>
      <p:sp>
        <p:nvSpPr>
          <p:cNvPr id="275" name="Google Shape;275;p39"/>
          <p:cNvSpPr/>
          <p:nvPr/>
        </p:nvSpPr>
        <p:spPr>
          <a:xfrm>
            <a:off x="4441325" y="1863850"/>
            <a:ext cx="2802900" cy="3869700"/>
          </a:xfrm>
          <a:prstGeom prst="snip1Rect">
            <a:avLst>
              <a:gd fmla="val 16667" name="adj"/>
            </a:avLst>
          </a:prstGeom>
          <a:solidFill>
            <a:schemeClr val="accent3"/>
          </a:solidFill>
          <a:ln>
            <a:noFill/>
          </a:ln>
        </p:spPr>
        <p:txBody>
          <a:bodyPr anchorCtr="0" anchor="ctr" bIns="0" lIns="0" spcFirstLastPara="1" rIns="0" wrap="square" tIns="0">
            <a:noAutofit/>
          </a:bodyPr>
          <a:lstStyle/>
          <a:p>
            <a:pPr indent="0" lvl="0" marL="0" rtl="0" algn="ctr">
              <a:spcBef>
                <a:spcPts val="0"/>
              </a:spcBef>
              <a:spcAft>
                <a:spcPts val="0"/>
              </a:spcAft>
              <a:buClr>
                <a:schemeClr val="dk1"/>
              </a:buClr>
              <a:buFont typeface="Arial"/>
              <a:buNone/>
            </a:pPr>
            <a:r>
              <a:rPr b="1" lang="en-US" sz="2000">
                <a:solidFill>
                  <a:schemeClr val="accent5"/>
                </a:solidFill>
                <a:latin typeface="Calibri"/>
                <a:ea typeface="Calibri"/>
                <a:cs typeface="Calibri"/>
                <a:sym typeface="Calibri"/>
              </a:rPr>
              <a:t>MESSAGING</a:t>
            </a:r>
            <a:endParaRPr b="1" sz="1000">
              <a:solidFill>
                <a:schemeClr val="accent5"/>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t/>
            </a:r>
            <a:endParaRPr b="1" sz="600">
              <a:solidFill>
                <a:schemeClr val="accent5"/>
              </a:solidFill>
              <a:latin typeface="Calibri"/>
              <a:ea typeface="Calibri"/>
              <a:cs typeface="Calibri"/>
              <a:sym typeface="Calibri"/>
            </a:endParaRPr>
          </a:p>
          <a:p>
            <a:pPr indent="0" lvl="0" marL="114300" rtl="0" algn="ctr">
              <a:spcBef>
                <a:spcPts val="0"/>
              </a:spcBef>
              <a:spcAft>
                <a:spcPts val="0"/>
              </a:spcAft>
              <a:buNone/>
            </a:pPr>
            <a:r>
              <a:rPr b="1" lang="en-US" sz="1600">
                <a:solidFill>
                  <a:schemeClr val="accent5"/>
                </a:solidFill>
                <a:latin typeface="Calibri"/>
                <a:ea typeface="Calibri"/>
                <a:cs typeface="Calibri"/>
                <a:sym typeface="Calibri"/>
              </a:rPr>
              <a:t>Adjust messaging to be more accessible and relatable to all women business owners</a:t>
            </a:r>
            <a:endParaRPr b="1" sz="700">
              <a:solidFill>
                <a:schemeClr val="accent5"/>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t/>
            </a:r>
            <a:endParaRPr sz="700">
              <a:solidFill>
                <a:schemeClr val="accent5"/>
              </a:solidFill>
              <a:latin typeface="Calibri"/>
              <a:ea typeface="Calibri"/>
              <a:cs typeface="Calibri"/>
              <a:sym typeface="Calibri"/>
            </a:endParaRPr>
          </a:p>
          <a:p>
            <a:pPr indent="-330200" lvl="0" marL="514350" rtl="0" algn="l">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Create new messaging guide</a:t>
            </a:r>
            <a:endParaRPr b="1" sz="1600">
              <a:solidFill>
                <a:schemeClr val="accent5"/>
              </a:solidFill>
              <a:latin typeface="Calibri"/>
              <a:ea typeface="Calibri"/>
              <a:cs typeface="Calibri"/>
              <a:sym typeface="Calibri"/>
            </a:endParaRPr>
          </a:p>
          <a:p>
            <a:pPr indent="-330200" lvl="0" marL="514350" rtl="0" algn="l">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Update messaging on website, social media, and key marketing assets</a:t>
            </a:r>
            <a:endParaRPr sz="1600">
              <a:solidFill>
                <a:schemeClr val="accent5"/>
              </a:solidFill>
              <a:latin typeface="Calibri"/>
              <a:ea typeface="Calibri"/>
              <a:cs typeface="Calibri"/>
              <a:sym typeface="Calibri"/>
            </a:endParaRPr>
          </a:p>
          <a:p>
            <a:pPr indent="0" lvl="0" marL="0" rtl="0" algn="l">
              <a:spcBef>
                <a:spcPts val="0"/>
              </a:spcBef>
              <a:spcAft>
                <a:spcPts val="0"/>
              </a:spcAft>
              <a:buNone/>
            </a:pPr>
            <a:r>
              <a:t/>
            </a:r>
            <a:endParaRPr sz="1600">
              <a:solidFill>
                <a:schemeClr val="accent5"/>
              </a:solidFill>
              <a:latin typeface="Calibri"/>
              <a:ea typeface="Calibri"/>
              <a:cs typeface="Calibri"/>
              <a:sym typeface="Calibri"/>
            </a:endParaRPr>
          </a:p>
          <a:p>
            <a:pPr indent="0" lvl="0" marL="0" rtl="0" algn="l">
              <a:spcBef>
                <a:spcPts val="0"/>
              </a:spcBef>
              <a:spcAft>
                <a:spcPts val="0"/>
              </a:spcAft>
              <a:buNone/>
            </a:pPr>
            <a:r>
              <a:t/>
            </a:r>
            <a:endParaRPr sz="1600">
              <a:solidFill>
                <a:schemeClr val="accent5"/>
              </a:solidFill>
              <a:latin typeface="Calibri"/>
              <a:ea typeface="Calibri"/>
              <a:cs typeface="Calibri"/>
              <a:sym typeface="Calibri"/>
            </a:endParaRPr>
          </a:p>
          <a:p>
            <a:pPr indent="0" lvl="0" marL="0" rtl="0" algn="l">
              <a:spcBef>
                <a:spcPts val="0"/>
              </a:spcBef>
              <a:spcAft>
                <a:spcPts val="0"/>
              </a:spcAft>
              <a:buClr>
                <a:schemeClr val="dk1"/>
              </a:buClr>
              <a:buFont typeface="Arial"/>
              <a:buNone/>
            </a:pPr>
            <a:r>
              <a:t/>
            </a:r>
            <a:endParaRPr sz="1000">
              <a:solidFill>
                <a:schemeClr val="accent5"/>
              </a:solidFill>
              <a:latin typeface="Calibri"/>
              <a:ea typeface="Calibri"/>
              <a:cs typeface="Calibri"/>
              <a:sym typeface="Calibri"/>
            </a:endParaRPr>
          </a:p>
          <a:p>
            <a:pPr indent="0" lvl="0" marL="0" rtl="0" algn="l">
              <a:spcBef>
                <a:spcPts val="0"/>
              </a:spcBef>
              <a:spcAft>
                <a:spcPts val="0"/>
              </a:spcAft>
              <a:buNone/>
            </a:pPr>
            <a:r>
              <a:t/>
            </a:r>
            <a:endParaRPr b="1" sz="1500">
              <a:solidFill>
                <a:schemeClr val="accent5"/>
              </a:solidFill>
              <a:latin typeface="Calibri"/>
              <a:ea typeface="Calibri"/>
              <a:cs typeface="Calibri"/>
              <a:sym typeface="Calibri"/>
            </a:endParaRPr>
          </a:p>
        </p:txBody>
      </p:sp>
      <p:sp>
        <p:nvSpPr>
          <p:cNvPr id="276" name="Google Shape;276;p39"/>
          <p:cNvSpPr/>
          <p:nvPr/>
        </p:nvSpPr>
        <p:spPr>
          <a:xfrm>
            <a:off x="8112025" y="1863850"/>
            <a:ext cx="3261600" cy="3869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171450" rtl="0" algn="ctr">
              <a:spcBef>
                <a:spcPts val="0"/>
              </a:spcBef>
              <a:spcAft>
                <a:spcPts val="0"/>
              </a:spcAft>
              <a:buClr>
                <a:schemeClr val="dk1"/>
              </a:buClr>
              <a:buFont typeface="Arial"/>
              <a:buNone/>
            </a:pPr>
            <a:r>
              <a:rPr b="1" lang="en-US" sz="2000">
                <a:solidFill>
                  <a:schemeClr val="accent5"/>
                </a:solidFill>
                <a:latin typeface="Calibri"/>
                <a:ea typeface="Calibri"/>
                <a:cs typeface="Calibri"/>
                <a:sym typeface="Calibri"/>
              </a:rPr>
              <a:t>WBE Certification Levels</a:t>
            </a:r>
            <a:endParaRPr b="1" sz="1000">
              <a:solidFill>
                <a:schemeClr val="accent5"/>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t/>
            </a:r>
            <a:endParaRPr b="1" sz="600">
              <a:solidFill>
                <a:schemeClr val="accent5"/>
              </a:solidFill>
              <a:latin typeface="Calibri"/>
              <a:ea typeface="Calibri"/>
              <a:cs typeface="Calibri"/>
              <a:sym typeface="Calibri"/>
            </a:endParaRPr>
          </a:p>
          <a:p>
            <a:pPr indent="0" lvl="0" marL="228600" rtl="0" algn="l">
              <a:spcBef>
                <a:spcPts val="0"/>
              </a:spcBef>
              <a:spcAft>
                <a:spcPts val="0"/>
              </a:spcAft>
              <a:buNone/>
            </a:pPr>
            <a:r>
              <a:rPr b="1" lang="en-US" sz="1600">
                <a:solidFill>
                  <a:schemeClr val="accent5"/>
                </a:solidFill>
                <a:latin typeface="Calibri"/>
                <a:ea typeface="Calibri"/>
                <a:cs typeface="Calibri"/>
                <a:sym typeface="Calibri"/>
              </a:rPr>
              <a:t>More clearly communicate the two WBE  levels:</a:t>
            </a:r>
            <a:endParaRPr b="1" sz="1600">
              <a:solidFill>
                <a:schemeClr val="accent5"/>
              </a:solidFill>
              <a:latin typeface="Calibri"/>
              <a:ea typeface="Calibri"/>
              <a:cs typeface="Calibri"/>
              <a:sym typeface="Calibri"/>
            </a:endParaRPr>
          </a:p>
          <a:p>
            <a:pPr indent="-215900" lvl="0" marL="514350" rtl="0" algn="l">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Certification</a:t>
            </a:r>
            <a:endParaRPr b="1" sz="1600">
              <a:solidFill>
                <a:schemeClr val="accent5"/>
              </a:solidFill>
              <a:latin typeface="Calibri"/>
              <a:ea typeface="Calibri"/>
              <a:cs typeface="Calibri"/>
              <a:sym typeface="Calibri"/>
            </a:endParaRPr>
          </a:p>
          <a:p>
            <a:pPr indent="-215900" lvl="0" marL="514350" rtl="0" algn="l">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Pre-Certification (Tools for Growth)</a:t>
            </a:r>
            <a:endParaRPr sz="1600">
              <a:solidFill>
                <a:schemeClr val="accent5"/>
              </a:solidFill>
              <a:latin typeface="Calibri"/>
              <a:ea typeface="Calibri"/>
              <a:cs typeface="Calibri"/>
              <a:sym typeface="Calibri"/>
            </a:endParaRPr>
          </a:p>
          <a:p>
            <a:pPr indent="-114300" lvl="0" marL="514350" rtl="0" algn="l">
              <a:spcBef>
                <a:spcPts val="0"/>
              </a:spcBef>
              <a:spcAft>
                <a:spcPts val="0"/>
              </a:spcAft>
              <a:buNone/>
            </a:pPr>
            <a:r>
              <a:t/>
            </a:r>
            <a:endParaRPr sz="1600">
              <a:solidFill>
                <a:schemeClr val="accent5"/>
              </a:solidFill>
              <a:latin typeface="Calibri"/>
              <a:ea typeface="Calibri"/>
              <a:cs typeface="Calibri"/>
              <a:sym typeface="Calibri"/>
            </a:endParaRPr>
          </a:p>
          <a:p>
            <a:pPr indent="0" lvl="0" marL="228600" rtl="0" algn="l">
              <a:spcBef>
                <a:spcPts val="0"/>
              </a:spcBef>
              <a:spcAft>
                <a:spcPts val="0"/>
              </a:spcAft>
              <a:buNone/>
            </a:pPr>
            <a:r>
              <a:rPr b="1" lang="en-US" sz="1600">
                <a:solidFill>
                  <a:schemeClr val="accent5"/>
                </a:solidFill>
                <a:latin typeface="Calibri"/>
                <a:ea typeface="Calibri"/>
                <a:cs typeface="Calibri"/>
                <a:sym typeface="Calibri"/>
              </a:rPr>
              <a:t>Help prospective WBEs decide which level is for them:</a:t>
            </a:r>
            <a:endParaRPr b="1" sz="1600">
              <a:solidFill>
                <a:schemeClr val="accent5"/>
              </a:solidFill>
              <a:latin typeface="Calibri"/>
              <a:ea typeface="Calibri"/>
              <a:cs typeface="Calibri"/>
              <a:sym typeface="Calibri"/>
            </a:endParaRPr>
          </a:p>
          <a:p>
            <a:pPr indent="-215900" lvl="0" marL="514350" marR="0" rtl="0" algn="l">
              <a:lnSpc>
                <a:spcPct val="100000"/>
              </a:lnSpc>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Get more initial sign-ups at the Pre-Certification level</a:t>
            </a:r>
            <a:endParaRPr sz="1600">
              <a:solidFill>
                <a:schemeClr val="accent5"/>
              </a:solidFill>
              <a:latin typeface="Calibri"/>
              <a:ea typeface="Calibri"/>
              <a:cs typeface="Calibri"/>
              <a:sym typeface="Calibri"/>
            </a:endParaRPr>
          </a:p>
          <a:p>
            <a:pPr indent="-215900" lvl="0" marL="514350" marR="0" rtl="0" algn="l">
              <a:lnSpc>
                <a:spcPct val="100000"/>
              </a:lnSpc>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Prepare &amp; move initial sign ups to Certification</a:t>
            </a:r>
            <a:endParaRPr sz="1600">
              <a:solidFill>
                <a:schemeClr val="accent5"/>
              </a:solidFill>
              <a:latin typeface="Calibri"/>
              <a:ea typeface="Calibri"/>
              <a:cs typeface="Calibri"/>
              <a:sym typeface="Calibri"/>
            </a:endParaRPr>
          </a:p>
          <a:p>
            <a:pPr indent="0" lvl="0" marL="0" rtl="0" algn="l">
              <a:spcBef>
                <a:spcPts val="0"/>
              </a:spcBef>
              <a:spcAft>
                <a:spcPts val="0"/>
              </a:spcAft>
              <a:buNone/>
            </a:pPr>
            <a:r>
              <a:t/>
            </a:r>
            <a:endParaRPr sz="1600">
              <a:solidFill>
                <a:schemeClr val="accent5"/>
              </a:solidFill>
              <a:latin typeface="Calibri"/>
              <a:ea typeface="Calibri"/>
              <a:cs typeface="Calibri"/>
              <a:sym typeface="Calibri"/>
            </a:endParaRPr>
          </a:p>
          <a:p>
            <a:pPr indent="0" lvl="0" marL="0" rtl="0" algn="l">
              <a:spcBef>
                <a:spcPts val="0"/>
              </a:spcBef>
              <a:spcAft>
                <a:spcPts val="0"/>
              </a:spcAft>
              <a:buNone/>
            </a:pPr>
            <a:r>
              <a:t/>
            </a:r>
            <a:endParaRPr sz="1600">
              <a:solidFill>
                <a:schemeClr val="accent5"/>
              </a:solidFill>
              <a:latin typeface="Calibri"/>
              <a:ea typeface="Calibri"/>
              <a:cs typeface="Calibri"/>
              <a:sym typeface="Calibri"/>
            </a:endParaRPr>
          </a:p>
        </p:txBody>
      </p:sp>
      <p:pic>
        <p:nvPicPr>
          <p:cNvPr id="277" name="Google Shape;277;p39"/>
          <p:cNvPicPr preferRelativeResize="0"/>
          <p:nvPr/>
        </p:nvPicPr>
        <p:blipFill rotWithShape="1">
          <a:blip r:embed="rId3">
            <a:alphaModFix/>
          </a:blip>
          <a:srcRect b="0" l="0" r="0" t="0"/>
          <a:stretch/>
        </p:blipFill>
        <p:spPr>
          <a:xfrm>
            <a:off x="7567175" y="3607806"/>
            <a:ext cx="221894" cy="308722"/>
          </a:xfrm>
          <a:prstGeom prst="rect">
            <a:avLst/>
          </a:prstGeom>
          <a:noFill/>
          <a:ln>
            <a:noFill/>
          </a:ln>
        </p:spPr>
      </p:pic>
      <p:sp>
        <p:nvSpPr>
          <p:cNvPr id="278" name="Google Shape;278;p39"/>
          <p:cNvSpPr/>
          <p:nvPr/>
        </p:nvSpPr>
        <p:spPr>
          <a:xfrm>
            <a:off x="994450" y="1809825"/>
            <a:ext cx="2802857" cy="3939578"/>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2000">
                <a:solidFill>
                  <a:schemeClr val="accent5"/>
                </a:solidFill>
                <a:latin typeface="Calibri"/>
                <a:ea typeface="Calibri"/>
                <a:cs typeface="Calibri"/>
                <a:sym typeface="Calibri"/>
              </a:rPr>
              <a:t>PERSONAS</a:t>
            </a:r>
            <a:endParaRPr b="1" sz="10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sz="6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rPr b="1" lang="en-US" sz="1600">
                <a:solidFill>
                  <a:schemeClr val="accent5"/>
                </a:solidFill>
                <a:latin typeface="Calibri"/>
                <a:ea typeface="Calibri"/>
                <a:cs typeface="Calibri"/>
                <a:sym typeface="Calibri"/>
              </a:rPr>
              <a:t>Define the personas for WBEs and Corporates:</a:t>
            </a:r>
            <a:endParaRPr b="1" sz="7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700">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1600">
                <a:solidFill>
                  <a:schemeClr val="accent5"/>
                </a:solidFill>
                <a:latin typeface="Calibri"/>
                <a:ea typeface="Calibri"/>
                <a:cs typeface="Calibri"/>
                <a:sym typeface="Calibri"/>
              </a:rPr>
              <a:t>WBEs:</a:t>
            </a:r>
            <a:endParaRPr b="1" sz="1600">
              <a:solidFill>
                <a:schemeClr val="accent5"/>
              </a:solidFill>
              <a:latin typeface="Calibri"/>
              <a:ea typeface="Calibri"/>
              <a:cs typeface="Calibri"/>
              <a:sym typeface="Calibri"/>
            </a:endParaRPr>
          </a:p>
          <a:p>
            <a:pPr indent="-330200" lvl="0" marL="457200" marR="0" rtl="0" algn="l">
              <a:lnSpc>
                <a:spcPct val="100000"/>
              </a:lnSpc>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Break out personas for Certification &amp; Pre-Certification</a:t>
            </a:r>
            <a:endParaRPr sz="1600">
              <a:solidFill>
                <a:schemeClr val="accent5"/>
              </a:solidFill>
              <a:latin typeface="Calibri"/>
              <a:ea typeface="Calibri"/>
              <a:cs typeface="Calibri"/>
              <a:sym typeface="Calibri"/>
            </a:endParaRPr>
          </a:p>
          <a:p>
            <a:pPr indent="-330200" lvl="0" marL="457200" marR="0" rtl="0" algn="l">
              <a:lnSpc>
                <a:spcPct val="100000"/>
              </a:lnSpc>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Niche personas for key market segments </a:t>
            </a:r>
            <a:endParaRPr sz="1000">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None/>
            </a:pPr>
            <a:r>
              <a:t/>
            </a:r>
            <a:endParaRPr sz="1000">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None/>
            </a:pPr>
            <a:r>
              <a:rPr b="1" lang="en-US" sz="1600">
                <a:solidFill>
                  <a:schemeClr val="accent5"/>
                </a:solidFill>
                <a:latin typeface="Calibri"/>
                <a:ea typeface="Calibri"/>
                <a:cs typeface="Calibri"/>
                <a:sym typeface="Calibri"/>
              </a:rPr>
              <a:t>Corporates: </a:t>
            </a:r>
            <a:endParaRPr b="1" sz="1600">
              <a:solidFill>
                <a:schemeClr val="accent5"/>
              </a:solidFill>
              <a:latin typeface="Calibri"/>
              <a:ea typeface="Calibri"/>
              <a:cs typeface="Calibri"/>
              <a:sym typeface="Calibri"/>
            </a:endParaRPr>
          </a:p>
          <a:p>
            <a:pPr indent="-330200" lvl="0" marL="457200" marR="0" rtl="0" algn="l">
              <a:lnSpc>
                <a:spcPct val="100000"/>
              </a:lnSpc>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Corporate</a:t>
            </a:r>
            <a:endParaRPr sz="1600">
              <a:solidFill>
                <a:schemeClr val="accent5"/>
              </a:solidFill>
              <a:latin typeface="Calibri"/>
              <a:ea typeface="Calibri"/>
              <a:cs typeface="Calibri"/>
              <a:sym typeface="Calibri"/>
            </a:endParaRPr>
          </a:p>
          <a:p>
            <a:pPr indent="-330200" lvl="0" marL="457200" marR="0" rtl="0" algn="l">
              <a:lnSpc>
                <a:spcPct val="100000"/>
              </a:lnSpc>
              <a:spcBef>
                <a:spcPts val="0"/>
              </a:spcBef>
              <a:spcAft>
                <a:spcPts val="0"/>
              </a:spcAft>
              <a:buClr>
                <a:schemeClr val="accent5"/>
              </a:buClr>
              <a:buSzPts val="1600"/>
              <a:buFont typeface="Calibri"/>
              <a:buChar char="●"/>
            </a:pPr>
            <a:r>
              <a:rPr lang="en-US" sz="1600">
                <a:solidFill>
                  <a:schemeClr val="accent5"/>
                </a:solidFill>
                <a:latin typeface="Calibri"/>
                <a:ea typeface="Calibri"/>
                <a:cs typeface="Calibri"/>
                <a:sym typeface="Calibri"/>
              </a:rPr>
              <a:t>Public Sector</a:t>
            </a:r>
            <a:endParaRPr sz="1600">
              <a:solidFill>
                <a:schemeClr val="accent5"/>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sz="1600"/>
          </a:p>
        </p:txBody>
      </p:sp>
      <p:pic>
        <p:nvPicPr>
          <p:cNvPr id="279" name="Google Shape;279;p39"/>
          <p:cNvPicPr preferRelativeResize="0"/>
          <p:nvPr/>
        </p:nvPicPr>
        <p:blipFill rotWithShape="1">
          <a:blip r:embed="rId3">
            <a:alphaModFix/>
          </a:blip>
          <a:srcRect b="0" l="0" r="0" t="0"/>
          <a:stretch/>
        </p:blipFill>
        <p:spPr>
          <a:xfrm>
            <a:off x="4087725" y="3607793"/>
            <a:ext cx="221894" cy="30872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40"/>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Messaging </a:t>
            </a:r>
            <a:r>
              <a:rPr b="0" i="1" lang="en-US">
                <a:latin typeface="Calibri"/>
                <a:ea typeface="Calibri"/>
                <a:cs typeface="Calibri"/>
                <a:sym typeface="Calibri"/>
              </a:rPr>
              <a:t>Challenges</a:t>
            </a:r>
            <a:endParaRPr b="0" i="1">
              <a:solidFill>
                <a:srgbClr val="073763"/>
              </a:solidFill>
              <a:latin typeface="Calibri"/>
              <a:ea typeface="Calibri"/>
              <a:cs typeface="Calibri"/>
              <a:sym typeface="Calibri"/>
            </a:endParaRPr>
          </a:p>
        </p:txBody>
      </p:sp>
      <p:sp>
        <p:nvSpPr>
          <p:cNvPr id="285" name="Google Shape;285;p40"/>
          <p:cNvSpPr txBox="1"/>
          <p:nvPr>
            <p:ph idx="1" type="body"/>
          </p:nvPr>
        </p:nvSpPr>
        <p:spPr>
          <a:xfrm>
            <a:off x="574025" y="1612650"/>
            <a:ext cx="7386600" cy="4630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rPr lang="en-US" sz="2000"/>
              <a:t>With the current high level messaging, Women Owned Businesses may not immediately understand:</a:t>
            </a:r>
            <a:endParaRPr sz="2000"/>
          </a:p>
          <a:p>
            <a:pPr indent="-241300" lvl="1" marL="685800" marR="0" rtl="0" algn="l">
              <a:lnSpc>
                <a:spcPct val="115000"/>
              </a:lnSpc>
              <a:spcBef>
                <a:spcPts val="1000"/>
              </a:spcBef>
              <a:spcAft>
                <a:spcPts val="0"/>
              </a:spcAft>
              <a:buClr>
                <a:schemeClr val="accent2"/>
              </a:buClr>
              <a:buSzPts val="2000"/>
              <a:buChar char="✔"/>
            </a:pPr>
            <a:r>
              <a:rPr lang="en-US" sz="2000"/>
              <a:t>Who</a:t>
            </a:r>
            <a:r>
              <a:rPr lang="en-US" sz="2000"/>
              <a:t> WBE Canada really is and the benefits for WBEs</a:t>
            </a:r>
            <a:endParaRPr sz="2000"/>
          </a:p>
          <a:p>
            <a:pPr indent="-241300" lvl="1" marL="685800" marR="0" rtl="0" algn="l">
              <a:lnSpc>
                <a:spcPct val="115000"/>
              </a:lnSpc>
              <a:spcBef>
                <a:spcPts val="1000"/>
              </a:spcBef>
              <a:spcAft>
                <a:spcPts val="0"/>
              </a:spcAft>
              <a:buClr>
                <a:schemeClr val="accent2"/>
              </a:buClr>
              <a:buSzPts val="2000"/>
              <a:buChar char="✔"/>
            </a:pPr>
            <a:r>
              <a:rPr lang="en-US" sz="2000"/>
              <a:t>How WBE Canada is unique to other women business networking groups</a:t>
            </a:r>
            <a:endParaRPr sz="2050"/>
          </a:p>
          <a:p>
            <a:pPr indent="-368300" lvl="1" marL="800100" marR="0" rtl="0" algn="l">
              <a:lnSpc>
                <a:spcPct val="115000"/>
              </a:lnSpc>
              <a:spcBef>
                <a:spcPts val="1000"/>
              </a:spcBef>
              <a:spcAft>
                <a:spcPts val="0"/>
              </a:spcAft>
              <a:buClr>
                <a:schemeClr val="accent2"/>
              </a:buClr>
              <a:buSzPts val="2000"/>
              <a:buChar char="✔"/>
            </a:pPr>
            <a:r>
              <a:rPr lang="en-US" sz="2000"/>
              <a:t>Some </a:t>
            </a:r>
            <a:r>
              <a:rPr lang="en-US" sz="2000"/>
              <a:t>terminology, such as supply chain diversity &amp; procurement</a:t>
            </a:r>
            <a:endParaRPr sz="2000"/>
          </a:p>
          <a:p>
            <a:pPr indent="-368300" lvl="1" marL="800100" marR="0" rtl="0" algn="l">
              <a:lnSpc>
                <a:spcPct val="115000"/>
              </a:lnSpc>
              <a:spcBef>
                <a:spcPts val="1000"/>
              </a:spcBef>
              <a:spcAft>
                <a:spcPts val="0"/>
              </a:spcAft>
              <a:buClr>
                <a:schemeClr val="accent2"/>
              </a:buClr>
              <a:buSzPts val="2000"/>
              <a:buChar char="✔"/>
            </a:pPr>
            <a:r>
              <a:rPr lang="en-US" sz="2000"/>
              <a:t>The correct path for them immediately - Certification or Pre-Certification (Tools for Growth)</a:t>
            </a:r>
            <a:endParaRPr sz="2000"/>
          </a:p>
          <a:p>
            <a:pPr indent="-368300" lvl="1" marL="800100" marR="0" rtl="0" algn="l">
              <a:lnSpc>
                <a:spcPct val="115000"/>
              </a:lnSpc>
              <a:spcBef>
                <a:spcPts val="1000"/>
              </a:spcBef>
              <a:spcAft>
                <a:spcPts val="0"/>
              </a:spcAft>
              <a:buClr>
                <a:schemeClr val="accent2"/>
              </a:buClr>
              <a:buSzPts val="2000"/>
              <a:buChar char="✔"/>
            </a:pPr>
            <a:r>
              <a:rPr lang="en-US" sz="2000"/>
              <a:t>WHY they should be Certified and what it can do for them</a:t>
            </a:r>
            <a:endParaRPr sz="2050"/>
          </a:p>
          <a:p>
            <a:pPr indent="0" lvl="0" marL="0" rtl="0" algn="l">
              <a:lnSpc>
                <a:spcPct val="100000"/>
              </a:lnSpc>
              <a:spcBef>
                <a:spcPts val="1000"/>
              </a:spcBef>
              <a:spcAft>
                <a:spcPts val="0"/>
              </a:spcAft>
              <a:buNone/>
            </a:pPr>
            <a:r>
              <a:t/>
            </a:r>
            <a:endParaRPr sz="1850"/>
          </a:p>
          <a:p>
            <a:pPr indent="0" lvl="0" marL="0" marR="0" rtl="0" algn="l">
              <a:lnSpc>
                <a:spcPct val="100000"/>
              </a:lnSpc>
              <a:spcBef>
                <a:spcPts val="1000"/>
              </a:spcBef>
              <a:spcAft>
                <a:spcPts val="0"/>
              </a:spcAft>
              <a:buNone/>
            </a:pPr>
            <a:r>
              <a:t/>
            </a:r>
            <a:endParaRPr sz="1850"/>
          </a:p>
        </p:txBody>
      </p:sp>
      <p:pic>
        <p:nvPicPr>
          <p:cNvPr id="286" name="Google Shape;286;p40"/>
          <p:cNvPicPr preferRelativeResize="0"/>
          <p:nvPr/>
        </p:nvPicPr>
        <p:blipFill rotWithShape="1">
          <a:blip r:embed="rId3">
            <a:alphaModFix/>
          </a:blip>
          <a:srcRect b="0" l="0" r="0" t="0"/>
          <a:stretch/>
        </p:blipFill>
        <p:spPr>
          <a:xfrm>
            <a:off x="8293050" y="1792300"/>
            <a:ext cx="3271025" cy="3945999"/>
          </a:xfrm>
          <a:prstGeom prst="rect">
            <a:avLst/>
          </a:prstGeom>
          <a:noFill/>
          <a:ln>
            <a:noFill/>
          </a:ln>
        </p:spPr>
      </p:pic>
      <p:sp>
        <p:nvSpPr>
          <p:cNvPr id="287" name="Google Shape;287;p40"/>
          <p:cNvSpPr txBox="1"/>
          <p:nvPr/>
        </p:nvSpPr>
        <p:spPr>
          <a:xfrm>
            <a:off x="8625375" y="2002200"/>
            <a:ext cx="2657700" cy="32103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900">
                <a:solidFill>
                  <a:srgbClr val="434343"/>
                </a:solidFill>
                <a:latin typeface="Calibri"/>
                <a:ea typeface="Calibri"/>
                <a:cs typeface="Calibri"/>
                <a:sym typeface="Calibri"/>
              </a:rPr>
              <a:t>Insights:</a:t>
            </a:r>
            <a:endParaRPr sz="1800">
              <a:solidFill>
                <a:srgbClr val="434343"/>
              </a:solidFill>
            </a:endParaRPr>
          </a:p>
          <a:p>
            <a:pPr indent="-311150" lvl="0" marL="285750" marR="0" rtl="0" algn="l">
              <a:lnSpc>
                <a:spcPct val="142857"/>
              </a:lnSpc>
              <a:spcBef>
                <a:spcPts val="600"/>
              </a:spcBef>
              <a:spcAft>
                <a:spcPts val="0"/>
              </a:spcAft>
              <a:buClr>
                <a:srgbClr val="434343"/>
              </a:buClr>
              <a:buSzPts val="1800"/>
              <a:buFont typeface="Calibri"/>
              <a:buChar char="✔"/>
            </a:pPr>
            <a:r>
              <a:rPr lang="en-US" sz="1800">
                <a:solidFill>
                  <a:srgbClr val="434343"/>
                </a:solidFill>
                <a:latin typeface="Calibri"/>
                <a:ea typeface="Calibri"/>
                <a:cs typeface="Calibri"/>
                <a:sym typeface="Calibri"/>
              </a:rPr>
              <a:t>Need clear, high level messaging that resonates with WBEs and immediately grabs attention</a:t>
            </a:r>
            <a:endParaRPr sz="18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Messaging </a:t>
            </a:r>
            <a:r>
              <a:rPr b="0" i="1" lang="en-US">
                <a:latin typeface="Calibri"/>
                <a:ea typeface="Calibri"/>
                <a:cs typeface="Calibri"/>
                <a:sym typeface="Calibri"/>
              </a:rPr>
              <a:t>Action Steps</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rgbClr val="073763"/>
              </a:solidFill>
            </a:endParaRPr>
          </a:p>
        </p:txBody>
      </p:sp>
      <p:sp>
        <p:nvSpPr>
          <p:cNvPr id="293" name="Google Shape;293;p41"/>
          <p:cNvSpPr txBox="1"/>
          <p:nvPr>
            <p:ph idx="1" type="body"/>
          </p:nvPr>
        </p:nvSpPr>
        <p:spPr>
          <a:xfrm>
            <a:off x="151275" y="1803775"/>
            <a:ext cx="8292900" cy="4630200"/>
          </a:xfrm>
          <a:prstGeom prst="rect">
            <a:avLst/>
          </a:prstGeom>
          <a:noFill/>
          <a:ln>
            <a:noFill/>
          </a:ln>
        </p:spPr>
        <p:txBody>
          <a:bodyPr anchorCtr="0" anchor="t" bIns="45700" lIns="91425" spcFirstLastPara="1" rIns="91425" wrap="square" tIns="45700">
            <a:noAutofit/>
          </a:bodyPr>
          <a:lstStyle/>
          <a:p>
            <a:pPr indent="-361950" lvl="1" marL="800100" marR="0" rtl="0" algn="l">
              <a:lnSpc>
                <a:spcPct val="130000"/>
              </a:lnSpc>
              <a:spcBef>
                <a:spcPts val="1000"/>
              </a:spcBef>
              <a:spcAft>
                <a:spcPts val="0"/>
              </a:spcAft>
              <a:buClr>
                <a:schemeClr val="accent2"/>
              </a:buClr>
              <a:buSzPts val="1900"/>
              <a:buChar char="✔"/>
            </a:pPr>
            <a:r>
              <a:rPr lang="en-US" sz="1900"/>
              <a:t>Create a new messaging guide</a:t>
            </a:r>
            <a:endParaRPr sz="1900"/>
          </a:p>
          <a:p>
            <a:pPr indent="-361950" lvl="1" marL="800100" marR="0" rtl="0" algn="l">
              <a:lnSpc>
                <a:spcPct val="130000"/>
              </a:lnSpc>
              <a:spcBef>
                <a:spcPts val="1000"/>
              </a:spcBef>
              <a:spcAft>
                <a:spcPts val="0"/>
              </a:spcAft>
              <a:buClr>
                <a:schemeClr val="accent2"/>
              </a:buClr>
              <a:buSzPts val="1900"/>
              <a:buChar char="✔"/>
            </a:pPr>
            <a:r>
              <a:rPr lang="en-US" sz="1900"/>
              <a:t>Update the high level messaging on the website, social pages and key marketing assets to:</a:t>
            </a:r>
            <a:endParaRPr sz="1900"/>
          </a:p>
          <a:p>
            <a:pPr indent="-234950" lvl="2" marL="1143000" marR="0" rtl="0" algn="l">
              <a:lnSpc>
                <a:spcPct val="130000"/>
              </a:lnSpc>
              <a:spcBef>
                <a:spcPts val="1000"/>
              </a:spcBef>
              <a:spcAft>
                <a:spcPts val="0"/>
              </a:spcAft>
              <a:buClr>
                <a:schemeClr val="accent2"/>
              </a:buClr>
              <a:buSzPts val="1900"/>
              <a:buChar char="•"/>
            </a:pPr>
            <a:r>
              <a:rPr lang="en-US" sz="1900"/>
              <a:t>Replace more technical terms with plain language that all WBEs can related to &amp; immediately understand</a:t>
            </a:r>
            <a:endParaRPr sz="1900"/>
          </a:p>
          <a:p>
            <a:pPr indent="-234950" lvl="2" marL="1143000" marR="0" rtl="0" algn="l">
              <a:lnSpc>
                <a:spcPct val="130000"/>
              </a:lnSpc>
              <a:spcBef>
                <a:spcPts val="1000"/>
              </a:spcBef>
              <a:spcAft>
                <a:spcPts val="0"/>
              </a:spcAft>
              <a:buSzPts val="1900"/>
              <a:buChar char="•"/>
            </a:pPr>
            <a:r>
              <a:rPr lang="en-US" sz="1900"/>
              <a:t>Immediately communicate the core benefits of WBE Canada</a:t>
            </a:r>
            <a:endParaRPr sz="1900"/>
          </a:p>
          <a:p>
            <a:pPr indent="-234950" lvl="2" marL="1143000" marR="0" rtl="0" algn="l">
              <a:lnSpc>
                <a:spcPct val="130000"/>
              </a:lnSpc>
              <a:spcBef>
                <a:spcPts val="1000"/>
              </a:spcBef>
              <a:spcAft>
                <a:spcPts val="0"/>
              </a:spcAft>
              <a:buSzPts val="1900"/>
              <a:buChar char="•"/>
            </a:pPr>
            <a:r>
              <a:rPr lang="en-US" sz="1900"/>
              <a:t>Position WBE Canada as an important &amp; credible industry council and different from other women business organizations</a:t>
            </a:r>
            <a:endParaRPr sz="1900"/>
          </a:p>
          <a:p>
            <a:pPr indent="-234950" lvl="2" marL="1143000" marR="0" rtl="0" algn="l">
              <a:lnSpc>
                <a:spcPct val="130000"/>
              </a:lnSpc>
              <a:spcBef>
                <a:spcPts val="1000"/>
              </a:spcBef>
              <a:spcAft>
                <a:spcPts val="0"/>
              </a:spcAft>
              <a:buSzPts val="1900"/>
              <a:buChar char="•"/>
            </a:pPr>
            <a:r>
              <a:rPr lang="en-US" sz="1900"/>
              <a:t>Clearly communicate Certification options &amp; the the next best action step for WBEs</a:t>
            </a:r>
            <a:endParaRPr sz="1750"/>
          </a:p>
        </p:txBody>
      </p:sp>
      <p:pic>
        <p:nvPicPr>
          <p:cNvPr id="294" name="Google Shape;294;p41"/>
          <p:cNvPicPr preferRelativeResize="0"/>
          <p:nvPr/>
        </p:nvPicPr>
        <p:blipFill rotWithShape="1">
          <a:blip r:embed="rId3">
            <a:alphaModFix/>
          </a:blip>
          <a:srcRect b="0" l="0" r="0" t="0"/>
          <a:stretch/>
        </p:blipFill>
        <p:spPr>
          <a:xfrm>
            <a:off x="8897275" y="1803775"/>
            <a:ext cx="2666800" cy="3934526"/>
          </a:xfrm>
          <a:prstGeom prst="rect">
            <a:avLst/>
          </a:prstGeom>
          <a:noFill/>
          <a:ln>
            <a:noFill/>
          </a:ln>
        </p:spPr>
      </p:pic>
      <p:sp>
        <p:nvSpPr>
          <p:cNvPr id="295" name="Google Shape;295;p41"/>
          <p:cNvSpPr txBox="1"/>
          <p:nvPr/>
        </p:nvSpPr>
        <p:spPr>
          <a:xfrm>
            <a:off x="9259800" y="1943100"/>
            <a:ext cx="2023500" cy="25485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Strong opportunity to engage more WBEs through clear messaging that speaks to benefits in plain language</a:t>
            </a:r>
            <a:endParaRPr sz="1600">
              <a:solidFill>
                <a:srgbClr val="434343"/>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Messaging </a:t>
            </a:r>
            <a:r>
              <a:rPr b="0" i="1" lang="en-US">
                <a:latin typeface="Calibri"/>
                <a:ea typeface="Calibri"/>
                <a:cs typeface="Calibri"/>
                <a:sym typeface="Calibri"/>
              </a:rPr>
              <a:t>Core message example</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rgbClr val="073763"/>
              </a:solidFill>
            </a:endParaRPr>
          </a:p>
        </p:txBody>
      </p:sp>
      <p:sp>
        <p:nvSpPr>
          <p:cNvPr id="301" name="Google Shape;301;p42"/>
          <p:cNvSpPr txBox="1"/>
          <p:nvPr>
            <p:ph idx="1" type="body"/>
          </p:nvPr>
        </p:nvSpPr>
        <p:spPr>
          <a:xfrm>
            <a:off x="6286500" y="2109925"/>
            <a:ext cx="5014500" cy="3291600"/>
          </a:xfrm>
          <a:prstGeom prst="rect">
            <a:avLst/>
          </a:prstGeom>
          <a:solidFill>
            <a:srgbClr val="F3F3F3"/>
          </a:solidFill>
          <a:ln>
            <a:noFill/>
          </a:ln>
        </p:spPr>
        <p:txBody>
          <a:bodyPr anchorCtr="0" anchor="t" bIns="45700" lIns="91425" spcFirstLastPara="1" rIns="91425" wrap="square" tIns="45700">
            <a:noAutofit/>
          </a:bodyPr>
          <a:lstStyle/>
          <a:p>
            <a:pPr indent="0" lvl="0" marL="171450" marR="0" rtl="0" algn="l">
              <a:lnSpc>
                <a:spcPct val="100000"/>
              </a:lnSpc>
              <a:spcBef>
                <a:spcPts val="1000"/>
              </a:spcBef>
              <a:spcAft>
                <a:spcPts val="0"/>
              </a:spcAft>
              <a:buNone/>
            </a:pPr>
            <a:br>
              <a:rPr b="1" lang="en-US" sz="1650"/>
            </a:br>
            <a:r>
              <a:rPr b="1" lang="en-US" sz="1850"/>
              <a:t>WBE Canada is the Certifying Council for Women Owned Businesses:</a:t>
            </a:r>
            <a:endParaRPr b="1" sz="1850"/>
          </a:p>
          <a:p>
            <a:pPr indent="-231775" lvl="0" marL="571500" marR="0" rtl="0" algn="l">
              <a:lnSpc>
                <a:spcPct val="100000"/>
              </a:lnSpc>
              <a:spcBef>
                <a:spcPts val="1000"/>
              </a:spcBef>
              <a:spcAft>
                <a:spcPts val="0"/>
              </a:spcAft>
              <a:buSzPts val="1850"/>
              <a:buChar char="•"/>
            </a:pPr>
            <a:r>
              <a:rPr b="1" lang="en-US" sz="1850"/>
              <a:t>Get best practices resources</a:t>
            </a:r>
            <a:r>
              <a:rPr lang="en-US" sz="1850"/>
              <a:t> to thrive &amp; scale. </a:t>
            </a:r>
            <a:endParaRPr sz="1850"/>
          </a:p>
          <a:p>
            <a:pPr indent="-228600" lvl="0" marL="571500" marR="0" rtl="0" algn="l">
              <a:lnSpc>
                <a:spcPct val="100000"/>
              </a:lnSpc>
              <a:spcBef>
                <a:spcPts val="0"/>
              </a:spcBef>
              <a:spcAft>
                <a:spcPts val="0"/>
              </a:spcAft>
              <a:buSzPts val="1800"/>
              <a:buChar char="•"/>
            </a:pPr>
            <a:r>
              <a:rPr b="1" lang="en-US" sz="1850"/>
              <a:t>Access corporate &amp; government contracts</a:t>
            </a:r>
            <a:r>
              <a:rPr lang="en-US" sz="1850"/>
              <a:t> with organizations who want to work with more Women Owned Businesses.</a:t>
            </a:r>
            <a:r>
              <a:rPr lang="en-US" sz="2050"/>
              <a:t> </a:t>
            </a:r>
            <a:endParaRPr sz="2050"/>
          </a:p>
          <a:p>
            <a:pPr indent="-228600" lvl="0" marL="571500" marR="0" rtl="0" algn="l">
              <a:lnSpc>
                <a:spcPct val="100000"/>
              </a:lnSpc>
              <a:spcBef>
                <a:spcPts val="0"/>
              </a:spcBef>
              <a:spcAft>
                <a:spcPts val="0"/>
              </a:spcAft>
              <a:buSzPts val="1800"/>
              <a:buChar char="•"/>
            </a:pPr>
            <a:r>
              <a:rPr b="1" lang="en-US" sz="1850"/>
              <a:t>Connect, partner &amp; mentor</a:t>
            </a:r>
            <a:r>
              <a:rPr lang="en-US" sz="1850"/>
              <a:t> with other women business owners.</a:t>
            </a:r>
            <a:r>
              <a:rPr lang="en-US" sz="2050"/>
              <a:t> </a:t>
            </a:r>
            <a:r>
              <a:rPr lang="en-US" sz="2250"/>
              <a:t> </a:t>
            </a:r>
            <a:endParaRPr b="1" sz="2150"/>
          </a:p>
        </p:txBody>
      </p:sp>
      <p:pic>
        <p:nvPicPr>
          <p:cNvPr id="302" name="Google Shape;302;p42"/>
          <p:cNvPicPr preferRelativeResize="0"/>
          <p:nvPr/>
        </p:nvPicPr>
        <p:blipFill>
          <a:blip r:embed="rId3">
            <a:alphaModFix/>
          </a:blip>
          <a:stretch>
            <a:fillRect/>
          </a:stretch>
        </p:blipFill>
        <p:spPr>
          <a:xfrm>
            <a:off x="704901" y="2109925"/>
            <a:ext cx="4946099" cy="32916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3"/>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Messaging </a:t>
            </a:r>
            <a:r>
              <a:rPr b="0" i="1" lang="en-US">
                <a:latin typeface="Calibri"/>
                <a:ea typeface="Calibri"/>
                <a:cs typeface="Calibri"/>
                <a:sym typeface="Calibri"/>
              </a:rPr>
              <a:t>Example</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rgbClr val="073763"/>
              </a:solidFill>
            </a:endParaRPr>
          </a:p>
        </p:txBody>
      </p:sp>
      <p:pic>
        <p:nvPicPr>
          <p:cNvPr id="308" name="Google Shape;308;p43"/>
          <p:cNvPicPr preferRelativeResize="0"/>
          <p:nvPr/>
        </p:nvPicPr>
        <p:blipFill>
          <a:blip r:embed="rId3">
            <a:alphaModFix/>
          </a:blip>
          <a:stretch>
            <a:fillRect/>
          </a:stretch>
        </p:blipFill>
        <p:spPr>
          <a:xfrm>
            <a:off x="784875" y="2200525"/>
            <a:ext cx="5311125" cy="3303655"/>
          </a:xfrm>
          <a:prstGeom prst="rect">
            <a:avLst/>
          </a:prstGeom>
          <a:noFill/>
          <a:ln>
            <a:noFill/>
          </a:ln>
        </p:spPr>
      </p:pic>
      <p:sp>
        <p:nvSpPr>
          <p:cNvPr id="309" name="Google Shape;309;p43"/>
          <p:cNvSpPr/>
          <p:nvPr/>
        </p:nvSpPr>
        <p:spPr>
          <a:xfrm>
            <a:off x="6539250" y="2200525"/>
            <a:ext cx="4950900" cy="3303600"/>
          </a:xfrm>
          <a:prstGeom prst="rect">
            <a:avLst/>
          </a:prstGeom>
          <a:solidFill>
            <a:srgbClr val="D0E0E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a:t>ARE YOU A</a:t>
            </a:r>
            <a:br>
              <a:rPr lang="en-US" sz="700"/>
            </a:br>
            <a:endParaRPr sz="700"/>
          </a:p>
          <a:p>
            <a:pPr indent="0" lvl="0" marL="0" rtl="0" algn="ctr">
              <a:spcBef>
                <a:spcPts val="0"/>
              </a:spcBef>
              <a:spcAft>
                <a:spcPts val="0"/>
              </a:spcAft>
              <a:buNone/>
            </a:pPr>
            <a:r>
              <a:rPr b="1" lang="en-US" sz="1700">
                <a:solidFill>
                  <a:srgbClr val="0B5394"/>
                </a:solidFill>
              </a:rPr>
              <a:t>CANADIAN WOMEN-OWNED BUSINESS?</a:t>
            </a:r>
            <a:endParaRPr b="1" sz="1700">
              <a:solidFill>
                <a:srgbClr val="0B5394"/>
              </a:solidFill>
            </a:endParaRPr>
          </a:p>
          <a:p>
            <a:pPr indent="0" lvl="0" marL="0" rtl="0" algn="ctr">
              <a:spcBef>
                <a:spcPts val="0"/>
              </a:spcBef>
              <a:spcAft>
                <a:spcPts val="0"/>
              </a:spcAft>
              <a:buNone/>
            </a:pPr>
            <a:r>
              <a:t/>
            </a:r>
            <a:endParaRPr/>
          </a:p>
          <a:p>
            <a:pPr indent="0" lvl="0" marL="0" rtl="0" algn="ctr">
              <a:spcBef>
                <a:spcPts val="0"/>
              </a:spcBef>
              <a:spcAft>
                <a:spcPts val="0"/>
              </a:spcAft>
              <a:buNone/>
            </a:pPr>
            <a:r>
              <a:rPr lang="en-US"/>
              <a:t>WBE Canada is the Certification Council in Canada for businesses 51% or more owned, managed &amp; controlled by women.</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US"/>
              <a:t>A</a:t>
            </a:r>
            <a:r>
              <a:rPr b="1" lang="en-US" sz="1650">
                <a:solidFill>
                  <a:schemeClr val="dk1"/>
                </a:solidFill>
                <a:latin typeface="Calibri"/>
                <a:ea typeface="Calibri"/>
                <a:cs typeface="Calibri"/>
                <a:sym typeface="Calibri"/>
              </a:rPr>
              <a:t>ccess corporate &amp; public contracts</a:t>
            </a:r>
            <a:r>
              <a:rPr lang="en-US" sz="1650">
                <a:solidFill>
                  <a:schemeClr val="dk1"/>
                </a:solidFill>
                <a:latin typeface="Calibri"/>
                <a:ea typeface="Calibri"/>
                <a:cs typeface="Calibri"/>
                <a:sym typeface="Calibri"/>
              </a:rPr>
              <a:t> with organizations l</a:t>
            </a:r>
            <a:r>
              <a:rPr i="1" lang="en-US" sz="1650">
                <a:solidFill>
                  <a:schemeClr val="dk1"/>
                </a:solidFill>
                <a:latin typeface="Calibri"/>
                <a:ea typeface="Calibri"/>
                <a:cs typeface="Calibri"/>
                <a:sym typeface="Calibri"/>
              </a:rPr>
              <a:t>ooking to work with more Women Owned Businesses like you:</a:t>
            </a:r>
            <a:br>
              <a:rPr i="1" lang="en-US" sz="1650">
                <a:solidFill>
                  <a:schemeClr val="dk1"/>
                </a:solidFill>
                <a:latin typeface="Calibri"/>
                <a:ea typeface="Calibri"/>
                <a:cs typeface="Calibri"/>
                <a:sym typeface="Calibri"/>
              </a:rPr>
            </a:br>
            <a:endParaRPr i="1" sz="1650">
              <a:solidFill>
                <a:schemeClr val="dk1"/>
              </a:solidFill>
              <a:latin typeface="Calibri"/>
              <a:ea typeface="Calibri"/>
              <a:cs typeface="Calibri"/>
              <a:sym typeface="Calibri"/>
            </a:endParaRPr>
          </a:p>
          <a:p>
            <a:pPr indent="0" lvl="0" marL="0" rtl="0" algn="ctr">
              <a:spcBef>
                <a:spcPts val="0"/>
              </a:spcBef>
              <a:spcAft>
                <a:spcPts val="0"/>
              </a:spcAft>
              <a:buNone/>
            </a:pPr>
            <a:r>
              <a:t/>
            </a:r>
            <a:endParaRPr sz="1850">
              <a:solidFill>
                <a:schemeClr val="dk1"/>
              </a:solidFill>
              <a:latin typeface="Calibri"/>
              <a:ea typeface="Calibri"/>
              <a:cs typeface="Calibri"/>
              <a:sym typeface="Calibri"/>
            </a:endParaRPr>
          </a:p>
          <a:p>
            <a:pPr indent="0" lvl="0" marL="0" rtl="0" algn="ctr">
              <a:spcBef>
                <a:spcPts val="0"/>
              </a:spcBef>
              <a:spcAft>
                <a:spcPts val="0"/>
              </a:spcAft>
              <a:buNone/>
            </a:pPr>
            <a:r>
              <a:rPr lang="en-US" sz="1850">
                <a:solidFill>
                  <a:schemeClr val="dk1"/>
                </a:solidFill>
                <a:latin typeface="Calibri"/>
                <a:ea typeface="Calibri"/>
                <a:cs typeface="Calibri"/>
                <a:sym typeface="Calibri"/>
              </a:rPr>
              <a:t> </a:t>
            </a:r>
            <a:endParaRPr/>
          </a:p>
        </p:txBody>
      </p:sp>
      <p:sp>
        <p:nvSpPr>
          <p:cNvPr id="310" name="Google Shape;310;p43"/>
          <p:cNvSpPr/>
          <p:nvPr/>
        </p:nvSpPr>
        <p:spPr>
          <a:xfrm>
            <a:off x="7762450" y="4781825"/>
            <a:ext cx="2779500" cy="438000"/>
          </a:xfrm>
          <a:prstGeom prst="roundRect">
            <a:avLst>
              <a:gd fmla="val 16667" name="adj"/>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solidFill>
                  <a:schemeClr val="lt1"/>
                </a:solidFill>
              </a:rPr>
              <a:t>Get WBE Certified Now</a:t>
            </a:r>
            <a:endParaRPr b="1">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44"/>
          <p:cNvSpPr txBox="1"/>
          <p:nvPr>
            <p:ph type="title"/>
          </p:nvPr>
        </p:nvSpPr>
        <p:spPr>
          <a:xfrm>
            <a:off x="808725" y="784225"/>
            <a:ext cx="107490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Messaging </a:t>
            </a:r>
            <a:r>
              <a:rPr b="0" i="1" lang="en-US">
                <a:latin typeface="Calibri"/>
                <a:ea typeface="Calibri"/>
                <a:cs typeface="Calibri"/>
                <a:sym typeface="Calibri"/>
              </a:rPr>
              <a:t>Example</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rgbClr val="073763"/>
              </a:solidFill>
            </a:endParaRPr>
          </a:p>
        </p:txBody>
      </p:sp>
      <p:pic>
        <p:nvPicPr>
          <p:cNvPr id="316" name="Google Shape;316;p44"/>
          <p:cNvPicPr preferRelativeResize="0"/>
          <p:nvPr/>
        </p:nvPicPr>
        <p:blipFill rotWithShape="1">
          <a:blip r:embed="rId3">
            <a:alphaModFix/>
          </a:blip>
          <a:srcRect b="3815" l="0" r="0" t="37760"/>
          <a:stretch/>
        </p:blipFill>
        <p:spPr>
          <a:xfrm>
            <a:off x="6182076" y="3561725"/>
            <a:ext cx="5528000" cy="1410983"/>
          </a:xfrm>
          <a:prstGeom prst="rect">
            <a:avLst/>
          </a:prstGeom>
          <a:noFill/>
          <a:ln>
            <a:noFill/>
          </a:ln>
        </p:spPr>
      </p:pic>
      <p:sp>
        <p:nvSpPr>
          <p:cNvPr id="317" name="Google Shape;317;p44"/>
          <p:cNvSpPr/>
          <p:nvPr/>
        </p:nvSpPr>
        <p:spPr>
          <a:xfrm>
            <a:off x="6394600" y="2186125"/>
            <a:ext cx="4921200" cy="17829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800">
                <a:solidFill>
                  <a:srgbClr val="0B5394"/>
                </a:solidFill>
                <a:latin typeface="Calibri"/>
                <a:ea typeface="Calibri"/>
                <a:cs typeface="Calibri"/>
                <a:sym typeface="Calibri"/>
              </a:rPr>
              <a:t>WBE Canada helps </a:t>
            </a:r>
            <a:endParaRPr b="1" sz="1800">
              <a:solidFill>
                <a:srgbClr val="0B5394"/>
              </a:solidFill>
              <a:latin typeface="Calibri"/>
              <a:ea typeface="Calibri"/>
              <a:cs typeface="Calibri"/>
              <a:sym typeface="Calibri"/>
            </a:endParaRPr>
          </a:p>
          <a:p>
            <a:pPr indent="0" lvl="0" marL="0" rtl="0" algn="ctr">
              <a:spcBef>
                <a:spcPts val="0"/>
              </a:spcBef>
              <a:spcAft>
                <a:spcPts val="0"/>
              </a:spcAft>
              <a:buNone/>
            </a:pPr>
            <a:r>
              <a:rPr b="1" lang="en-US" sz="1800">
                <a:solidFill>
                  <a:srgbClr val="0B5394"/>
                </a:solidFill>
                <a:latin typeface="Calibri"/>
                <a:ea typeface="Calibri"/>
                <a:cs typeface="Calibri"/>
                <a:sym typeface="Calibri"/>
              </a:rPr>
              <a:t>Women-Owned Businesses </a:t>
            </a:r>
            <a:endParaRPr b="1" sz="1800">
              <a:solidFill>
                <a:srgbClr val="0B5394"/>
              </a:solidFill>
              <a:latin typeface="Calibri"/>
              <a:ea typeface="Calibri"/>
              <a:cs typeface="Calibri"/>
              <a:sym typeface="Calibri"/>
            </a:endParaRPr>
          </a:p>
          <a:p>
            <a:pPr indent="0" lvl="0" marL="0" rtl="0" algn="ctr">
              <a:spcBef>
                <a:spcPts val="0"/>
              </a:spcBef>
              <a:spcAft>
                <a:spcPts val="0"/>
              </a:spcAft>
              <a:buNone/>
            </a:pPr>
            <a:r>
              <a:rPr b="1" lang="en-US" sz="1800">
                <a:solidFill>
                  <a:srgbClr val="0B5394"/>
                </a:solidFill>
                <a:latin typeface="Calibri"/>
                <a:ea typeface="Calibri"/>
                <a:cs typeface="Calibri"/>
                <a:sym typeface="Calibri"/>
              </a:rPr>
              <a:t>access corporate &amp; government contracts</a:t>
            </a:r>
            <a:endParaRPr b="1" sz="1800">
              <a:solidFill>
                <a:srgbClr val="0B5394"/>
              </a:solidFill>
              <a:latin typeface="Calibri"/>
              <a:ea typeface="Calibri"/>
              <a:cs typeface="Calibri"/>
              <a:sym typeface="Calibri"/>
            </a:endParaRPr>
          </a:p>
        </p:txBody>
      </p:sp>
      <p:pic>
        <p:nvPicPr>
          <p:cNvPr id="318" name="Google Shape;318;p44"/>
          <p:cNvPicPr preferRelativeResize="0"/>
          <p:nvPr/>
        </p:nvPicPr>
        <p:blipFill>
          <a:blip r:embed="rId3">
            <a:alphaModFix/>
          </a:blip>
          <a:stretch>
            <a:fillRect/>
          </a:stretch>
        </p:blipFill>
        <p:spPr>
          <a:xfrm>
            <a:off x="298925" y="2612325"/>
            <a:ext cx="5730750" cy="2503699"/>
          </a:xfrm>
          <a:prstGeom prst="rect">
            <a:avLst/>
          </a:prstGeom>
          <a:noFill/>
          <a:ln>
            <a:noFill/>
          </a:ln>
        </p:spPr>
      </p:pic>
      <p:cxnSp>
        <p:nvCxnSpPr>
          <p:cNvPr id="319" name="Google Shape;319;p44"/>
          <p:cNvCxnSpPr/>
          <p:nvPr/>
        </p:nvCxnSpPr>
        <p:spPr>
          <a:xfrm>
            <a:off x="6179925" y="2166800"/>
            <a:ext cx="15300" cy="3280800"/>
          </a:xfrm>
          <a:prstGeom prst="straightConnector1">
            <a:avLst/>
          </a:prstGeom>
          <a:noFill/>
          <a:ln cap="flat" cmpd="sng" w="9525">
            <a:solidFill>
              <a:schemeClr val="accent2"/>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5"/>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Messaging </a:t>
            </a:r>
            <a:r>
              <a:rPr b="0" i="1" lang="en-US">
                <a:latin typeface="Calibri"/>
                <a:ea typeface="Calibri"/>
                <a:cs typeface="Calibri"/>
                <a:sym typeface="Calibri"/>
              </a:rPr>
              <a:t>Example</a:t>
            </a:r>
            <a:endParaRPr b="0" i="1">
              <a:latin typeface="Calibri"/>
              <a:ea typeface="Calibri"/>
              <a:cs typeface="Calibri"/>
              <a:sym typeface="Calibri"/>
            </a:endParaRPr>
          </a:p>
        </p:txBody>
      </p:sp>
      <p:sp>
        <p:nvSpPr>
          <p:cNvPr id="325" name="Google Shape;325;p45"/>
          <p:cNvSpPr txBox="1"/>
          <p:nvPr>
            <p:ph idx="1" type="body"/>
          </p:nvPr>
        </p:nvSpPr>
        <p:spPr>
          <a:xfrm>
            <a:off x="930125" y="1943100"/>
            <a:ext cx="80979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t/>
            </a:r>
            <a:endParaRPr b="1" sz="2050"/>
          </a:p>
          <a:p>
            <a:pPr indent="0" lvl="0" marL="0" marR="0" rtl="0" algn="l">
              <a:lnSpc>
                <a:spcPct val="100000"/>
              </a:lnSpc>
              <a:spcBef>
                <a:spcPts val="1000"/>
              </a:spcBef>
              <a:spcAft>
                <a:spcPts val="0"/>
              </a:spcAft>
              <a:buNone/>
            </a:pPr>
            <a:r>
              <a:t/>
            </a:r>
            <a:endParaRPr sz="2050"/>
          </a:p>
        </p:txBody>
      </p:sp>
      <p:pic>
        <p:nvPicPr>
          <p:cNvPr id="326" name="Google Shape;326;p45"/>
          <p:cNvPicPr preferRelativeResize="0"/>
          <p:nvPr/>
        </p:nvPicPr>
        <p:blipFill rotWithShape="1">
          <a:blip r:embed="rId3">
            <a:alphaModFix/>
          </a:blip>
          <a:srcRect b="28800" l="0" r="0" t="0"/>
          <a:stretch/>
        </p:blipFill>
        <p:spPr>
          <a:xfrm>
            <a:off x="1545450" y="2201050"/>
            <a:ext cx="7664199" cy="3290000"/>
          </a:xfrm>
          <a:prstGeom prst="rect">
            <a:avLst/>
          </a:prstGeom>
          <a:noFill/>
          <a:ln>
            <a:noFill/>
          </a:ln>
        </p:spPr>
      </p:pic>
      <p:sp>
        <p:nvSpPr>
          <p:cNvPr id="327" name="Google Shape;327;p45"/>
          <p:cNvSpPr txBox="1"/>
          <p:nvPr>
            <p:ph idx="1" type="body"/>
          </p:nvPr>
        </p:nvSpPr>
        <p:spPr>
          <a:xfrm>
            <a:off x="5867650" y="2926300"/>
            <a:ext cx="3342000" cy="20559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br>
              <a:rPr b="1" lang="en-US" sz="1650"/>
            </a:br>
            <a:r>
              <a:rPr b="1" lang="en-US" sz="1150">
                <a:solidFill>
                  <a:srgbClr val="45818E"/>
                </a:solidFill>
                <a:latin typeface="Verdana"/>
                <a:ea typeface="Verdana"/>
                <a:cs typeface="Verdana"/>
                <a:sym typeface="Verdana"/>
              </a:rPr>
              <a:t>WBE Canada is the Certifying Council for Canadian Women-owned Businesses:</a:t>
            </a:r>
            <a:endParaRPr b="1" sz="1150">
              <a:solidFill>
                <a:srgbClr val="45818E"/>
              </a:solidFill>
              <a:latin typeface="Verdana"/>
              <a:ea typeface="Verdana"/>
              <a:cs typeface="Verdana"/>
              <a:sym typeface="Verdana"/>
            </a:endParaRPr>
          </a:p>
          <a:p>
            <a:pPr indent="0" lvl="0" marL="0" rtl="0" algn="l">
              <a:lnSpc>
                <a:spcPct val="100000"/>
              </a:lnSpc>
              <a:spcBef>
                <a:spcPts val="1000"/>
              </a:spcBef>
              <a:spcAft>
                <a:spcPts val="0"/>
              </a:spcAft>
              <a:buNone/>
            </a:pPr>
            <a:r>
              <a:rPr b="1" lang="en-US" sz="850"/>
              <a:t>Access corporate &amp; government contracts</a:t>
            </a:r>
            <a:r>
              <a:rPr lang="en-US" sz="850"/>
              <a:t> with organizations </a:t>
            </a:r>
            <a:br>
              <a:rPr lang="en-US" sz="850"/>
            </a:br>
            <a:r>
              <a:rPr lang="en-US" sz="850"/>
              <a:t>who want to work with more women-owned businesses.</a:t>
            </a:r>
            <a:r>
              <a:rPr lang="en-US" sz="1050"/>
              <a:t> </a:t>
            </a:r>
            <a:br>
              <a:rPr b="1" lang="en-US" sz="650"/>
            </a:br>
            <a:br>
              <a:rPr b="1" lang="en-US" sz="650"/>
            </a:br>
            <a:r>
              <a:rPr b="1" lang="en-US" sz="850"/>
              <a:t>Get best practices resources</a:t>
            </a:r>
            <a:r>
              <a:rPr lang="en-US" sz="850"/>
              <a:t> to thrive and scale. </a:t>
            </a:r>
            <a:br>
              <a:rPr lang="en-US" sz="550"/>
            </a:br>
            <a:br>
              <a:rPr lang="en-US" sz="550"/>
            </a:br>
            <a:r>
              <a:rPr b="1" lang="en-US" sz="850"/>
              <a:t>Connect, partner &amp; mentor</a:t>
            </a:r>
            <a:r>
              <a:rPr lang="en-US" sz="850"/>
              <a:t> with other women business owners.</a:t>
            </a:r>
            <a:r>
              <a:rPr lang="en-US" sz="950"/>
              <a:t> </a:t>
            </a:r>
            <a:endParaRPr b="1" sz="115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6"/>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Certification Levels </a:t>
            </a:r>
            <a:r>
              <a:rPr b="0" i="1" lang="en-US">
                <a:latin typeface="Calibri"/>
                <a:ea typeface="Calibri"/>
                <a:cs typeface="Calibri"/>
                <a:sym typeface="Calibri"/>
              </a:rPr>
              <a:t>Example</a:t>
            </a:r>
            <a:endParaRPr b="0" i="1">
              <a:latin typeface="Calibri"/>
              <a:ea typeface="Calibri"/>
              <a:cs typeface="Calibri"/>
              <a:sym typeface="Calibri"/>
            </a:endParaRPr>
          </a:p>
        </p:txBody>
      </p:sp>
      <p:sp>
        <p:nvSpPr>
          <p:cNvPr id="333" name="Google Shape;333;p46"/>
          <p:cNvSpPr txBox="1"/>
          <p:nvPr>
            <p:ph idx="1" type="body"/>
          </p:nvPr>
        </p:nvSpPr>
        <p:spPr>
          <a:xfrm>
            <a:off x="930125" y="1943100"/>
            <a:ext cx="80979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t/>
            </a:r>
            <a:endParaRPr b="1" sz="2050"/>
          </a:p>
          <a:p>
            <a:pPr indent="0" lvl="0" marL="0" marR="0" rtl="0" algn="l">
              <a:lnSpc>
                <a:spcPct val="100000"/>
              </a:lnSpc>
              <a:spcBef>
                <a:spcPts val="1000"/>
              </a:spcBef>
              <a:spcAft>
                <a:spcPts val="0"/>
              </a:spcAft>
              <a:buNone/>
            </a:pPr>
            <a:r>
              <a:t/>
            </a:r>
            <a:endParaRPr sz="2050"/>
          </a:p>
        </p:txBody>
      </p:sp>
      <p:sp>
        <p:nvSpPr>
          <p:cNvPr id="334" name="Google Shape;334;p46"/>
          <p:cNvSpPr txBox="1"/>
          <p:nvPr>
            <p:ph idx="1" type="body"/>
          </p:nvPr>
        </p:nvSpPr>
        <p:spPr>
          <a:xfrm>
            <a:off x="259500" y="1644500"/>
            <a:ext cx="11568300" cy="1723500"/>
          </a:xfrm>
          <a:prstGeom prst="rect">
            <a:avLst/>
          </a:prstGeom>
          <a:noFill/>
          <a:ln>
            <a:noFill/>
          </a:ln>
        </p:spPr>
        <p:txBody>
          <a:bodyPr anchorCtr="0" anchor="t" bIns="45700" lIns="91425" spcFirstLastPara="1" rIns="91425" wrap="square" tIns="45700">
            <a:noAutofit/>
          </a:bodyPr>
          <a:lstStyle/>
          <a:p>
            <a:pPr indent="-238125" lvl="1" marL="685800" rtl="0" algn="l">
              <a:lnSpc>
                <a:spcPct val="100000"/>
              </a:lnSpc>
              <a:spcBef>
                <a:spcPts val="1000"/>
              </a:spcBef>
              <a:spcAft>
                <a:spcPts val="0"/>
              </a:spcAft>
              <a:buClr>
                <a:schemeClr val="accent2"/>
              </a:buClr>
              <a:buSzPts val="1950"/>
              <a:buFont typeface="Noto Sans Symbols"/>
              <a:buChar char="✔"/>
            </a:pPr>
            <a:r>
              <a:rPr lang="en-US" sz="1950"/>
              <a:t>Make the options clear on the Home Page</a:t>
            </a:r>
            <a:r>
              <a:rPr i="1" lang="en-US" sz="1950"/>
              <a:t> </a:t>
            </a:r>
            <a:endParaRPr b="1" i="1" sz="1950"/>
          </a:p>
          <a:p>
            <a:pPr indent="0" lvl="0" marL="0" rtl="0" algn="l">
              <a:lnSpc>
                <a:spcPct val="100000"/>
              </a:lnSpc>
              <a:spcBef>
                <a:spcPts val="1000"/>
              </a:spcBef>
              <a:spcAft>
                <a:spcPts val="0"/>
              </a:spcAft>
              <a:buNone/>
            </a:pPr>
            <a:r>
              <a:t/>
            </a:r>
            <a:endParaRPr sz="1950"/>
          </a:p>
          <a:p>
            <a:pPr indent="0" lvl="0" marL="0" rtl="0" algn="l">
              <a:lnSpc>
                <a:spcPct val="100000"/>
              </a:lnSpc>
              <a:spcBef>
                <a:spcPts val="1000"/>
              </a:spcBef>
              <a:spcAft>
                <a:spcPts val="0"/>
              </a:spcAft>
              <a:buNone/>
            </a:pPr>
            <a:r>
              <a:t/>
            </a:r>
            <a:endParaRPr sz="1950"/>
          </a:p>
          <a:p>
            <a:pPr indent="0" lvl="0" marL="685800" rtl="0" algn="l">
              <a:lnSpc>
                <a:spcPct val="100000"/>
              </a:lnSpc>
              <a:spcBef>
                <a:spcPts val="1000"/>
              </a:spcBef>
              <a:spcAft>
                <a:spcPts val="0"/>
              </a:spcAft>
              <a:buNone/>
            </a:pPr>
            <a:r>
              <a:t/>
            </a:r>
            <a:endParaRPr sz="1950"/>
          </a:p>
        </p:txBody>
      </p:sp>
      <p:pic>
        <p:nvPicPr>
          <p:cNvPr id="335" name="Google Shape;335;p46"/>
          <p:cNvPicPr preferRelativeResize="0"/>
          <p:nvPr/>
        </p:nvPicPr>
        <p:blipFill>
          <a:blip r:embed="rId3">
            <a:alphaModFix/>
          </a:blip>
          <a:stretch>
            <a:fillRect/>
          </a:stretch>
        </p:blipFill>
        <p:spPr>
          <a:xfrm>
            <a:off x="930125" y="2203925"/>
            <a:ext cx="9356874" cy="37127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7"/>
          <p:cNvSpPr txBox="1"/>
          <p:nvPr>
            <p:ph type="title"/>
          </p:nvPr>
        </p:nvSpPr>
        <p:spPr>
          <a:xfrm>
            <a:off x="961325" y="784225"/>
            <a:ext cx="10596300" cy="13257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2"/>
              </a:buClr>
              <a:buSzPct val="100000"/>
              <a:buFont typeface="Calibri"/>
              <a:buNone/>
            </a:pPr>
            <a:r>
              <a:rPr lang="en-US"/>
              <a:t>Certification Levels </a:t>
            </a:r>
            <a:r>
              <a:rPr b="0" i="1" lang="en-US">
                <a:latin typeface="Calibri"/>
                <a:ea typeface="Calibri"/>
                <a:cs typeface="Calibri"/>
                <a:sym typeface="Calibri"/>
              </a:rPr>
              <a:t>Challenges</a:t>
            </a:r>
            <a:endParaRPr b="0" i="1">
              <a:solidFill>
                <a:srgbClr val="073763"/>
              </a:solidFill>
              <a:latin typeface="Calibri"/>
              <a:ea typeface="Calibri"/>
              <a:cs typeface="Calibri"/>
              <a:sym typeface="Calibri"/>
            </a:endParaRPr>
          </a:p>
          <a:p>
            <a:pPr indent="0" lvl="0" marL="0" rtl="0" algn="l">
              <a:spcBef>
                <a:spcPts val="0"/>
              </a:spcBef>
              <a:spcAft>
                <a:spcPts val="0"/>
              </a:spcAft>
              <a:buClr>
                <a:schemeClr val="accent2"/>
              </a:buClr>
              <a:buSzPct val="100000"/>
              <a:buFont typeface="Calibri"/>
              <a:buNone/>
            </a:pPr>
            <a:r>
              <a:t/>
            </a:r>
            <a:endParaRPr/>
          </a:p>
          <a:p>
            <a:pPr indent="0" lvl="0" marL="0" rtl="0" algn="l">
              <a:lnSpc>
                <a:spcPct val="90000"/>
              </a:lnSpc>
              <a:spcBef>
                <a:spcPts val="0"/>
              </a:spcBef>
              <a:spcAft>
                <a:spcPts val="0"/>
              </a:spcAft>
              <a:buClr>
                <a:schemeClr val="accent2"/>
              </a:buClr>
              <a:buSzPct val="100000"/>
              <a:buFont typeface="Calibri"/>
              <a:buNone/>
            </a:pPr>
            <a:r>
              <a:t/>
            </a:r>
            <a:endParaRPr>
              <a:solidFill>
                <a:srgbClr val="073763"/>
              </a:solidFill>
            </a:endParaRPr>
          </a:p>
        </p:txBody>
      </p:sp>
      <p:sp>
        <p:nvSpPr>
          <p:cNvPr id="341" name="Google Shape;341;p47"/>
          <p:cNvSpPr txBox="1"/>
          <p:nvPr>
            <p:ph idx="1" type="body"/>
          </p:nvPr>
        </p:nvSpPr>
        <p:spPr>
          <a:xfrm>
            <a:off x="396050" y="1821025"/>
            <a:ext cx="9510000" cy="1325700"/>
          </a:xfrm>
          <a:prstGeom prst="rect">
            <a:avLst/>
          </a:prstGeom>
          <a:noFill/>
          <a:ln>
            <a:noFill/>
          </a:ln>
        </p:spPr>
        <p:txBody>
          <a:bodyPr anchorCtr="0" anchor="t" bIns="45700" lIns="91425" spcFirstLastPara="1" rIns="91425" wrap="square" tIns="45700">
            <a:noAutofit/>
          </a:bodyPr>
          <a:lstStyle/>
          <a:p>
            <a:pPr indent="-234950" lvl="1" marL="685800" rtl="0" algn="l">
              <a:lnSpc>
                <a:spcPct val="100000"/>
              </a:lnSpc>
              <a:spcBef>
                <a:spcPts val="1000"/>
              </a:spcBef>
              <a:spcAft>
                <a:spcPts val="0"/>
              </a:spcAft>
              <a:buClr>
                <a:schemeClr val="accent2"/>
              </a:buClr>
              <a:buSzPts val="1900"/>
              <a:buFont typeface="Noto Sans Symbols"/>
              <a:buChar char="✔"/>
            </a:pPr>
            <a:r>
              <a:rPr lang="en-US" sz="1900"/>
              <a:t>Women Owned Businesses can join WBE in two paid ways:</a:t>
            </a:r>
            <a:endParaRPr sz="1900"/>
          </a:p>
          <a:p>
            <a:pPr indent="-234950" lvl="2" marL="1143000" rtl="0" algn="l">
              <a:lnSpc>
                <a:spcPct val="100000"/>
              </a:lnSpc>
              <a:spcBef>
                <a:spcPts val="1000"/>
              </a:spcBef>
              <a:spcAft>
                <a:spcPts val="0"/>
              </a:spcAft>
              <a:buClr>
                <a:schemeClr val="accent2"/>
              </a:buClr>
              <a:buSzPts val="1900"/>
              <a:buFont typeface="Noto Sans Symbols"/>
              <a:buChar char="•"/>
            </a:pPr>
            <a:r>
              <a:rPr lang="en-US" sz="1900"/>
              <a:t>Pre-Certification - Tools for Growth ($197) </a:t>
            </a:r>
            <a:endParaRPr sz="1900"/>
          </a:p>
          <a:p>
            <a:pPr indent="-234950" lvl="2" marL="1143000" rtl="0" algn="l">
              <a:lnSpc>
                <a:spcPct val="100000"/>
              </a:lnSpc>
              <a:spcBef>
                <a:spcPts val="1000"/>
              </a:spcBef>
              <a:spcAft>
                <a:spcPts val="0"/>
              </a:spcAft>
              <a:buSzPts val="1900"/>
              <a:buChar char="•"/>
            </a:pPr>
            <a:r>
              <a:rPr lang="en-US" sz="1900"/>
              <a:t>Certification ($750+)</a:t>
            </a:r>
            <a:endParaRPr sz="1900"/>
          </a:p>
          <a:p>
            <a:pPr indent="-234950" lvl="1" marL="685800" rtl="0" algn="l">
              <a:lnSpc>
                <a:spcPct val="100000"/>
              </a:lnSpc>
              <a:spcBef>
                <a:spcPts val="1000"/>
              </a:spcBef>
              <a:spcAft>
                <a:spcPts val="0"/>
              </a:spcAft>
              <a:buClr>
                <a:schemeClr val="accent2"/>
              </a:buClr>
              <a:buSzPts val="1900"/>
              <a:buFont typeface="Noto Sans Symbols"/>
              <a:buChar char="✔"/>
            </a:pPr>
            <a:r>
              <a:rPr lang="en-US" sz="1900"/>
              <a:t>The current positioning of the pre-certification level is “Tools for Growth”:</a:t>
            </a:r>
            <a:endParaRPr sz="1900"/>
          </a:p>
          <a:p>
            <a:pPr indent="-234950" lvl="2" marL="1143000" rtl="0" algn="l">
              <a:lnSpc>
                <a:spcPct val="100000"/>
              </a:lnSpc>
              <a:spcBef>
                <a:spcPts val="1000"/>
              </a:spcBef>
              <a:spcAft>
                <a:spcPts val="0"/>
              </a:spcAft>
              <a:buClr>
                <a:schemeClr val="accent2"/>
              </a:buClr>
              <a:buSzPts val="1900"/>
              <a:buFont typeface="Noto Sans Symbols"/>
              <a:buChar char="•"/>
            </a:pPr>
            <a:r>
              <a:rPr lang="en-US" sz="1900"/>
              <a:t>It may not be clear that potential WBEs can join at this level, or that this level exists</a:t>
            </a:r>
            <a:endParaRPr sz="1900"/>
          </a:p>
          <a:p>
            <a:pPr indent="-234950" lvl="2" marL="1143000" rtl="0" algn="l">
              <a:lnSpc>
                <a:spcPct val="100000"/>
              </a:lnSpc>
              <a:spcBef>
                <a:spcPts val="1000"/>
              </a:spcBef>
              <a:spcAft>
                <a:spcPts val="0"/>
              </a:spcAft>
              <a:buClr>
                <a:schemeClr val="accent2"/>
              </a:buClr>
              <a:buSzPts val="1900"/>
              <a:buFont typeface="Noto Sans Symbols"/>
              <a:buChar char="•"/>
            </a:pPr>
            <a:r>
              <a:rPr lang="en-US" sz="1900"/>
              <a:t>Making this level more clear would encourage more potential WBEs to take a first step lower risk paid option to participate with WBE</a:t>
            </a:r>
            <a:endParaRPr sz="1900"/>
          </a:p>
          <a:p>
            <a:pPr indent="-234950" lvl="1" marL="685800" rtl="0" algn="l">
              <a:lnSpc>
                <a:spcPct val="100000"/>
              </a:lnSpc>
              <a:spcBef>
                <a:spcPts val="1000"/>
              </a:spcBef>
              <a:spcAft>
                <a:spcPts val="0"/>
              </a:spcAft>
              <a:buClr>
                <a:schemeClr val="accent2"/>
              </a:buClr>
              <a:buSzPts val="1900"/>
              <a:buFont typeface="Noto Sans Symbols"/>
              <a:buChar char="✔"/>
            </a:pPr>
            <a:r>
              <a:rPr lang="en-US" sz="1900"/>
              <a:t>Getting more WBEs to join at this level provides an opportunity to help them prepare &amp; move to Certification  </a:t>
            </a:r>
            <a:endParaRPr sz="1900"/>
          </a:p>
          <a:p>
            <a:pPr indent="0" lvl="0" marL="0" rtl="0" algn="l">
              <a:lnSpc>
                <a:spcPct val="100000"/>
              </a:lnSpc>
              <a:spcBef>
                <a:spcPts val="1000"/>
              </a:spcBef>
              <a:spcAft>
                <a:spcPts val="0"/>
              </a:spcAft>
              <a:buNone/>
            </a:pPr>
            <a:r>
              <a:t/>
            </a:r>
            <a:endParaRPr sz="1950"/>
          </a:p>
          <a:p>
            <a:pPr indent="0" lvl="0" marL="0" rtl="0" algn="l">
              <a:lnSpc>
                <a:spcPct val="100000"/>
              </a:lnSpc>
              <a:spcBef>
                <a:spcPts val="1000"/>
              </a:spcBef>
              <a:spcAft>
                <a:spcPts val="0"/>
              </a:spcAft>
              <a:buNone/>
            </a:pPr>
            <a:r>
              <a:t/>
            </a:r>
            <a:endParaRPr sz="1950"/>
          </a:p>
          <a:p>
            <a:pPr indent="0" lvl="0" marL="685800" rtl="0" algn="l">
              <a:lnSpc>
                <a:spcPct val="100000"/>
              </a:lnSpc>
              <a:spcBef>
                <a:spcPts val="1000"/>
              </a:spcBef>
              <a:spcAft>
                <a:spcPts val="0"/>
              </a:spcAft>
              <a:buNone/>
            </a:pPr>
            <a:r>
              <a:t/>
            </a:r>
            <a:endParaRPr sz="195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48"/>
          <p:cNvSpPr txBox="1"/>
          <p:nvPr>
            <p:ph type="title"/>
          </p:nvPr>
        </p:nvSpPr>
        <p:spPr>
          <a:xfrm>
            <a:off x="961325" y="784225"/>
            <a:ext cx="10596300" cy="13257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2"/>
              </a:buClr>
              <a:buSzPct val="100000"/>
              <a:buFont typeface="Calibri"/>
              <a:buNone/>
            </a:pPr>
            <a:r>
              <a:rPr lang="en-US"/>
              <a:t>Certification Levels </a:t>
            </a:r>
            <a:r>
              <a:rPr b="0" i="1" lang="en-US">
                <a:latin typeface="Calibri"/>
                <a:ea typeface="Calibri"/>
                <a:cs typeface="Calibri"/>
                <a:sym typeface="Calibri"/>
              </a:rPr>
              <a:t>Action Steps</a:t>
            </a:r>
            <a:endParaRPr b="0" i="1">
              <a:solidFill>
                <a:srgbClr val="073763"/>
              </a:solidFill>
              <a:latin typeface="Calibri"/>
              <a:ea typeface="Calibri"/>
              <a:cs typeface="Calibri"/>
              <a:sym typeface="Calibri"/>
            </a:endParaRPr>
          </a:p>
          <a:p>
            <a:pPr indent="0" lvl="0" marL="0" rtl="0" algn="l">
              <a:spcBef>
                <a:spcPts val="0"/>
              </a:spcBef>
              <a:spcAft>
                <a:spcPts val="0"/>
              </a:spcAft>
              <a:buClr>
                <a:schemeClr val="accent2"/>
              </a:buClr>
              <a:buSzPct val="100000"/>
              <a:buFont typeface="Calibri"/>
              <a:buNone/>
            </a:pPr>
            <a:r>
              <a:t/>
            </a:r>
            <a:endParaRPr/>
          </a:p>
          <a:p>
            <a:pPr indent="0" lvl="0" marL="0" rtl="0" algn="l">
              <a:lnSpc>
                <a:spcPct val="90000"/>
              </a:lnSpc>
              <a:spcBef>
                <a:spcPts val="0"/>
              </a:spcBef>
              <a:spcAft>
                <a:spcPts val="0"/>
              </a:spcAft>
              <a:buClr>
                <a:schemeClr val="accent2"/>
              </a:buClr>
              <a:buSzPct val="100000"/>
              <a:buFont typeface="Calibri"/>
              <a:buNone/>
            </a:pPr>
            <a:r>
              <a:t/>
            </a:r>
            <a:endParaRPr>
              <a:solidFill>
                <a:srgbClr val="073763"/>
              </a:solidFill>
            </a:endParaRPr>
          </a:p>
        </p:txBody>
      </p:sp>
      <p:sp>
        <p:nvSpPr>
          <p:cNvPr id="347" name="Google Shape;347;p48"/>
          <p:cNvSpPr txBox="1"/>
          <p:nvPr>
            <p:ph idx="1" type="body"/>
          </p:nvPr>
        </p:nvSpPr>
        <p:spPr>
          <a:xfrm>
            <a:off x="396050" y="1821025"/>
            <a:ext cx="9510000" cy="1325700"/>
          </a:xfrm>
          <a:prstGeom prst="rect">
            <a:avLst/>
          </a:prstGeom>
          <a:noFill/>
          <a:ln>
            <a:noFill/>
          </a:ln>
        </p:spPr>
        <p:txBody>
          <a:bodyPr anchorCtr="0" anchor="t" bIns="45700" lIns="91425" spcFirstLastPara="1" rIns="91425" wrap="square" tIns="45700">
            <a:noAutofit/>
          </a:bodyPr>
          <a:lstStyle/>
          <a:p>
            <a:pPr indent="-234950" lvl="1" marL="685800" rtl="0" algn="l">
              <a:lnSpc>
                <a:spcPct val="100000"/>
              </a:lnSpc>
              <a:spcBef>
                <a:spcPts val="1000"/>
              </a:spcBef>
              <a:spcAft>
                <a:spcPts val="0"/>
              </a:spcAft>
              <a:buClr>
                <a:schemeClr val="accent2"/>
              </a:buClr>
              <a:buSzPts val="1900"/>
              <a:buFont typeface="Noto Sans Symbols"/>
              <a:buChar char="✔"/>
            </a:pPr>
            <a:r>
              <a:rPr b="1" lang="en-US" sz="1900"/>
              <a:t>Website Home Page:</a:t>
            </a:r>
            <a:r>
              <a:rPr lang="en-US" sz="1900"/>
              <a:t> </a:t>
            </a:r>
            <a:r>
              <a:rPr lang="en-US" sz="1900"/>
              <a:t>Update the website homepage to make the two certification levels clear:</a:t>
            </a:r>
            <a:endParaRPr sz="1900"/>
          </a:p>
          <a:p>
            <a:pPr indent="-234950" lvl="2" marL="1143000" rtl="0" algn="l">
              <a:lnSpc>
                <a:spcPct val="100000"/>
              </a:lnSpc>
              <a:spcBef>
                <a:spcPts val="1000"/>
              </a:spcBef>
              <a:spcAft>
                <a:spcPts val="0"/>
              </a:spcAft>
              <a:buClr>
                <a:schemeClr val="accent2"/>
              </a:buClr>
              <a:buSzPts val="1900"/>
              <a:buFont typeface="Noto Sans Symbols"/>
              <a:buChar char="•"/>
            </a:pPr>
            <a:r>
              <a:rPr lang="en-US" sz="1900"/>
              <a:t>Messaging around the two levels and when/why to join each</a:t>
            </a:r>
            <a:endParaRPr sz="1900"/>
          </a:p>
          <a:p>
            <a:pPr indent="-234950" lvl="2" marL="1143000" rtl="0" algn="l">
              <a:lnSpc>
                <a:spcPct val="100000"/>
              </a:lnSpc>
              <a:spcBef>
                <a:spcPts val="1000"/>
              </a:spcBef>
              <a:spcAft>
                <a:spcPts val="0"/>
              </a:spcAft>
              <a:buClr>
                <a:schemeClr val="accent2"/>
              </a:buClr>
              <a:buSzPts val="1900"/>
              <a:buFont typeface="Noto Sans Symbols"/>
              <a:buChar char="•"/>
            </a:pPr>
            <a:r>
              <a:rPr lang="en-US" sz="1900"/>
              <a:t>A checklist to know which level to join</a:t>
            </a:r>
            <a:endParaRPr sz="1900"/>
          </a:p>
          <a:p>
            <a:pPr indent="-234950" lvl="1" marL="685800" rtl="0" algn="l">
              <a:lnSpc>
                <a:spcPct val="100000"/>
              </a:lnSpc>
              <a:spcBef>
                <a:spcPts val="1000"/>
              </a:spcBef>
              <a:spcAft>
                <a:spcPts val="0"/>
              </a:spcAft>
              <a:buClr>
                <a:schemeClr val="accent2"/>
              </a:buClr>
              <a:buSzPts val="1900"/>
              <a:buFont typeface="Noto Sans Symbols"/>
              <a:buChar char="✔"/>
            </a:pPr>
            <a:r>
              <a:rPr b="1" lang="en-US" sz="1900"/>
              <a:t>Navigation</a:t>
            </a:r>
            <a:r>
              <a:rPr lang="en-US" sz="1900"/>
              <a:t>: Update the website navigation drop down to clarify the two levels </a:t>
            </a:r>
            <a:endParaRPr sz="1900"/>
          </a:p>
          <a:p>
            <a:pPr indent="-234950" lvl="1" marL="685800" rtl="0" algn="l">
              <a:lnSpc>
                <a:spcPct val="100000"/>
              </a:lnSpc>
              <a:spcBef>
                <a:spcPts val="1000"/>
              </a:spcBef>
              <a:spcAft>
                <a:spcPts val="0"/>
              </a:spcAft>
              <a:buClr>
                <a:schemeClr val="accent2"/>
              </a:buClr>
              <a:buSzPts val="1900"/>
              <a:buFont typeface="Noto Sans Symbols"/>
              <a:buChar char="✔"/>
            </a:pPr>
            <a:r>
              <a:rPr b="1" lang="en-US" sz="1900"/>
              <a:t>Website Get Certified Page:</a:t>
            </a:r>
            <a:r>
              <a:rPr lang="en-US" sz="1900"/>
              <a:t> Update the Get Certified page to give an option to join at the pre-certification (Tools for Growth) level</a:t>
            </a:r>
            <a:endParaRPr sz="1900"/>
          </a:p>
          <a:p>
            <a:pPr indent="-234950" lvl="1" marL="685800" rtl="0" algn="l">
              <a:lnSpc>
                <a:spcPct val="100000"/>
              </a:lnSpc>
              <a:spcBef>
                <a:spcPts val="1000"/>
              </a:spcBef>
              <a:spcAft>
                <a:spcPts val="0"/>
              </a:spcAft>
              <a:buSzPts val="1900"/>
              <a:buChar char="✔"/>
            </a:pPr>
            <a:r>
              <a:rPr b="1" lang="en-US" sz="1900"/>
              <a:t>Tools for Growth Page: </a:t>
            </a:r>
            <a:r>
              <a:rPr lang="en-US" sz="1900"/>
              <a:t>Update the Tools for Growth page to position it as a way to join WBE Canada at a lower cost and access the Tools For Growth that will prepare them for scaling and Certification</a:t>
            </a:r>
            <a:endParaRPr sz="1900"/>
          </a:p>
          <a:p>
            <a:pPr indent="0" lvl="0" marL="0" rtl="0" algn="l">
              <a:lnSpc>
                <a:spcPct val="100000"/>
              </a:lnSpc>
              <a:spcBef>
                <a:spcPts val="1000"/>
              </a:spcBef>
              <a:spcAft>
                <a:spcPts val="0"/>
              </a:spcAft>
              <a:buNone/>
            </a:pPr>
            <a:r>
              <a:t/>
            </a:r>
            <a:endParaRPr sz="1950"/>
          </a:p>
          <a:p>
            <a:pPr indent="0" lvl="0" marL="685800" rtl="0" algn="l">
              <a:lnSpc>
                <a:spcPct val="100000"/>
              </a:lnSpc>
              <a:spcBef>
                <a:spcPts val="1000"/>
              </a:spcBef>
              <a:spcAft>
                <a:spcPts val="0"/>
              </a:spcAft>
              <a:buNone/>
            </a:pPr>
            <a:r>
              <a:t/>
            </a:r>
            <a:endParaRPr sz="195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49"/>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Certification Levels </a:t>
            </a:r>
            <a:r>
              <a:rPr b="0" i="1" lang="en-US">
                <a:latin typeface="Calibri"/>
                <a:ea typeface="Calibri"/>
                <a:cs typeface="Calibri"/>
                <a:sym typeface="Calibri"/>
              </a:rPr>
              <a:t>Action Steps</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rgbClr val="073763"/>
              </a:solidFill>
            </a:endParaRPr>
          </a:p>
        </p:txBody>
      </p:sp>
      <p:sp>
        <p:nvSpPr>
          <p:cNvPr id="353" name="Google Shape;353;p49"/>
          <p:cNvSpPr txBox="1"/>
          <p:nvPr>
            <p:ph idx="1" type="body"/>
          </p:nvPr>
        </p:nvSpPr>
        <p:spPr>
          <a:xfrm>
            <a:off x="259500" y="1873100"/>
            <a:ext cx="11568300" cy="1723500"/>
          </a:xfrm>
          <a:prstGeom prst="rect">
            <a:avLst/>
          </a:prstGeom>
          <a:noFill/>
          <a:ln>
            <a:noFill/>
          </a:ln>
        </p:spPr>
        <p:txBody>
          <a:bodyPr anchorCtr="0" anchor="t" bIns="45700" lIns="91425" spcFirstLastPara="1" rIns="91425" wrap="square" tIns="45700">
            <a:noAutofit/>
          </a:bodyPr>
          <a:lstStyle/>
          <a:p>
            <a:pPr indent="-238125" lvl="1" marL="685800" rtl="0" algn="l">
              <a:lnSpc>
                <a:spcPct val="100000"/>
              </a:lnSpc>
              <a:spcBef>
                <a:spcPts val="1000"/>
              </a:spcBef>
              <a:spcAft>
                <a:spcPts val="0"/>
              </a:spcAft>
              <a:buClr>
                <a:schemeClr val="accent2"/>
              </a:buClr>
              <a:buSzPts val="1950"/>
              <a:buFont typeface="Noto Sans Symbols"/>
              <a:buChar char="✔"/>
            </a:pPr>
            <a:r>
              <a:rPr lang="en-US" sz="1950"/>
              <a:t>Recommend making the two levels of participation more clear on the website</a:t>
            </a:r>
            <a:endParaRPr sz="1950"/>
          </a:p>
          <a:p>
            <a:pPr indent="-238125" lvl="1" marL="685800" rtl="0" algn="l">
              <a:lnSpc>
                <a:spcPct val="100000"/>
              </a:lnSpc>
              <a:spcBef>
                <a:spcPts val="1000"/>
              </a:spcBef>
              <a:spcAft>
                <a:spcPts val="0"/>
              </a:spcAft>
              <a:buClr>
                <a:schemeClr val="accent2"/>
              </a:buClr>
              <a:buSzPts val="1950"/>
              <a:buFont typeface="Noto Sans Symbols"/>
              <a:buChar char="✔"/>
            </a:pPr>
            <a:r>
              <a:rPr lang="en-US" sz="1950"/>
              <a:t>Help WOBs choose the level that is right for them</a:t>
            </a:r>
            <a:endParaRPr sz="1950"/>
          </a:p>
          <a:p>
            <a:pPr indent="-238125" lvl="1" marL="685800" rtl="0" algn="l">
              <a:lnSpc>
                <a:spcPct val="100000"/>
              </a:lnSpc>
              <a:spcBef>
                <a:spcPts val="1000"/>
              </a:spcBef>
              <a:spcAft>
                <a:spcPts val="0"/>
              </a:spcAft>
              <a:buClr>
                <a:schemeClr val="accent2"/>
              </a:buClr>
              <a:buSzPts val="1950"/>
              <a:buFont typeface="Noto Sans Symbols"/>
              <a:buChar char="✔"/>
            </a:pPr>
            <a:r>
              <a:rPr lang="en-US" sz="1950"/>
              <a:t>Move more WOBs who aren’t ready for Certification into the membership stream to get prepared</a:t>
            </a:r>
            <a:r>
              <a:rPr i="1" lang="en-US" sz="1950"/>
              <a:t> </a:t>
            </a:r>
            <a:endParaRPr b="1" i="1" sz="1950"/>
          </a:p>
          <a:p>
            <a:pPr indent="0" lvl="0" marL="0" rtl="0" algn="l">
              <a:lnSpc>
                <a:spcPct val="100000"/>
              </a:lnSpc>
              <a:spcBef>
                <a:spcPts val="1000"/>
              </a:spcBef>
              <a:spcAft>
                <a:spcPts val="0"/>
              </a:spcAft>
              <a:buNone/>
            </a:pPr>
            <a:r>
              <a:t/>
            </a:r>
            <a:endParaRPr sz="1950"/>
          </a:p>
          <a:p>
            <a:pPr indent="0" lvl="0" marL="0" rtl="0" algn="l">
              <a:lnSpc>
                <a:spcPct val="100000"/>
              </a:lnSpc>
              <a:spcBef>
                <a:spcPts val="1000"/>
              </a:spcBef>
              <a:spcAft>
                <a:spcPts val="0"/>
              </a:spcAft>
              <a:buNone/>
            </a:pPr>
            <a:r>
              <a:t/>
            </a:r>
            <a:endParaRPr sz="1950"/>
          </a:p>
          <a:p>
            <a:pPr indent="0" lvl="0" marL="685800" rtl="0" algn="l">
              <a:lnSpc>
                <a:spcPct val="100000"/>
              </a:lnSpc>
              <a:spcBef>
                <a:spcPts val="1000"/>
              </a:spcBef>
              <a:spcAft>
                <a:spcPts val="0"/>
              </a:spcAft>
              <a:buNone/>
            </a:pPr>
            <a:r>
              <a:t/>
            </a:r>
            <a:endParaRPr sz="1950"/>
          </a:p>
        </p:txBody>
      </p:sp>
      <p:pic>
        <p:nvPicPr>
          <p:cNvPr id="354" name="Google Shape;354;p49"/>
          <p:cNvPicPr preferRelativeResize="0"/>
          <p:nvPr/>
        </p:nvPicPr>
        <p:blipFill rotWithShape="1">
          <a:blip r:embed="rId3">
            <a:alphaModFix/>
          </a:blip>
          <a:srcRect b="53228" l="14717" r="73427" t="13461"/>
          <a:stretch/>
        </p:blipFill>
        <p:spPr>
          <a:xfrm>
            <a:off x="1582075" y="3346550"/>
            <a:ext cx="3621248" cy="2861925"/>
          </a:xfrm>
          <a:prstGeom prst="rect">
            <a:avLst/>
          </a:prstGeom>
          <a:noFill/>
          <a:ln>
            <a:noFill/>
          </a:ln>
        </p:spPr>
      </p:pic>
      <p:sp>
        <p:nvSpPr>
          <p:cNvPr id="355" name="Google Shape;355;p49"/>
          <p:cNvSpPr/>
          <p:nvPr/>
        </p:nvSpPr>
        <p:spPr>
          <a:xfrm>
            <a:off x="7082125" y="4299075"/>
            <a:ext cx="1978800" cy="665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a:solidFill>
                  <a:srgbClr val="45818E"/>
                </a:solidFill>
                <a:latin typeface="Calibri"/>
                <a:ea typeface="Calibri"/>
                <a:cs typeface="Calibri"/>
                <a:sym typeface="Calibri"/>
              </a:rPr>
              <a:t>BECOME A MEMBER</a:t>
            </a:r>
            <a:br>
              <a:rPr b="1" lang="en-US" sz="600">
                <a:solidFill>
                  <a:srgbClr val="45818E"/>
                </a:solidFill>
                <a:latin typeface="Calibri"/>
                <a:ea typeface="Calibri"/>
                <a:cs typeface="Calibri"/>
                <a:sym typeface="Calibri"/>
              </a:rPr>
            </a:br>
            <a:br>
              <a:rPr b="1" lang="en-US" sz="600">
                <a:solidFill>
                  <a:srgbClr val="45818E"/>
                </a:solidFill>
                <a:latin typeface="Calibri"/>
                <a:ea typeface="Calibri"/>
                <a:cs typeface="Calibri"/>
                <a:sym typeface="Calibri"/>
              </a:rPr>
            </a:br>
            <a:r>
              <a:rPr b="1" lang="en-US">
                <a:solidFill>
                  <a:srgbClr val="45818E"/>
                </a:solidFill>
                <a:latin typeface="Calibri"/>
                <a:ea typeface="Calibri"/>
                <a:cs typeface="Calibri"/>
                <a:sym typeface="Calibri"/>
              </a:rPr>
              <a:t>GET WBE CERTIFIED</a:t>
            </a:r>
            <a:endParaRPr b="1">
              <a:solidFill>
                <a:srgbClr val="45818E"/>
              </a:solidFill>
              <a:latin typeface="Calibri"/>
              <a:ea typeface="Calibri"/>
              <a:cs typeface="Calibri"/>
              <a:sym typeface="Calibri"/>
            </a:endParaRPr>
          </a:p>
        </p:txBody>
      </p:sp>
      <p:grpSp>
        <p:nvGrpSpPr>
          <p:cNvPr id="356" name="Google Shape;356;p49"/>
          <p:cNvGrpSpPr/>
          <p:nvPr/>
        </p:nvGrpSpPr>
        <p:grpSpPr>
          <a:xfrm>
            <a:off x="5935686" y="3325471"/>
            <a:ext cx="3621125" cy="2861832"/>
            <a:chOff x="6001361" y="3533046"/>
            <a:chExt cx="3621125" cy="2861832"/>
          </a:xfrm>
        </p:grpSpPr>
        <p:pic>
          <p:nvPicPr>
            <p:cNvPr id="357" name="Google Shape;357;p49"/>
            <p:cNvPicPr preferRelativeResize="0"/>
            <p:nvPr/>
          </p:nvPicPr>
          <p:blipFill rotWithShape="1">
            <a:blip r:embed="rId3">
              <a:alphaModFix/>
            </a:blip>
            <a:srcRect b="53228" l="14717" r="73427" t="13461"/>
            <a:stretch/>
          </p:blipFill>
          <p:spPr>
            <a:xfrm>
              <a:off x="6001361" y="3533046"/>
              <a:ext cx="3621125" cy="2861832"/>
            </a:xfrm>
            <a:prstGeom prst="rect">
              <a:avLst/>
            </a:prstGeom>
            <a:noFill/>
            <a:ln>
              <a:noFill/>
            </a:ln>
          </p:spPr>
        </p:pic>
        <p:sp>
          <p:nvSpPr>
            <p:cNvPr id="358" name="Google Shape;358;p49"/>
            <p:cNvSpPr/>
            <p:nvPr/>
          </p:nvSpPr>
          <p:spPr>
            <a:xfrm>
              <a:off x="6727850" y="4355298"/>
              <a:ext cx="2168100" cy="728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a:solidFill>
                    <a:srgbClr val="45818E"/>
                  </a:solidFill>
                  <a:latin typeface="Calibri"/>
                  <a:ea typeface="Calibri"/>
                  <a:cs typeface="Calibri"/>
                  <a:sym typeface="Calibri"/>
                </a:rPr>
                <a:t>BECOME A MEMBER</a:t>
              </a:r>
              <a:br>
                <a:rPr b="1" lang="en-US" sz="600">
                  <a:solidFill>
                    <a:srgbClr val="45818E"/>
                  </a:solidFill>
                  <a:latin typeface="Calibri"/>
                  <a:ea typeface="Calibri"/>
                  <a:cs typeface="Calibri"/>
                  <a:sym typeface="Calibri"/>
                </a:rPr>
              </a:br>
              <a:br>
                <a:rPr b="1" lang="en-US" sz="600">
                  <a:solidFill>
                    <a:srgbClr val="45818E"/>
                  </a:solidFill>
                  <a:latin typeface="Calibri"/>
                  <a:ea typeface="Calibri"/>
                  <a:cs typeface="Calibri"/>
                  <a:sym typeface="Calibri"/>
                </a:rPr>
              </a:br>
              <a:r>
                <a:rPr b="1" lang="en-US">
                  <a:solidFill>
                    <a:srgbClr val="45818E"/>
                  </a:solidFill>
                  <a:latin typeface="Calibri"/>
                  <a:ea typeface="Calibri"/>
                  <a:cs typeface="Calibri"/>
                  <a:sym typeface="Calibri"/>
                </a:rPr>
                <a:t>GET WBE CERTIFIED</a:t>
              </a:r>
              <a:endParaRPr b="1">
                <a:solidFill>
                  <a:srgbClr val="45818E"/>
                </a:solidFill>
                <a:latin typeface="Calibri"/>
                <a:ea typeface="Calibri"/>
                <a:cs typeface="Calibri"/>
                <a:sym typeface="Calibri"/>
              </a:endParaRPr>
            </a:p>
          </p:txBody>
        </p:sp>
      </p:gr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0"/>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Certification Levels</a:t>
            </a:r>
            <a:r>
              <a:rPr lang="en-US"/>
              <a:t> </a:t>
            </a:r>
            <a:r>
              <a:rPr b="0" i="1" lang="en-US">
                <a:latin typeface="Calibri"/>
                <a:ea typeface="Calibri"/>
                <a:cs typeface="Calibri"/>
                <a:sym typeface="Calibri"/>
              </a:rPr>
              <a:t>Example</a:t>
            </a:r>
            <a:endParaRPr b="0" i="1">
              <a:latin typeface="Calibri"/>
              <a:ea typeface="Calibri"/>
              <a:cs typeface="Calibri"/>
              <a:sym typeface="Calibri"/>
            </a:endParaRPr>
          </a:p>
        </p:txBody>
      </p:sp>
      <p:sp>
        <p:nvSpPr>
          <p:cNvPr id="364" name="Google Shape;364;p50"/>
          <p:cNvSpPr txBox="1"/>
          <p:nvPr>
            <p:ph idx="1" type="body"/>
          </p:nvPr>
        </p:nvSpPr>
        <p:spPr>
          <a:xfrm>
            <a:off x="930125" y="1943100"/>
            <a:ext cx="80979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t/>
            </a:r>
            <a:endParaRPr b="1" sz="2050"/>
          </a:p>
          <a:p>
            <a:pPr indent="0" lvl="0" marL="0" marR="0" rtl="0" algn="l">
              <a:lnSpc>
                <a:spcPct val="100000"/>
              </a:lnSpc>
              <a:spcBef>
                <a:spcPts val="1000"/>
              </a:spcBef>
              <a:spcAft>
                <a:spcPts val="0"/>
              </a:spcAft>
              <a:buNone/>
            </a:pPr>
            <a:r>
              <a:t/>
            </a:r>
            <a:endParaRPr sz="2050"/>
          </a:p>
        </p:txBody>
      </p:sp>
      <p:sp>
        <p:nvSpPr>
          <p:cNvPr id="365" name="Google Shape;365;p50"/>
          <p:cNvSpPr txBox="1"/>
          <p:nvPr>
            <p:ph idx="1" type="body"/>
          </p:nvPr>
        </p:nvSpPr>
        <p:spPr>
          <a:xfrm>
            <a:off x="259500" y="1644500"/>
            <a:ext cx="11568300" cy="1723500"/>
          </a:xfrm>
          <a:prstGeom prst="rect">
            <a:avLst/>
          </a:prstGeom>
          <a:noFill/>
          <a:ln>
            <a:noFill/>
          </a:ln>
        </p:spPr>
        <p:txBody>
          <a:bodyPr anchorCtr="0" anchor="t" bIns="45700" lIns="91425" spcFirstLastPara="1" rIns="91425" wrap="square" tIns="45700">
            <a:noAutofit/>
          </a:bodyPr>
          <a:lstStyle/>
          <a:p>
            <a:pPr indent="-238125" lvl="1" marL="685800" rtl="0" algn="l">
              <a:lnSpc>
                <a:spcPct val="100000"/>
              </a:lnSpc>
              <a:spcBef>
                <a:spcPts val="1000"/>
              </a:spcBef>
              <a:spcAft>
                <a:spcPts val="0"/>
              </a:spcAft>
              <a:buClr>
                <a:schemeClr val="accent2"/>
              </a:buClr>
              <a:buSzPts val="1950"/>
              <a:buFont typeface="Noto Sans Symbols"/>
              <a:buChar char="✔"/>
            </a:pPr>
            <a:r>
              <a:rPr lang="en-US" sz="1950"/>
              <a:t>Make the options clear on the Home Page</a:t>
            </a:r>
            <a:r>
              <a:rPr i="1" lang="en-US" sz="1950"/>
              <a:t> </a:t>
            </a:r>
            <a:endParaRPr b="1" i="1" sz="1950"/>
          </a:p>
          <a:p>
            <a:pPr indent="0" lvl="0" marL="0" rtl="0" algn="l">
              <a:lnSpc>
                <a:spcPct val="100000"/>
              </a:lnSpc>
              <a:spcBef>
                <a:spcPts val="1000"/>
              </a:spcBef>
              <a:spcAft>
                <a:spcPts val="0"/>
              </a:spcAft>
              <a:buNone/>
            </a:pPr>
            <a:r>
              <a:t/>
            </a:r>
            <a:endParaRPr sz="1950"/>
          </a:p>
          <a:p>
            <a:pPr indent="0" lvl="0" marL="0" rtl="0" algn="l">
              <a:lnSpc>
                <a:spcPct val="100000"/>
              </a:lnSpc>
              <a:spcBef>
                <a:spcPts val="1000"/>
              </a:spcBef>
              <a:spcAft>
                <a:spcPts val="0"/>
              </a:spcAft>
              <a:buNone/>
            </a:pPr>
            <a:r>
              <a:t/>
            </a:r>
            <a:endParaRPr sz="1950"/>
          </a:p>
          <a:p>
            <a:pPr indent="0" lvl="0" marL="685800" rtl="0" algn="l">
              <a:lnSpc>
                <a:spcPct val="100000"/>
              </a:lnSpc>
              <a:spcBef>
                <a:spcPts val="1000"/>
              </a:spcBef>
              <a:spcAft>
                <a:spcPts val="0"/>
              </a:spcAft>
              <a:buNone/>
            </a:pPr>
            <a:r>
              <a:t/>
            </a:r>
            <a:endParaRPr sz="1950"/>
          </a:p>
        </p:txBody>
      </p:sp>
      <p:pic>
        <p:nvPicPr>
          <p:cNvPr id="366" name="Google Shape;366;p50"/>
          <p:cNvPicPr preferRelativeResize="0"/>
          <p:nvPr/>
        </p:nvPicPr>
        <p:blipFill>
          <a:blip r:embed="rId3">
            <a:alphaModFix/>
          </a:blip>
          <a:stretch>
            <a:fillRect/>
          </a:stretch>
        </p:blipFill>
        <p:spPr>
          <a:xfrm>
            <a:off x="875325" y="2201600"/>
            <a:ext cx="9327425" cy="37553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1"/>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Certification Levels </a:t>
            </a:r>
            <a:r>
              <a:rPr b="0" i="1" lang="en-US">
                <a:latin typeface="Calibri"/>
                <a:ea typeface="Calibri"/>
                <a:cs typeface="Calibri"/>
                <a:sym typeface="Calibri"/>
              </a:rPr>
              <a:t>Action Steps</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rgbClr val="073763"/>
              </a:solidFill>
            </a:endParaRPr>
          </a:p>
        </p:txBody>
      </p:sp>
      <p:sp>
        <p:nvSpPr>
          <p:cNvPr id="372" name="Google Shape;372;p51"/>
          <p:cNvSpPr txBox="1"/>
          <p:nvPr>
            <p:ph idx="1" type="body"/>
          </p:nvPr>
        </p:nvSpPr>
        <p:spPr>
          <a:xfrm>
            <a:off x="259500" y="1873100"/>
            <a:ext cx="4246200" cy="1723500"/>
          </a:xfrm>
          <a:prstGeom prst="rect">
            <a:avLst/>
          </a:prstGeom>
          <a:noFill/>
          <a:ln>
            <a:noFill/>
          </a:ln>
        </p:spPr>
        <p:txBody>
          <a:bodyPr anchorCtr="0" anchor="t" bIns="45700" lIns="91425" spcFirstLastPara="1" rIns="91425" wrap="square" tIns="45700">
            <a:noAutofit/>
          </a:bodyPr>
          <a:lstStyle/>
          <a:p>
            <a:pPr indent="-238125" lvl="1" marL="685800" rtl="0" algn="l">
              <a:lnSpc>
                <a:spcPct val="100000"/>
              </a:lnSpc>
              <a:spcBef>
                <a:spcPts val="1000"/>
              </a:spcBef>
              <a:spcAft>
                <a:spcPts val="0"/>
              </a:spcAft>
              <a:buClr>
                <a:schemeClr val="accent2"/>
              </a:buClr>
              <a:buSzPts val="1950"/>
              <a:buFont typeface="Noto Sans Symbols"/>
              <a:buChar char="✔"/>
            </a:pPr>
            <a:r>
              <a:rPr lang="en-US" sz="1950"/>
              <a:t>Update messaging on Tools for Growth page</a:t>
            </a:r>
            <a:endParaRPr sz="1950"/>
          </a:p>
          <a:p>
            <a:pPr indent="-238125" lvl="1" marL="685800" rtl="0" algn="l">
              <a:lnSpc>
                <a:spcPct val="100000"/>
              </a:lnSpc>
              <a:spcBef>
                <a:spcPts val="1000"/>
              </a:spcBef>
              <a:spcAft>
                <a:spcPts val="0"/>
              </a:spcAft>
              <a:buSzPts val="1950"/>
              <a:buChar char="✔"/>
            </a:pPr>
            <a:r>
              <a:rPr lang="en-US" sz="1950"/>
              <a:t>Include options to apply for Certification on the Tools for Growth Page</a:t>
            </a:r>
            <a:endParaRPr sz="1950"/>
          </a:p>
          <a:p>
            <a:pPr indent="0" lvl="0" marL="0" rtl="0" algn="l">
              <a:lnSpc>
                <a:spcPct val="100000"/>
              </a:lnSpc>
              <a:spcBef>
                <a:spcPts val="1000"/>
              </a:spcBef>
              <a:spcAft>
                <a:spcPts val="0"/>
              </a:spcAft>
              <a:buNone/>
            </a:pPr>
            <a:r>
              <a:t/>
            </a:r>
            <a:endParaRPr sz="1950"/>
          </a:p>
          <a:p>
            <a:pPr indent="0" lvl="0" marL="0" rtl="0" algn="l">
              <a:lnSpc>
                <a:spcPct val="100000"/>
              </a:lnSpc>
              <a:spcBef>
                <a:spcPts val="1000"/>
              </a:spcBef>
              <a:spcAft>
                <a:spcPts val="0"/>
              </a:spcAft>
              <a:buNone/>
            </a:pPr>
            <a:r>
              <a:t/>
            </a:r>
            <a:endParaRPr sz="1950"/>
          </a:p>
          <a:p>
            <a:pPr indent="0" lvl="0" marL="685800" rtl="0" algn="l">
              <a:lnSpc>
                <a:spcPct val="100000"/>
              </a:lnSpc>
              <a:spcBef>
                <a:spcPts val="1000"/>
              </a:spcBef>
              <a:spcAft>
                <a:spcPts val="0"/>
              </a:spcAft>
              <a:buNone/>
            </a:pPr>
            <a:r>
              <a:t/>
            </a:r>
            <a:endParaRPr sz="1950"/>
          </a:p>
        </p:txBody>
      </p:sp>
      <p:sp>
        <p:nvSpPr>
          <p:cNvPr id="373" name="Google Shape;373;p51"/>
          <p:cNvSpPr/>
          <p:nvPr/>
        </p:nvSpPr>
        <p:spPr>
          <a:xfrm>
            <a:off x="4648200" y="2037525"/>
            <a:ext cx="4671300" cy="4174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374" name="Google Shape;374;p51"/>
          <p:cNvPicPr preferRelativeResize="0"/>
          <p:nvPr/>
        </p:nvPicPr>
        <p:blipFill rotWithShape="1">
          <a:blip r:embed="rId3">
            <a:alphaModFix/>
          </a:blip>
          <a:srcRect b="3756" l="3279" r="1682" t="9090"/>
          <a:stretch/>
        </p:blipFill>
        <p:spPr>
          <a:xfrm>
            <a:off x="4708750" y="3048000"/>
            <a:ext cx="4534650" cy="3163951"/>
          </a:xfrm>
          <a:prstGeom prst="rect">
            <a:avLst/>
          </a:prstGeom>
          <a:noFill/>
          <a:ln>
            <a:noFill/>
          </a:ln>
        </p:spPr>
      </p:pic>
      <p:sp>
        <p:nvSpPr>
          <p:cNvPr id="375" name="Google Shape;375;p51"/>
          <p:cNvSpPr txBox="1"/>
          <p:nvPr/>
        </p:nvSpPr>
        <p:spPr>
          <a:xfrm>
            <a:off x="5178275" y="2109925"/>
            <a:ext cx="4141200" cy="10773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800">
                <a:solidFill>
                  <a:srgbClr val="45818E"/>
                </a:solidFill>
                <a:latin typeface="Verdana"/>
                <a:ea typeface="Verdana"/>
                <a:cs typeface="Verdana"/>
                <a:sym typeface="Verdana"/>
              </a:rPr>
              <a:t>JOIN WBE CANADA NOW:</a:t>
            </a:r>
            <a:br>
              <a:rPr b="1" lang="en-US" sz="1000">
                <a:solidFill>
                  <a:srgbClr val="45818E"/>
                </a:solidFill>
                <a:latin typeface="Calibri"/>
                <a:ea typeface="Calibri"/>
                <a:cs typeface="Calibri"/>
                <a:sym typeface="Calibri"/>
              </a:rPr>
            </a:br>
            <a:endParaRPr b="1" sz="1000">
              <a:solidFill>
                <a:srgbClr val="45818E"/>
              </a:solidFill>
              <a:latin typeface="Calibri"/>
              <a:ea typeface="Calibri"/>
              <a:cs typeface="Calibri"/>
              <a:sym typeface="Calibri"/>
            </a:endParaRPr>
          </a:p>
          <a:p>
            <a:pPr indent="0" lvl="0" marL="0" rtl="0" algn="l">
              <a:spcBef>
                <a:spcPts val="0"/>
              </a:spcBef>
              <a:spcAft>
                <a:spcPts val="0"/>
              </a:spcAft>
              <a:buNone/>
            </a:pPr>
            <a:r>
              <a:rPr b="1" lang="en-US" sz="1500">
                <a:solidFill>
                  <a:srgbClr val="0B5394"/>
                </a:solidFill>
                <a:latin typeface="Calibri"/>
                <a:ea typeface="Calibri"/>
                <a:cs typeface="Calibri"/>
                <a:sym typeface="Calibri"/>
              </a:rPr>
              <a:t>Not Ready for Certification? </a:t>
            </a:r>
            <a:r>
              <a:rPr lang="en-US" sz="1500">
                <a:solidFill>
                  <a:srgbClr val="0B5394"/>
                </a:solidFill>
                <a:latin typeface="Calibri"/>
                <a:ea typeface="Calibri"/>
                <a:cs typeface="Calibri"/>
                <a:sym typeface="Calibri"/>
              </a:rPr>
              <a:t>Get started &amp; prepare for Certification with our Tools for Growth:</a:t>
            </a:r>
            <a:r>
              <a:rPr lang="en-US">
                <a:latin typeface="Calibri"/>
                <a:ea typeface="Calibri"/>
                <a:cs typeface="Calibri"/>
                <a:sym typeface="Calibri"/>
              </a:rPr>
              <a:t> </a:t>
            </a:r>
            <a:endParaRPr>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2"/>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New Personas &amp; Marketing Funnels</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3"/>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New Personas &amp; Marketing Funnels</a:t>
            </a:r>
            <a:endParaRPr>
              <a:solidFill>
                <a:srgbClr val="073763"/>
              </a:solidFill>
            </a:endParaRPr>
          </a:p>
        </p:txBody>
      </p:sp>
      <p:sp>
        <p:nvSpPr>
          <p:cNvPr id="386" name="Google Shape;386;p53"/>
          <p:cNvSpPr txBox="1"/>
          <p:nvPr>
            <p:ph idx="1" type="body"/>
          </p:nvPr>
        </p:nvSpPr>
        <p:spPr>
          <a:xfrm>
            <a:off x="701525" y="1714500"/>
            <a:ext cx="10317600" cy="4630200"/>
          </a:xfrm>
          <a:prstGeom prst="rect">
            <a:avLst/>
          </a:prstGeom>
          <a:noFill/>
          <a:ln>
            <a:noFill/>
          </a:ln>
        </p:spPr>
        <p:txBody>
          <a:bodyPr anchorCtr="0" anchor="t" bIns="45700" lIns="91425" spcFirstLastPara="1" rIns="91425" wrap="square" tIns="45700">
            <a:noAutofit/>
          </a:bodyPr>
          <a:lstStyle/>
          <a:p>
            <a:pPr indent="-371475" lvl="1" marL="800100" marR="0" rtl="0" algn="l">
              <a:lnSpc>
                <a:spcPct val="100000"/>
              </a:lnSpc>
              <a:spcBef>
                <a:spcPts val="1000"/>
              </a:spcBef>
              <a:spcAft>
                <a:spcPts val="0"/>
              </a:spcAft>
              <a:buClr>
                <a:schemeClr val="accent2"/>
              </a:buClr>
              <a:buSzPts val="2050"/>
              <a:buFont typeface="Calibri"/>
              <a:buChar char="✔"/>
            </a:pPr>
            <a:r>
              <a:rPr lang="en-US" sz="2050"/>
              <a:t>Current Situation:</a:t>
            </a:r>
            <a:endParaRPr sz="2050"/>
          </a:p>
          <a:p>
            <a:pPr indent="-244475" lvl="2" marL="1143000" marR="0" rtl="0" algn="l">
              <a:lnSpc>
                <a:spcPct val="100000"/>
              </a:lnSpc>
              <a:spcBef>
                <a:spcPts val="1000"/>
              </a:spcBef>
              <a:spcAft>
                <a:spcPts val="0"/>
              </a:spcAft>
              <a:buSzPts val="2050"/>
              <a:buChar char="•"/>
            </a:pPr>
            <a:r>
              <a:rPr lang="en-US" sz="2050"/>
              <a:t>WBE Canada has two main marketing personas: Women Owned Businesses and Corporates</a:t>
            </a:r>
            <a:endParaRPr sz="2050"/>
          </a:p>
          <a:p>
            <a:pPr indent="-244475" lvl="1" marL="685800" marR="0" rtl="0" algn="l">
              <a:lnSpc>
                <a:spcPct val="100000"/>
              </a:lnSpc>
              <a:spcBef>
                <a:spcPts val="1000"/>
              </a:spcBef>
              <a:spcAft>
                <a:spcPts val="0"/>
              </a:spcAft>
              <a:buClr>
                <a:schemeClr val="accent2"/>
              </a:buClr>
              <a:buSzPts val="2050"/>
              <a:buFont typeface="Calibri"/>
              <a:buChar char="✔"/>
            </a:pPr>
            <a:r>
              <a:rPr lang="en-US" sz="2050"/>
              <a:t>Recommendation:</a:t>
            </a:r>
            <a:endParaRPr sz="2050"/>
          </a:p>
          <a:p>
            <a:pPr indent="-244475" lvl="2" marL="1143000" marR="0" rtl="0" algn="l">
              <a:lnSpc>
                <a:spcPct val="100000"/>
              </a:lnSpc>
              <a:spcBef>
                <a:spcPts val="1000"/>
              </a:spcBef>
              <a:spcAft>
                <a:spcPts val="0"/>
              </a:spcAft>
              <a:buSzPts val="2050"/>
              <a:buChar char="•"/>
            </a:pPr>
            <a:r>
              <a:rPr lang="en-US" sz="2050"/>
              <a:t>Separate out Women Owned Businesses into two personas:</a:t>
            </a:r>
            <a:endParaRPr sz="2050"/>
          </a:p>
          <a:p>
            <a:pPr indent="-244475" lvl="3" marL="1600200" marR="0" rtl="0" algn="l">
              <a:lnSpc>
                <a:spcPct val="100000"/>
              </a:lnSpc>
              <a:spcBef>
                <a:spcPts val="1000"/>
              </a:spcBef>
              <a:spcAft>
                <a:spcPts val="0"/>
              </a:spcAft>
              <a:buSzPts val="2050"/>
              <a:buChar char="•"/>
            </a:pPr>
            <a:r>
              <a:rPr lang="en-US" sz="2050"/>
              <a:t>WOB ready for certification (Certification)</a:t>
            </a:r>
            <a:endParaRPr sz="2050"/>
          </a:p>
          <a:p>
            <a:pPr indent="-244475" lvl="3" marL="1600200" marR="0" rtl="0" algn="l">
              <a:lnSpc>
                <a:spcPct val="100000"/>
              </a:lnSpc>
              <a:spcBef>
                <a:spcPts val="1000"/>
              </a:spcBef>
              <a:spcAft>
                <a:spcPts val="0"/>
              </a:spcAft>
              <a:buSzPts val="2050"/>
              <a:buChar char="•"/>
            </a:pPr>
            <a:r>
              <a:rPr lang="en-US" sz="2050"/>
              <a:t>WOB not ready for certification (Pre-Certification)</a:t>
            </a:r>
            <a:endParaRPr sz="2050"/>
          </a:p>
          <a:p>
            <a:pPr indent="-244475" lvl="2" marL="1143000" marR="0" rtl="0" algn="l">
              <a:lnSpc>
                <a:spcPct val="100000"/>
              </a:lnSpc>
              <a:spcBef>
                <a:spcPts val="1000"/>
              </a:spcBef>
              <a:spcAft>
                <a:spcPts val="0"/>
              </a:spcAft>
              <a:buSzPts val="2050"/>
              <a:buChar char="•"/>
            </a:pPr>
            <a:r>
              <a:rPr lang="en-US" sz="2050"/>
              <a:t>Create Niche WBE Personas</a:t>
            </a:r>
            <a:endParaRPr sz="2050"/>
          </a:p>
          <a:p>
            <a:pPr indent="-244475" lvl="2" marL="1143000" marR="0" rtl="0" algn="l">
              <a:lnSpc>
                <a:spcPct val="100000"/>
              </a:lnSpc>
              <a:spcBef>
                <a:spcPts val="1000"/>
              </a:spcBef>
              <a:spcAft>
                <a:spcPts val="0"/>
              </a:spcAft>
              <a:buSzPts val="2050"/>
              <a:buChar char="•"/>
            </a:pPr>
            <a:r>
              <a:rPr lang="en-US" sz="2050"/>
              <a:t>Separate out Corporates into two personas:</a:t>
            </a:r>
            <a:endParaRPr sz="2050"/>
          </a:p>
          <a:p>
            <a:pPr indent="-244475" lvl="3" marL="1600200" marR="0" rtl="0" algn="l">
              <a:lnSpc>
                <a:spcPct val="100000"/>
              </a:lnSpc>
              <a:spcBef>
                <a:spcPts val="1000"/>
              </a:spcBef>
              <a:spcAft>
                <a:spcPts val="0"/>
              </a:spcAft>
              <a:buSzPts val="2050"/>
              <a:buChar char="•"/>
            </a:pPr>
            <a:r>
              <a:rPr lang="en-US" sz="2050"/>
              <a:t>Corporates</a:t>
            </a:r>
            <a:endParaRPr sz="2050"/>
          </a:p>
          <a:p>
            <a:pPr indent="-244475" lvl="3" marL="1600200" marR="0" rtl="0" algn="l">
              <a:lnSpc>
                <a:spcPct val="100000"/>
              </a:lnSpc>
              <a:spcBef>
                <a:spcPts val="1000"/>
              </a:spcBef>
              <a:spcAft>
                <a:spcPts val="0"/>
              </a:spcAft>
              <a:buSzPts val="2050"/>
              <a:buChar char="•"/>
            </a:pPr>
            <a:r>
              <a:rPr lang="en-US" sz="2050"/>
              <a:t>Government/Public Sector</a:t>
            </a:r>
            <a:endParaRPr sz="205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4"/>
          <p:cNvSpPr txBox="1"/>
          <p:nvPr>
            <p:ph type="title"/>
          </p:nvPr>
        </p:nvSpPr>
        <p:spPr>
          <a:xfrm>
            <a:off x="765125" y="784225"/>
            <a:ext cx="107925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WBE Personas</a:t>
            </a:r>
            <a:endParaRPr>
              <a:solidFill>
                <a:srgbClr val="073763"/>
              </a:solidFill>
            </a:endParaRPr>
          </a:p>
        </p:txBody>
      </p:sp>
      <p:sp>
        <p:nvSpPr>
          <p:cNvPr id="392" name="Google Shape;392;p54"/>
          <p:cNvSpPr/>
          <p:nvPr/>
        </p:nvSpPr>
        <p:spPr>
          <a:xfrm>
            <a:off x="1069925" y="1760650"/>
            <a:ext cx="3907586" cy="4406107"/>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rgbClr val="FFF2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accent5"/>
                </a:solidFill>
                <a:latin typeface="Calibri"/>
                <a:ea typeface="Calibri"/>
                <a:cs typeface="Calibri"/>
                <a:sym typeface="Calibri"/>
              </a:rPr>
              <a:t>WBE PERSONA 1: </a:t>
            </a:r>
            <a:br>
              <a:rPr b="1" lang="en-US" sz="2000">
                <a:solidFill>
                  <a:schemeClr val="accent5"/>
                </a:solidFill>
                <a:latin typeface="Calibri"/>
                <a:ea typeface="Calibri"/>
                <a:cs typeface="Calibri"/>
                <a:sym typeface="Calibri"/>
              </a:rPr>
            </a:br>
            <a:r>
              <a:rPr b="1" lang="en-US" sz="2000">
                <a:solidFill>
                  <a:schemeClr val="accent5"/>
                </a:solidFill>
                <a:latin typeface="Calibri"/>
                <a:ea typeface="Calibri"/>
                <a:cs typeface="Calibri"/>
                <a:sym typeface="Calibri"/>
              </a:rPr>
              <a:t>CERTIFICATION</a:t>
            </a:r>
            <a:br>
              <a:rPr b="1" lang="en-US" sz="700">
                <a:solidFill>
                  <a:schemeClr val="accent5"/>
                </a:solidFill>
                <a:latin typeface="Calibri"/>
                <a:ea typeface="Calibri"/>
                <a:cs typeface="Calibri"/>
                <a:sym typeface="Calibri"/>
              </a:rPr>
            </a:br>
            <a:br>
              <a:rPr lang="en-US" sz="900">
                <a:solidFill>
                  <a:schemeClr val="accent5"/>
                </a:solidFill>
                <a:latin typeface="Calibri"/>
                <a:ea typeface="Calibri"/>
                <a:cs typeface="Calibri"/>
                <a:sym typeface="Calibri"/>
              </a:rPr>
            </a:br>
            <a:r>
              <a:rPr lang="en-US" sz="1800">
                <a:solidFill>
                  <a:schemeClr val="accent5"/>
                </a:solidFill>
                <a:latin typeface="Calibri"/>
                <a:ea typeface="Calibri"/>
                <a:cs typeface="Calibri"/>
                <a:sym typeface="Calibri"/>
              </a:rPr>
              <a:t>Women-owned businesses ready to be certified &amp; work with corporates with or without support &amp; training</a:t>
            </a:r>
            <a:endParaRPr sz="1000">
              <a:solidFill>
                <a:schemeClr val="accent5"/>
              </a:solidFill>
              <a:latin typeface="Calibri"/>
              <a:ea typeface="Calibri"/>
              <a:cs typeface="Calibri"/>
              <a:sym typeface="Calibri"/>
            </a:endParaRPr>
          </a:p>
          <a:p>
            <a:pPr indent="0" lvl="0" marL="0" marR="0" rtl="0" algn="ctr">
              <a:spcBef>
                <a:spcPts val="0"/>
              </a:spcBef>
              <a:spcAft>
                <a:spcPts val="0"/>
              </a:spcAft>
              <a:buNone/>
            </a:pPr>
            <a:r>
              <a:t/>
            </a:r>
            <a:endParaRPr sz="10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In business for three plus years</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Steady client base</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Systems &amp; processes in place</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Managing resources or teams</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Managing finances </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Incorporated (or could be)</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Industry where corporate contracts make sense</a:t>
            </a:r>
            <a:endParaRPr sz="2000">
              <a:solidFill>
                <a:schemeClr val="accent5"/>
              </a:solidFill>
              <a:latin typeface="Calibri"/>
              <a:ea typeface="Calibri"/>
              <a:cs typeface="Calibri"/>
              <a:sym typeface="Calibri"/>
            </a:endParaRPr>
          </a:p>
        </p:txBody>
      </p:sp>
      <p:sp>
        <p:nvSpPr>
          <p:cNvPr id="393" name="Google Shape;393;p54"/>
          <p:cNvSpPr/>
          <p:nvPr/>
        </p:nvSpPr>
        <p:spPr>
          <a:xfrm>
            <a:off x="5841600" y="1760650"/>
            <a:ext cx="3983339" cy="4406107"/>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accent5"/>
                </a:solidFill>
                <a:latin typeface="Calibri"/>
                <a:ea typeface="Calibri"/>
                <a:cs typeface="Calibri"/>
                <a:sym typeface="Calibri"/>
              </a:rPr>
              <a:t>WBE PERSONA 2: </a:t>
            </a:r>
            <a:br>
              <a:rPr b="1" lang="en-US" sz="2000">
                <a:solidFill>
                  <a:schemeClr val="accent5"/>
                </a:solidFill>
                <a:latin typeface="Calibri"/>
                <a:ea typeface="Calibri"/>
                <a:cs typeface="Calibri"/>
                <a:sym typeface="Calibri"/>
              </a:rPr>
            </a:br>
            <a:r>
              <a:rPr b="1" lang="en-US" sz="2000">
                <a:solidFill>
                  <a:schemeClr val="accent5"/>
                </a:solidFill>
                <a:latin typeface="Calibri"/>
                <a:ea typeface="Calibri"/>
                <a:cs typeface="Calibri"/>
                <a:sym typeface="Calibri"/>
              </a:rPr>
              <a:t>PRE-CERTIFICATION</a:t>
            </a:r>
            <a:br>
              <a:rPr b="1" lang="en-US" sz="1200">
                <a:solidFill>
                  <a:schemeClr val="accent5"/>
                </a:solidFill>
                <a:latin typeface="Calibri"/>
                <a:ea typeface="Calibri"/>
                <a:cs typeface="Calibri"/>
                <a:sym typeface="Calibri"/>
              </a:rPr>
            </a:br>
            <a:br>
              <a:rPr lang="en-US">
                <a:solidFill>
                  <a:schemeClr val="accent5"/>
                </a:solidFill>
                <a:latin typeface="Calibri"/>
                <a:ea typeface="Calibri"/>
                <a:cs typeface="Calibri"/>
                <a:sym typeface="Calibri"/>
              </a:rPr>
            </a:br>
            <a:r>
              <a:rPr lang="en-US" sz="1800">
                <a:solidFill>
                  <a:schemeClr val="accent5"/>
                </a:solidFill>
                <a:latin typeface="Calibri"/>
                <a:ea typeface="Calibri"/>
                <a:cs typeface="Calibri"/>
                <a:sym typeface="Calibri"/>
              </a:rPr>
              <a:t>Women-owned businesses not yet </a:t>
            </a:r>
            <a:br>
              <a:rPr lang="en-US" sz="1800">
                <a:solidFill>
                  <a:schemeClr val="accent5"/>
                </a:solidFill>
                <a:latin typeface="Calibri"/>
                <a:ea typeface="Calibri"/>
                <a:cs typeface="Calibri"/>
                <a:sym typeface="Calibri"/>
              </a:rPr>
            </a:br>
            <a:r>
              <a:rPr lang="en-US" sz="1800">
                <a:solidFill>
                  <a:schemeClr val="accent5"/>
                </a:solidFill>
                <a:latin typeface="Calibri"/>
                <a:ea typeface="Calibri"/>
                <a:cs typeface="Calibri"/>
                <a:sym typeface="Calibri"/>
              </a:rPr>
              <a:t>ready to work with corporates</a:t>
            </a:r>
            <a:endParaRPr sz="1100">
              <a:solidFill>
                <a:schemeClr val="accent5"/>
              </a:solidFill>
              <a:latin typeface="Calibri"/>
              <a:ea typeface="Calibri"/>
              <a:cs typeface="Calibri"/>
              <a:sym typeface="Calibri"/>
            </a:endParaRPr>
          </a:p>
          <a:p>
            <a:pPr indent="0" lvl="0" marL="0" rtl="0" algn="ctr">
              <a:spcBef>
                <a:spcPts val="0"/>
              </a:spcBef>
              <a:spcAft>
                <a:spcPts val="0"/>
              </a:spcAft>
              <a:buNone/>
            </a:pPr>
            <a:r>
              <a:t/>
            </a:r>
            <a:endParaRPr sz="11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In business less than three years (or longer if part time/on the side)</a:t>
            </a:r>
            <a:endParaRPr sz="17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May have a steady client base, but lack systems &amp; processes</a:t>
            </a:r>
            <a:endParaRPr sz="17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May have systems &amp; processes but have a sporadic client base</a:t>
            </a:r>
            <a:endParaRPr sz="17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Sole proprietor but wanting to incorporate</a:t>
            </a:r>
            <a:endParaRPr sz="17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Want to scale and grow</a:t>
            </a:r>
            <a:endParaRPr sz="2000">
              <a:solidFill>
                <a:schemeClr val="accent5"/>
              </a:solidFill>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5"/>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Main WBE</a:t>
            </a:r>
            <a:r>
              <a:rPr lang="en-US">
                <a:solidFill>
                  <a:srgbClr val="073763"/>
                </a:solidFill>
              </a:rPr>
              <a:t> Funnel (Certification Persona)</a:t>
            </a:r>
            <a:endParaRPr>
              <a:solidFill>
                <a:srgbClr val="073763"/>
              </a:solidFill>
            </a:endParaRPr>
          </a:p>
        </p:txBody>
      </p:sp>
      <p:sp>
        <p:nvSpPr>
          <p:cNvPr id="399" name="Google Shape;399;p55"/>
          <p:cNvSpPr txBox="1"/>
          <p:nvPr>
            <p:ph idx="1" type="body"/>
          </p:nvPr>
        </p:nvSpPr>
        <p:spPr>
          <a:xfrm>
            <a:off x="930125" y="1820700"/>
            <a:ext cx="8097900" cy="4752600"/>
          </a:xfrm>
          <a:prstGeom prst="rect">
            <a:avLst/>
          </a:prstGeom>
          <a:noFill/>
          <a:ln>
            <a:noFill/>
          </a:ln>
        </p:spPr>
        <p:txBody>
          <a:bodyPr anchorCtr="0" anchor="t" bIns="45700" lIns="91425" spcFirstLastPara="1" rIns="91425" wrap="square" tIns="45700">
            <a:noAutofit/>
          </a:bodyPr>
          <a:lstStyle/>
          <a:p>
            <a:pPr indent="-371475" lvl="1" marL="800100" marR="0" rtl="0" algn="l">
              <a:lnSpc>
                <a:spcPct val="100000"/>
              </a:lnSpc>
              <a:spcBef>
                <a:spcPts val="1000"/>
              </a:spcBef>
              <a:spcAft>
                <a:spcPts val="0"/>
              </a:spcAft>
              <a:buClr>
                <a:schemeClr val="accent2"/>
              </a:buClr>
              <a:buSzPts val="2050"/>
              <a:buFont typeface="Calibri"/>
              <a:buChar char="✔"/>
            </a:pPr>
            <a:r>
              <a:rPr lang="en-US" sz="2050"/>
              <a:t>Main persona</a:t>
            </a:r>
            <a:endParaRPr sz="2050"/>
          </a:p>
          <a:p>
            <a:pPr indent="-371475" lvl="1" marL="800100" marR="0" rtl="0" algn="l">
              <a:lnSpc>
                <a:spcPct val="100000"/>
              </a:lnSpc>
              <a:spcBef>
                <a:spcPts val="1000"/>
              </a:spcBef>
              <a:spcAft>
                <a:spcPts val="0"/>
              </a:spcAft>
              <a:buClr>
                <a:schemeClr val="accent2"/>
              </a:buClr>
              <a:buSzPts val="2050"/>
              <a:buFont typeface="Calibri"/>
              <a:buChar char="✔"/>
            </a:pPr>
            <a:r>
              <a:rPr lang="en-US" sz="2050"/>
              <a:t>Main CTA on website</a:t>
            </a:r>
            <a:endParaRPr sz="2050"/>
          </a:p>
          <a:p>
            <a:pPr indent="-371475" lvl="1" marL="800100" marR="0" rtl="0" algn="l">
              <a:lnSpc>
                <a:spcPct val="100000"/>
              </a:lnSpc>
              <a:spcBef>
                <a:spcPts val="1000"/>
              </a:spcBef>
              <a:spcAft>
                <a:spcPts val="0"/>
              </a:spcAft>
              <a:buClr>
                <a:schemeClr val="accent2"/>
              </a:buClr>
              <a:buSzPts val="2050"/>
              <a:buFont typeface="Calibri"/>
              <a:buChar char="✔"/>
            </a:pPr>
            <a:r>
              <a:rPr lang="en-US" sz="2050"/>
              <a:t>Most lead generation activities will drive to this funnel</a:t>
            </a:r>
            <a:endParaRPr sz="2050"/>
          </a:p>
          <a:p>
            <a:pPr indent="0" lvl="0" marL="0" marR="0" rtl="0" algn="l">
              <a:lnSpc>
                <a:spcPct val="100000"/>
              </a:lnSpc>
              <a:spcBef>
                <a:spcPts val="1000"/>
              </a:spcBef>
              <a:spcAft>
                <a:spcPts val="0"/>
              </a:spcAft>
              <a:buNone/>
            </a:pPr>
            <a:r>
              <a:t/>
            </a:r>
            <a:endParaRPr sz="2050"/>
          </a:p>
          <a:p>
            <a:pPr indent="0" lvl="0" marL="0" marR="0" rtl="0" algn="l">
              <a:lnSpc>
                <a:spcPct val="100000"/>
              </a:lnSpc>
              <a:spcBef>
                <a:spcPts val="1000"/>
              </a:spcBef>
              <a:spcAft>
                <a:spcPts val="0"/>
              </a:spcAft>
              <a:buNone/>
            </a:pPr>
            <a:r>
              <a:rPr lang="en-US" sz="2050"/>
              <a:t>Funnel Includes:</a:t>
            </a:r>
            <a:endParaRPr sz="2050"/>
          </a:p>
          <a:p>
            <a:pPr indent="-371475" lvl="1" marL="800100" rtl="0" algn="l">
              <a:lnSpc>
                <a:spcPct val="100000"/>
              </a:lnSpc>
              <a:spcBef>
                <a:spcPts val="1000"/>
              </a:spcBef>
              <a:spcAft>
                <a:spcPts val="0"/>
              </a:spcAft>
              <a:buClr>
                <a:schemeClr val="accent2"/>
              </a:buClr>
              <a:buSzPts val="2050"/>
              <a:buFont typeface="Calibri"/>
              <a:buChar char="✔"/>
            </a:pPr>
            <a:r>
              <a:rPr lang="en-US" sz="2050"/>
              <a:t>Main Landing Page, CTA, Thank You Page</a:t>
            </a:r>
            <a:endParaRPr sz="2050"/>
          </a:p>
          <a:p>
            <a:pPr indent="-371475" lvl="1" marL="800100" rtl="0" algn="l">
              <a:lnSpc>
                <a:spcPct val="100000"/>
              </a:lnSpc>
              <a:spcBef>
                <a:spcPts val="1000"/>
              </a:spcBef>
              <a:spcAft>
                <a:spcPts val="0"/>
              </a:spcAft>
              <a:buClr>
                <a:schemeClr val="accent2"/>
              </a:buClr>
              <a:buSzPts val="2050"/>
              <a:buFont typeface="Calibri"/>
              <a:buChar char="✔"/>
            </a:pPr>
            <a:r>
              <a:rPr lang="en-US" sz="2050"/>
              <a:t>Auto Responder Email</a:t>
            </a:r>
            <a:endParaRPr sz="2050"/>
          </a:p>
          <a:p>
            <a:pPr indent="-371475" lvl="1" marL="800100" rtl="0" algn="l">
              <a:lnSpc>
                <a:spcPct val="100000"/>
              </a:lnSpc>
              <a:spcBef>
                <a:spcPts val="1000"/>
              </a:spcBef>
              <a:spcAft>
                <a:spcPts val="0"/>
              </a:spcAft>
              <a:buClr>
                <a:schemeClr val="accent2"/>
              </a:buClr>
              <a:buSzPts val="2050"/>
              <a:buFont typeface="Calibri"/>
              <a:buChar char="✔"/>
            </a:pPr>
            <a:r>
              <a:rPr lang="en-US" sz="2050"/>
              <a:t>Four Email Nurture Sequence with CTA to Book a Demo</a:t>
            </a:r>
            <a:endParaRPr sz="2050"/>
          </a:p>
          <a:p>
            <a:pPr indent="-371475" lvl="1" marL="800100" rtl="0" algn="l">
              <a:lnSpc>
                <a:spcPct val="100000"/>
              </a:lnSpc>
              <a:spcBef>
                <a:spcPts val="1000"/>
              </a:spcBef>
              <a:spcAft>
                <a:spcPts val="0"/>
              </a:spcAft>
              <a:buClr>
                <a:schemeClr val="accent2"/>
              </a:buClr>
              <a:buSzPts val="2050"/>
              <a:buFont typeface="Calibri"/>
              <a:buChar char="✔"/>
            </a:pPr>
            <a:r>
              <a:rPr lang="en-US" sz="2050"/>
              <a:t>Once Sequence is Complete - Move to Ongoing Newsletter</a:t>
            </a:r>
            <a:endParaRPr sz="2050"/>
          </a:p>
          <a:p>
            <a:pPr indent="-371475" lvl="1" marL="800100" rtl="0" algn="l">
              <a:lnSpc>
                <a:spcPct val="100000"/>
              </a:lnSpc>
              <a:spcBef>
                <a:spcPts val="1000"/>
              </a:spcBef>
              <a:spcAft>
                <a:spcPts val="0"/>
              </a:spcAft>
              <a:buClr>
                <a:schemeClr val="accent2"/>
              </a:buClr>
              <a:buSzPts val="2050"/>
              <a:buFont typeface="Calibri"/>
              <a:buChar char="✔"/>
            </a:pPr>
            <a:r>
              <a:rPr lang="en-US" sz="2050"/>
              <a:t>Consider Monthly Re-Engagement Emails</a:t>
            </a:r>
            <a:endParaRPr sz="205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6"/>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solidFill>
                  <a:srgbClr val="073763"/>
                </a:solidFill>
              </a:rPr>
              <a:t>Main WBE </a:t>
            </a:r>
            <a:r>
              <a:rPr lang="en-US">
                <a:solidFill>
                  <a:srgbClr val="073763"/>
                </a:solidFill>
              </a:rPr>
              <a:t>Funnel </a:t>
            </a:r>
            <a:r>
              <a:rPr b="0" i="1" lang="en-US">
                <a:solidFill>
                  <a:srgbClr val="073763"/>
                </a:solidFill>
                <a:latin typeface="Calibri"/>
                <a:ea typeface="Calibri"/>
                <a:cs typeface="Calibri"/>
                <a:sym typeface="Calibri"/>
              </a:rPr>
              <a:t>Detail</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None/>
            </a:pPr>
            <a:r>
              <a:t/>
            </a:r>
            <a:endParaRPr/>
          </a:p>
        </p:txBody>
      </p:sp>
      <p:sp>
        <p:nvSpPr>
          <p:cNvPr id="405" name="Google Shape;405;p56"/>
          <p:cNvSpPr/>
          <p:nvPr/>
        </p:nvSpPr>
        <p:spPr>
          <a:xfrm>
            <a:off x="713275" y="1936400"/>
            <a:ext cx="18120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600">
                <a:solidFill>
                  <a:schemeClr val="accent5"/>
                </a:solidFill>
                <a:latin typeface="Calibri"/>
                <a:ea typeface="Calibri"/>
                <a:cs typeface="Calibri"/>
                <a:sym typeface="Calibri"/>
              </a:rPr>
              <a:t>Content Marketing &amp; Social Media</a:t>
            </a:r>
            <a:endParaRPr sz="1600"/>
          </a:p>
        </p:txBody>
      </p:sp>
      <p:sp>
        <p:nvSpPr>
          <p:cNvPr id="406" name="Google Shape;406;p56"/>
          <p:cNvSpPr/>
          <p:nvPr/>
        </p:nvSpPr>
        <p:spPr>
          <a:xfrm>
            <a:off x="3074375" y="2221025"/>
            <a:ext cx="2158957" cy="3243487"/>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accent5"/>
                </a:solidFill>
                <a:latin typeface="Calibri"/>
                <a:ea typeface="Calibri"/>
                <a:cs typeface="Calibri"/>
                <a:sym typeface="Calibri"/>
              </a:rPr>
              <a:t>Website </a:t>
            </a:r>
            <a:r>
              <a:rPr b="1" lang="en-US" sz="1800">
                <a:solidFill>
                  <a:schemeClr val="accent5"/>
                </a:solidFill>
                <a:latin typeface="Calibri"/>
                <a:ea typeface="Calibri"/>
                <a:cs typeface="Calibri"/>
                <a:sym typeface="Calibri"/>
              </a:rPr>
              <a:t>Landing Page/CTA:</a:t>
            </a:r>
            <a:r>
              <a:rPr b="1" lang="en-US" sz="1600">
                <a:solidFill>
                  <a:schemeClr val="accent5"/>
                </a:solidFill>
                <a:latin typeface="Calibri"/>
                <a:ea typeface="Calibri"/>
                <a:cs typeface="Calibri"/>
                <a:sym typeface="Calibri"/>
              </a:rPr>
              <a:t> </a:t>
            </a:r>
            <a:br>
              <a:rPr b="1" lang="en-US" sz="1600">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900">
                <a:solidFill>
                  <a:schemeClr val="accent5"/>
                </a:solidFill>
                <a:latin typeface="Calibri"/>
                <a:ea typeface="Calibri"/>
                <a:cs typeface="Calibri"/>
                <a:sym typeface="Calibri"/>
              </a:rPr>
              <a:t>Get the Women Business Owner’s Guide to Accessing Corporate &amp; Govt. Contracts in Canada</a:t>
            </a:r>
            <a:endParaRPr sz="900"/>
          </a:p>
        </p:txBody>
      </p:sp>
      <p:pic>
        <p:nvPicPr>
          <p:cNvPr id="407" name="Google Shape;407;p56"/>
          <p:cNvPicPr preferRelativeResize="0"/>
          <p:nvPr/>
        </p:nvPicPr>
        <p:blipFill rotWithShape="1">
          <a:blip r:embed="rId3">
            <a:alphaModFix/>
          </a:blip>
          <a:srcRect b="0" l="0" r="0" t="0"/>
          <a:stretch/>
        </p:blipFill>
        <p:spPr>
          <a:xfrm>
            <a:off x="2650775" y="3604527"/>
            <a:ext cx="221894" cy="308722"/>
          </a:xfrm>
          <a:prstGeom prst="rect">
            <a:avLst/>
          </a:prstGeom>
          <a:noFill/>
          <a:ln>
            <a:noFill/>
          </a:ln>
        </p:spPr>
      </p:pic>
      <p:pic>
        <p:nvPicPr>
          <p:cNvPr id="408" name="Google Shape;408;p56"/>
          <p:cNvPicPr preferRelativeResize="0"/>
          <p:nvPr/>
        </p:nvPicPr>
        <p:blipFill rotWithShape="1">
          <a:blip r:embed="rId3">
            <a:alphaModFix/>
          </a:blip>
          <a:srcRect b="0" l="0" r="0" t="0"/>
          <a:stretch/>
        </p:blipFill>
        <p:spPr>
          <a:xfrm>
            <a:off x="5357425" y="3604531"/>
            <a:ext cx="221894" cy="308722"/>
          </a:xfrm>
          <a:prstGeom prst="rect">
            <a:avLst/>
          </a:prstGeom>
          <a:noFill/>
          <a:ln>
            <a:noFill/>
          </a:ln>
        </p:spPr>
      </p:pic>
      <p:sp>
        <p:nvSpPr>
          <p:cNvPr id="409" name="Google Shape;409;p56"/>
          <p:cNvSpPr/>
          <p:nvPr/>
        </p:nvSpPr>
        <p:spPr>
          <a:xfrm>
            <a:off x="713275" y="2936850"/>
            <a:ext cx="18120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600">
                <a:solidFill>
                  <a:schemeClr val="accent5"/>
                </a:solidFill>
                <a:latin typeface="Calibri"/>
                <a:ea typeface="Calibri"/>
                <a:cs typeface="Calibri"/>
                <a:sym typeface="Calibri"/>
              </a:rPr>
              <a:t>SEO/Hub Pages</a:t>
            </a:r>
            <a:endParaRPr sz="1600"/>
          </a:p>
        </p:txBody>
      </p:sp>
      <p:sp>
        <p:nvSpPr>
          <p:cNvPr id="410" name="Google Shape;410;p56"/>
          <p:cNvSpPr/>
          <p:nvPr/>
        </p:nvSpPr>
        <p:spPr>
          <a:xfrm>
            <a:off x="713275" y="3913250"/>
            <a:ext cx="18120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600">
                <a:solidFill>
                  <a:schemeClr val="accent5"/>
                </a:solidFill>
                <a:latin typeface="Calibri"/>
                <a:ea typeface="Calibri"/>
                <a:cs typeface="Calibri"/>
                <a:sym typeface="Calibri"/>
              </a:rPr>
              <a:t>PPC &amp; Social Ads</a:t>
            </a:r>
            <a:endParaRPr sz="1600"/>
          </a:p>
        </p:txBody>
      </p:sp>
      <p:sp>
        <p:nvSpPr>
          <p:cNvPr id="411" name="Google Shape;411;p56"/>
          <p:cNvSpPr/>
          <p:nvPr/>
        </p:nvSpPr>
        <p:spPr>
          <a:xfrm>
            <a:off x="713275" y="4965850"/>
            <a:ext cx="18120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600">
                <a:solidFill>
                  <a:schemeClr val="accent5"/>
                </a:solidFill>
                <a:latin typeface="Calibri"/>
                <a:ea typeface="Calibri"/>
                <a:cs typeface="Calibri"/>
                <a:sym typeface="Calibri"/>
              </a:rPr>
              <a:t>Events/Associations</a:t>
            </a:r>
            <a:endParaRPr sz="1600"/>
          </a:p>
        </p:txBody>
      </p:sp>
      <p:sp>
        <p:nvSpPr>
          <p:cNvPr id="412" name="Google Shape;412;p56"/>
          <p:cNvSpPr/>
          <p:nvPr/>
        </p:nvSpPr>
        <p:spPr>
          <a:xfrm>
            <a:off x="5807988" y="149832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a:solidFill>
                  <a:schemeClr val="accent5"/>
                </a:solidFill>
                <a:latin typeface="Calibri"/>
                <a:ea typeface="Calibri"/>
                <a:cs typeface="Calibri"/>
                <a:sym typeface="Calibri"/>
              </a:rPr>
              <a:t>If you thought larger contracts were out of reach, think again…</a:t>
            </a:r>
            <a:endParaRPr/>
          </a:p>
        </p:txBody>
      </p:sp>
      <p:sp>
        <p:nvSpPr>
          <p:cNvPr id="413" name="Google Shape;413;p56"/>
          <p:cNvSpPr/>
          <p:nvPr/>
        </p:nvSpPr>
        <p:spPr>
          <a:xfrm>
            <a:off x="5807988" y="234637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a:solidFill>
                  <a:schemeClr val="accent5"/>
                </a:solidFill>
                <a:latin typeface="Calibri"/>
                <a:ea typeface="Calibri"/>
                <a:cs typeface="Calibri"/>
                <a:sym typeface="Calibri"/>
              </a:rPr>
              <a:t>Why you’re in demand as a Canadian women-owned business</a:t>
            </a:r>
            <a:endParaRPr/>
          </a:p>
        </p:txBody>
      </p:sp>
      <p:sp>
        <p:nvSpPr>
          <p:cNvPr id="414" name="Google Shape;414;p56"/>
          <p:cNvSpPr/>
          <p:nvPr/>
        </p:nvSpPr>
        <p:spPr>
          <a:xfrm>
            <a:off x="5807988" y="317037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000000"/>
              </a:buClr>
              <a:buFont typeface="Arial"/>
              <a:buNone/>
            </a:pPr>
            <a:r>
              <a:rPr b="1" lang="en-US">
                <a:solidFill>
                  <a:schemeClr val="accent5"/>
                </a:solidFill>
                <a:latin typeface="Calibri"/>
                <a:ea typeface="Calibri"/>
                <a:cs typeface="Calibri"/>
                <a:sym typeface="Calibri"/>
              </a:rPr>
              <a:t>5 Ways Corporate &amp; Government Contracts Can Help Your Business </a:t>
            </a:r>
            <a:endParaRPr b="1">
              <a:solidFill>
                <a:schemeClr val="accent5"/>
              </a:solidFill>
              <a:latin typeface="Calibri"/>
              <a:ea typeface="Calibri"/>
              <a:cs typeface="Calibri"/>
              <a:sym typeface="Calibri"/>
            </a:endParaRPr>
          </a:p>
        </p:txBody>
      </p:sp>
      <p:sp>
        <p:nvSpPr>
          <p:cNvPr id="415" name="Google Shape;415;p56"/>
          <p:cNvSpPr/>
          <p:nvPr/>
        </p:nvSpPr>
        <p:spPr>
          <a:xfrm>
            <a:off x="5807988" y="399437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Clr>
                <a:schemeClr val="dk1"/>
              </a:buClr>
              <a:buFont typeface="Arial"/>
              <a:buNone/>
            </a:pPr>
            <a:r>
              <a:rPr b="1" lang="en-US">
                <a:solidFill>
                  <a:schemeClr val="accent5"/>
                </a:solidFill>
                <a:latin typeface="Calibri"/>
                <a:ea typeface="Calibri"/>
                <a:cs typeface="Calibri"/>
                <a:sym typeface="Calibri"/>
              </a:rPr>
              <a:t>Ready to grow &amp; scale your women-owned business? These are the tools you need…</a:t>
            </a:r>
            <a:endParaRPr/>
          </a:p>
        </p:txBody>
      </p:sp>
      <p:pic>
        <p:nvPicPr>
          <p:cNvPr id="416" name="Google Shape;416;p56"/>
          <p:cNvPicPr preferRelativeResize="0"/>
          <p:nvPr/>
        </p:nvPicPr>
        <p:blipFill rotWithShape="1">
          <a:blip r:embed="rId3">
            <a:alphaModFix/>
          </a:blip>
          <a:srcRect b="0" l="0" r="0" t="0"/>
          <a:stretch/>
        </p:blipFill>
        <p:spPr>
          <a:xfrm>
            <a:off x="11616725" y="4491781"/>
            <a:ext cx="221894" cy="308722"/>
          </a:xfrm>
          <a:prstGeom prst="rect">
            <a:avLst/>
          </a:prstGeom>
          <a:noFill/>
          <a:ln>
            <a:noFill/>
          </a:ln>
        </p:spPr>
      </p:pic>
      <p:sp>
        <p:nvSpPr>
          <p:cNvPr id="417" name="Google Shape;417;p56"/>
          <p:cNvSpPr/>
          <p:nvPr/>
        </p:nvSpPr>
        <p:spPr>
          <a:xfrm>
            <a:off x="10012400" y="2088800"/>
            <a:ext cx="1451930" cy="1325535"/>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900">
                <a:solidFill>
                  <a:schemeClr val="accent5"/>
                </a:solidFill>
                <a:latin typeface="Calibri"/>
                <a:ea typeface="Calibri"/>
                <a:cs typeface="Calibri"/>
                <a:sym typeface="Calibri"/>
              </a:rPr>
              <a:t>Ready?</a:t>
            </a:r>
            <a:endParaRPr b="1" sz="1900">
              <a:solidFill>
                <a:schemeClr val="accent5"/>
              </a:solidFill>
              <a:latin typeface="Calibri"/>
              <a:ea typeface="Calibri"/>
              <a:cs typeface="Calibri"/>
              <a:sym typeface="Calibri"/>
            </a:endParaRPr>
          </a:p>
          <a:p>
            <a:pPr indent="0" lvl="0" marL="0" marR="0" rtl="0" algn="ctr">
              <a:spcBef>
                <a:spcPts val="0"/>
              </a:spcBef>
              <a:spcAft>
                <a:spcPts val="0"/>
              </a:spcAft>
              <a:buNone/>
            </a:pPr>
            <a:r>
              <a:rPr lang="en-US" sz="1900">
                <a:solidFill>
                  <a:schemeClr val="accent5"/>
                </a:solidFill>
                <a:latin typeface="Calibri"/>
                <a:ea typeface="Calibri"/>
                <a:cs typeface="Calibri"/>
                <a:sym typeface="Calibri"/>
              </a:rPr>
              <a:t>Book a Call/Apply</a:t>
            </a:r>
            <a:endParaRPr sz="900"/>
          </a:p>
        </p:txBody>
      </p:sp>
      <p:pic>
        <p:nvPicPr>
          <p:cNvPr id="418" name="Google Shape;418;p56"/>
          <p:cNvPicPr preferRelativeResize="0"/>
          <p:nvPr/>
        </p:nvPicPr>
        <p:blipFill rotWithShape="1">
          <a:blip r:embed="rId3">
            <a:alphaModFix/>
          </a:blip>
          <a:srcRect b="0" l="0" r="0" t="0"/>
          <a:stretch/>
        </p:blipFill>
        <p:spPr>
          <a:xfrm rot="5400000">
            <a:off x="10585963" y="3561118"/>
            <a:ext cx="221894" cy="308722"/>
          </a:xfrm>
          <a:prstGeom prst="rect">
            <a:avLst/>
          </a:prstGeom>
          <a:noFill/>
          <a:ln>
            <a:noFill/>
          </a:ln>
        </p:spPr>
      </p:pic>
      <p:sp>
        <p:nvSpPr>
          <p:cNvPr id="419" name="Google Shape;419;p56"/>
          <p:cNvSpPr/>
          <p:nvPr/>
        </p:nvSpPr>
        <p:spPr>
          <a:xfrm>
            <a:off x="5807988" y="4833650"/>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Clr>
                <a:schemeClr val="dk1"/>
              </a:buClr>
              <a:buFont typeface="Arial"/>
              <a:buNone/>
            </a:pPr>
            <a:r>
              <a:rPr b="1" lang="en-US">
                <a:solidFill>
                  <a:schemeClr val="accent5"/>
                </a:solidFill>
                <a:latin typeface="Calibri"/>
                <a:ea typeface="Calibri"/>
                <a:cs typeface="Calibri"/>
                <a:sym typeface="Calibri"/>
              </a:rPr>
              <a:t>How WBE Canada Certification Has Helped These Women-Owned Businesses…</a:t>
            </a:r>
            <a:endParaRPr/>
          </a:p>
        </p:txBody>
      </p:sp>
      <p:sp>
        <p:nvSpPr>
          <p:cNvPr id="420" name="Google Shape;420;p56"/>
          <p:cNvSpPr/>
          <p:nvPr/>
        </p:nvSpPr>
        <p:spPr>
          <a:xfrm>
            <a:off x="9991975" y="3983363"/>
            <a:ext cx="1451930" cy="1325535"/>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900">
                <a:solidFill>
                  <a:schemeClr val="accent5"/>
                </a:solidFill>
                <a:latin typeface="Calibri"/>
                <a:ea typeface="Calibri"/>
                <a:cs typeface="Calibri"/>
                <a:sym typeface="Calibri"/>
              </a:rPr>
              <a:t>Not Ready? </a:t>
            </a:r>
            <a:r>
              <a:rPr lang="en-US" sz="1900">
                <a:solidFill>
                  <a:schemeClr val="accent5"/>
                </a:solidFill>
                <a:latin typeface="Calibri"/>
                <a:ea typeface="Calibri"/>
                <a:cs typeface="Calibri"/>
                <a:sym typeface="Calibri"/>
              </a:rPr>
              <a:t>Tools for Growth</a:t>
            </a:r>
            <a:endParaRPr sz="900"/>
          </a:p>
        </p:txBody>
      </p:sp>
      <p:sp>
        <p:nvSpPr>
          <p:cNvPr id="421" name="Google Shape;421;p56"/>
          <p:cNvSpPr/>
          <p:nvPr/>
        </p:nvSpPr>
        <p:spPr>
          <a:xfrm>
            <a:off x="5807988" y="567292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a:solidFill>
                  <a:schemeClr val="accent5"/>
                </a:solidFill>
                <a:latin typeface="Calibri"/>
                <a:ea typeface="Calibri"/>
                <a:cs typeface="Calibri"/>
                <a:sym typeface="Calibri"/>
              </a:rPr>
              <a:t>Are You Ready to Certify Your Women-Owned Business?</a:t>
            </a:r>
            <a:endParaRPr/>
          </a:p>
        </p:txBody>
      </p:sp>
      <p:pic>
        <p:nvPicPr>
          <p:cNvPr id="422" name="Google Shape;422;p56"/>
          <p:cNvPicPr preferRelativeResize="0"/>
          <p:nvPr/>
        </p:nvPicPr>
        <p:blipFill rotWithShape="1">
          <a:blip r:embed="rId3">
            <a:alphaModFix/>
          </a:blip>
          <a:srcRect b="0" l="0" r="0" t="0"/>
          <a:stretch/>
        </p:blipFill>
        <p:spPr>
          <a:xfrm>
            <a:off x="9617325" y="3561106"/>
            <a:ext cx="221894" cy="30872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57"/>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lang="en-US">
                <a:solidFill>
                  <a:srgbClr val="073763"/>
                </a:solidFill>
              </a:rPr>
              <a:t>Main WBE Funnel </a:t>
            </a:r>
            <a:r>
              <a:rPr b="0" i="1" lang="en-US">
                <a:solidFill>
                  <a:srgbClr val="073763"/>
                </a:solidFill>
                <a:latin typeface="Calibri"/>
                <a:ea typeface="Calibri"/>
                <a:cs typeface="Calibri"/>
                <a:sym typeface="Calibri"/>
              </a:rPr>
              <a:t>Website CTA Example</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428" name="Google Shape;428;p57"/>
          <p:cNvSpPr txBox="1"/>
          <p:nvPr>
            <p:ph idx="1" type="body"/>
          </p:nvPr>
        </p:nvSpPr>
        <p:spPr>
          <a:xfrm>
            <a:off x="930125" y="1943100"/>
            <a:ext cx="80979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t/>
            </a:r>
            <a:endParaRPr b="1" sz="2050"/>
          </a:p>
          <a:p>
            <a:pPr indent="0" lvl="0" marL="0" marR="0" rtl="0" algn="l">
              <a:lnSpc>
                <a:spcPct val="100000"/>
              </a:lnSpc>
              <a:spcBef>
                <a:spcPts val="1000"/>
              </a:spcBef>
              <a:spcAft>
                <a:spcPts val="0"/>
              </a:spcAft>
              <a:buNone/>
            </a:pPr>
            <a:r>
              <a:t/>
            </a:r>
            <a:endParaRPr sz="2050"/>
          </a:p>
        </p:txBody>
      </p:sp>
      <p:grpSp>
        <p:nvGrpSpPr>
          <p:cNvPr id="429" name="Google Shape;429;p57"/>
          <p:cNvGrpSpPr/>
          <p:nvPr/>
        </p:nvGrpSpPr>
        <p:grpSpPr>
          <a:xfrm>
            <a:off x="1219262" y="2243428"/>
            <a:ext cx="6822213" cy="3838133"/>
            <a:chOff x="1325349" y="1693684"/>
            <a:chExt cx="7323900" cy="4766091"/>
          </a:xfrm>
        </p:grpSpPr>
        <p:pic>
          <p:nvPicPr>
            <p:cNvPr id="430" name="Google Shape;430;p57"/>
            <p:cNvPicPr preferRelativeResize="0"/>
            <p:nvPr/>
          </p:nvPicPr>
          <p:blipFill>
            <a:blip r:embed="rId3">
              <a:alphaModFix/>
            </a:blip>
            <a:stretch>
              <a:fillRect/>
            </a:stretch>
          </p:blipFill>
          <p:spPr>
            <a:xfrm>
              <a:off x="1325349" y="1693684"/>
              <a:ext cx="7323899" cy="4145516"/>
            </a:xfrm>
            <a:prstGeom prst="rect">
              <a:avLst/>
            </a:prstGeom>
            <a:noFill/>
            <a:ln>
              <a:noFill/>
            </a:ln>
          </p:spPr>
        </p:pic>
        <p:pic>
          <p:nvPicPr>
            <p:cNvPr id="431" name="Google Shape;431;p57"/>
            <p:cNvPicPr preferRelativeResize="0"/>
            <p:nvPr/>
          </p:nvPicPr>
          <p:blipFill>
            <a:blip r:embed="rId4">
              <a:alphaModFix/>
            </a:blip>
            <a:stretch>
              <a:fillRect/>
            </a:stretch>
          </p:blipFill>
          <p:spPr>
            <a:xfrm>
              <a:off x="1325350" y="4472125"/>
              <a:ext cx="7323900" cy="1987650"/>
            </a:xfrm>
            <a:prstGeom prst="rect">
              <a:avLst/>
            </a:prstGeom>
            <a:noFill/>
            <a:ln>
              <a:noFill/>
            </a:ln>
          </p:spPr>
        </p:pic>
      </p:grpSp>
      <p:sp>
        <p:nvSpPr>
          <p:cNvPr id="432" name="Google Shape;432;p57"/>
          <p:cNvSpPr txBox="1"/>
          <p:nvPr>
            <p:ph idx="1" type="body"/>
          </p:nvPr>
        </p:nvSpPr>
        <p:spPr>
          <a:xfrm>
            <a:off x="5599775" y="2407825"/>
            <a:ext cx="2706300" cy="1403400"/>
          </a:xfrm>
          <a:prstGeom prst="rect">
            <a:avLst/>
          </a:pr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br>
              <a:rPr b="1" lang="en-US" sz="1650"/>
            </a:br>
            <a:r>
              <a:rPr b="1" lang="en-US" sz="750">
                <a:latin typeface="Verdana"/>
                <a:ea typeface="Verdana"/>
                <a:cs typeface="Verdana"/>
                <a:sym typeface="Verdana"/>
              </a:rPr>
              <a:t>WBE Canada is the Certifying Council for Canadian Women Owned Businesses:</a:t>
            </a:r>
            <a:endParaRPr b="1" sz="750">
              <a:latin typeface="Verdana"/>
              <a:ea typeface="Verdana"/>
              <a:cs typeface="Verdana"/>
              <a:sym typeface="Verdana"/>
            </a:endParaRPr>
          </a:p>
          <a:p>
            <a:pPr indent="0" lvl="0" marL="0" rtl="0" algn="l">
              <a:lnSpc>
                <a:spcPct val="100000"/>
              </a:lnSpc>
              <a:spcBef>
                <a:spcPts val="1000"/>
              </a:spcBef>
              <a:spcAft>
                <a:spcPts val="0"/>
              </a:spcAft>
              <a:buNone/>
            </a:pPr>
            <a:r>
              <a:rPr b="1" lang="en-US" sz="750"/>
              <a:t>Access corporate &amp; government contracts</a:t>
            </a:r>
            <a:r>
              <a:rPr lang="en-US" sz="750"/>
              <a:t> with organizations who want to work with more Women Owned Businesses.</a:t>
            </a:r>
            <a:r>
              <a:rPr lang="en-US" sz="950"/>
              <a:t> </a:t>
            </a:r>
            <a:br>
              <a:rPr b="1" lang="en-US" sz="550"/>
            </a:br>
            <a:br>
              <a:rPr b="1" lang="en-US" sz="550"/>
            </a:br>
            <a:r>
              <a:rPr b="1" lang="en-US" sz="750"/>
              <a:t>Get best practices resources</a:t>
            </a:r>
            <a:r>
              <a:rPr lang="en-US" sz="750"/>
              <a:t> to thrive &amp; scale. </a:t>
            </a:r>
            <a:br>
              <a:rPr lang="en-US" sz="450"/>
            </a:br>
            <a:br>
              <a:rPr lang="en-US" sz="450"/>
            </a:br>
            <a:r>
              <a:rPr b="1" lang="en-US" sz="750"/>
              <a:t>Connect, partner &amp; mentor</a:t>
            </a:r>
            <a:r>
              <a:rPr lang="en-US" sz="750"/>
              <a:t> with other women business owners.</a:t>
            </a:r>
            <a:r>
              <a:rPr lang="en-US" sz="950"/>
              <a:t> </a:t>
            </a:r>
            <a:endParaRPr b="1" sz="1150"/>
          </a:p>
        </p:txBody>
      </p:sp>
      <p:sp>
        <p:nvSpPr>
          <p:cNvPr id="433" name="Google Shape;433;p57"/>
          <p:cNvSpPr/>
          <p:nvPr/>
        </p:nvSpPr>
        <p:spPr>
          <a:xfrm>
            <a:off x="5667757" y="3910973"/>
            <a:ext cx="926400" cy="325500"/>
          </a:xfrm>
          <a:prstGeom prst="roundRect">
            <a:avLst>
              <a:gd fmla="val 16667" name="adj"/>
            </a:avLst>
          </a:prstGeom>
          <a:solidFill>
            <a:srgbClr val="E691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800">
                <a:solidFill>
                  <a:schemeClr val="lt1"/>
                </a:solidFill>
                <a:latin typeface="Verdana"/>
                <a:ea typeface="Verdana"/>
                <a:cs typeface="Verdana"/>
                <a:sym typeface="Verdana"/>
              </a:rPr>
              <a:t>GET STARTED</a:t>
            </a:r>
            <a:endParaRPr b="1" sz="800">
              <a:solidFill>
                <a:schemeClr val="lt1"/>
              </a:solidFill>
              <a:latin typeface="Verdana"/>
              <a:ea typeface="Verdana"/>
              <a:cs typeface="Verdana"/>
              <a:sym typeface="Verdana"/>
            </a:endParaRPr>
          </a:p>
        </p:txBody>
      </p:sp>
      <p:sp>
        <p:nvSpPr>
          <p:cNvPr id="434" name="Google Shape;434;p57"/>
          <p:cNvSpPr/>
          <p:nvPr/>
        </p:nvSpPr>
        <p:spPr>
          <a:xfrm>
            <a:off x="6895693" y="3903889"/>
            <a:ext cx="1017600" cy="325500"/>
          </a:xfrm>
          <a:prstGeom prst="roundRect">
            <a:avLst>
              <a:gd fmla="val 16667" name="adj"/>
            </a:avLst>
          </a:prstGeom>
          <a:solidFill>
            <a:srgbClr val="E6913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US" sz="800">
                <a:solidFill>
                  <a:srgbClr val="FFFFFF"/>
                </a:solidFill>
                <a:latin typeface="Verdana"/>
                <a:ea typeface="Verdana"/>
                <a:cs typeface="Verdana"/>
                <a:sym typeface="Verdana"/>
              </a:rPr>
              <a:t>GET CERTIFIED</a:t>
            </a:r>
            <a:endParaRPr b="1" sz="800">
              <a:solidFill>
                <a:srgbClr val="FFFFFF"/>
              </a:solidFill>
              <a:latin typeface="Verdana"/>
              <a:ea typeface="Verdana"/>
              <a:cs typeface="Verdana"/>
              <a:sym typeface="Verdana"/>
            </a:endParaRPr>
          </a:p>
        </p:txBody>
      </p:sp>
      <p:pic>
        <p:nvPicPr>
          <p:cNvPr id="435" name="Google Shape;435;p57"/>
          <p:cNvPicPr preferRelativeResize="0"/>
          <p:nvPr/>
        </p:nvPicPr>
        <p:blipFill rotWithShape="1">
          <a:blip r:embed="rId5">
            <a:alphaModFix/>
          </a:blip>
          <a:srcRect b="5660" l="0" r="0" t="0"/>
          <a:stretch/>
        </p:blipFill>
        <p:spPr>
          <a:xfrm>
            <a:off x="1219250" y="1895950"/>
            <a:ext cx="6822224" cy="25913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58"/>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  WBE 6 Month Conversion Nurturing</a:t>
            </a:r>
            <a:endParaRPr>
              <a:solidFill>
                <a:srgbClr val="073763"/>
              </a:solidFill>
            </a:endParaRPr>
          </a:p>
        </p:txBody>
      </p:sp>
      <p:sp>
        <p:nvSpPr>
          <p:cNvPr id="441" name="Google Shape;441;p58"/>
          <p:cNvSpPr txBox="1"/>
          <p:nvPr>
            <p:ph idx="1" type="body"/>
          </p:nvPr>
        </p:nvSpPr>
        <p:spPr>
          <a:xfrm>
            <a:off x="911700" y="1814675"/>
            <a:ext cx="9504300" cy="3935100"/>
          </a:xfrm>
          <a:prstGeom prst="rect">
            <a:avLst/>
          </a:prstGeom>
          <a:noFill/>
          <a:ln>
            <a:noFill/>
          </a:ln>
        </p:spPr>
        <p:txBody>
          <a:bodyPr anchorCtr="0" anchor="t" bIns="45700" lIns="91425" spcFirstLastPara="1" rIns="91425" wrap="square" tIns="45700">
            <a:noAutofit/>
          </a:bodyPr>
          <a:lstStyle/>
          <a:p>
            <a:pPr indent="-244475" lvl="1" marL="685800" rtl="0" algn="l">
              <a:lnSpc>
                <a:spcPct val="100000"/>
              </a:lnSpc>
              <a:spcBef>
                <a:spcPts val="1000"/>
              </a:spcBef>
              <a:spcAft>
                <a:spcPts val="0"/>
              </a:spcAft>
              <a:buClr>
                <a:schemeClr val="accent2"/>
              </a:buClr>
              <a:buSzPts val="2050"/>
              <a:buFont typeface="Calibri"/>
              <a:buChar char="✔"/>
            </a:pPr>
            <a:r>
              <a:rPr lang="en-US" sz="2050"/>
              <a:t>Conversion funnel after the WBE Certification Funnel</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Goal is to continue to encourage WBEs who don’t apply for Certification after the first lead nurturing sequence to apply or to get started with Tools for Growth</a:t>
            </a:r>
            <a:endParaRPr sz="2050"/>
          </a:p>
          <a:p>
            <a:pPr indent="0" lvl="0" marL="0" rtl="0" algn="l">
              <a:lnSpc>
                <a:spcPct val="100000"/>
              </a:lnSpc>
              <a:spcBef>
                <a:spcPts val="1000"/>
              </a:spcBef>
              <a:spcAft>
                <a:spcPts val="0"/>
              </a:spcAft>
              <a:buNone/>
            </a:pPr>
            <a:r>
              <a:t/>
            </a:r>
            <a:endParaRPr sz="850"/>
          </a:p>
          <a:p>
            <a:pPr indent="0" lvl="0" marL="0" rtl="0" algn="l">
              <a:lnSpc>
                <a:spcPct val="100000"/>
              </a:lnSpc>
              <a:spcBef>
                <a:spcPts val="1000"/>
              </a:spcBef>
              <a:spcAft>
                <a:spcPts val="0"/>
              </a:spcAft>
              <a:buNone/>
            </a:pPr>
            <a:r>
              <a:rPr lang="en-US" sz="2050"/>
              <a:t>Funnel Includes:</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Targeted email to sign up for Tools for Growth immediately following the Certification Nurturing Sequence</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Six monthly emails to </a:t>
            </a:r>
            <a:r>
              <a:rPr lang="en-US" sz="2050"/>
              <a:t>encourage conversions to Certification or Tools for Growth</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Once Sequence is Complete - Move to Ongoing Newsletter</a:t>
            </a:r>
            <a:endParaRPr sz="2050"/>
          </a:p>
          <a:p>
            <a:pPr indent="0" lvl="0" marL="0" rtl="0" algn="l">
              <a:lnSpc>
                <a:spcPct val="100000"/>
              </a:lnSpc>
              <a:spcBef>
                <a:spcPts val="1000"/>
              </a:spcBef>
              <a:spcAft>
                <a:spcPts val="0"/>
              </a:spcAft>
              <a:buNone/>
            </a:pPr>
            <a:r>
              <a:t/>
            </a:r>
            <a:endParaRPr sz="205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59"/>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2"/>
              </a:buClr>
              <a:buSzPct val="100000"/>
              <a:buFont typeface="Calibri"/>
              <a:buNone/>
            </a:pPr>
            <a:r>
              <a:rPr lang="en-US">
                <a:solidFill>
                  <a:srgbClr val="073763"/>
                </a:solidFill>
              </a:rPr>
              <a:t>  WBE 6 Month Conversion Nurturing</a:t>
            </a:r>
            <a:endParaRPr>
              <a:solidFill>
                <a:srgbClr val="073763"/>
              </a:solidFill>
            </a:endParaRPr>
          </a:p>
          <a:p>
            <a:pPr indent="0" lvl="0" marL="0" rtl="0" algn="l">
              <a:spcBef>
                <a:spcPts val="0"/>
              </a:spcBef>
              <a:spcAft>
                <a:spcPts val="0"/>
              </a:spcAft>
              <a:buNone/>
            </a:pPr>
            <a:r>
              <a:rPr lang="en-US">
                <a:solidFill>
                  <a:srgbClr val="073763"/>
                </a:solidFill>
              </a:rPr>
              <a:t> Funnel</a:t>
            </a:r>
            <a:r>
              <a:rPr lang="en-US">
                <a:solidFill>
                  <a:srgbClr val="073763"/>
                </a:solidFill>
              </a:rPr>
              <a:t> </a:t>
            </a:r>
            <a:r>
              <a:rPr b="0" i="1" lang="en-US">
                <a:solidFill>
                  <a:srgbClr val="073763"/>
                </a:solidFill>
                <a:latin typeface="Calibri"/>
                <a:ea typeface="Calibri"/>
                <a:cs typeface="Calibri"/>
                <a:sym typeface="Calibri"/>
              </a:rPr>
              <a:t>Detail</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None/>
            </a:pPr>
            <a:r>
              <a:t/>
            </a:r>
            <a:endParaRPr/>
          </a:p>
        </p:txBody>
      </p:sp>
      <p:sp>
        <p:nvSpPr>
          <p:cNvPr id="447" name="Google Shape;447;p59"/>
          <p:cNvSpPr/>
          <p:nvPr/>
        </p:nvSpPr>
        <p:spPr>
          <a:xfrm>
            <a:off x="10134950" y="4502675"/>
            <a:ext cx="1452000" cy="447900"/>
          </a:xfrm>
          <a:prstGeom prst="snip1Rect">
            <a:avLst>
              <a:gd fmla="val 16667" name="adj"/>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a:solidFill>
                  <a:schemeClr val="accent5"/>
                </a:solidFill>
                <a:latin typeface="Calibri"/>
                <a:ea typeface="Calibri"/>
                <a:cs typeface="Calibri"/>
                <a:sym typeface="Calibri"/>
              </a:rPr>
              <a:t>Newsletter</a:t>
            </a:r>
            <a:endParaRPr sz="800"/>
          </a:p>
        </p:txBody>
      </p:sp>
      <p:sp>
        <p:nvSpPr>
          <p:cNvPr id="448" name="Google Shape;448;p59"/>
          <p:cNvSpPr/>
          <p:nvPr/>
        </p:nvSpPr>
        <p:spPr>
          <a:xfrm>
            <a:off x="3471925" y="2535500"/>
            <a:ext cx="2247335" cy="2806579"/>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800">
                <a:solidFill>
                  <a:schemeClr val="accent5"/>
                </a:solidFill>
                <a:latin typeface="Calibri"/>
                <a:ea typeface="Calibri"/>
                <a:cs typeface="Calibri"/>
                <a:sym typeface="Calibri"/>
              </a:rPr>
              <a:t>Targeted Email</a:t>
            </a:r>
            <a:r>
              <a:rPr b="1" lang="en-US" sz="2100">
                <a:solidFill>
                  <a:schemeClr val="accent5"/>
                </a:solidFill>
                <a:latin typeface="Calibri"/>
                <a:ea typeface="Calibri"/>
                <a:cs typeface="Calibri"/>
                <a:sym typeface="Calibri"/>
              </a:rPr>
              <a:t>: </a:t>
            </a:r>
            <a:br>
              <a:rPr b="1" lang="en-US" sz="2100">
                <a:solidFill>
                  <a:schemeClr val="accent5"/>
                </a:solidFill>
                <a:latin typeface="Calibri"/>
                <a:ea typeface="Calibri"/>
                <a:cs typeface="Calibri"/>
                <a:sym typeface="Calibri"/>
              </a:rPr>
            </a:br>
            <a:br>
              <a:rPr b="1" lang="en-US" sz="2100">
                <a:solidFill>
                  <a:schemeClr val="accent5"/>
                </a:solidFill>
                <a:latin typeface="Calibri"/>
                <a:ea typeface="Calibri"/>
                <a:cs typeface="Calibri"/>
                <a:sym typeface="Calibri"/>
              </a:rPr>
            </a:br>
            <a:r>
              <a:rPr lang="en-US" sz="1600">
                <a:solidFill>
                  <a:schemeClr val="accent5"/>
                </a:solidFill>
                <a:latin typeface="Calibri"/>
                <a:ea typeface="Calibri"/>
                <a:cs typeface="Calibri"/>
                <a:sym typeface="Calibri"/>
              </a:rPr>
              <a:t>Not Ready for Certification? Get Started with Tools for Growth</a:t>
            </a:r>
            <a:endParaRPr sz="1600"/>
          </a:p>
        </p:txBody>
      </p:sp>
      <p:pic>
        <p:nvPicPr>
          <p:cNvPr id="449" name="Google Shape;449;p59"/>
          <p:cNvPicPr preferRelativeResize="0"/>
          <p:nvPr/>
        </p:nvPicPr>
        <p:blipFill rotWithShape="1">
          <a:blip r:embed="rId3">
            <a:alphaModFix/>
          </a:blip>
          <a:srcRect b="0" l="0" r="0" t="0"/>
          <a:stretch/>
        </p:blipFill>
        <p:spPr>
          <a:xfrm>
            <a:off x="3078450" y="3604539"/>
            <a:ext cx="221894" cy="308722"/>
          </a:xfrm>
          <a:prstGeom prst="rect">
            <a:avLst/>
          </a:prstGeom>
          <a:noFill/>
          <a:ln>
            <a:noFill/>
          </a:ln>
        </p:spPr>
      </p:pic>
      <p:pic>
        <p:nvPicPr>
          <p:cNvPr id="450" name="Google Shape;450;p59"/>
          <p:cNvPicPr preferRelativeResize="0"/>
          <p:nvPr/>
        </p:nvPicPr>
        <p:blipFill rotWithShape="1">
          <a:blip r:embed="rId3">
            <a:alphaModFix/>
          </a:blip>
          <a:srcRect b="0" l="0" r="0" t="0"/>
          <a:stretch/>
        </p:blipFill>
        <p:spPr>
          <a:xfrm>
            <a:off x="5967025" y="3604531"/>
            <a:ext cx="221894" cy="308722"/>
          </a:xfrm>
          <a:prstGeom prst="rect">
            <a:avLst/>
          </a:prstGeom>
          <a:noFill/>
          <a:ln>
            <a:noFill/>
          </a:ln>
        </p:spPr>
      </p:pic>
      <p:sp>
        <p:nvSpPr>
          <p:cNvPr id="451" name="Google Shape;451;p59"/>
          <p:cNvSpPr/>
          <p:nvPr/>
        </p:nvSpPr>
        <p:spPr>
          <a:xfrm>
            <a:off x="747475" y="2728525"/>
            <a:ext cx="2159400" cy="22221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800">
                <a:solidFill>
                  <a:schemeClr val="accent5"/>
                </a:solidFill>
                <a:latin typeface="Calibri"/>
                <a:ea typeface="Calibri"/>
                <a:cs typeface="Calibri"/>
                <a:sym typeface="Calibri"/>
              </a:rPr>
              <a:t>WBE Certification Funnel</a:t>
            </a:r>
            <a:endParaRPr b="1" sz="18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500">
                <a:solidFill>
                  <a:schemeClr val="accent5"/>
                </a:solidFill>
                <a:latin typeface="Calibri"/>
                <a:ea typeface="Calibri"/>
                <a:cs typeface="Calibri"/>
                <a:sym typeface="Calibri"/>
              </a:rPr>
              <a:t>(went through certification funnel but did not book call or sign up for certification)</a:t>
            </a:r>
            <a:endParaRPr sz="1500">
              <a:solidFill>
                <a:schemeClr val="accent5"/>
              </a:solidFill>
              <a:latin typeface="Calibri"/>
              <a:ea typeface="Calibri"/>
              <a:cs typeface="Calibri"/>
              <a:sym typeface="Calibri"/>
            </a:endParaRPr>
          </a:p>
        </p:txBody>
      </p:sp>
      <p:sp>
        <p:nvSpPr>
          <p:cNvPr id="452" name="Google Shape;452;p59"/>
          <p:cNvSpPr/>
          <p:nvPr/>
        </p:nvSpPr>
        <p:spPr>
          <a:xfrm>
            <a:off x="6360503" y="1726925"/>
            <a:ext cx="30570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Month 2: Re-engagement email</a:t>
            </a:r>
            <a:endParaRPr sz="1500"/>
          </a:p>
        </p:txBody>
      </p:sp>
      <p:sp>
        <p:nvSpPr>
          <p:cNvPr id="453" name="Google Shape;453;p59"/>
          <p:cNvSpPr/>
          <p:nvPr/>
        </p:nvSpPr>
        <p:spPr>
          <a:xfrm>
            <a:off x="6360503" y="2651175"/>
            <a:ext cx="30570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Month 3: </a:t>
            </a:r>
            <a:r>
              <a:rPr b="1" lang="en-US" sz="1500">
                <a:solidFill>
                  <a:schemeClr val="accent5"/>
                </a:solidFill>
                <a:latin typeface="Calibri"/>
                <a:ea typeface="Calibri"/>
                <a:cs typeface="Calibri"/>
                <a:sym typeface="Calibri"/>
              </a:rPr>
              <a:t>Re-engagement email</a:t>
            </a:r>
            <a:endParaRPr i="1" sz="1500"/>
          </a:p>
        </p:txBody>
      </p:sp>
      <p:sp>
        <p:nvSpPr>
          <p:cNvPr id="454" name="Google Shape;454;p59"/>
          <p:cNvSpPr/>
          <p:nvPr/>
        </p:nvSpPr>
        <p:spPr>
          <a:xfrm>
            <a:off x="6360503" y="3627575"/>
            <a:ext cx="30570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Clr>
                <a:schemeClr val="dk1"/>
              </a:buClr>
              <a:buFont typeface="Arial"/>
              <a:buNone/>
            </a:pPr>
            <a:r>
              <a:rPr b="1" lang="en-US" sz="1500">
                <a:solidFill>
                  <a:schemeClr val="accent5"/>
                </a:solidFill>
                <a:latin typeface="Calibri"/>
                <a:ea typeface="Calibri"/>
                <a:cs typeface="Calibri"/>
                <a:sym typeface="Calibri"/>
              </a:rPr>
              <a:t>Month 4: </a:t>
            </a:r>
            <a:r>
              <a:rPr b="1" lang="en-US" sz="1500">
                <a:solidFill>
                  <a:schemeClr val="accent5"/>
                </a:solidFill>
                <a:latin typeface="Calibri"/>
                <a:ea typeface="Calibri"/>
                <a:cs typeface="Calibri"/>
                <a:sym typeface="Calibri"/>
              </a:rPr>
              <a:t>Re-engagement email</a:t>
            </a:r>
            <a:endParaRPr sz="1500"/>
          </a:p>
        </p:txBody>
      </p:sp>
      <p:sp>
        <p:nvSpPr>
          <p:cNvPr id="455" name="Google Shape;455;p59"/>
          <p:cNvSpPr/>
          <p:nvPr/>
        </p:nvSpPr>
        <p:spPr>
          <a:xfrm>
            <a:off x="6398603" y="4527775"/>
            <a:ext cx="30570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Month 5: </a:t>
            </a:r>
            <a:r>
              <a:rPr b="1" lang="en-US" sz="1500">
                <a:solidFill>
                  <a:schemeClr val="accent5"/>
                </a:solidFill>
                <a:latin typeface="Calibri"/>
                <a:ea typeface="Calibri"/>
                <a:cs typeface="Calibri"/>
                <a:sym typeface="Calibri"/>
              </a:rPr>
              <a:t>Re-engagement email</a:t>
            </a:r>
            <a:endParaRPr sz="1500"/>
          </a:p>
        </p:txBody>
      </p:sp>
      <p:pic>
        <p:nvPicPr>
          <p:cNvPr id="456" name="Google Shape;456;p59"/>
          <p:cNvPicPr preferRelativeResize="0"/>
          <p:nvPr/>
        </p:nvPicPr>
        <p:blipFill rotWithShape="1">
          <a:blip r:embed="rId3">
            <a:alphaModFix/>
          </a:blip>
          <a:srcRect b="0" l="0" r="0" t="0"/>
          <a:stretch/>
        </p:blipFill>
        <p:spPr>
          <a:xfrm>
            <a:off x="9665275" y="3604543"/>
            <a:ext cx="221894" cy="308722"/>
          </a:xfrm>
          <a:prstGeom prst="rect">
            <a:avLst/>
          </a:prstGeom>
          <a:noFill/>
          <a:ln>
            <a:noFill/>
          </a:ln>
        </p:spPr>
      </p:pic>
      <p:sp>
        <p:nvSpPr>
          <p:cNvPr id="457" name="Google Shape;457;p59"/>
          <p:cNvSpPr/>
          <p:nvPr/>
        </p:nvSpPr>
        <p:spPr>
          <a:xfrm>
            <a:off x="10125950" y="2678225"/>
            <a:ext cx="1451930" cy="1325535"/>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700">
                <a:solidFill>
                  <a:schemeClr val="accent5"/>
                </a:solidFill>
                <a:latin typeface="Calibri"/>
                <a:ea typeface="Calibri"/>
                <a:cs typeface="Calibri"/>
                <a:sym typeface="Calibri"/>
              </a:rPr>
              <a:t>Purchase Tools for Growth/Join WBE Canada</a:t>
            </a:r>
            <a:endParaRPr sz="700"/>
          </a:p>
        </p:txBody>
      </p:sp>
      <p:pic>
        <p:nvPicPr>
          <p:cNvPr id="458" name="Google Shape;458;p59"/>
          <p:cNvPicPr preferRelativeResize="0"/>
          <p:nvPr/>
        </p:nvPicPr>
        <p:blipFill rotWithShape="1">
          <a:blip r:embed="rId3">
            <a:alphaModFix/>
          </a:blip>
          <a:srcRect b="0" l="0" r="0" t="0"/>
          <a:stretch/>
        </p:blipFill>
        <p:spPr>
          <a:xfrm rot="5400000">
            <a:off x="10740975" y="4072856"/>
            <a:ext cx="221894" cy="308722"/>
          </a:xfrm>
          <a:prstGeom prst="rect">
            <a:avLst/>
          </a:prstGeom>
          <a:noFill/>
          <a:ln>
            <a:noFill/>
          </a:ln>
        </p:spPr>
      </p:pic>
      <p:sp>
        <p:nvSpPr>
          <p:cNvPr id="459" name="Google Shape;459;p59"/>
          <p:cNvSpPr/>
          <p:nvPr/>
        </p:nvSpPr>
        <p:spPr>
          <a:xfrm>
            <a:off x="6398603" y="5486925"/>
            <a:ext cx="30570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Month 6: </a:t>
            </a:r>
            <a:r>
              <a:rPr b="1" lang="en-US" sz="1500">
                <a:solidFill>
                  <a:schemeClr val="accent5"/>
                </a:solidFill>
                <a:latin typeface="Calibri"/>
                <a:ea typeface="Calibri"/>
                <a:cs typeface="Calibri"/>
                <a:sym typeface="Calibri"/>
              </a:rPr>
              <a:t>Re-engagement email</a:t>
            </a:r>
            <a:endParaRPr sz="15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p60"/>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WBE Target Niche Funnel</a:t>
            </a:r>
            <a:endParaRPr>
              <a:solidFill>
                <a:srgbClr val="073763"/>
              </a:solidFill>
            </a:endParaRPr>
          </a:p>
        </p:txBody>
      </p:sp>
      <p:sp>
        <p:nvSpPr>
          <p:cNvPr id="465" name="Google Shape;465;p60"/>
          <p:cNvSpPr txBox="1"/>
          <p:nvPr>
            <p:ph idx="1" type="body"/>
          </p:nvPr>
        </p:nvSpPr>
        <p:spPr>
          <a:xfrm>
            <a:off x="911700" y="1814675"/>
            <a:ext cx="9504300" cy="4125600"/>
          </a:xfrm>
          <a:prstGeom prst="rect">
            <a:avLst/>
          </a:prstGeom>
          <a:noFill/>
          <a:ln>
            <a:noFill/>
          </a:ln>
        </p:spPr>
        <p:txBody>
          <a:bodyPr anchorCtr="0" anchor="t" bIns="45700" lIns="91425" spcFirstLastPara="1" rIns="91425" wrap="square" tIns="45700">
            <a:noAutofit/>
          </a:bodyPr>
          <a:lstStyle/>
          <a:p>
            <a:pPr indent="-244475" lvl="1" marL="685800" rtl="0" algn="l">
              <a:lnSpc>
                <a:spcPct val="100000"/>
              </a:lnSpc>
              <a:spcBef>
                <a:spcPts val="1000"/>
              </a:spcBef>
              <a:spcAft>
                <a:spcPts val="0"/>
              </a:spcAft>
              <a:buClr>
                <a:schemeClr val="accent2"/>
              </a:buClr>
              <a:buSzPts val="2050"/>
              <a:buFont typeface="Calibri"/>
              <a:buChar char="✔"/>
            </a:pPr>
            <a:r>
              <a:rPr lang="en-US" sz="2050"/>
              <a:t>Campaign funnel for targeted WBE niches (example - construction)</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Goal is to attract more WBEs from specific niche industries</a:t>
            </a:r>
            <a:endParaRPr sz="2050"/>
          </a:p>
          <a:p>
            <a:pPr indent="0" lvl="0" marL="0" rtl="0" algn="l">
              <a:lnSpc>
                <a:spcPct val="100000"/>
              </a:lnSpc>
              <a:spcBef>
                <a:spcPts val="1000"/>
              </a:spcBef>
              <a:spcAft>
                <a:spcPts val="0"/>
              </a:spcAft>
              <a:buNone/>
            </a:pPr>
            <a:r>
              <a:t/>
            </a:r>
            <a:endParaRPr sz="850"/>
          </a:p>
          <a:p>
            <a:pPr indent="0" lvl="0" marL="0" rtl="0" algn="l">
              <a:lnSpc>
                <a:spcPct val="100000"/>
              </a:lnSpc>
              <a:spcBef>
                <a:spcPts val="1000"/>
              </a:spcBef>
              <a:spcAft>
                <a:spcPts val="0"/>
              </a:spcAft>
              <a:buNone/>
            </a:pPr>
            <a:r>
              <a:rPr lang="en-US" sz="2050"/>
              <a:t>Funnel Includes:</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Landing Page with a CTA and Thank You Page</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Auto Responder Email</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Four Email Nurture Sequence with CTAs to: </a:t>
            </a:r>
            <a:endParaRPr sz="2050"/>
          </a:p>
          <a:p>
            <a:pPr indent="-244475" lvl="2" marL="1143000" rtl="0" algn="l">
              <a:lnSpc>
                <a:spcPct val="100000"/>
              </a:lnSpc>
              <a:spcBef>
                <a:spcPts val="1000"/>
              </a:spcBef>
              <a:spcAft>
                <a:spcPts val="0"/>
              </a:spcAft>
              <a:buSzPts val="2050"/>
              <a:buChar char="•"/>
            </a:pPr>
            <a:r>
              <a:rPr lang="en-US" sz="2050"/>
              <a:t>Apply for Certification/Book a Certification Call </a:t>
            </a:r>
            <a:endParaRPr sz="2050"/>
          </a:p>
          <a:p>
            <a:pPr indent="-244475" lvl="2" marL="1143000" rtl="0" algn="l">
              <a:lnSpc>
                <a:spcPct val="100000"/>
              </a:lnSpc>
              <a:spcBef>
                <a:spcPts val="1000"/>
              </a:spcBef>
              <a:spcAft>
                <a:spcPts val="0"/>
              </a:spcAft>
              <a:buSzPts val="2050"/>
              <a:buChar char="•"/>
            </a:pPr>
            <a:r>
              <a:rPr lang="en-US" sz="2050"/>
              <a:t>Sign up at the Pre-Certification Level (Tools for Growth)</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Once Sequence is Complete - Move to Conversion Funnel, then Monthly Newsletter</a:t>
            </a:r>
            <a:endParaRPr sz="2050"/>
          </a:p>
          <a:p>
            <a:pPr indent="0" lvl="0" marL="0" rtl="0" algn="l">
              <a:lnSpc>
                <a:spcPct val="100000"/>
              </a:lnSpc>
              <a:spcBef>
                <a:spcPts val="1000"/>
              </a:spcBef>
              <a:spcAft>
                <a:spcPts val="0"/>
              </a:spcAft>
              <a:buNone/>
            </a:pPr>
            <a:r>
              <a:t/>
            </a:r>
            <a:endParaRPr sz="205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p61"/>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solidFill>
                  <a:srgbClr val="073763"/>
                </a:solidFill>
              </a:rPr>
              <a:t>WBE Target Niche Funnel </a:t>
            </a:r>
            <a:r>
              <a:rPr b="0" i="1" lang="en-US">
                <a:solidFill>
                  <a:srgbClr val="073763"/>
                </a:solidFill>
                <a:latin typeface="Calibri"/>
                <a:ea typeface="Calibri"/>
                <a:cs typeface="Calibri"/>
                <a:sym typeface="Calibri"/>
              </a:rPr>
              <a:t>Detail</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None/>
            </a:pPr>
            <a:r>
              <a:t/>
            </a:r>
            <a:endParaRPr/>
          </a:p>
        </p:txBody>
      </p:sp>
      <p:sp>
        <p:nvSpPr>
          <p:cNvPr id="471" name="Google Shape;471;p61"/>
          <p:cNvSpPr/>
          <p:nvPr/>
        </p:nvSpPr>
        <p:spPr>
          <a:xfrm>
            <a:off x="3090925" y="2535500"/>
            <a:ext cx="2247335" cy="2910252"/>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b="1" lang="en-US" sz="1800">
                <a:solidFill>
                  <a:schemeClr val="accent5"/>
                </a:solidFill>
                <a:latin typeface="Calibri"/>
                <a:ea typeface="Calibri"/>
                <a:cs typeface="Calibri"/>
                <a:sym typeface="Calibri"/>
              </a:rPr>
              <a:t>Website Landing Page/CTA:</a:t>
            </a:r>
            <a:r>
              <a:rPr b="1" lang="en-US" sz="1600">
                <a:solidFill>
                  <a:schemeClr val="accent5"/>
                </a:solidFill>
                <a:latin typeface="Calibri"/>
                <a:ea typeface="Calibri"/>
                <a:cs typeface="Calibri"/>
                <a:sym typeface="Calibri"/>
              </a:rPr>
              <a:t> </a:t>
            </a:r>
            <a:br>
              <a:rPr b="1" lang="en-US" sz="1600">
                <a:solidFill>
                  <a:schemeClr val="accent5"/>
                </a:solidFill>
                <a:latin typeface="Calibri"/>
                <a:ea typeface="Calibri"/>
                <a:cs typeface="Calibri"/>
                <a:sym typeface="Calibri"/>
              </a:rPr>
            </a:br>
            <a:br>
              <a:rPr lang="en-US" sz="1600">
                <a:solidFill>
                  <a:schemeClr val="accent5"/>
                </a:solidFill>
                <a:latin typeface="Calibri"/>
                <a:ea typeface="Calibri"/>
                <a:cs typeface="Calibri"/>
                <a:sym typeface="Calibri"/>
              </a:rPr>
            </a:br>
            <a:r>
              <a:rPr lang="en-US" sz="1900">
                <a:solidFill>
                  <a:schemeClr val="accent5"/>
                </a:solidFill>
                <a:latin typeface="Calibri"/>
                <a:ea typeface="Calibri"/>
                <a:cs typeface="Calibri"/>
                <a:sym typeface="Calibri"/>
              </a:rPr>
              <a:t>Get the Women Business Owner’s Guide to Accessing Corporate Contracts in Construction</a:t>
            </a:r>
            <a:endParaRPr b="1">
              <a:solidFill>
                <a:schemeClr val="accent5"/>
              </a:solidFill>
              <a:latin typeface="Calibri"/>
              <a:ea typeface="Calibri"/>
              <a:cs typeface="Calibri"/>
              <a:sym typeface="Calibri"/>
            </a:endParaRPr>
          </a:p>
        </p:txBody>
      </p:sp>
      <p:pic>
        <p:nvPicPr>
          <p:cNvPr id="472" name="Google Shape;472;p61"/>
          <p:cNvPicPr preferRelativeResize="0"/>
          <p:nvPr/>
        </p:nvPicPr>
        <p:blipFill rotWithShape="1">
          <a:blip r:embed="rId3">
            <a:alphaModFix/>
          </a:blip>
          <a:srcRect b="0" l="0" r="0" t="0"/>
          <a:stretch/>
        </p:blipFill>
        <p:spPr>
          <a:xfrm>
            <a:off x="2697450" y="3756939"/>
            <a:ext cx="221894" cy="308722"/>
          </a:xfrm>
          <a:prstGeom prst="rect">
            <a:avLst/>
          </a:prstGeom>
          <a:noFill/>
          <a:ln>
            <a:noFill/>
          </a:ln>
        </p:spPr>
      </p:pic>
      <p:pic>
        <p:nvPicPr>
          <p:cNvPr id="473" name="Google Shape;473;p61"/>
          <p:cNvPicPr preferRelativeResize="0"/>
          <p:nvPr/>
        </p:nvPicPr>
        <p:blipFill rotWithShape="1">
          <a:blip r:embed="rId3">
            <a:alphaModFix/>
          </a:blip>
          <a:srcRect b="0" l="0" r="0" t="0"/>
          <a:stretch/>
        </p:blipFill>
        <p:spPr>
          <a:xfrm>
            <a:off x="5433625" y="3756931"/>
            <a:ext cx="221894" cy="308722"/>
          </a:xfrm>
          <a:prstGeom prst="rect">
            <a:avLst/>
          </a:prstGeom>
          <a:noFill/>
          <a:ln>
            <a:noFill/>
          </a:ln>
        </p:spPr>
      </p:pic>
      <p:sp>
        <p:nvSpPr>
          <p:cNvPr id="474" name="Google Shape;474;p61"/>
          <p:cNvSpPr/>
          <p:nvPr/>
        </p:nvSpPr>
        <p:spPr>
          <a:xfrm>
            <a:off x="747475" y="2728525"/>
            <a:ext cx="1791000" cy="25803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800">
                <a:solidFill>
                  <a:schemeClr val="accent5"/>
                </a:solidFill>
                <a:latin typeface="Calibri"/>
                <a:ea typeface="Calibri"/>
                <a:cs typeface="Calibri"/>
                <a:sym typeface="Calibri"/>
              </a:rPr>
              <a:t>Targeted </a:t>
            </a:r>
            <a:endParaRPr b="1" sz="18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b="1" lang="en-US" sz="1800">
                <a:solidFill>
                  <a:schemeClr val="accent5"/>
                </a:solidFill>
                <a:latin typeface="Calibri"/>
                <a:ea typeface="Calibri"/>
                <a:cs typeface="Calibri"/>
                <a:sym typeface="Calibri"/>
              </a:rPr>
              <a:t>Campaigns</a:t>
            </a:r>
            <a:br>
              <a:rPr b="1" lang="en-US" sz="900">
                <a:solidFill>
                  <a:schemeClr val="accent5"/>
                </a:solidFill>
                <a:latin typeface="Calibri"/>
                <a:ea typeface="Calibri"/>
                <a:cs typeface="Calibri"/>
                <a:sym typeface="Calibri"/>
              </a:rPr>
            </a:br>
            <a:endParaRPr b="1" sz="9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800">
                <a:solidFill>
                  <a:schemeClr val="accent5"/>
                </a:solidFill>
                <a:latin typeface="Calibri"/>
                <a:ea typeface="Calibri"/>
                <a:cs typeface="Calibri"/>
                <a:sym typeface="Calibri"/>
              </a:rPr>
              <a:t>Construction Associations &amp; Events</a:t>
            </a:r>
            <a:endParaRPr sz="9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t/>
            </a:r>
            <a:endParaRPr sz="900">
              <a:solidFill>
                <a:schemeClr val="accent5"/>
              </a:solidFill>
              <a:latin typeface="Calibri"/>
              <a:ea typeface="Calibri"/>
              <a:cs typeface="Calibri"/>
              <a:sym typeface="Calibri"/>
            </a:endParaRPr>
          </a:p>
          <a:p>
            <a:pPr indent="0" lvl="0" marL="0" marR="0" rtl="0" algn="ctr">
              <a:lnSpc>
                <a:spcPct val="105000"/>
              </a:lnSpc>
              <a:spcBef>
                <a:spcPts val="0"/>
              </a:spcBef>
              <a:spcAft>
                <a:spcPts val="0"/>
              </a:spcAft>
              <a:buNone/>
            </a:pPr>
            <a:r>
              <a:rPr lang="en-US" sz="1800">
                <a:solidFill>
                  <a:schemeClr val="accent5"/>
                </a:solidFill>
                <a:latin typeface="Calibri"/>
                <a:ea typeface="Calibri"/>
                <a:cs typeface="Calibri"/>
                <a:sym typeface="Calibri"/>
              </a:rPr>
              <a:t>Social Media &amp; Ads</a:t>
            </a:r>
            <a:endParaRPr sz="1800">
              <a:solidFill>
                <a:schemeClr val="accent5"/>
              </a:solidFill>
              <a:latin typeface="Calibri"/>
              <a:ea typeface="Calibri"/>
              <a:cs typeface="Calibri"/>
              <a:sym typeface="Calibri"/>
            </a:endParaRPr>
          </a:p>
        </p:txBody>
      </p:sp>
      <p:pic>
        <p:nvPicPr>
          <p:cNvPr id="475" name="Google Shape;475;p61"/>
          <p:cNvPicPr preferRelativeResize="0"/>
          <p:nvPr/>
        </p:nvPicPr>
        <p:blipFill rotWithShape="1">
          <a:blip r:embed="rId3">
            <a:alphaModFix/>
          </a:blip>
          <a:srcRect b="0" l="0" r="0" t="0"/>
          <a:stretch/>
        </p:blipFill>
        <p:spPr>
          <a:xfrm>
            <a:off x="9665275" y="3604543"/>
            <a:ext cx="221894" cy="308722"/>
          </a:xfrm>
          <a:prstGeom prst="rect">
            <a:avLst/>
          </a:prstGeom>
          <a:noFill/>
          <a:ln>
            <a:noFill/>
          </a:ln>
        </p:spPr>
      </p:pic>
      <p:sp>
        <p:nvSpPr>
          <p:cNvPr id="476" name="Google Shape;476;p61"/>
          <p:cNvSpPr/>
          <p:nvPr/>
        </p:nvSpPr>
        <p:spPr>
          <a:xfrm>
            <a:off x="5807913" y="154197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a:solidFill>
                  <a:schemeClr val="accent5"/>
                </a:solidFill>
                <a:latin typeface="Calibri"/>
                <a:ea typeface="Calibri"/>
                <a:cs typeface="Calibri"/>
                <a:sym typeface="Calibri"/>
              </a:rPr>
              <a:t>If you thought larger corporate contracts in construction were out of reach, think again…</a:t>
            </a:r>
            <a:endParaRPr/>
          </a:p>
        </p:txBody>
      </p:sp>
      <p:sp>
        <p:nvSpPr>
          <p:cNvPr id="477" name="Google Shape;477;p61"/>
          <p:cNvSpPr/>
          <p:nvPr/>
        </p:nvSpPr>
        <p:spPr>
          <a:xfrm>
            <a:off x="5807913" y="239002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a:solidFill>
                  <a:schemeClr val="accent5"/>
                </a:solidFill>
                <a:latin typeface="Calibri"/>
                <a:ea typeface="Calibri"/>
                <a:cs typeface="Calibri"/>
                <a:sym typeface="Calibri"/>
              </a:rPr>
              <a:t>Why you’re in demand as a Canadian women-owned construction business</a:t>
            </a:r>
            <a:endParaRPr/>
          </a:p>
        </p:txBody>
      </p:sp>
      <p:sp>
        <p:nvSpPr>
          <p:cNvPr id="478" name="Google Shape;478;p61"/>
          <p:cNvSpPr/>
          <p:nvPr/>
        </p:nvSpPr>
        <p:spPr>
          <a:xfrm>
            <a:off x="5807913" y="321402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a:solidFill>
                  <a:schemeClr val="accent5"/>
                </a:solidFill>
                <a:latin typeface="Calibri"/>
                <a:ea typeface="Calibri"/>
                <a:cs typeface="Calibri"/>
                <a:sym typeface="Calibri"/>
              </a:rPr>
              <a:t>5 Ways Corporate Contracts Can Help Your Construction Business </a:t>
            </a:r>
            <a:endParaRPr b="1">
              <a:solidFill>
                <a:schemeClr val="accent5"/>
              </a:solidFill>
              <a:latin typeface="Calibri"/>
              <a:ea typeface="Calibri"/>
              <a:cs typeface="Calibri"/>
              <a:sym typeface="Calibri"/>
            </a:endParaRPr>
          </a:p>
        </p:txBody>
      </p:sp>
      <p:sp>
        <p:nvSpPr>
          <p:cNvPr id="479" name="Google Shape;479;p61"/>
          <p:cNvSpPr/>
          <p:nvPr/>
        </p:nvSpPr>
        <p:spPr>
          <a:xfrm>
            <a:off x="5807913" y="403802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None/>
            </a:pPr>
            <a:r>
              <a:rPr b="1" lang="en-US">
                <a:solidFill>
                  <a:schemeClr val="accent5"/>
                </a:solidFill>
                <a:latin typeface="Calibri"/>
                <a:ea typeface="Calibri"/>
                <a:cs typeface="Calibri"/>
                <a:sym typeface="Calibri"/>
              </a:rPr>
              <a:t>Companies like (Name) are looking to work with Certified Women Owned Businesses</a:t>
            </a:r>
            <a:endParaRPr/>
          </a:p>
        </p:txBody>
      </p:sp>
      <p:sp>
        <p:nvSpPr>
          <p:cNvPr id="480" name="Google Shape;480;p61"/>
          <p:cNvSpPr/>
          <p:nvPr/>
        </p:nvSpPr>
        <p:spPr>
          <a:xfrm>
            <a:off x="5807913" y="4877300"/>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rtl="0" algn="ctr">
              <a:lnSpc>
                <a:spcPct val="105000"/>
              </a:lnSpc>
              <a:spcBef>
                <a:spcPts val="0"/>
              </a:spcBef>
              <a:spcAft>
                <a:spcPts val="0"/>
              </a:spcAft>
              <a:buNone/>
            </a:pPr>
            <a:r>
              <a:rPr b="1" lang="en-US">
                <a:solidFill>
                  <a:schemeClr val="accent5"/>
                </a:solidFill>
                <a:latin typeface="Calibri"/>
                <a:ea typeface="Calibri"/>
                <a:cs typeface="Calibri"/>
                <a:sym typeface="Calibri"/>
              </a:rPr>
              <a:t>How WBE Canada Certification has helped these women-owned businesses in construction…</a:t>
            </a:r>
            <a:endParaRPr/>
          </a:p>
        </p:txBody>
      </p:sp>
      <p:sp>
        <p:nvSpPr>
          <p:cNvPr id="481" name="Google Shape;481;p61"/>
          <p:cNvSpPr/>
          <p:nvPr/>
        </p:nvSpPr>
        <p:spPr>
          <a:xfrm>
            <a:off x="5807913" y="5716575"/>
            <a:ext cx="36093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a:solidFill>
                  <a:schemeClr val="accent5"/>
                </a:solidFill>
                <a:latin typeface="Calibri"/>
                <a:ea typeface="Calibri"/>
                <a:cs typeface="Calibri"/>
                <a:sym typeface="Calibri"/>
              </a:rPr>
              <a:t>Are You Ready to Certify Your Women-Owned Construction Business?</a:t>
            </a:r>
            <a:endParaRPr/>
          </a:p>
        </p:txBody>
      </p:sp>
      <p:pic>
        <p:nvPicPr>
          <p:cNvPr id="482" name="Google Shape;482;p61"/>
          <p:cNvPicPr preferRelativeResize="0"/>
          <p:nvPr/>
        </p:nvPicPr>
        <p:blipFill rotWithShape="1">
          <a:blip r:embed="rId3">
            <a:alphaModFix/>
          </a:blip>
          <a:srcRect b="0" l="0" r="0" t="0"/>
          <a:stretch/>
        </p:blipFill>
        <p:spPr>
          <a:xfrm>
            <a:off x="11616725" y="4491781"/>
            <a:ext cx="221894" cy="308722"/>
          </a:xfrm>
          <a:prstGeom prst="rect">
            <a:avLst/>
          </a:prstGeom>
          <a:noFill/>
          <a:ln>
            <a:noFill/>
          </a:ln>
        </p:spPr>
      </p:pic>
      <p:sp>
        <p:nvSpPr>
          <p:cNvPr id="483" name="Google Shape;483;p61"/>
          <p:cNvSpPr/>
          <p:nvPr/>
        </p:nvSpPr>
        <p:spPr>
          <a:xfrm>
            <a:off x="10012400" y="2088800"/>
            <a:ext cx="1451930" cy="1325535"/>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900">
                <a:solidFill>
                  <a:schemeClr val="accent5"/>
                </a:solidFill>
                <a:latin typeface="Calibri"/>
                <a:ea typeface="Calibri"/>
                <a:cs typeface="Calibri"/>
                <a:sym typeface="Calibri"/>
              </a:rPr>
              <a:t>Ready?</a:t>
            </a:r>
            <a:endParaRPr b="1" sz="1900">
              <a:solidFill>
                <a:schemeClr val="accent5"/>
              </a:solidFill>
              <a:latin typeface="Calibri"/>
              <a:ea typeface="Calibri"/>
              <a:cs typeface="Calibri"/>
              <a:sym typeface="Calibri"/>
            </a:endParaRPr>
          </a:p>
          <a:p>
            <a:pPr indent="0" lvl="0" marL="0" marR="0" rtl="0" algn="ctr">
              <a:spcBef>
                <a:spcPts val="0"/>
              </a:spcBef>
              <a:spcAft>
                <a:spcPts val="0"/>
              </a:spcAft>
              <a:buNone/>
            </a:pPr>
            <a:r>
              <a:rPr lang="en-US" sz="1900">
                <a:solidFill>
                  <a:schemeClr val="accent5"/>
                </a:solidFill>
                <a:latin typeface="Calibri"/>
                <a:ea typeface="Calibri"/>
                <a:cs typeface="Calibri"/>
                <a:sym typeface="Calibri"/>
              </a:rPr>
              <a:t>Video/ Book a Call</a:t>
            </a:r>
            <a:endParaRPr sz="900"/>
          </a:p>
        </p:txBody>
      </p:sp>
      <p:pic>
        <p:nvPicPr>
          <p:cNvPr id="484" name="Google Shape;484;p61"/>
          <p:cNvPicPr preferRelativeResize="0"/>
          <p:nvPr/>
        </p:nvPicPr>
        <p:blipFill rotWithShape="1">
          <a:blip r:embed="rId3">
            <a:alphaModFix/>
          </a:blip>
          <a:srcRect b="0" l="0" r="0" t="0"/>
          <a:stretch/>
        </p:blipFill>
        <p:spPr>
          <a:xfrm rot="5400000">
            <a:off x="10585963" y="3561118"/>
            <a:ext cx="221894" cy="308722"/>
          </a:xfrm>
          <a:prstGeom prst="rect">
            <a:avLst/>
          </a:prstGeom>
          <a:noFill/>
          <a:ln>
            <a:noFill/>
          </a:ln>
        </p:spPr>
      </p:pic>
      <p:sp>
        <p:nvSpPr>
          <p:cNvPr id="485" name="Google Shape;485;p61"/>
          <p:cNvSpPr/>
          <p:nvPr/>
        </p:nvSpPr>
        <p:spPr>
          <a:xfrm>
            <a:off x="9991975" y="3983363"/>
            <a:ext cx="1451930" cy="1325535"/>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900">
                <a:solidFill>
                  <a:schemeClr val="accent5"/>
                </a:solidFill>
                <a:latin typeface="Calibri"/>
                <a:ea typeface="Calibri"/>
                <a:cs typeface="Calibri"/>
                <a:sym typeface="Calibri"/>
              </a:rPr>
              <a:t>Not Ready? </a:t>
            </a:r>
            <a:r>
              <a:rPr lang="en-US" sz="1900">
                <a:solidFill>
                  <a:schemeClr val="accent5"/>
                </a:solidFill>
                <a:latin typeface="Calibri"/>
                <a:ea typeface="Calibri"/>
                <a:cs typeface="Calibri"/>
                <a:sym typeface="Calibri"/>
              </a:rPr>
              <a:t>Move to Tools</a:t>
            </a:r>
            <a:endParaRPr sz="900"/>
          </a:p>
        </p:txBody>
      </p:sp>
      <p:pic>
        <p:nvPicPr>
          <p:cNvPr id="486" name="Google Shape;486;p61"/>
          <p:cNvPicPr preferRelativeResize="0"/>
          <p:nvPr/>
        </p:nvPicPr>
        <p:blipFill rotWithShape="1">
          <a:blip r:embed="rId3">
            <a:alphaModFix/>
          </a:blip>
          <a:srcRect b="0" l="0" r="0" t="0"/>
          <a:stretch/>
        </p:blipFill>
        <p:spPr>
          <a:xfrm>
            <a:off x="9617325" y="3561106"/>
            <a:ext cx="221894" cy="308722"/>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62"/>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Corporate &amp; Public Sector Personas</a:t>
            </a:r>
            <a:endParaRPr>
              <a:solidFill>
                <a:srgbClr val="073763"/>
              </a:solidFill>
            </a:endParaRPr>
          </a:p>
        </p:txBody>
      </p:sp>
      <p:sp>
        <p:nvSpPr>
          <p:cNvPr id="492" name="Google Shape;492;p62"/>
          <p:cNvSpPr/>
          <p:nvPr/>
        </p:nvSpPr>
        <p:spPr>
          <a:xfrm>
            <a:off x="1069925" y="1943100"/>
            <a:ext cx="4002277" cy="4220977"/>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rgbClr val="FFF2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accent5"/>
                </a:solidFill>
                <a:latin typeface="Calibri"/>
                <a:ea typeface="Calibri"/>
                <a:cs typeface="Calibri"/>
                <a:sym typeface="Calibri"/>
              </a:rPr>
              <a:t>PERSONA 1: CORPORATE</a:t>
            </a:r>
            <a:br>
              <a:rPr b="1" lang="en-US" sz="100">
                <a:solidFill>
                  <a:schemeClr val="accent5"/>
                </a:solidFill>
                <a:latin typeface="Calibri"/>
                <a:ea typeface="Calibri"/>
                <a:cs typeface="Calibri"/>
                <a:sym typeface="Calibri"/>
              </a:rPr>
            </a:br>
            <a:br>
              <a:rPr lang="en-US" sz="200">
                <a:solidFill>
                  <a:schemeClr val="accent5"/>
                </a:solidFill>
                <a:latin typeface="Calibri"/>
                <a:ea typeface="Calibri"/>
                <a:cs typeface="Calibri"/>
                <a:sym typeface="Calibri"/>
              </a:rPr>
            </a:br>
            <a:r>
              <a:rPr lang="en-US" sz="1900">
                <a:solidFill>
                  <a:schemeClr val="accent5"/>
                </a:solidFill>
                <a:latin typeface="Calibri"/>
                <a:ea typeface="Calibri"/>
                <a:cs typeface="Calibri"/>
                <a:sym typeface="Calibri"/>
              </a:rPr>
              <a:t>Private &amp; Public Mid to Large Size Businesses</a:t>
            </a:r>
            <a:endParaRPr sz="1100">
              <a:solidFill>
                <a:schemeClr val="accent5"/>
              </a:solidFill>
              <a:latin typeface="Calibri"/>
              <a:ea typeface="Calibri"/>
              <a:cs typeface="Calibri"/>
              <a:sym typeface="Calibri"/>
            </a:endParaRPr>
          </a:p>
          <a:p>
            <a:pPr indent="0" lvl="0" marL="0" marR="0" rtl="0" algn="ctr">
              <a:spcBef>
                <a:spcPts val="0"/>
              </a:spcBef>
              <a:spcAft>
                <a:spcPts val="0"/>
              </a:spcAft>
              <a:buNone/>
            </a:pPr>
            <a:r>
              <a:t/>
            </a:r>
            <a:endParaRPr sz="11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Currently have a supplier diversity program in place, or are actively looking to build a program</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Large enough to have a procurement department/team</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Prepared to hire or potential to hire WBEs</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Any industry where hiring WBEs makes sense </a:t>
            </a:r>
            <a:endParaRPr sz="1700">
              <a:solidFill>
                <a:schemeClr val="accent5"/>
              </a:solidFill>
              <a:latin typeface="Calibri"/>
              <a:ea typeface="Calibri"/>
              <a:cs typeface="Calibri"/>
              <a:sym typeface="Calibri"/>
            </a:endParaRPr>
          </a:p>
          <a:p>
            <a:pPr indent="-336550" lvl="0" marL="457200" marR="0" rtl="0" algn="l">
              <a:spcBef>
                <a:spcPts val="0"/>
              </a:spcBef>
              <a:spcAft>
                <a:spcPts val="0"/>
              </a:spcAft>
              <a:buClr>
                <a:schemeClr val="accent5"/>
              </a:buClr>
              <a:buSzPts val="1700"/>
              <a:buFont typeface="Calibri"/>
              <a:buChar char="●"/>
            </a:pPr>
            <a:r>
              <a:rPr b="1" i="1" lang="en-US" sz="1700">
                <a:solidFill>
                  <a:schemeClr val="accent5"/>
                </a:solidFill>
                <a:latin typeface="Calibri"/>
                <a:ea typeface="Calibri"/>
                <a:cs typeface="Calibri"/>
                <a:sym typeface="Calibri"/>
              </a:rPr>
              <a:t>Value profit, growth, shareholders along with strong public image</a:t>
            </a:r>
            <a:endParaRPr b="1" i="1" sz="1700">
              <a:solidFill>
                <a:schemeClr val="accent5"/>
              </a:solidFill>
              <a:latin typeface="Calibri"/>
              <a:ea typeface="Calibri"/>
              <a:cs typeface="Calibri"/>
              <a:sym typeface="Calibri"/>
            </a:endParaRPr>
          </a:p>
        </p:txBody>
      </p:sp>
      <p:sp>
        <p:nvSpPr>
          <p:cNvPr id="493" name="Google Shape;493;p62"/>
          <p:cNvSpPr/>
          <p:nvPr/>
        </p:nvSpPr>
        <p:spPr>
          <a:xfrm>
            <a:off x="5841600" y="1944250"/>
            <a:ext cx="3901273" cy="4220977"/>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rgbClr val="AFDFE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000">
                <a:solidFill>
                  <a:schemeClr val="accent5"/>
                </a:solidFill>
                <a:latin typeface="Calibri"/>
                <a:ea typeface="Calibri"/>
                <a:cs typeface="Calibri"/>
                <a:sym typeface="Calibri"/>
              </a:rPr>
              <a:t>PERSONA 2: Public Sector</a:t>
            </a:r>
            <a:br>
              <a:rPr b="1" lang="en-US" sz="100">
                <a:solidFill>
                  <a:schemeClr val="accent5"/>
                </a:solidFill>
                <a:latin typeface="Calibri"/>
                <a:ea typeface="Calibri"/>
                <a:cs typeface="Calibri"/>
                <a:sym typeface="Calibri"/>
              </a:rPr>
            </a:br>
            <a:br>
              <a:rPr lang="en-US" sz="300">
                <a:solidFill>
                  <a:schemeClr val="accent5"/>
                </a:solidFill>
                <a:latin typeface="Calibri"/>
                <a:ea typeface="Calibri"/>
                <a:cs typeface="Calibri"/>
                <a:sym typeface="Calibri"/>
              </a:rPr>
            </a:br>
            <a:r>
              <a:rPr lang="en-US" sz="1800">
                <a:solidFill>
                  <a:schemeClr val="accent5"/>
                </a:solidFill>
                <a:latin typeface="Calibri"/>
                <a:ea typeface="Calibri"/>
                <a:cs typeface="Calibri"/>
                <a:sym typeface="Calibri"/>
              </a:rPr>
              <a:t>Public Sector/Government Organizations/Crown Corporations</a:t>
            </a:r>
            <a:endParaRPr sz="1800">
              <a:solidFill>
                <a:schemeClr val="accent5"/>
              </a:solidFill>
              <a:latin typeface="Calibri"/>
              <a:ea typeface="Calibri"/>
              <a:cs typeface="Calibri"/>
              <a:sym typeface="Calibri"/>
            </a:endParaRPr>
          </a:p>
          <a:p>
            <a:pPr indent="0" lvl="0" marL="0" rtl="0" algn="ctr">
              <a:spcBef>
                <a:spcPts val="0"/>
              </a:spcBef>
              <a:spcAft>
                <a:spcPts val="0"/>
              </a:spcAft>
              <a:buClr>
                <a:schemeClr val="dk1"/>
              </a:buClr>
              <a:buFont typeface="Arial"/>
              <a:buNone/>
            </a:pPr>
            <a:r>
              <a:t/>
            </a:r>
            <a:endParaRPr sz="18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Currently have a supplier diversity program in place, or are actively looking to build a program</a:t>
            </a:r>
            <a:endParaRPr sz="17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Municipal, regional &amp; federal government</a:t>
            </a:r>
            <a:endParaRPr sz="17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Education, healthcare, transportation</a:t>
            </a:r>
            <a:endParaRPr sz="17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lang="en-US" sz="1700">
                <a:solidFill>
                  <a:schemeClr val="accent5"/>
                </a:solidFill>
                <a:latin typeface="Calibri"/>
                <a:ea typeface="Calibri"/>
                <a:cs typeface="Calibri"/>
                <a:sym typeface="Calibri"/>
              </a:rPr>
              <a:t>Prepared to hire or potential to hire WBEs</a:t>
            </a:r>
            <a:endParaRPr sz="1700">
              <a:solidFill>
                <a:schemeClr val="accent5"/>
              </a:solidFill>
              <a:latin typeface="Calibri"/>
              <a:ea typeface="Calibri"/>
              <a:cs typeface="Calibri"/>
              <a:sym typeface="Calibri"/>
            </a:endParaRPr>
          </a:p>
          <a:p>
            <a:pPr indent="-336550" lvl="0" marL="457200" rtl="0" algn="l">
              <a:spcBef>
                <a:spcPts val="0"/>
              </a:spcBef>
              <a:spcAft>
                <a:spcPts val="0"/>
              </a:spcAft>
              <a:buClr>
                <a:schemeClr val="accent5"/>
              </a:buClr>
              <a:buSzPts val="1700"/>
              <a:buFont typeface="Calibri"/>
              <a:buChar char="●"/>
            </a:pPr>
            <a:r>
              <a:rPr b="1" i="1" lang="en-US" sz="1700">
                <a:solidFill>
                  <a:schemeClr val="accent5"/>
                </a:solidFill>
                <a:latin typeface="Calibri"/>
                <a:ea typeface="Calibri"/>
                <a:cs typeface="Calibri"/>
                <a:sym typeface="Calibri"/>
              </a:rPr>
              <a:t>Value serving their public, balanced budget, being good citizens</a:t>
            </a:r>
            <a:endParaRPr b="1" i="1" sz="1700">
              <a:solidFill>
                <a:schemeClr val="accent5"/>
              </a:solidFill>
              <a:latin typeface="Calibri"/>
              <a:ea typeface="Calibri"/>
              <a:cs typeface="Calibri"/>
              <a:sym typeface="Calibri"/>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3"/>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Corporate Funnel</a:t>
            </a:r>
            <a:endParaRPr>
              <a:solidFill>
                <a:srgbClr val="073763"/>
              </a:solidFill>
            </a:endParaRPr>
          </a:p>
        </p:txBody>
      </p:sp>
      <p:sp>
        <p:nvSpPr>
          <p:cNvPr id="499" name="Google Shape;499;p63"/>
          <p:cNvSpPr txBox="1"/>
          <p:nvPr>
            <p:ph idx="1" type="body"/>
          </p:nvPr>
        </p:nvSpPr>
        <p:spPr>
          <a:xfrm>
            <a:off x="930125" y="1943100"/>
            <a:ext cx="8097900" cy="4630200"/>
          </a:xfrm>
          <a:prstGeom prst="rect">
            <a:avLst/>
          </a:prstGeom>
          <a:noFill/>
          <a:ln>
            <a:noFill/>
          </a:ln>
        </p:spPr>
        <p:txBody>
          <a:bodyPr anchorCtr="0" anchor="t" bIns="45700" lIns="91425" spcFirstLastPara="1" rIns="91425" wrap="square" tIns="45700">
            <a:noAutofit/>
          </a:bodyPr>
          <a:lstStyle/>
          <a:p>
            <a:pPr indent="-244475" lvl="1" marL="685800" rtl="0" algn="l">
              <a:lnSpc>
                <a:spcPct val="100000"/>
              </a:lnSpc>
              <a:spcBef>
                <a:spcPts val="1000"/>
              </a:spcBef>
              <a:spcAft>
                <a:spcPts val="0"/>
              </a:spcAft>
              <a:buClr>
                <a:schemeClr val="accent2"/>
              </a:buClr>
              <a:buSzPts val="2050"/>
              <a:buFont typeface="Calibri"/>
              <a:buChar char="✔"/>
            </a:pPr>
            <a:r>
              <a:rPr lang="en-US" sz="2050"/>
              <a:t>New Hub Page and other SEO/Awareness marketing will drive to this funnel</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Can be used for test campaigns in the future</a:t>
            </a:r>
            <a:endParaRPr sz="2050"/>
          </a:p>
          <a:p>
            <a:pPr indent="0" lvl="0" marL="0" rtl="0" algn="l">
              <a:lnSpc>
                <a:spcPct val="100000"/>
              </a:lnSpc>
              <a:spcBef>
                <a:spcPts val="1000"/>
              </a:spcBef>
              <a:spcAft>
                <a:spcPts val="0"/>
              </a:spcAft>
              <a:buNone/>
            </a:pPr>
            <a:r>
              <a:t/>
            </a:r>
            <a:endParaRPr sz="2050"/>
          </a:p>
          <a:p>
            <a:pPr indent="0" lvl="0" marL="0" rtl="0" algn="l">
              <a:lnSpc>
                <a:spcPct val="100000"/>
              </a:lnSpc>
              <a:spcBef>
                <a:spcPts val="1000"/>
              </a:spcBef>
              <a:spcAft>
                <a:spcPts val="0"/>
              </a:spcAft>
              <a:buNone/>
            </a:pPr>
            <a:r>
              <a:rPr lang="en-US" sz="2050"/>
              <a:t>Funnel Includes:</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SEO Hub Page with a CTA and Thank You Page</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Auto Responder Email</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Four Email Nurture Sequence with CTA to Book a Consultation</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Once Sequence is Complete - Move to Ongoing Newsletter</a:t>
            </a:r>
            <a:endParaRPr sz="2050"/>
          </a:p>
          <a:p>
            <a:pPr indent="0" lvl="0" marL="0" rtl="0" algn="l">
              <a:lnSpc>
                <a:spcPct val="100000"/>
              </a:lnSpc>
              <a:spcBef>
                <a:spcPts val="1000"/>
              </a:spcBef>
              <a:spcAft>
                <a:spcPts val="0"/>
              </a:spcAft>
              <a:buNone/>
            </a:pPr>
            <a:r>
              <a:t/>
            </a:r>
            <a:endParaRPr sz="205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64"/>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solidFill>
                  <a:srgbClr val="073763"/>
                </a:solidFill>
              </a:rPr>
              <a:t>Corporate</a:t>
            </a:r>
            <a:r>
              <a:rPr lang="en-US">
                <a:solidFill>
                  <a:srgbClr val="073763"/>
                </a:solidFill>
              </a:rPr>
              <a:t> Funnel </a:t>
            </a:r>
            <a:r>
              <a:rPr b="0" i="1" lang="en-US">
                <a:solidFill>
                  <a:srgbClr val="073763"/>
                </a:solidFill>
                <a:latin typeface="Calibri"/>
                <a:ea typeface="Calibri"/>
                <a:cs typeface="Calibri"/>
                <a:sym typeface="Calibri"/>
              </a:rPr>
              <a:t>Detail</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None/>
            </a:pPr>
            <a:r>
              <a:t/>
            </a:r>
            <a:endParaRPr/>
          </a:p>
        </p:txBody>
      </p:sp>
      <p:sp>
        <p:nvSpPr>
          <p:cNvPr id="505" name="Google Shape;505;p64"/>
          <p:cNvSpPr/>
          <p:nvPr/>
        </p:nvSpPr>
        <p:spPr>
          <a:xfrm>
            <a:off x="10134950" y="4502675"/>
            <a:ext cx="1452000" cy="447900"/>
          </a:xfrm>
          <a:prstGeom prst="snip1Rect">
            <a:avLst>
              <a:gd fmla="val 16667" name="adj"/>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a:solidFill>
                  <a:schemeClr val="accent5"/>
                </a:solidFill>
                <a:latin typeface="Calibri"/>
                <a:ea typeface="Calibri"/>
                <a:cs typeface="Calibri"/>
                <a:sym typeface="Calibri"/>
              </a:rPr>
              <a:t>Newsletter</a:t>
            </a:r>
            <a:endParaRPr sz="800"/>
          </a:p>
        </p:txBody>
      </p:sp>
      <p:sp>
        <p:nvSpPr>
          <p:cNvPr id="506" name="Google Shape;506;p64"/>
          <p:cNvSpPr/>
          <p:nvPr/>
        </p:nvSpPr>
        <p:spPr>
          <a:xfrm>
            <a:off x="2893475" y="2535500"/>
            <a:ext cx="2247335" cy="2806579"/>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900">
                <a:solidFill>
                  <a:schemeClr val="accent5"/>
                </a:solidFill>
                <a:latin typeface="Calibri"/>
                <a:ea typeface="Calibri"/>
                <a:cs typeface="Calibri"/>
                <a:sym typeface="Calibri"/>
              </a:rPr>
              <a:t>Main CTA:</a:t>
            </a:r>
            <a:br>
              <a:rPr lang="en-US" sz="2200">
                <a:solidFill>
                  <a:schemeClr val="accent5"/>
                </a:solidFill>
                <a:latin typeface="Calibri"/>
                <a:ea typeface="Calibri"/>
                <a:cs typeface="Calibri"/>
                <a:sym typeface="Calibri"/>
              </a:rPr>
            </a:br>
            <a:r>
              <a:rPr b="1" lang="en-US" sz="2000">
                <a:solidFill>
                  <a:schemeClr val="accent5"/>
                </a:solidFill>
                <a:latin typeface="Calibri"/>
                <a:ea typeface="Calibri"/>
                <a:cs typeface="Calibri"/>
                <a:sym typeface="Calibri"/>
              </a:rPr>
              <a:t>How to Set Up Your Supplier Diversity Program in Canada</a:t>
            </a:r>
            <a:endParaRPr sz="1000"/>
          </a:p>
        </p:txBody>
      </p:sp>
      <p:pic>
        <p:nvPicPr>
          <p:cNvPr id="507" name="Google Shape;507;p64"/>
          <p:cNvPicPr preferRelativeResize="0"/>
          <p:nvPr/>
        </p:nvPicPr>
        <p:blipFill rotWithShape="1">
          <a:blip r:embed="rId3">
            <a:alphaModFix/>
          </a:blip>
          <a:srcRect b="0" l="0" r="0" t="0"/>
          <a:stretch/>
        </p:blipFill>
        <p:spPr>
          <a:xfrm>
            <a:off x="2495225" y="3604527"/>
            <a:ext cx="221894" cy="308722"/>
          </a:xfrm>
          <a:prstGeom prst="rect">
            <a:avLst/>
          </a:prstGeom>
          <a:noFill/>
          <a:ln>
            <a:noFill/>
          </a:ln>
        </p:spPr>
      </p:pic>
      <p:pic>
        <p:nvPicPr>
          <p:cNvPr id="508" name="Google Shape;508;p64"/>
          <p:cNvPicPr preferRelativeResize="0"/>
          <p:nvPr/>
        </p:nvPicPr>
        <p:blipFill rotWithShape="1">
          <a:blip r:embed="rId3">
            <a:alphaModFix/>
          </a:blip>
          <a:srcRect b="0" l="0" r="0" t="0"/>
          <a:stretch/>
        </p:blipFill>
        <p:spPr>
          <a:xfrm>
            <a:off x="5317150" y="3604556"/>
            <a:ext cx="221894" cy="308722"/>
          </a:xfrm>
          <a:prstGeom prst="rect">
            <a:avLst/>
          </a:prstGeom>
          <a:noFill/>
          <a:ln>
            <a:noFill/>
          </a:ln>
        </p:spPr>
      </p:pic>
      <p:sp>
        <p:nvSpPr>
          <p:cNvPr id="509" name="Google Shape;509;p64"/>
          <p:cNvSpPr/>
          <p:nvPr/>
        </p:nvSpPr>
        <p:spPr>
          <a:xfrm>
            <a:off x="713275" y="2936850"/>
            <a:ext cx="16056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800">
                <a:solidFill>
                  <a:schemeClr val="accent5"/>
                </a:solidFill>
                <a:latin typeface="Calibri"/>
                <a:ea typeface="Calibri"/>
                <a:cs typeface="Calibri"/>
                <a:sym typeface="Calibri"/>
              </a:rPr>
              <a:t>SEO/Hub Pages</a:t>
            </a:r>
            <a:endParaRPr sz="1800"/>
          </a:p>
        </p:txBody>
      </p:sp>
      <p:sp>
        <p:nvSpPr>
          <p:cNvPr id="510" name="Google Shape;510;p64"/>
          <p:cNvSpPr/>
          <p:nvPr/>
        </p:nvSpPr>
        <p:spPr>
          <a:xfrm>
            <a:off x="713275" y="3913250"/>
            <a:ext cx="16056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800">
                <a:solidFill>
                  <a:schemeClr val="accent5"/>
                </a:solidFill>
                <a:latin typeface="Calibri"/>
                <a:ea typeface="Calibri"/>
                <a:cs typeface="Calibri"/>
                <a:sym typeface="Calibri"/>
              </a:rPr>
              <a:t>Awareness Campaigns</a:t>
            </a:r>
            <a:endParaRPr sz="1800"/>
          </a:p>
        </p:txBody>
      </p:sp>
      <p:sp>
        <p:nvSpPr>
          <p:cNvPr id="511" name="Google Shape;511;p64"/>
          <p:cNvSpPr/>
          <p:nvPr/>
        </p:nvSpPr>
        <p:spPr>
          <a:xfrm>
            <a:off x="5781887" y="1552925"/>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5 Reasons to Start Your Supplier Diversity Program Now</a:t>
            </a:r>
            <a:endParaRPr sz="1500"/>
          </a:p>
        </p:txBody>
      </p:sp>
      <p:sp>
        <p:nvSpPr>
          <p:cNvPr id="512" name="Google Shape;512;p64"/>
          <p:cNvSpPr/>
          <p:nvPr/>
        </p:nvSpPr>
        <p:spPr>
          <a:xfrm>
            <a:off x="5781887" y="2400975"/>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Are you supporting Canadian Women Owned Businesses?</a:t>
            </a:r>
            <a:endParaRPr sz="1500"/>
          </a:p>
        </p:txBody>
      </p:sp>
      <p:sp>
        <p:nvSpPr>
          <p:cNvPr id="513" name="Google Shape;513;p64"/>
          <p:cNvSpPr/>
          <p:nvPr/>
        </p:nvSpPr>
        <p:spPr>
          <a:xfrm>
            <a:off x="5781887" y="3224975"/>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The 6 Myths of Supplier Diversity </a:t>
            </a:r>
            <a:r>
              <a:rPr i="1" lang="en-US" sz="1500">
                <a:solidFill>
                  <a:schemeClr val="accent5"/>
                </a:solidFill>
                <a:latin typeface="Calibri"/>
                <a:ea typeface="Calibri"/>
                <a:cs typeface="Calibri"/>
                <a:sym typeface="Calibri"/>
              </a:rPr>
              <a:t>(and what they may be costing you)</a:t>
            </a:r>
            <a:endParaRPr i="1" sz="1500"/>
          </a:p>
        </p:txBody>
      </p:sp>
      <p:sp>
        <p:nvSpPr>
          <p:cNvPr id="514" name="Google Shape;514;p64"/>
          <p:cNvSpPr/>
          <p:nvPr/>
        </p:nvSpPr>
        <p:spPr>
          <a:xfrm>
            <a:off x="5781887" y="4048975"/>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Boost Your Corporate Profile by partnering with WBE Canada </a:t>
            </a:r>
            <a:endParaRPr sz="1500"/>
          </a:p>
        </p:txBody>
      </p:sp>
      <p:pic>
        <p:nvPicPr>
          <p:cNvPr id="515" name="Google Shape;515;p64"/>
          <p:cNvPicPr preferRelativeResize="0"/>
          <p:nvPr/>
        </p:nvPicPr>
        <p:blipFill rotWithShape="1">
          <a:blip r:embed="rId3">
            <a:alphaModFix/>
          </a:blip>
          <a:srcRect b="0" l="0" r="0" t="0"/>
          <a:stretch/>
        </p:blipFill>
        <p:spPr>
          <a:xfrm>
            <a:off x="9665275" y="3604543"/>
            <a:ext cx="221894" cy="308722"/>
          </a:xfrm>
          <a:prstGeom prst="rect">
            <a:avLst/>
          </a:prstGeom>
          <a:noFill/>
          <a:ln>
            <a:noFill/>
          </a:ln>
        </p:spPr>
      </p:pic>
      <p:sp>
        <p:nvSpPr>
          <p:cNvPr id="516" name="Google Shape;516;p64"/>
          <p:cNvSpPr/>
          <p:nvPr/>
        </p:nvSpPr>
        <p:spPr>
          <a:xfrm>
            <a:off x="10125950" y="2678225"/>
            <a:ext cx="1451930" cy="1325535"/>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900">
                <a:solidFill>
                  <a:schemeClr val="accent5"/>
                </a:solidFill>
                <a:latin typeface="Calibri"/>
                <a:ea typeface="Calibri"/>
                <a:cs typeface="Calibri"/>
                <a:sym typeface="Calibri"/>
              </a:rPr>
              <a:t>Book a Call</a:t>
            </a:r>
            <a:endParaRPr sz="900"/>
          </a:p>
        </p:txBody>
      </p:sp>
      <p:pic>
        <p:nvPicPr>
          <p:cNvPr id="517" name="Google Shape;517;p64"/>
          <p:cNvPicPr preferRelativeResize="0"/>
          <p:nvPr/>
        </p:nvPicPr>
        <p:blipFill rotWithShape="1">
          <a:blip r:embed="rId3">
            <a:alphaModFix/>
          </a:blip>
          <a:srcRect b="0" l="0" r="0" t="0"/>
          <a:stretch/>
        </p:blipFill>
        <p:spPr>
          <a:xfrm rot="5400000">
            <a:off x="10740975" y="4072856"/>
            <a:ext cx="221894" cy="308722"/>
          </a:xfrm>
          <a:prstGeom prst="rect">
            <a:avLst/>
          </a:prstGeom>
          <a:noFill/>
          <a:ln>
            <a:noFill/>
          </a:ln>
        </p:spPr>
      </p:pic>
      <p:sp>
        <p:nvSpPr>
          <p:cNvPr id="518" name="Google Shape;518;p64"/>
          <p:cNvSpPr/>
          <p:nvPr/>
        </p:nvSpPr>
        <p:spPr>
          <a:xfrm>
            <a:off x="5781887" y="4872975"/>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BMO Canada (or other) Case Study</a:t>
            </a:r>
            <a:endParaRPr sz="1500"/>
          </a:p>
        </p:txBody>
      </p:sp>
      <p:sp>
        <p:nvSpPr>
          <p:cNvPr id="519" name="Google Shape;519;p64"/>
          <p:cNvSpPr/>
          <p:nvPr/>
        </p:nvSpPr>
        <p:spPr>
          <a:xfrm>
            <a:off x="5781887" y="5696975"/>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Partner With WBE Canada Now</a:t>
            </a:r>
            <a:endParaRPr sz="15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5"/>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rgbClr val="073763"/>
                </a:solidFill>
              </a:rPr>
              <a:t>Public Sector</a:t>
            </a:r>
            <a:r>
              <a:rPr lang="en-US">
                <a:solidFill>
                  <a:srgbClr val="073763"/>
                </a:solidFill>
              </a:rPr>
              <a:t> Funnel</a:t>
            </a:r>
            <a:endParaRPr>
              <a:solidFill>
                <a:srgbClr val="073763"/>
              </a:solidFill>
            </a:endParaRPr>
          </a:p>
        </p:txBody>
      </p:sp>
      <p:sp>
        <p:nvSpPr>
          <p:cNvPr id="525" name="Google Shape;525;p65"/>
          <p:cNvSpPr txBox="1"/>
          <p:nvPr>
            <p:ph idx="1" type="body"/>
          </p:nvPr>
        </p:nvSpPr>
        <p:spPr>
          <a:xfrm>
            <a:off x="930125" y="1943100"/>
            <a:ext cx="8097900" cy="4630200"/>
          </a:xfrm>
          <a:prstGeom prst="rect">
            <a:avLst/>
          </a:prstGeom>
          <a:noFill/>
          <a:ln>
            <a:noFill/>
          </a:ln>
        </p:spPr>
        <p:txBody>
          <a:bodyPr anchorCtr="0" anchor="t" bIns="45700" lIns="91425" spcFirstLastPara="1" rIns="91425" wrap="square" tIns="45700">
            <a:noAutofit/>
          </a:bodyPr>
          <a:lstStyle/>
          <a:p>
            <a:pPr indent="-244475" lvl="1" marL="685800" rtl="0" algn="l">
              <a:lnSpc>
                <a:spcPct val="100000"/>
              </a:lnSpc>
              <a:spcBef>
                <a:spcPts val="1000"/>
              </a:spcBef>
              <a:spcAft>
                <a:spcPts val="0"/>
              </a:spcAft>
              <a:buClr>
                <a:schemeClr val="accent2"/>
              </a:buClr>
              <a:buSzPts val="2050"/>
              <a:buFont typeface="Calibri"/>
              <a:buChar char="✔"/>
            </a:pPr>
            <a:r>
              <a:rPr lang="en-US" sz="2050"/>
              <a:t>New Hub Page and other SEO/Awareness marketing will drive to this funnel</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Can be used for test campaigns in the future</a:t>
            </a:r>
            <a:endParaRPr sz="2050"/>
          </a:p>
          <a:p>
            <a:pPr indent="0" lvl="0" marL="0" rtl="0" algn="l">
              <a:lnSpc>
                <a:spcPct val="100000"/>
              </a:lnSpc>
              <a:spcBef>
                <a:spcPts val="1000"/>
              </a:spcBef>
              <a:spcAft>
                <a:spcPts val="0"/>
              </a:spcAft>
              <a:buNone/>
            </a:pPr>
            <a:r>
              <a:t/>
            </a:r>
            <a:endParaRPr sz="2050"/>
          </a:p>
          <a:p>
            <a:pPr indent="0" lvl="0" marL="0" rtl="0" algn="l">
              <a:lnSpc>
                <a:spcPct val="100000"/>
              </a:lnSpc>
              <a:spcBef>
                <a:spcPts val="1000"/>
              </a:spcBef>
              <a:spcAft>
                <a:spcPts val="0"/>
              </a:spcAft>
              <a:buNone/>
            </a:pPr>
            <a:r>
              <a:rPr lang="en-US" sz="2050"/>
              <a:t>Funnel Includes:</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SEO Hub Page with a CTA and Thank You Page</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Auto Responder Email</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Four Email Nurture Sequence with CTA to Book a Consultation</a:t>
            </a:r>
            <a:endParaRPr sz="2050"/>
          </a:p>
          <a:p>
            <a:pPr indent="-244475" lvl="1" marL="685800" rtl="0" algn="l">
              <a:lnSpc>
                <a:spcPct val="100000"/>
              </a:lnSpc>
              <a:spcBef>
                <a:spcPts val="1000"/>
              </a:spcBef>
              <a:spcAft>
                <a:spcPts val="0"/>
              </a:spcAft>
              <a:buClr>
                <a:schemeClr val="accent2"/>
              </a:buClr>
              <a:buSzPts val="2050"/>
              <a:buFont typeface="Calibri"/>
              <a:buChar char="✔"/>
            </a:pPr>
            <a:r>
              <a:rPr lang="en-US" sz="2050"/>
              <a:t>Once Sequence is Complete - Move to Ongoing Newsletter</a:t>
            </a:r>
            <a:endParaRPr sz="2050"/>
          </a:p>
          <a:p>
            <a:pPr indent="0" lvl="0" marL="0" rtl="0" algn="l">
              <a:lnSpc>
                <a:spcPct val="100000"/>
              </a:lnSpc>
              <a:spcBef>
                <a:spcPts val="1000"/>
              </a:spcBef>
              <a:spcAft>
                <a:spcPts val="0"/>
              </a:spcAft>
              <a:buNone/>
            </a:pPr>
            <a:r>
              <a:t/>
            </a:r>
            <a:endParaRPr sz="205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66"/>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solidFill>
                  <a:srgbClr val="073763"/>
                </a:solidFill>
              </a:rPr>
              <a:t>Public Sector</a:t>
            </a:r>
            <a:r>
              <a:rPr lang="en-US">
                <a:solidFill>
                  <a:srgbClr val="073763"/>
                </a:solidFill>
              </a:rPr>
              <a:t> Funnel </a:t>
            </a:r>
            <a:r>
              <a:rPr b="0" i="1" lang="en-US">
                <a:solidFill>
                  <a:srgbClr val="073763"/>
                </a:solidFill>
                <a:latin typeface="Calibri"/>
                <a:ea typeface="Calibri"/>
                <a:cs typeface="Calibri"/>
                <a:sym typeface="Calibri"/>
              </a:rPr>
              <a:t>Detail</a:t>
            </a:r>
            <a:endParaRPr b="0" i="1">
              <a:solidFill>
                <a:srgbClr val="073763"/>
              </a:solidFill>
              <a:latin typeface="Calibri"/>
              <a:ea typeface="Calibri"/>
              <a:cs typeface="Calibri"/>
              <a:sym typeface="Calibri"/>
            </a:endParaRPr>
          </a:p>
          <a:p>
            <a:pPr indent="0" lvl="0" marL="0" rtl="0" algn="l">
              <a:lnSpc>
                <a:spcPct val="90000"/>
              </a:lnSpc>
              <a:spcBef>
                <a:spcPts val="0"/>
              </a:spcBef>
              <a:spcAft>
                <a:spcPts val="0"/>
              </a:spcAft>
              <a:buNone/>
            </a:pPr>
            <a:r>
              <a:t/>
            </a:r>
            <a:endParaRPr/>
          </a:p>
        </p:txBody>
      </p:sp>
      <p:sp>
        <p:nvSpPr>
          <p:cNvPr id="531" name="Google Shape;531;p66"/>
          <p:cNvSpPr/>
          <p:nvPr/>
        </p:nvSpPr>
        <p:spPr>
          <a:xfrm>
            <a:off x="10134950" y="4502675"/>
            <a:ext cx="1452000" cy="447900"/>
          </a:xfrm>
          <a:prstGeom prst="snip1Rect">
            <a:avLst>
              <a:gd fmla="val 16667" name="adj"/>
            </a:avLst>
          </a:prstGeom>
          <a:solidFill>
            <a:schemeClr val="accent3"/>
          </a:solidFill>
          <a:ln>
            <a:noFill/>
          </a:ln>
        </p:spPr>
        <p:txBody>
          <a:bodyPr anchorCtr="0" anchor="ctr" bIns="0" lIns="0" spcFirstLastPara="1" rIns="0" wrap="square" tIns="0">
            <a:noAutofit/>
          </a:bodyPr>
          <a:lstStyle/>
          <a:p>
            <a:pPr indent="0" lvl="0" marL="0" marR="0" rtl="0" algn="ctr">
              <a:spcBef>
                <a:spcPts val="0"/>
              </a:spcBef>
              <a:spcAft>
                <a:spcPts val="0"/>
              </a:spcAft>
              <a:buNone/>
            </a:pPr>
            <a:r>
              <a:rPr b="1" lang="en-US">
                <a:solidFill>
                  <a:schemeClr val="accent5"/>
                </a:solidFill>
                <a:latin typeface="Calibri"/>
                <a:ea typeface="Calibri"/>
                <a:cs typeface="Calibri"/>
                <a:sym typeface="Calibri"/>
              </a:rPr>
              <a:t>Newsletter</a:t>
            </a:r>
            <a:endParaRPr sz="800"/>
          </a:p>
        </p:txBody>
      </p:sp>
      <p:sp>
        <p:nvSpPr>
          <p:cNvPr id="532" name="Google Shape;532;p66"/>
          <p:cNvSpPr/>
          <p:nvPr/>
        </p:nvSpPr>
        <p:spPr>
          <a:xfrm>
            <a:off x="2893475" y="2535500"/>
            <a:ext cx="2247335" cy="2806579"/>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900">
                <a:solidFill>
                  <a:schemeClr val="accent5"/>
                </a:solidFill>
                <a:latin typeface="Calibri"/>
                <a:ea typeface="Calibri"/>
                <a:cs typeface="Calibri"/>
                <a:sym typeface="Calibri"/>
              </a:rPr>
              <a:t>Main CTA:</a:t>
            </a:r>
            <a:br>
              <a:rPr lang="en-US" sz="2200">
                <a:solidFill>
                  <a:schemeClr val="accent5"/>
                </a:solidFill>
                <a:latin typeface="Calibri"/>
                <a:ea typeface="Calibri"/>
                <a:cs typeface="Calibri"/>
                <a:sym typeface="Calibri"/>
              </a:rPr>
            </a:br>
            <a:r>
              <a:rPr b="1" lang="en-US" sz="2000">
                <a:solidFill>
                  <a:schemeClr val="accent5"/>
                </a:solidFill>
                <a:latin typeface="Calibri"/>
                <a:ea typeface="Calibri"/>
                <a:cs typeface="Calibri"/>
                <a:sym typeface="Calibri"/>
              </a:rPr>
              <a:t>How to Set Up Your Supplier Diversity Program in Canada</a:t>
            </a:r>
            <a:endParaRPr sz="1000"/>
          </a:p>
        </p:txBody>
      </p:sp>
      <p:pic>
        <p:nvPicPr>
          <p:cNvPr id="533" name="Google Shape;533;p66"/>
          <p:cNvPicPr preferRelativeResize="0"/>
          <p:nvPr/>
        </p:nvPicPr>
        <p:blipFill rotWithShape="1">
          <a:blip r:embed="rId3">
            <a:alphaModFix/>
          </a:blip>
          <a:srcRect b="0" l="0" r="0" t="0"/>
          <a:stretch/>
        </p:blipFill>
        <p:spPr>
          <a:xfrm>
            <a:off x="2495225" y="3604527"/>
            <a:ext cx="221894" cy="308722"/>
          </a:xfrm>
          <a:prstGeom prst="rect">
            <a:avLst/>
          </a:prstGeom>
          <a:noFill/>
          <a:ln>
            <a:noFill/>
          </a:ln>
        </p:spPr>
      </p:pic>
      <p:pic>
        <p:nvPicPr>
          <p:cNvPr id="534" name="Google Shape;534;p66"/>
          <p:cNvPicPr preferRelativeResize="0"/>
          <p:nvPr/>
        </p:nvPicPr>
        <p:blipFill rotWithShape="1">
          <a:blip r:embed="rId3">
            <a:alphaModFix/>
          </a:blip>
          <a:srcRect b="0" l="0" r="0" t="0"/>
          <a:stretch/>
        </p:blipFill>
        <p:spPr>
          <a:xfrm>
            <a:off x="5317150" y="3604556"/>
            <a:ext cx="221894" cy="308722"/>
          </a:xfrm>
          <a:prstGeom prst="rect">
            <a:avLst/>
          </a:prstGeom>
          <a:noFill/>
          <a:ln>
            <a:noFill/>
          </a:ln>
        </p:spPr>
      </p:pic>
      <p:sp>
        <p:nvSpPr>
          <p:cNvPr id="535" name="Google Shape;535;p66"/>
          <p:cNvSpPr/>
          <p:nvPr/>
        </p:nvSpPr>
        <p:spPr>
          <a:xfrm>
            <a:off x="713275" y="2936850"/>
            <a:ext cx="16056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800">
                <a:solidFill>
                  <a:schemeClr val="accent5"/>
                </a:solidFill>
                <a:latin typeface="Calibri"/>
                <a:ea typeface="Calibri"/>
                <a:cs typeface="Calibri"/>
                <a:sym typeface="Calibri"/>
              </a:rPr>
              <a:t>SEO/Hub Pages</a:t>
            </a:r>
            <a:endParaRPr sz="1800"/>
          </a:p>
        </p:txBody>
      </p:sp>
      <p:sp>
        <p:nvSpPr>
          <p:cNvPr id="536" name="Google Shape;536;p66"/>
          <p:cNvSpPr/>
          <p:nvPr/>
        </p:nvSpPr>
        <p:spPr>
          <a:xfrm>
            <a:off x="713275" y="3913250"/>
            <a:ext cx="16056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800">
                <a:solidFill>
                  <a:schemeClr val="accent5"/>
                </a:solidFill>
                <a:latin typeface="Calibri"/>
                <a:ea typeface="Calibri"/>
                <a:cs typeface="Calibri"/>
                <a:sym typeface="Calibri"/>
              </a:rPr>
              <a:t>Awareness Campaigns</a:t>
            </a:r>
            <a:endParaRPr sz="1800"/>
          </a:p>
        </p:txBody>
      </p:sp>
      <p:sp>
        <p:nvSpPr>
          <p:cNvPr id="537" name="Google Shape;537;p66"/>
          <p:cNvSpPr/>
          <p:nvPr/>
        </p:nvSpPr>
        <p:spPr>
          <a:xfrm>
            <a:off x="5781875" y="1881325"/>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Why </a:t>
            </a:r>
            <a:r>
              <a:rPr b="1" lang="en-US" sz="1500">
                <a:solidFill>
                  <a:schemeClr val="accent5"/>
                </a:solidFill>
                <a:latin typeface="Calibri"/>
                <a:ea typeface="Calibri"/>
                <a:cs typeface="Calibri"/>
                <a:sym typeface="Calibri"/>
              </a:rPr>
              <a:t>Women Owned Businesses Need to Be Part of Your Supplier Diversity Program</a:t>
            </a:r>
            <a:endParaRPr sz="1500"/>
          </a:p>
        </p:txBody>
      </p:sp>
      <p:sp>
        <p:nvSpPr>
          <p:cNvPr id="538" name="Google Shape;538;p66"/>
          <p:cNvSpPr/>
          <p:nvPr/>
        </p:nvSpPr>
        <p:spPr>
          <a:xfrm>
            <a:off x="5805324" y="2762850"/>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Support Women-Owned Businesses </a:t>
            </a:r>
            <a:r>
              <a:rPr b="1" lang="en-US" sz="1500">
                <a:solidFill>
                  <a:schemeClr val="accent5"/>
                </a:solidFill>
                <a:latin typeface="Calibri"/>
                <a:ea typeface="Calibri"/>
                <a:cs typeface="Calibri"/>
                <a:sym typeface="Calibri"/>
              </a:rPr>
              <a:t>by partnering with WBE Canada </a:t>
            </a:r>
            <a:endParaRPr sz="1500"/>
          </a:p>
        </p:txBody>
      </p:sp>
      <p:pic>
        <p:nvPicPr>
          <p:cNvPr id="539" name="Google Shape;539;p66"/>
          <p:cNvPicPr preferRelativeResize="0"/>
          <p:nvPr/>
        </p:nvPicPr>
        <p:blipFill rotWithShape="1">
          <a:blip r:embed="rId3">
            <a:alphaModFix/>
          </a:blip>
          <a:srcRect b="0" l="0" r="0" t="0"/>
          <a:stretch/>
        </p:blipFill>
        <p:spPr>
          <a:xfrm>
            <a:off x="9665275" y="3604543"/>
            <a:ext cx="221894" cy="308722"/>
          </a:xfrm>
          <a:prstGeom prst="rect">
            <a:avLst/>
          </a:prstGeom>
          <a:noFill/>
          <a:ln>
            <a:noFill/>
          </a:ln>
        </p:spPr>
      </p:pic>
      <p:sp>
        <p:nvSpPr>
          <p:cNvPr id="540" name="Google Shape;540;p66"/>
          <p:cNvSpPr/>
          <p:nvPr/>
        </p:nvSpPr>
        <p:spPr>
          <a:xfrm>
            <a:off x="10125950" y="2678225"/>
            <a:ext cx="1451930" cy="1325535"/>
          </a:xfrm>
          <a:custGeom>
            <a:rect b="b" l="l" r="r" t="t"/>
            <a:pathLst>
              <a:path extrusionOk="0" h="2962089" w="2525096">
                <a:moveTo>
                  <a:pt x="2109956" y="0"/>
                </a:moveTo>
                <a:lnTo>
                  <a:pt x="0" y="0"/>
                </a:lnTo>
                <a:lnTo>
                  <a:pt x="0" y="2962089"/>
                </a:lnTo>
                <a:lnTo>
                  <a:pt x="2525096" y="2962089"/>
                </a:lnTo>
                <a:lnTo>
                  <a:pt x="2525096" y="248214"/>
                </a:lnTo>
                <a:lnTo>
                  <a:pt x="2109956" y="0"/>
                </a:lnTo>
                <a:close/>
              </a:path>
            </a:pathLst>
          </a:cu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900">
                <a:solidFill>
                  <a:schemeClr val="accent5"/>
                </a:solidFill>
                <a:latin typeface="Calibri"/>
                <a:ea typeface="Calibri"/>
                <a:cs typeface="Calibri"/>
                <a:sym typeface="Calibri"/>
              </a:rPr>
              <a:t>Book a Call</a:t>
            </a:r>
            <a:endParaRPr sz="900"/>
          </a:p>
        </p:txBody>
      </p:sp>
      <p:pic>
        <p:nvPicPr>
          <p:cNvPr id="541" name="Google Shape;541;p66"/>
          <p:cNvPicPr preferRelativeResize="0"/>
          <p:nvPr/>
        </p:nvPicPr>
        <p:blipFill rotWithShape="1">
          <a:blip r:embed="rId3">
            <a:alphaModFix/>
          </a:blip>
          <a:srcRect b="0" l="0" r="0" t="0"/>
          <a:stretch/>
        </p:blipFill>
        <p:spPr>
          <a:xfrm rot="5400000">
            <a:off x="10740975" y="4072856"/>
            <a:ext cx="221894" cy="308722"/>
          </a:xfrm>
          <a:prstGeom prst="rect">
            <a:avLst/>
          </a:prstGeom>
          <a:noFill/>
          <a:ln>
            <a:noFill/>
          </a:ln>
        </p:spPr>
      </p:pic>
      <p:sp>
        <p:nvSpPr>
          <p:cNvPr id="542" name="Google Shape;542;p66"/>
          <p:cNvSpPr/>
          <p:nvPr/>
        </p:nvSpPr>
        <p:spPr>
          <a:xfrm>
            <a:off x="5764837" y="3622750"/>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City of Toronto</a:t>
            </a:r>
            <a:r>
              <a:rPr b="1" lang="en-US" sz="1500">
                <a:solidFill>
                  <a:schemeClr val="accent5"/>
                </a:solidFill>
                <a:latin typeface="Calibri"/>
                <a:ea typeface="Calibri"/>
                <a:cs typeface="Calibri"/>
                <a:sym typeface="Calibri"/>
              </a:rPr>
              <a:t> (or other) Case Study </a:t>
            </a:r>
            <a:r>
              <a:rPr lang="en-US" sz="1500">
                <a:solidFill>
                  <a:schemeClr val="accent5"/>
                </a:solidFill>
                <a:latin typeface="Calibri"/>
                <a:ea typeface="Calibri"/>
                <a:cs typeface="Calibri"/>
                <a:sym typeface="Calibri"/>
              </a:rPr>
              <a:t>(benefits of working with WBE Canada)</a:t>
            </a:r>
            <a:endParaRPr sz="1500"/>
          </a:p>
        </p:txBody>
      </p:sp>
      <p:sp>
        <p:nvSpPr>
          <p:cNvPr id="543" name="Google Shape;543;p66"/>
          <p:cNvSpPr/>
          <p:nvPr/>
        </p:nvSpPr>
        <p:spPr>
          <a:xfrm>
            <a:off x="5805337" y="5381500"/>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Partner With WBE Canada Now</a:t>
            </a:r>
            <a:endParaRPr sz="1500"/>
          </a:p>
        </p:txBody>
      </p:sp>
      <p:sp>
        <p:nvSpPr>
          <p:cNvPr id="544" name="Google Shape;544;p66"/>
          <p:cNvSpPr/>
          <p:nvPr/>
        </p:nvSpPr>
        <p:spPr>
          <a:xfrm>
            <a:off x="5764837" y="4494525"/>
            <a:ext cx="3593700" cy="722700"/>
          </a:xfrm>
          <a:prstGeom prst="snip1Rect">
            <a:avLst>
              <a:gd fmla="val 16667" name="adj"/>
            </a:avLst>
          </a:prstGeom>
          <a:solidFill>
            <a:srgbClr val="AFDFE4"/>
          </a:solid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None/>
            </a:pPr>
            <a:r>
              <a:rPr b="1" lang="en-US" sz="1500">
                <a:solidFill>
                  <a:schemeClr val="accent5"/>
                </a:solidFill>
                <a:latin typeface="Calibri"/>
                <a:ea typeface="Calibri"/>
                <a:cs typeface="Calibri"/>
                <a:sym typeface="Calibri"/>
              </a:rPr>
              <a:t>Profiles of Certified </a:t>
            </a:r>
            <a:r>
              <a:rPr b="1" lang="en-US" sz="1500">
                <a:solidFill>
                  <a:schemeClr val="accent5"/>
                </a:solidFill>
                <a:latin typeface="Calibri"/>
                <a:ea typeface="Calibri"/>
                <a:cs typeface="Calibri"/>
                <a:sym typeface="Calibri"/>
              </a:rPr>
              <a:t>WBEs </a:t>
            </a:r>
            <a:endParaRPr sz="15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7"/>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Marketing Outreach </a:t>
            </a:r>
            <a:endParaRPr/>
          </a:p>
          <a:p>
            <a:pPr indent="0" lvl="0" marL="0" rtl="0" algn="ctr">
              <a:lnSpc>
                <a:spcPct val="90000"/>
              </a:lnSpc>
              <a:spcBef>
                <a:spcPts val="0"/>
              </a:spcBef>
              <a:spcAft>
                <a:spcPts val="0"/>
              </a:spcAft>
              <a:buClr>
                <a:schemeClr val="accent2"/>
              </a:buClr>
              <a:buSzPts val="4400"/>
              <a:buFont typeface="Calibri"/>
              <a:buNone/>
            </a:pPr>
            <a:r>
              <a:rPr lang="en-US"/>
              <a:t>&amp; Targeted </a:t>
            </a:r>
            <a:r>
              <a:rPr lang="en-US"/>
              <a:t>Campaigns</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p68"/>
          <p:cNvSpPr txBox="1"/>
          <p:nvPr>
            <p:ph type="title"/>
          </p:nvPr>
        </p:nvSpPr>
        <p:spPr>
          <a:xfrm>
            <a:off x="828250" y="784225"/>
            <a:ext cx="107295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WBE Outreach</a:t>
            </a:r>
            <a:r>
              <a:rPr lang="en-US"/>
              <a:t> Campaign </a:t>
            </a:r>
            <a:r>
              <a:rPr b="0" i="1" lang="en-US">
                <a:latin typeface="Calibri"/>
                <a:ea typeface="Calibri"/>
                <a:cs typeface="Calibri"/>
                <a:sym typeface="Calibri"/>
              </a:rPr>
              <a:t>WBE Certification Persona</a:t>
            </a:r>
            <a:endParaRPr b="0" i="1">
              <a:latin typeface="Calibri"/>
              <a:ea typeface="Calibri"/>
              <a:cs typeface="Calibri"/>
              <a:sym typeface="Calibri"/>
            </a:endParaRPr>
          </a:p>
        </p:txBody>
      </p:sp>
      <p:sp>
        <p:nvSpPr>
          <p:cNvPr id="555" name="Google Shape;555;p68"/>
          <p:cNvSpPr txBox="1"/>
          <p:nvPr>
            <p:ph idx="1" type="body"/>
          </p:nvPr>
        </p:nvSpPr>
        <p:spPr>
          <a:xfrm>
            <a:off x="828250" y="2286000"/>
            <a:ext cx="10187700" cy="4287300"/>
          </a:xfrm>
          <a:prstGeom prst="rect">
            <a:avLst/>
          </a:prstGeom>
          <a:noFill/>
          <a:ln>
            <a:noFill/>
          </a:ln>
        </p:spPr>
        <p:txBody>
          <a:bodyPr anchorCtr="0" anchor="t" bIns="45700" lIns="91425" spcFirstLastPara="1" rIns="91425" wrap="square" tIns="45700">
            <a:noAutofit/>
          </a:bodyPr>
          <a:lstStyle/>
          <a:p>
            <a:pPr indent="-260350" lvl="1" marL="685800" rtl="0" algn="l">
              <a:lnSpc>
                <a:spcPct val="115000"/>
              </a:lnSpc>
              <a:spcBef>
                <a:spcPts val="1000"/>
              </a:spcBef>
              <a:spcAft>
                <a:spcPts val="0"/>
              </a:spcAft>
              <a:buClr>
                <a:schemeClr val="accent2"/>
              </a:buClr>
              <a:buSzPts val="2300"/>
              <a:buChar char="✔"/>
            </a:pPr>
            <a:r>
              <a:rPr b="1" lang="en-US" sz="2000"/>
              <a:t>Challenge:</a:t>
            </a:r>
            <a:r>
              <a:rPr lang="en-US" sz="2000"/>
              <a:t> WBE Canada needs to significantly increase its base of Certified WBEs.</a:t>
            </a:r>
            <a:endParaRPr sz="2000"/>
          </a:p>
          <a:p>
            <a:pPr indent="-241300" lvl="1" marL="685800" rtl="0" algn="l">
              <a:lnSpc>
                <a:spcPct val="130000"/>
              </a:lnSpc>
              <a:spcBef>
                <a:spcPts val="1000"/>
              </a:spcBef>
              <a:spcAft>
                <a:spcPts val="0"/>
              </a:spcAft>
              <a:buClr>
                <a:schemeClr val="accent2"/>
              </a:buClr>
              <a:buSzPts val="2000"/>
              <a:buChar char="✔"/>
            </a:pPr>
            <a:r>
              <a:rPr b="1" lang="en-US" sz="2000"/>
              <a:t>Goals:</a:t>
            </a:r>
            <a:r>
              <a:rPr lang="en-US" sz="2000"/>
              <a:t> Get more new potential WBEs to apply for Certification, either right away or by first signing-up for the email list or purchasing Tools for Growth, and then going through the email nurture sequence to convert to applying for Certification</a:t>
            </a:r>
            <a:endParaRPr sz="2000"/>
          </a:p>
          <a:p>
            <a:pPr indent="-234950" lvl="1" marL="685800" rtl="0" algn="l">
              <a:lnSpc>
                <a:spcPct val="130000"/>
              </a:lnSpc>
              <a:spcBef>
                <a:spcPts val="1000"/>
              </a:spcBef>
              <a:spcAft>
                <a:spcPts val="0"/>
              </a:spcAft>
              <a:buClr>
                <a:schemeClr val="accent2"/>
              </a:buClr>
              <a:buSzPts val="1900"/>
              <a:buChar char="✔"/>
            </a:pPr>
            <a:r>
              <a:rPr b="1" lang="en-US" sz="2000"/>
              <a:t>Action Steps:</a:t>
            </a:r>
            <a:r>
              <a:rPr lang="en-US" sz="2000"/>
              <a:t> Create targeted campaigns aimed at the main WBE Certification persona:</a:t>
            </a:r>
            <a:endParaRPr sz="2000"/>
          </a:p>
          <a:p>
            <a:pPr indent="-241300" lvl="2" marL="1143000" rtl="0" algn="l">
              <a:lnSpc>
                <a:spcPct val="130000"/>
              </a:lnSpc>
              <a:spcBef>
                <a:spcPts val="1000"/>
              </a:spcBef>
              <a:spcAft>
                <a:spcPts val="0"/>
              </a:spcAft>
              <a:buSzPts val="2000"/>
              <a:buChar char="•"/>
            </a:pPr>
            <a:r>
              <a:rPr lang="en-US"/>
              <a:t>Direct response social advertising (LinkedIn, Facebook)</a:t>
            </a:r>
            <a:endParaRPr/>
          </a:p>
          <a:p>
            <a:pPr indent="-228600" lvl="2" marL="1143000" rtl="0" algn="l">
              <a:lnSpc>
                <a:spcPct val="130000"/>
              </a:lnSpc>
              <a:spcBef>
                <a:spcPts val="1000"/>
              </a:spcBef>
              <a:spcAft>
                <a:spcPts val="0"/>
              </a:spcAft>
              <a:buSzPts val="1800"/>
              <a:buChar char="•"/>
            </a:pPr>
            <a:r>
              <a:rPr lang="en-US"/>
              <a:t>Social Outreach</a:t>
            </a:r>
            <a:endParaRPr/>
          </a:p>
          <a:p>
            <a:pPr indent="-228600" lvl="2" marL="1143000" rtl="0" algn="l">
              <a:lnSpc>
                <a:spcPct val="130000"/>
              </a:lnSpc>
              <a:spcBef>
                <a:spcPts val="1000"/>
              </a:spcBef>
              <a:spcAft>
                <a:spcPts val="0"/>
              </a:spcAft>
              <a:buSzPts val="1800"/>
              <a:buChar char="•"/>
            </a:pPr>
            <a:r>
              <a:rPr lang="en-US"/>
              <a:t>Direct Response Association/Event Marketing</a:t>
            </a:r>
            <a:endParaRPr sz="2050"/>
          </a:p>
          <a:p>
            <a:pPr indent="0" lvl="0" marL="0" marR="0" rtl="0" algn="l">
              <a:lnSpc>
                <a:spcPct val="100000"/>
              </a:lnSpc>
              <a:spcBef>
                <a:spcPts val="1000"/>
              </a:spcBef>
              <a:spcAft>
                <a:spcPts val="0"/>
              </a:spcAft>
              <a:buNone/>
            </a:pPr>
            <a:r>
              <a:t/>
            </a:r>
            <a:endParaRPr sz="205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69"/>
          <p:cNvSpPr txBox="1"/>
          <p:nvPr>
            <p:ph type="title"/>
          </p:nvPr>
        </p:nvSpPr>
        <p:spPr>
          <a:xfrm>
            <a:off x="877950" y="784225"/>
            <a:ext cx="10679700" cy="13257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2"/>
              </a:buClr>
              <a:buSzPct val="100000"/>
              <a:buFont typeface="Calibri"/>
              <a:buNone/>
            </a:pPr>
            <a:r>
              <a:rPr lang="en-US"/>
              <a:t>WBE Outreach</a:t>
            </a:r>
            <a:r>
              <a:rPr lang="en-US"/>
              <a:t> Campaign: </a:t>
            </a:r>
            <a:r>
              <a:rPr b="0" lang="en-US">
                <a:latin typeface="Calibri"/>
                <a:ea typeface="Calibri"/>
                <a:cs typeface="Calibri"/>
                <a:sym typeface="Calibri"/>
              </a:rPr>
              <a:t>Messaging Example</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ct val="100000"/>
              <a:buFont typeface="Calibri"/>
              <a:buNone/>
            </a:pPr>
            <a:r>
              <a:t/>
            </a:r>
            <a:endParaRPr>
              <a:solidFill>
                <a:schemeClr val="accent5"/>
              </a:solidFill>
            </a:endParaRPr>
          </a:p>
        </p:txBody>
      </p:sp>
      <p:sp>
        <p:nvSpPr>
          <p:cNvPr id="561" name="Google Shape;561;p69"/>
          <p:cNvSpPr txBox="1"/>
          <p:nvPr>
            <p:ph idx="1" type="body"/>
          </p:nvPr>
        </p:nvSpPr>
        <p:spPr>
          <a:xfrm>
            <a:off x="596350" y="1678300"/>
            <a:ext cx="10436100" cy="4619700"/>
          </a:xfrm>
          <a:prstGeom prst="rect">
            <a:avLst/>
          </a:prstGeom>
          <a:noFill/>
          <a:ln>
            <a:noFill/>
          </a:ln>
        </p:spPr>
        <p:txBody>
          <a:bodyPr anchorCtr="0" anchor="t" bIns="45700" lIns="91425" spcFirstLastPara="1" rIns="91425" wrap="square" tIns="45700">
            <a:noAutofit/>
          </a:bodyPr>
          <a:lstStyle/>
          <a:p>
            <a:pPr indent="-254000" lvl="1" marL="685800" rtl="0" algn="l">
              <a:lnSpc>
                <a:spcPct val="100000"/>
              </a:lnSpc>
              <a:spcBef>
                <a:spcPts val="1000"/>
              </a:spcBef>
              <a:spcAft>
                <a:spcPts val="0"/>
              </a:spcAft>
              <a:buClr>
                <a:schemeClr val="accent2"/>
              </a:buClr>
              <a:buSzPts val="2200"/>
              <a:buChar char="✔"/>
            </a:pPr>
            <a:r>
              <a:rPr lang="en-US" sz="1950"/>
              <a:t>For more general outreach to all women business owners, focus on messaging that clearly differentiates WBE and sets you apart from typical networking groups they may be familiar with, and focuses on WBEs core difference and supporting benefits:</a:t>
            </a:r>
            <a:endParaRPr i="1" sz="14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
        <p:nvSpPr>
          <p:cNvPr id="562" name="Google Shape;562;p69"/>
          <p:cNvSpPr/>
          <p:nvPr/>
        </p:nvSpPr>
        <p:spPr>
          <a:xfrm>
            <a:off x="980425" y="2966750"/>
            <a:ext cx="5891100" cy="25527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1000"/>
              </a:spcBef>
              <a:spcAft>
                <a:spcPts val="0"/>
              </a:spcAft>
              <a:buClr>
                <a:schemeClr val="dk1"/>
              </a:buClr>
              <a:buSzPts val="1100"/>
              <a:buFont typeface="Arial"/>
              <a:buNone/>
            </a:pPr>
            <a:r>
              <a:rPr b="1" lang="en-US" sz="2250">
                <a:solidFill>
                  <a:schemeClr val="dk1"/>
                </a:solidFill>
                <a:latin typeface="Calibri"/>
                <a:ea typeface="Calibri"/>
                <a:cs typeface="Calibri"/>
                <a:sym typeface="Calibri"/>
              </a:rPr>
              <a:t>Are you a Canadian Women-Owned Business? </a:t>
            </a:r>
            <a:endParaRPr b="1" sz="2250">
              <a:solidFill>
                <a:schemeClr val="dk1"/>
              </a:solidFill>
              <a:latin typeface="Calibri"/>
              <a:ea typeface="Calibri"/>
              <a:cs typeface="Calibri"/>
              <a:sym typeface="Calibri"/>
            </a:endParaRPr>
          </a:p>
          <a:p>
            <a:pPr indent="0" lvl="0" marL="0" rtl="0" algn="ctr">
              <a:spcBef>
                <a:spcPts val="1000"/>
              </a:spcBef>
              <a:spcAft>
                <a:spcPts val="0"/>
              </a:spcAft>
              <a:buClr>
                <a:schemeClr val="dk1"/>
              </a:buClr>
              <a:buSzPts val="1100"/>
              <a:buFont typeface="Arial"/>
              <a:buNone/>
            </a:pPr>
            <a:r>
              <a:rPr b="1" lang="en-US" sz="1950">
                <a:solidFill>
                  <a:schemeClr val="dk1"/>
                </a:solidFill>
                <a:latin typeface="Calibri"/>
                <a:ea typeface="Calibri"/>
                <a:cs typeface="Calibri"/>
                <a:sym typeface="Calibri"/>
              </a:rPr>
              <a:t>Do you want to access larger contracts with corporations and the government?</a:t>
            </a:r>
            <a:endParaRPr b="1" sz="1950">
              <a:solidFill>
                <a:schemeClr val="dk1"/>
              </a:solidFill>
              <a:latin typeface="Calibri"/>
              <a:ea typeface="Calibri"/>
              <a:cs typeface="Calibri"/>
              <a:sym typeface="Calibri"/>
            </a:endParaRPr>
          </a:p>
          <a:p>
            <a:pPr indent="0" lvl="0" marL="0" rtl="0" algn="ctr">
              <a:spcBef>
                <a:spcPts val="1000"/>
              </a:spcBef>
              <a:spcAft>
                <a:spcPts val="0"/>
              </a:spcAft>
              <a:buClr>
                <a:schemeClr val="dk1"/>
              </a:buClr>
              <a:buSzPts val="1100"/>
              <a:buFont typeface="Arial"/>
              <a:buNone/>
            </a:pPr>
            <a:r>
              <a:rPr lang="en-US" sz="1950">
                <a:solidFill>
                  <a:schemeClr val="dk1"/>
                </a:solidFill>
                <a:latin typeface="Calibri"/>
                <a:ea typeface="Calibri"/>
                <a:cs typeface="Calibri"/>
                <a:sym typeface="Calibri"/>
              </a:rPr>
              <a:t>Get started with WBE - the Certifying Council for Women-Owned Businesses in Canada</a:t>
            </a:r>
            <a:endParaRPr/>
          </a:p>
        </p:txBody>
      </p:sp>
      <p:sp>
        <p:nvSpPr>
          <p:cNvPr id="563" name="Google Shape;563;p69"/>
          <p:cNvSpPr/>
          <p:nvPr/>
        </p:nvSpPr>
        <p:spPr>
          <a:xfrm>
            <a:off x="7297400" y="3227675"/>
            <a:ext cx="4394400" cy="1826400"/>
          </a:xfrm>
          <a:prstGeom prst="rect">
            <a:avLst/>
          </a:prstGeom>
          <a:solidFill>
            <a:srgbClr val="AFDFE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1000"/>
              </a:spcBef>
              <a:spcAft>
                <a:spcPts val="0"/>
              </a:spcAft>
              <a:buNone/>
            </a:pPr>
            <a:r>
              <a:rPr b="1" lang="en-US" sz="1950">
                <a:solidFill>
                  <a:schemeClr val="dk1"/>
                </a:solidFill>
                <a:latin typeface="Calibri"/>
                <a:ea typeface="Calibri"/>
                <a:cs typeface="Calibri"/>
                <a:sym typeface="Calibri"/>
              </a:rPr>
              <a:t>Are you a Canadian Women-Owned Business but think larger corporate &amp; government contracts are out of reach? </a:t>
            </a:r>
            <a:r>
              <a:rPr b="1" i="1" lang="en-US" sz="1950">
                <a:solidFill>
                  <a:schemeClr val="dk1"/>
                </a:solidFill>
                <a:latin typeface="Calibri"/>
                <a:ea typeface="Calibri"/>
                <a:cs typeface="Calibri"/>
                <a:sym typeface="Calibri"/>
              </a:rPr>
              <a:t>Think again…</a:t>
            </a:r>
            <a:endParaRPr i="1" sz="11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70"/>
          <p:cNvSpPr txBox="1"/>
          <p:nvPr>
            <p:ph type="title"/>
          </p:nvPr>
        </p:nvSpPr>
        <p:spPr>
          <a:xfrm>
            <a:off x="811700" y="784225"/>
            <a:ext cx="107460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WBE Outreach Campaign</a:t>
            </a:r>
            <a:r>
              <a:rPr lang="en-US"/>
              <a:t>: </a:t>
            </a:r>
            <a:r>
              <a:rPr b="0" lang="en-US">
                <a:latin typeface="Calibri"/>
                <a:ea typeface="Calibri"/>
                <a:cs typeface="Calibri"/>
                <a:sym typeface="Calibri"/>
              </a:rPr>
              <a:t>Ad Examples</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569" name="Google Shape;569;p70"/>
          <p:cNvSpPr txBox="1"/>
          <p:nvPr>
            <p:ph idx="1" type="body"/>
          </p:nvPr>
        </p:nvSpPr>
        <p:spPr>
          <a:xfrm>
            <a:off x="281275" y="1678300"/>
            <a:ext cx="9608100" cy="4619700"/>
          </a:xfrm>
          <a:prstGeom prst="rect">
            <a:avLst/>
          </a:prstGeom>
          <a:noFill/>
          <a:ln>
            <a:noFill/>
          </a:ln>
        </p:spPr>
        <p:txBody>
          <a:bodyPr anchorCtr="0" anchor="t" bIns="45700" lIns="91425" spcFirstLastPara="1" rIns="91425" wrap="square" tIns="45700">
            <a:noAutofit/>
          </a:bodyPr>
          <a:lstStyle/>
          <a:p>
            <a:pPr indent="0" lvl="0" marL="685800" rtl="0" algn="l">
              <a:lnSpc>
                <a:spcPct val="130000"/>
              </a:lnSpc>
              <a:spcBef>
                <a:spcPts val="1000"/>
              </a:spcBef>
              <a:spcAft>
                <a:spcPts val="0"/>
              </a:spcAft>
              <a:buNone/>
            </a:pPr>
            <a:r>
              <a:t/>
            </a:r>
            <a:endParaRPr i="1" sz="14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pic>
        <p:nvPicPr>
          <p:cNvPr id="570" name="Google Shape;570;p70"/>
          <p:cNvPicPr preferRelativeResize="0"/>
          <p:nvPr/>
        </p:nvPicPr>
        <p:blipFill>
          <a:blip r:embed="rId3">
            <a:alphaModFix/>
          </a:blip>
          <a:stretch>
            <a:fillRect/>
          </a:stretch>
        </p:blipFill>
        <p:spPr>
          <a:xfrm>
            <a:off x="2327775" y="2109913"/>
            <a:ext cx="6277899" cy="325252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71"/>
          <p:cNvSpPr txBox="1"/>
          <p:nvPr>
            <p:ph type="title"/>
          </p:nvPr>
        </p:nvSpPr>
        <p:spPr>
          <a:xfrm>
            <a:off x="811700" y="784225"/>
            <a:ext cx="107460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WBE Outreach Campaign: </a:t>
            </a:r>
            <a:r>
              <a:rPr b="0" lang="en-US">
                <a:latin typeface="Calibri"/>
                <a:ea typeface="Calibri"/>
                <a:cs typeface="Calibri"/>
                <a:sym typeface="Calibri"/>
              </a:rPr>
              <a:t>Ad Examples</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576" name="Google Shape;576;p71"/>
          <p:cNvSpPr txBox="1"/>
          <p:nvPr>
            <p:ph idx="1" type="body"/>
          </p:nvPr>
        </p:nvSpPr>
        <p:spPr>
          <a:xfrm>
            <a:off x="281275" y="1678300"/>
            <a:ext cx="9608100" cy="4619700"/>
          </a:xfrm>
          <a:prstGeom prst="rect">
            <a:avLst/>
          </a:prstGeom>
          <a:noFill/>
          <a:ln>
            <a:noFill/>
          </a:ln>
        </p:spPr>
        <p:txBody>
          <a:bodyPr anchorCtr="0" anchor="t" bIns="45700" lIns="91425" spcFirstLastPara="1" rIns="91425" wrap="square" tIns="45700">
            <a:noAutofit/>
          </a:bodyPr>
          <a:lstStyle/>
          <a:p>
            <a:pPr indent="0" lvl="0" marL="685800" rtl="0" algn="l">
              <a:lnSpc>
                <a:spcPct val="130000"/>
              </a:lnSpc>
              <a:spcBef>
                <a:spcPts val="1000"/>
              </a:spcBef>
              <a:spcAft>
                <a:spcPts val="0"/>
              </a:spcAft>
              <a:buNone/>
            </a:pPr>
            <a:r>
              <a:t/>
            </a:r>
            <a:endParaRPr i="1" sz="14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pic>
        <p:nvPicPr>
          <p:cNvPr id="577" name="Google Shape;577;p71"/>
          <p:cNvPicPr preferRelativeResize="0"/>
          <p:nvPr/>
        </p:nvPicPr>
        <p:blipFill>
          <a:blip r:embed="rId3">
            <a:alphaModFix/>
          </a:blip>
          <a:stretch>
            <a:fillRect/>
          </a:stretch>
        </p:blipFill>
        <p:spPr>
          <a:xfrm>
            <a:off x="1835775" y="1943100"/>
            <a:ext cx="7535577" cy="3906650"/>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2"/>
          <p:cNvSpPr txBox="1"/>
          <p:nvPr>
            <p:ph type="title"/>
          </p:nvPr>
        </p:nvSpPr>
        <p:spPr>
          <a:xfrm>
            <a:off x="811700" y="784225"/>
            <a:ext cx="107460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WBE Outreach Campaign: </a:t>
            </a:r>
            <a:r>
              <a:rPr b="0" lang="en-US">
                <a:latin typeface="Calibri"/>
                <a:ea typeface="Calibri"/>
                <a:cs typeface="Calibri"/>
                <a:sym typeface="Calibri"/>
              </a:rPr>
              <a:t>Ad Examples</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583" name="Google Shape;583;p72"/>
          <p:cNvSpPr txBox="1"/>
          <p:nvPr>
            <p:ph idx="1" type="body"/>
          </p:nvPr>
        </p:nvSpPr>
        <p:spPr>
          <a:xfrm>
            <a:off x="281275" y="1678300"/>
            <a:ext cx="9608100" cy="4619700"/>
          </a:xfrm>
          <a:prstGeom prst="rect">
            <a:avLst/>
          </a:prstGeom>
          <a:noFill/>
          <a:ln>
            <a:noFill/>
          </a:ln>
        </p:spPr>
        <p:txBody>
          <a:bodyPr anchorCtr="0" anchor="t" bIns="45700" lIns="91425" spcFirstLastPara="1" rIns="91425" wrap="square" tIns="45700">
            <a:noAutofit/>
          </a:bodyPr>
          <a:lstStyle/>
          <a:p>
            <a:pPr indent="0" lvl="0" marL="685800" rtl="0" algn="l">
              <a:lnSpc>
                <a:spcPct val="130000"/>
              </a:lnSpc>
              <a:spcBef>
                <a:spcPts val="1000"/>
              </a:spcBef>
              <a:spcAft>
                <a:spcPts val="0"/>
              </a:spcAft>
              <a:buNone/>
            </a:pPr>
            <a:r>
              <a:t/>
            </a:r>
            <a:endParaRPr i="1" sz="14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pic>
        <p:nvPicPr>
          <p:cNvPr id="584" name="Google Shape;584;p72"/>
          <p:cNvPicPr preferRelativeResize="0"/>
          <p:nvPr/>
        </p:nvPicPr>
        <p:blipFill rotWithShape="1">
          <a:blip r:embed="rId3">
            <a:alphaModFix/>
          </a:blip>
          <a:srcRect b="0" l="0" r="0" t="10794"/>
          <a:stretch/>
        </p:blipFill>
        <p:spPr>
          <a:xfrm>
            <a:off x="1772475" y="1822150"/>
            <a:ext cx="2820175" cy="4334701"/>
          </a:xfrm>
          <a:prstGeom prst="rect">
            <a:avLst/>
          </a:prstGeom>
          <a:noFill/>
          <a:ln>
            <a:noFill/>
          </a:ln>
        </p:spPr>
      </p:pic>
      <p:pic>
        <p:nvPicPr>
          <p:cNvPr id="585" name="Google Shape;585;p72"/>
          <p:cNvPicPr preferRelativeResize="0"/>
          <p:nvPr/>
        </p:nvPicPr>
        <p:blipFill rotWithShape="1">
          <a:blip r:embed="rId4">
            <a:alphaModFix/>
          </a:blip>
          <a:srcRect b="10794" l="0" r="0" t="0"/>
          <a:stretch/>
        </p:blipFill>
        <p:spPr>
          <a:xfrm>
            <a:off x="5331775" y="1753775"/>
            <a:ext cx="2974555" cy="43347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73"/>
          <p:cNvSpPr txBox="1"/>
          <p:nvPr>
            <p:ph type="title"/>
          </p:nvPr>
        </p:nvSpPr>
        <p:spPr>
          <a:xfrm>
            <a:off x="811700" y="784225"/>
            <a:ext cx="107460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WBE Outreach Campaign: </a:t>
            </a:r>
            <a:r>
              <a:rPr b="0" lang="en-US">
                <a:latin typeface="Calibri"/>
                <a:ea typeface="Calibri"/>
                <a:cs typeface="Calibri"/>
                <a:sym typeface="Calibri"/>
              </a:rPr>
              <a:t>Ad Examples</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591" name="Google Shape;591;p73"/>
          <p:cNvSpPr txBox="1"/>
          <p:nvPr>
            <p:ph idx="1" type="body"/>
          </p:nvPr>
        </p:nvSpPr>
        <p:spPr>
          <a:xfrm>
            <a:off x="281275" y="1678300"/>
            <a:ext cx="9608100" cy="4619700"/>
          </a:xfrm>
          <a:prstGeom prst="rect">
            <a:avLst/>
          </a:prstGeom>
          <a:noFill/>
          <a:ln>
            <a:noFill/>
          </a:ln>
        </p:spPr>
        <p:txBody>
          <a:bodyPr anchorCtr="0" anchor="t" bIns="45700" lIns="91425" spcFirstLastPara="1" rIns="91425" wrap="square" tIns="45700">
            <a:noAutofit/>
          </a:bodyPr>
          <a:lstStyle/>
          <a:p>
            <a:pPr indent="0" lvl="0" marL="685800" rtl="0" algn="l">
              <a:lnSpc>
                <a:spcPct val="130000"/>
              </a:lnSpc>
              <a:spcBef>
                <a:spcPts val="1000"/>
              </a:spcBef>
              <a:spcAft>
                <a:spcPts val="0"/>
              </a:spcAft>
              <a:buNone/>
            </a:pPr>
            <a:r>
              <a:t/>
            </a:r>
            <a:endParaRPr i="1" sz="14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pic>
        <p:nvPicPr>
          <p:cNvPr id="592" name="Google Shape;592;p73"/>
          <p:cNvPicPr preferRelativeResize="0"/>
          <p:nvPr/>
        </p:nvPicPr>
        <p:blipFill rotWithShape="1">
          <a:blip r:embed="rId3">
            <a:alphaModFix/>
          </a:blip>
          <a:srcRect b="0" l="0" r="0" t="9950"/>
          <a:stretch/>
        </p:blipFill>
        <p:spPr>
          <a:xfrm>
            <a:off x="811700" y="1882937"/>
            <a:ext cx="2944325" cy="4210413"/>
          </a:xfrm>
          <a:prstGeom prst="rect">
            <a:avLst/>
          </a:prstGeom>
          <a:noFill/>
          <a:ln>
            <a:noFill/>
          </a:ln>
        </p:spPr>
      </p:pic>
      <p:pic>
        <p:nvPicPr>
          <p:cNvPr id="593" name="Google Shape;593;p73"/>
          <p:cNvPicPr preferRelativeResize="0"/>
          <p:nvPr/>
        </p:nvPicPr>
        <p:blipFill rotWithShape="1">
          <a:blip r:embed="rId4">
            <a:alphaModFix/>
          </a:blip>
          <a:srcRect b="10281" l="0" r="0" t="10448"/>
          <a:stretch/>
        </p:blipFill>
        <p:spPr>
          <a:xfrm>
            <a:off x="3959750" y="1959096"/>
            <a:ext cx="2863500" cy="4058103"/>
          </a:xfrm>
          <a:prstGeom prst="rect">
            <a:avLst/>
          </a:prstGeom>
          <a:noFill/>
          <a:ln>
            <a:noFill/>
          </a:ln>
        </p:spPr>
      </p:pic>
      <p:pic>
        <p:nvPicPr>
          <p:cNvPr id="594" name="Google Shape;594;p73"/>
          <p:cNvPicPr preferRelativeResize="0"/>
          <p:nvPr/>
        </p:nvPicPr>
        <p:blipFill rotWithShape="1">
          <a:blip r:embed="rId5">
            <a:alphaModFix/>
          </a:blip>
          <a:srcRect b="0" l="0" r="0" t="10258"/>
          <a:stretch/>
        </p:blipFill>
        <p:spPr>
          <a:xfrm>
            <a:off x="7229173" y="1959088"/>
            <a:ext cx="2784627" cy="40581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74"/>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Targeted</a:t>
            </a:r>
            <a:r>
              <a:rPr lang="en-US"/>
              <a:t> Campaigns: </a:t>
            </a:r>
            <a:r>
              <a:rPr b="0" lang="en-US">
                <a:latin typeface="Calibri"/>
                <a:ea typeface="Calibri"/>
                <a:cs typeface="Calibri"/>
                <a:sym typeface="Calibri"/>
              </a:rPr>
              <a:t>Association Marketing Kit </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600" name="Google Shape;600;p74"/>
          <p:cNvSpPr txBox="1"/>
          <p:nvPr>
            <p:ph idx="1" type="body"/>
          </p:nvPr>
        </p:nvSpPr>
        <p:spPr>
          <a:xfrm>
            <a:off x="281275" y="1678300"/>
            <a:ext cx="9608100" cy="4619700"/>
          </a:xfrm>
          <a:prstGeom prst="rect">
            <a:avLst/>
          </a:prstGeom>
          <a:noFill/>
          <a:ln>
            <a:noFill/>
          </a:ln>
        </p:spPr>
        <p:txBody>
          <a:bodyPr anchorCtr="0" anchor="t" bIns="45700" lIns="91425" spcFirstLastPara="1" rIns="91425" wrap="square" tIns="45700">
            <a:noAutofit/>
          </a:bodyPr>
          <a:lstStyle/>
          <a:p>
            <a:pPr indent="-254000" lvl="1" marL="685800" rtl="0" algn="l">
              <a:lnSpc>
                <a:spcPct val="130000"/>
              </a:lnSpc>
              <a:spcBef>
                <a:spcPts val="1000"/>
              </a:spcBef>
              <a:spcAft>
                <a:spcPts val="0"/>
              </a:spcAft>
              <a:buClr>
                <a:schemeClr val="accent2"/>
              </a:buClr>
              <a:buSzPts val="2200"/>
              <a:buChar char="✔"/>
            </a:pPr>
            <a:r>
              <a:rPr lang="en-US" sz="1900"/>
              <a:t>Create an association marketing kit WBE Canada</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Marketing kit will include:</a:t>
            </a:r>
            <a:endParaRPr sz="1900"/>
          </a:p>
          <a:p>
            <a:pPr indent="-234950" lvl="2" marL="1143000" rtl="0" algn="l">
              <a:lnSpc>
                <a:spcPct val="130000"/>
              </a:lnSpc>
              <a:spcBef>
                <a:spcPts val="1000"/>
              </a:spcBef>
              <a:spcAft>
                <a:spcPts val="0"/>
              </a:spcAft>
              <a:buSzPts val="1900"/>
              <a:buChar char="•"/>
            </a:pPr>
            <a:r>
              <a:rPr lang="en-US" sz="1900"/>
              <a:t>Messaging guide and key message snippets to use</a:t>
            </a:r>
            <a:endParaRPr sz="1900"/>
          </a:p>
          <a:p>
            <a:pPr indent="-234950" lvl="2" marL="1143000" rtl="0" algn="l">
              <a:lnSpc>
                <a:spcPct val="130000"/>
              </a:lnSpc>
              <a:spcBef>
                <a:spcPts val="1000"/>
              </a:spcBef>
              <a:spcAft>
                <a:spcPts val="0"/>
              </a:spcAft>
              <a:buSzPts val="1900"/>
              <a:buChar char="•"/>
            </a:pPr>
            <a:r>
              <a:rPr lang="en-US" sz="1900"/>
              <a:t>Logo and branding guide and assets</a:t>
            </a:r>
            <a:endParaRPr sz="1900"/>
          </a:p>
          <a:p>
            <a:pPr indent="-234950" lvl="2" marL="1143000" rtl="0" algn="l">
              <a:lnSpc>
                <a:spcPct val="130000"/>
              </a:lnSpc>
              <a:spcBef>
                <a:spcPts val="1000"/>
              </a:spcBef>
              <a:spcAft>
                <a:spcPts val="0"/>
              </a:spcAft>
              <a:buSzPts val="1900"/>
              <a:buChar char="•"/>
            </a:pPr>
            <a:r>
              <a:rPr lang="en-US" sz="1900"/>
              <a:t>News release template</a:t>
            </a:r>
            <a:endParaRPr sz="1900"/>
          </a:p>
          <a:p>
            <a:pPr indent="-234950" lvl="2" marL="1143000" rtl="0" algn="l">
              <a:lnSpc>
                <a:spcPct val="130000"/>
              </a:lnSpc>
              <a:spcBef>
                <a:spcPts val="1000"/>
              </a:spcBef>
              <a:spcAft>
                <a:spcPts val="0"/>
              </a:spcAft>
              <a:buSzPts val="1900"/>
              <a:buChar char="•"/>
            </a:pPr>
            <a:r>
              <a:rPr lang="en-US" sz="1900"/>
              <a:t>Advertising template</a:t>
            </a:r>
            <a:endParaRPr sz="1900"/>
          </a:p>
          <a:p>
            <a:pPr indent="-234950" lvl="2" marL="1143000" rtl="0" algn="l">
              <a:lnSpc>
                <a:spcPct val="130000"/>
              </a:lnSpc>
              <a:spcBef>
                <a:spcPts val="1000"/>
              </a:spcBef>
              <a:spcAft>
                <a:spcPts val="0"/>
              </a:spcAft>
              <a:buSzPts val="1900"/>
              <a:buChar char="•"/>
            </a:pPr>
            <a:r>
              <a:rPr lang="en-US" sz="1900"/>
              <a:t>Marketing sheet template</a:t>
            </a:r>
            <a:endParaRPr sz="1900"/>
          </a:p>
          <a:p>
            <a:pPr indent="-234950" lvl="2" marL="1143000" rtl="0" algn="l">
              <a:lnSpc>
                <a:spcPct val="130000"/>
              </a:lnSpc>
              <a:spcBef>
                <a:spcPts val="1000"/>
              </a:spcBef>
              <a:spcAft>
                <a:spcPts val="0"/>
              </a:spcAft>
              <a:buSzPts val="1900"/>
              <a:buChar char="•"/>
            </a:pPr>
            <a:r>
              <a:rPr lang="en-US" sz="1900"/>
              <a:t>Email template</a:t>
            </a:r>
            <a:endParaRPr b="1" sz="19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75"/>
          <p:cNvSpPr txBox="1"/>
          <p:nvPr>
            <p:ph type="title"/>
          </p:nvPr>
        </p:nvSpPr>
        <p:spPr>
          <a:xfrm>
            <a:off x="745425" y="784225"/>
            <a:ext cx="10812300" cy="13257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2"/>
              </a:buClr>
              <a:buSzPct val="100000"/>
              <a:buFont typeface="Calibri"/>
              <a:buNone/>
            </a:pPr>
            <a:r>
              <a:rPr lang="en-US"/>
              <a:t>Targeted</a:t>
            </a:r>
            <a:r>
              <a:rPr lang="en-US"/>
              <a:t> Campaigns: </a:t>
            </a:r>
            <a:r>
              <a:rPr b="0" lang="en-US">
                <a:latin typeface="Calibri"/>
                <a:ea typeface="Calibri"/>
                <a:cs typeface="Calibri"/>
                <a:sym typeface="Calibri"/>
              </a:rPr>
              <a:t>Association Marketing Example </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ct val="100000"/>
              <a:buFont typeface="Calibri"/>
              <a:buNone/>
            </a:pPr>
            <a:r>
              <a:t/>
            </a:r>
            <a:endParaRPr>
              <a:solidFill>
                <a:schemeClr val="accent5"/>
              </a:solidFill>
            </a:endParaRPr>
          </a:p>
        </p:txBody>
      </p:sp>
      <p:sp>
        <p:nvSpPr>
          <p:cNvPr id="606" name="Google Shape;606;p75"/>
          <p:cNvSpPr txBox="1"/>
          <p:nvPr>
            <p:ph idx="1" type="body"/>
          </p:nvPr>
        </p:nvSpPr>
        <p:spPr>
          <a:xfrm>
            <a:off x="645725" y="2109925"/>
            <a:ext cx="9608100" cy="4260600"/>
          </a:xfrm>
          <a:prstGeom prst="rect">
            <a:avLst/>
          </a:prstGeom>
          <a:noFill/>
          <a:ln>
            <a:noFill/>
          </a:ln>
        </p:spPr>
        <p:txBody>
          <a:bodyPr anchorCtr="0" anchor="t" bIns="45700" lIns="91425" spcFirstLastPara="1" rIns="91425" wrap="square" tIns="45700">
            <a:noAutofit/>
          </a:bodyPr>
          <a:lstStyle/>
          <a:p>
            <a:pPr indent="-254000" lvl="1" marL="685800" rtl="0" algn="l">
              <a:lnSpc>
                <a:spcPct val="130000"/>
              </a:lnSpc>
              <a:spcBef>
                <a:spcPts val="1000"/>
              </a:spcBef>
              <a:spcAft>
                <a:spcPts val="0"/>
              </a:spcAft>
              <a:buClr>
                <a:schemeClr val="accent2"/>
              </a:buClr>
              <a:buSzPts val="2200"/>
              <a:buFont typeface="Calibri"/>
              <a:buChar char="✔"/>
            </a:pPr>
            <a:r>
              <a:rPr lang="en-US" sz="1900"/>
              <a:t>Identify associations to target</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Review options for events, advertising, and other marketing opportunities</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Select one association to target each month</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Select best marketing activities to pursue</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Execute marketing activity using the Association Marketing Kit templates</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Drive all marketing activities to the Niche landing page and funnel </a:t>
            </a:r>
            <a:endParaRPr b="1" sz="19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76"/>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Targeted Campaigns </a:t>
            </a:r>
            <a:r>
              <a:rPr b="0" i="1" lang="en-US">
                <a:latin typeface="Calibri"/>
                <a:ea typeface="Calibri"/>
                <a:cs typeface="Calibri"/>
                <a:sym typeface="Calibri"/>
              </a:rPr>
              <a:t>WBE Niche Personas</a:t>
            </a:r>
            <a:endParaRPr b="0" i="1">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612" name="Google Shape;612;p76"/>
          <p:cNvSpPr txBox="1"/>
          <p:nvPr>
            <p:ph idx="1" type="body"/>
          </p:nvPr>
        </p:nvSpPr>
        <p:spPr>
          <a:xfrm>
            <a:off x="371900" y="1652725"/>
            <a:ext cx="11060400" cy="4188000"/>
          </a:xfrm>
          <a:prstGeom prst="rect">
            <a:avLst/>
          </a:prstGeom>
          <a:noFill/>
          <a:ln>
            <a:noFill/>
          </a:ln>
        </p:spPr>
        <p:txBody>
          <a:bodyPr anchorCtr="0" anchor="t" bIns="45700" lIns="91425" spcFirstLastPara="1" rIns="91425" wrap="square" tIns="45700">
            <a:noAutofit/>
          </a:bodyPr>
          <a:lstStyle/>
          <a:p>
            <a:pPr indent="-254000" lvl="1" marL="685800" rtl="0" algn="l">
              <a:lnSpc>
                <a:spcPct val="115000"/>
              </a:lnSpc>
              <a:spcBef>
                <a:spcPts val="1000"/>
              </a:spcBef>
              <a:spcAft>
                <a:spcPts val="0"/>
              </a:spcAft>
              <a:buClr>
                <a:schemeClr val="accent2"/>
              </a:buClr>
              <a:buSzPts val="2200"/>
              <a:buChar char="✔"/>
            </a:pPr>
            <a:r>
              <a:rPr b="1" lang="en-US" sz="1900"/>
              <a:t>Challenge:</a:t>
            </a:r>
            <a:r>
              <a:rPr lang="en-US" sz="1900"/>
              <a:t> WBE Canada needs to significantly increase its base of Certified WBEs in specific target niches where they have Corporate Buyers (such as construction)</a:t>
            </a:r>
            <a:endParaRPr sz="1900"/>
          </a:p>
          <a:p>
            <a:pPr indent="-234950" lvl="1" marL="685800" rtl="0" algn="l">
              <a:lnSpc>
                <a:spcPct val="130000"/>
              </a:lnSpc>
              <a:spcBef>
                <a:spcPts val="1000"/>
              </a:spcBef>
              <a:spcAft>
                <a:spcPts val="0"/>
              </a:spcAft>
              <a:buClr>
                <a:schemeClr val="accent2"/>
              </a:buClr>
              <a:buSzPts val="1900"/>
              <a:buChar char="✔"/>
            </a:pPr>
            <a:r>
              <a:rPr b="1" lang="en-US" sz="1900"/>
              <a:t>Goals:</a:t>
            </a:r>
            <a:r>
              <a:rPr lang="en-US" sz="1900"/>
              <a:t> Get more new potential WBEs in targeted industry niches to apply for Certification, either right away or by first signing-up for the email list or purchasing Tools for Growth, and then going through the email nurture sequence to convert to applying for Certification</a:t>
            </a:r>
            <a:endParaRPr sz="1900"/>
          </a:p>
          <a:p>
            <a:pPr indent="-228600" lvl="1" marL="685800" rtl="0" algn="l">
              <a:lnSpc>
                <a:spcPct val="130000"/>
              </a:lnSpc>
              <a:spcBef>
                <a:spcPts val="1000"/>
              </a:spcBef>
              <a:spcAft>
                <a:spcPts val="0"/>
              </a:spcAft>
              <a:buClr>
                <a:schemeClr val="accent2"/>
              </a:buClr>
              <a:buSzPts val="1800"/>
              <a:buChar char="✔"/>
            </a:pPr>
            <a:r>
              <a:rPr b="1" lang="en-US" sz="1900"/>
              <a:t>Action Steps:</a:t>
            </a:r>
            <a:r>
              <a:rPr lang="en-US" sz="1900"/>
              <a:t> Create targeted campaigns aimed at individual WBE Niche personas (such as construction):</a:t>
            </a:r>
            <a:endParaRPr sz="1900"/>
          </a:p>
          <a:p>
            <a:pPr indent="-234950" lvl="2" marL="1143000" rtl="0" algn="l">
              <a:lnSpc>
                <a:spcPct val="130000"/>
              </a:lnSpc>
              <a:spcBef>
                <a:spcPts val="0"/>
              </a:spcBef>
              <a:spcAft>
                <a:spcPts val="0"/>
              </a:spcAft>
              <a:buSzPts val="1900"/>
              <a:buChar char="•"/>
            </a:pPr>
            <a:r>
              <a:rPr lang="en-US" sz="1900"/>
              <a:t>Identify key industry associations, events and publications/online assets</a:t>
            </a:r>
            <a:endParaRPr sz="1900"/>
          </a:p>
          <a:p>
            <a:pPr indent="-234950" lvl="2" marL="1143000" rtl="0" algn="l">
              <a:lnSpc>
                <a:spcPct val="130000"/>
              </a:lnSpc>
              <a:spcBef>
                <a:spcPts val="0"/>
              </a:spcBef>
              <a:spcAft>
                <a:spcPts val="0"/>
              </a:spcAft>
              <a:buSzPts val="1900"/>
              <a:buChar char="•"/>
            </a:pPr>
            <a:r>
              <a:rPr lang="en-US" sz="1900"/>
              <a:t>Create an association marketing kit (templates)</a:t>
            </a:r>
            <a:endParaRPr sz="1900"/>
          </a:p>
          <a:p>
            <a:pPr indent="-234950" lvl="2" marL="1143000" rtl="0" algn="l">
              <a:lnSpc>
                <a:spcPct val="130000"/>
              </a:lnSpc>
              <a:spcBef>
                <a:spcPts val="0"/>
              </a:spcBef>
              <a:spcAft>
                <a:spcPts val="0"/>
              </a:spcAft>
              <a:buSzPts val="1900"/>
              <a:buChar char="•"/>
            </a:pPr>
            <a:r>
              <a:rPr lang="en-US" sz="1900"/>
              <a:t>Direct response social advertising (LinkedIn, Facebook)</a:t>
            </a:r>
            <a:endParaRPr sz="1900"/>
          </a:p>
          <a:p>
            <a:pPr indent="-222250" lvl="2" marL="1143000" rtl="0" algn="l">
              <a:lnSpc>
                <a:spcPct val="130000"/>
              </a:lnSpc>
              <a:spcBef>
                <a:spcPts val="0"/>
              </a:spcBef>
              <a:spcAft>
                <a:spcPts val="0"/>
              </a:spcAft>
              <a:buSzPts val="1700"/>
              <a:buChar char="•"/>
            </a:pPr>
            <a:r>
              <a:rPr lang="en-US" sz="1900"/>
              <a:t>Social Outreach</a:t>
            </a:r>
            <a:endParaRPr sz="1900"/>
          </a:p>
          <a:p>
            <a:pPr indent="-222250" lvl="2" marL="1143000" rtl="0" algn="l">
              <a:lnSpc>
                <a:spcPct val="130000"/>
              </a:lnSpc>
              <a:spcBef>
                <a:spcPts val="0"/>
              </a:spcBef>
              <a:spcAft>
                <a:spcPts val="0"/>
              </a:spcAft>
              <a:buSzPts val="1700"/>
              <a:buChar char="•"/>
            </a:pPr>
            <a:r>
              <a:rPr lang="en-US" sz="1900"/>
              <a:t>Direct Response Association/Event Marketing</a:t>
            </a:r>
            <a:endParaRPr sz="2150"/>
          </a:p>
          <a:p>
            <a:pPr indent="0" lvl="0" marL="0" rtl="0" algn="l">
              <a:lnSpc>
                <a:spcPct val="100000"/>
              </a:lnSpc>
              <a:spcBef>
                <a:spcPts val="1000"/>
              </a:spcBef>
              <a:spcAft>
                <a:spcPts val="0"/>
              </a:spcAft>
              <a:buNone/>
            </a:pPr>
            <a:r>
              <a:t/>
            </a:r>
            <a:endParaRPr sz="205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7"/>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Targeted Niche Campaigns: </a:t>
            </a:r>
            <a:r>
              <a:rPr b="0" lang="en-US">
                <a:latin typeface="Calibri"/>
                <a:ea typeface="Calibri"/>
                <a:cs typeface="Calibri"/>
                <a:sym typeface="Calibri"/>
              </a:rPr>
              <a:t>Messaging Example</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618" name="Google Shape;618;p77"/>
          <p:cNvSpPr txBox="1"/>
          <p:nvPr>
            <p:ph idx="1" type="body"/>
          </p:nvPr>
        </p:nvSpPr>
        <p:spPr>
          <a:xfrm>
            <a:off x="281275" y="1678300"/>
            <a:ext cx="10751100" cy="4619700"/>
          </a:xfrm>
          <a:prstGeom prst="rect">
            <a:avLst/>
          </a:prstGeom>
          <a:noFill/>
          <a:ln>
            <a:noFill/>
          </a:ln>
        </p:spPr>
        <p:txBody>
          <a:bodyPr anchorCtr="0" anchor="t" bIns="45700" lIns="91425" spcFirstLastPara="1" rIns="91425" wrap="square" tIns="45700">
            <a:noAutofit/>
          </a:bodyPr>
          <a:lstStyle/>
          <a:p>
            <a:pPr indent="-254000" lvl="1" marL="685800" rtl="0" algn="l">
              <a:lnSpc>
                <a:spcPct val="100000"/>
              </a:lnSpc>
              <a:spcBef>
                <a:spcPts val="1000"/>
              </a:spcBef>
              <a:spcAft>
                <a:spcPts val="0"/>
              </a:spcAft>
              <a:buClr>
                <a:schemeClr val="accent2"/>
              </a:buClr>
              <a:buSzPts val="2200"/>
              <a:buChar char="✔"/>
            </a:pPr>
            <a:r>
              <a:rPr lang="en-US" sz="1950"/>
              <a:t>Create high level messaging specific to the niche industry you are targeting:</a:t>
            </a:r>
            <a:endParaRPr i="1" sz="14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
        <p:nvSpPr>
          <p:cNvPr id="619" name="Google Shape;619;p77"/>
          <p:cNvSpPr/>
          <p:nvPr/>
        </p:nvSpPr>
        <p:spPr>
          <a:xfrm>
            <a:off x="900525" y="2637225"/>
            <a:ext cx="6102600" cy="28701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1000"/>
              </a:spcBef>
              <a:spcAft>
                <a:spcPts val="0"/>
              </a:spcAft>
              <a:buClr>
                <a:schemeClr val="dk1"/>
              </a:buClr>
              <a:buSzPts val="1100"/>
              <a:buFont typeface="Arial"/>
              <a:buNone/>
            </a:pPr>
            <a:r>
              <a:rPr b="1" lang="en-US" sz="2250">
                <a:solidFill>
                  <a:schemeClr val="dk1"/>
                </a:solidFill>
                <a:latin typeface="Calibri"/>
                <a:ea typeface="Calibri"/>
                <a:cs typeface="Calibri"/>
                <a:sym typeface="Calibri"/>
              </a:rPr>
              <a:t>Are you a Canadian Women-Owned Business in the Construction Industry? </a:t>
            </a:r>
            <a:endParaRPr b="1" sz="2250">
              <a:solidFill>
                <a:schemeClr val="dk1"/>
              </a:solidFill>
              <a:latin typeface="Calibri"/>
              <a:ea typeface="Calibri"/>
              <a:cs typeface="Calibri"/>
              <a:sym typeface="Calibri"/>
            </a:endParaRPr>
          </a:p>
          <a:p>
            <a:pPr indent="0" lvl="0" marL="0" rtl="0" algn="ctr">
              <a:spcBef>
                <a:spcPts val="1000"/>
              </a:spcBef>
              <a:spcAft>
                <a:spcPts val="0"/>
              </a:spcAft>
              <a:buClr>
                <a:schemeClr val="dk1"/>
              </a:buClr>
              <a:buSzPts val="1100"/>
              <a:buFont typeface="Arial"/>
              <a:buNone/>
            </a:pPr>
            <a:r>
              <a:rPr b="1" lang="en-US" sz="1950">
                <a:solidFill>
                  <a:schemeClr val="dk1"/>
                </a:solidFill>
                <a:latin typeface="Calibri"/>
                <a:ea typeface="Calibri"/>
                <a:cs typeface="Calibri"/>
                <a:sym typeface="Calibri"/>
              </a:rPr>
              <a:t>Corporate &amp; government contracts are available now </a:t>
            </a:r>
            <a:r>
              <a:rPr i="1" lang="en-US" sz="1950">
                <a:solidFill>
                  <a:schemeClr val="dk1"/>
                </a:solidFill>
                <a:latin typeface="Calibri"/>
                <a:ea typeface="Calibri"/>
                <a:cs typeface="Calibri"/>
                <a:sym typeface="Calibri"/>
              </a:rPr>
              <a:t>with organizations who are actively looking to work with more women-owned businesses in construction.  </a:t>
            </a:r>
            <a:endParaRPr i="1" sz="1950">
              <a:solidFill>
                <a:schemeClr val="dk1"/>
              </a:solidFill>
              <a:latin typeface="Calibri"/>
              <a:ea typeface="Calibri"/>
              <a:cs typeface="Calibri"/>
              <a:sym typeface="Calibri"/>
            </a:endParaRPr>
          </a:p>
          <a:p>
            <a:pPr indent="0" lvl="0" marL="0" rtl="0" algn="ctr">
              <a:spcBef>
                <a:spcPts val="1000"/>
              </a:spcBef>
              <a:spcAft>
                <a:spcPts val="0"/>
              </a:spcAft>
              <a:buClr>
                <a:schemeClr val="dk1"/>
              </a:buClr>
              <a:buSzPts val="1100"/>
              <a:buFont typeface="Arial"/>
              <a:buNone/>
            </a:pPr>
            <a:r>
              <a:rPr lang="en-US" sz="1950">
                <a:solidFill>
                  <a:schemeClr val="dk1"/>
                </a:solidFill>
                <a:latin typeface="Calibri"/>
                <a:ea typeface="Calibri"/>
                <a:cs typeface="Calibri"/>
                <a:sym typeface="Calibri"/>
              </a:rPr>
              <a:t>Get started with WBE - the Certifying Council for Women-Owned Businesses in Canada</a:t>
            </a:r>
            <a:endParaRPr/>
          </a:p>
        </p:txBody>
      </p:sp>
      <p:sp>
        <p:nvSpPr>
          <p:cNvPr id="620" name="Google Shape;620;p77"/>
          <p:cNvSpPr/>
          <p:nvPr/>
        </p:nvSpPr>
        <p:spPr>
          <a:xfrm>
            <a:off x="7600075" y="3074950"/>
            <a:ext cx="3957600" cy="1826400"/>
          </a:xfrm>
          <a:prstGeom prst="rect">
            <a:avLst/>
          </a:prstGeom>
          <a:solidFill>
            <a:srgbClr val="AFDFE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1000"/>
              </a:spcBef>
              <a:spcAft>
                <a:spcPts val="0"/>
              </a:spcAft>
              <a:buNone/>
            </a:pPr>
            <a:r>
              <a:rPr b="1" lang="en-US" sz="1950">
                <a:solidFill>
                  <a:schemeClr val="dk1"/>
                </a:solidFill>
                <a:latin typeface="Calibri"/>
                <a:ea typeface="Calibri"/>
                <a:cs typeface="Calibri"/>
                <a:sym typeface="Calibri"/>
              </a:rPr>
              <a:t>Are you a Canadian Women-Owned Business in the construction industry </a:t>
            </a:r>
            <a:r>
              <a:rPr i="1" lang="en-US" sz="1950">
                <a:solidFill>
                  <a:schemeClr val="dk1"/>
                </a:solidFill>
                <a:latin typeface="Calibri"/>
                <a:ea typeface="Calibri"/>
                <a:cs typeface="Calibri"/>
                <a:sym typeface="Calibri"/>
              </a:rPr>
              <a:t>but think larger corporate &amp; government contracts are out of reach?</a:t>
            </a:r>
            <a:r>
              <a:rPr b="1" lang="en-US" sz="1950">
                <a:solidFill>
                  <a:schemeClr val="dk1"/>
                </a:solidFill>
                <a:latin typeface="Calibri"/>
                <a:ea typeface="Calibri"/>
                <a:cs typeface="Calibri"/>
                <a:sym typeface="Calibri"/>
              </a:rPr>
              <a:t> </a:t>
            </a:r>
            <a:endParaRPr i="1" sz="11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78"/>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Targeted Niche Campaigns: </a:t>
            </a:r>
            <a:r>
              <a:rPr b="0" lang="en-US">
                <a:latin typeface="Calibri"/>
                <a:ea typeface="Calibri"/>
                <a:cs typeface="Calibri"/>
                <a:sym typeface="Calibri"/>
              </a:rPr>
              <a:t>Social Ad Example</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626" name="Google Shape;626;p78"/>
          <p:cNvSpPr txBox="1"/>
          <p:nvPr>
            <p:ph idx="1" type="body"/>
          </p:nvPr>
        </p:nvSpPr>
        <p:spPr>
          <a:xfrm>
            <a:off x="281275" y="1678300"/>
            <a:ext cx="9608100" cy="4619700"/>
          </a:xfrm>
          <a:prstGeom prst="rect">
            <a:avLst/>
          </a:prstGeom>
          <a:noFill/>
          <a:ln>
            <a:noFill/>
          </a:ln>
        </p:spPr>
        <p:txBody>
          <a:bodyPr anchorCtr="0" anchor="t" bIns="45700" lIns="91425" spcFirstLastPara="1" rIns="91425" wrap="square" tIns="45700">
            <a:noAutofit/>
          </a:bodyPr>
          <a:lstStyle/>
          <a:p>
            <a:pPr indent="0" lvl="0" marL="685800" rtl="0" algn="l">
              <a:lnSpc>
                <a:spcPct val="130000"/>
              </a:lnSpc>
              <a:spcBef>
                <a:spcPts val="1000"/>
              </a:spcBef>
              <a:spcAft>
                <a:spcPts val="0"/>
              </a:spcAft>
              <a:buNone/>
            </a:pPr>
            <a:r>
              <a:t/>
            </a:r>
            <a:endParaRPr i="1" sz="14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pic>
        <p:nvPicPr>
          <p:cNvPr id="627" name="Google Shape;627;p78"/>
          <p:cNvPicPr preferRelativeResize="0"/>
          <p:nvPr/>
        </p:nvPicPr>
        <p:blipFill>
          <a:blip r:embed="rId3">
            <a:alphaModFix/>
          </a:blip>
          <a:stretch>
            <a:fillRect/>
          </a:stretch>
        </p:blipFill>
        <p:spPr>
          <a:xfrm>
            <a:off x="3857850" y="1810700"/>
            <a:ext cx="3022987" cy="4354899"/>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79"/>
          <p:cNvSpPr txBox="1"/>
          <p:nvPr>
            <p:ph type="title"/>
          </p:nvPr>
        </p:nvSpPr>
        <p:spPr>
          <a:xfrm>
            <a:off x="861400" y="784225"/>
            <a:ext cx="10696200" cy="13257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2"/>
              </a:buClr>
              <a:buSzPct val="100000"/>
              <a:buFont typeface="Calibri"/>
              <a:buNone/>
            </a:pPr>
            <a:r>
              <a:rPr lang="en-US"/>
              <a:t>Targeted Niche Campaigns: </a:t>
            </a:r>
            <a:r>
              <a:rPr b="0" lang="en-US">
                <a:latin typeface="Calibri"/>
                <a:ea typeface="Calibri"/>
                <a:cs typeface="Calibri"/>
                <a:sym typeface="Calibri"/>
              </a:rPr>
              <a:t>Association Marketing Kit - Construction</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ct val="100000"/>
              <a:buFont typeface="Calibri"/>
              <a:buNone/>
            </a:pPr>
            <a:r>
              <a:t/>
            </a:r>
            <a:endParaRPr>
              <a:solidFill>
                <a:schemeClr val="accent5"/>
              </a:solidFill>
            </a:endParaRPr>
          </a:p>
        </p:txBody>
      </p:sp>
      <p:sp>
        <p:nvSpPr>
          <p:cNvPr id="633" name="Google Shape;633;p79"/>
          <p:cNvSpPr txBox="1"/>
          <p:nvPr>
            <p:ph idx="1" type="body"/>
          </p:nvPr>
        </p:nvSpPr>
        <p:spPr>
          <a:xfrm>
            <a:off x="861400" y="2238300"/>
            <a:ext cx="9608100" cy="4619700"/>
          </a:xfrm>
          <a:prstGeom prst="rect">
            <a:avLst/>
          </a:prstGeom>
          <a:noFill/>
          <a:ln>
            <a:noFill/>
          </a:ln>
        </p:spPr>
        <p:txBody>
          <a:bodyPr anchorCtr="0" anchor="t" bIns="45700" lIns="91425" spcFirstLastPara="1" rIns="91425" wrap="square" tIns="45700">
            <a:noAutofit/>
          </a:bodyPr>
          <a:lstStyle/>
          <a:p>
            <a:pPr indent="-254000" lvl="1" marL="685800" rtl="0" algn="l">
              <a:lnSpc>
                <a:spcPct val="130000"/>
              </a:lnSpc>
              <a:spcBef>
                <a:spcPts val="1000"/>
              </a:spcBef>
              <a:spcAft>
                <a:spcPts val="0"/>
              </a:spcAft>
              <a:buClr>
                <a:schemeClr val="accent2"/>
              </a:buClr>
              <a:buSzPts val="2200"/>
              <a:buFont typeface="Calibri"/>
              <a:buChar char="✔"/>
            </a:pPr>
            <a:r>
              <a:rPr lang="en-US" sz="1900"/>
              <a:t>Create an association marketing kit for the niche industry</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Marketing kit will include:</a:t>
            </a:r>
            <a:endParaRPr sz="1900"/>
          </a:p>
          <a:p>
            <a:pPr indent="-234950" lvl="2" marL="1143000" rtl="0" algn="l">
              <a:lnSpc>
                <a:spcPct val="130000"/>
              </a:lnSpc>
              <a:spcBef>
                <a:spcPts val="1000"/>
              </a:spcBef>
              <a:spcAft>
                <a:spcPts val="0"/>
              </a:spcAft>
              <a:buSzPts val="1900"/>
              <a:buChar char="•"/>
            </a:pPr>
            <a:r>
              <a:rPr lang="en-US" sz="1900"/>
              <a:t>Messaging guide and key message snippets to use</a:t>
            </a:r>
            <a:endParaRPr sz="1900"/>
          </a:p>
          <a:p>
            <a:pPr indent="-234950" lvl="2" marL="1143000" rtl="0" algn="l">
              <a:lnSpc>
                <a:spcPct val="130000"/>
              </a:lnSpc>
              <a:spcBef>
                <a:spcPts val="1000"/>
              </a:spcBef>
              <a:spcAft>
                <a:spcPts val="0"/>
              </a:spcAft>
              <a:buSzPts val="1900"/>
              <a:buChar char="•"/>
            </a:pPr>
            <a:r>
              <a:rPr lang="en-US" sz="1900"/>
              <a:t>Logo and branding guide and assets</a:t>
            </a:r>
            <a:endParaRPr sz="1900"/>
          </a:p>
          <a:p>
            <a:pPr indent="-234950" lvl="2" marL="1143000" rtl="0" algn="l">
              <a:lnSpc>
                <a:spcPct val="130000"/>
              </a:lnSpc>
              <a:spcBef>
                <a:spcPts val="1000"/>
              </a:spcBef>
              <a:spcAft>
                <a:spcPts val="0"/>
              </a:spcAft>
              <a:buSzPts val="1900"/>
              <a:buChar char="•"/>
            </a:pPr>
            <a:r>
              <a:rPr lang="en-US" sz="1900"/>
              <a:t>News release template</a:t>
            </a:r>
            <a:endParaRPr sz="1900"/>
          </a:p>
          <a:p>
            <a:pPr indent="-234950" lvl="2" marL="1143000" rtl="0" algn="l">
              <a:lnSpc>
                <a:spcPct val="130000"/>
              </a:lnSpc>
              <a:spcBef>
                <a:spcPts val="1000"/>
              </a:spcBef>
              <a:spcAft>
                <a:spcPts val="0"/>
              </a:spcAft>
              <a:buSzPts val="1900"/>
              <a:buChar char="•"/>
            </a:pPr>
            <a:r>
              <a:rPr lang="en-US" sz="1900"/>
              <a:t>Advertising template</a:t>
            </a:r>
            <a:endParaRPr sz="1900"/>
          </a:p>
          <a:p>
            <a:pPr indent="-234950" lvl="2" marL="1143000" rtl="0" algn="l">
              <a:lnSpc>
                <a:spcPct val="130000"/>
              </a:lnSpc>
              <a:spcBef>
                <a:spcPts val="1000"/>
              </a:spcBef>
              <a:spcAft>
                <a:spcPts val="0"/>
              </a:spcAft>
              <a:buSzPts val="1900"/>
              <a:buChar char="•"/>
            </a:pPr>
            <a:r>
              <a:rPr lang="en-US" sz="1900"/>
              <a:t>Marketing sheet template</a:t>
            </a:r>
            <a:endParaRPr sz="1900"/>
          </a:p>
          <a:p>
            <a:pPr indent="-234950" lvl="2" marL="1143000" rtl="0" algn="l">
              <a:lnSpc>
                <a:spcPct val="130000"/>
              </a:lnSpc>
              <a:spcBef>
                <a:spcPts val="1000"/>
              </a:spcBef>
              <a:spcAft>
                <a:spcPts val="0"/>
              </a:spcAft>
              <a:buSzPts val="1900"/>
              <a:buChar char="•"/>
            </a:pPr>
            <a:r>
              <a:rPr lang="en-US" sz="1900"/>
              <a:t>Email template</a:t>
            </a:r>
            <a:endParaRPr sz="19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80"/>
          <p:cNvSpPr txBox="1"/>
          <p:nvPr>
            <p:ph type="title"/>
          </p:nvPr>
        </p:nvSpPr>
        <p:spPr>
          <a:xfrm>
            <a:off x="745425" y="784225"/>
            <a:ext cx="10812300" cy="13257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2"/>
              </a:buClr>
              <a:buSzPct val="108197"/>
              <a:buFont typeface="Calibri"/>
              <a:buNone/>
            </a:pPr>
            <a:r>
              <a:rPr lang="en-US" sz="4067"/>
              <a:t>Targeted Niche Campaigns: </a:t>
            </a:r>
            <a:r>
              <a:rPr b="0" lang="en-US" sz="4067">
                <a:latin typeface="Calibri"/>
                <a:ea typeface="Calibri"/>
                <a:cs typeface="Calibri"/>
                <a:sym typeface="Calibri"/>
              </a:rPr>
              <a:t>Association Marketing Example - Construction</a:t>
            </a:r>
            <a:r>
              <a:rPr b="0" lang="en-US">
                <a:latin typeface="Calibri"/>
                <a:ea typeface="Calibri"/>
                <a:cs typeface="Calibri"/>
                <a:sym typeface="Calibri"/>
              </a:rPr>
              <a:t> </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ct val="100000"/>
              <a:buFont typeface="Calibri"/>
              <a:buNone/>
            </a:pPr>
            <a:r>
              <a:t/>
            </a:r>
            <a:endParaRPr>
              <a:solidFill>
                <a:schemeClr val="accent5"/>
              </a:solidFill>
            </a:endParaRPr>
          </a:p>
        </p:txBody>
      </p:sp>
      <p:sp>
        <p:nvSpPr>
          <p:cNvPr id="639" name="Google Shape;639;p80"/>
          <p:cNvSpPr txBox="1"/>
          <p:nvPr>
            <p:ph idx="1" type="body"/>
          </p:nvPr>
        </p:nvSpPr>
        <p:spPr>
          <a:xfrm>
            <a:off x="1258625" y="2319150"/>
            <a:ext cx="8614200" cy="4260600"/>
          </a:xfrm>
          <a:prstGeom prst="rect">
            <a:avLst/>
          </a:prstGeom>
          <a:noFill/>
          <a:ln>
            <a:noFill/>
          </a:ln>
        </p:spPr>
        <p:txBody>
          <a:bodyPr anchorCtr="0" anchor="t" bIns="45700" lIns="91425" spcFirstLastPara="1" rIns="91425" wrap="square" tIns="45700">
            <a:noAutofit/>
          </a:bodyPr>
          <a:lstStyle/>
          <a:p>
            <a:pPr indent="-254000" lvl="1" marL="685800" rtl="0" algn="l">
              <a:lnSpc>
                <a:spcPct val="130000"/>
              </a:lnSpc>
              <a:spcBef>
                <a:spcPts val="1000"/>
              </a:spcBef>
              <a:spcAft>
                <a:spcPts val="0"/>
              </a:spcAft>
              <a:buClr>
                <a:schemeClr val="accent2"/>
              </a:buClr>
              <a:buSzPts val="2200"/>
              <a:buFont typeface="Calibri"/>
              <a:buChar char="✔"/>
            </a:pPr>
            <a:r>
              <a:rPr lang="en-US" sz="1900"/>
              <a:t>Identify associations in the niche industry</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Review options for events, advertising, and other marketing opportunities</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Select one </a:t>
            </a:r>
            <a:r>
              <a:rPr lang="en-US" sz="1900"/>
              <a:t>association to target each month</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Select best marketing activities to pursue</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Execute marketing activity using the Association Marketing Kit templates</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Drive all marketing activities to the Niche landing page and funnel </a:t>
            </a:r>
            <a:endParaRPr sz="19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81"/>
          <p:cNvSpPr txBox="1"/>
          <p:nvPr>
            <p:ph type="title"/>
          </p:nvPr>
        </p:nvSpPr>
        <p:spPr>
          <a:xfrm>
            <a:off x="745425" y="784225"/>
            <a:ext cx="10812300" cy="13257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accent2"/>
              </a:buClr>
              <a:buSzPct val="108197"/>
              <a:buFont typeface="Calibri"/>
              <a:buNone/>
            </a:pPr>
            <a:r>
              <a:rPr lang="en-US" sz="4067"/>
              <a:t>Targeted Niche Campaigns: </a:t>
            </a:r>
            <a:r>
              <a:rPr b="0" lang="en-US" sz="4067">
                <a:latin typeface="Calibri"/>
                <a:ea typeface="Calibri"/>
                <a:cs typeface="Calibri"/>
                <a:sym typeface="Calibri"/>
              </a:rPr>
              <a:t>Association Marketing Example - Construction</a:t>
            </a:r>
            <a:r>
              <a:rPr b="0" lang="en-US">
                <a:latin typeface="Calibri"/>
                <a:ea typeface="Calibri"/>
                <a:cs typeface="Calibri"/>
                <a:sym typeface="Calibri"/>
              </a:rPr>
              <a:t> </a:t>
            </a:r>
            <a:endParaRPr b="0">
              <a:latin typeface="Calibri"/>
              <a:ea typeface="Calibri"/>
              <a:cs typeface="Calibri"/>
              <a:sym typeface="Calibri"/>
            </a:endParaRPr>
          </a:p>
          <a:p>
            <a:pPr indent="0" lvl="0" marL="0" rtl="0" algn="l">
              <a:lnSpc>
                <a:spcPct val="90000"/>
              </a:lnSpc>
              <a:spcBef>
                <a:spcPts val="0"/>
              </a:spcBef>
              <a:spcAft>
                <a:spcPts val="0"/>
              </a:spcAft>
              <a:buClr>
                <a:schemeClr val="accent2"/>
              </a:buClr>
              <a:buSzPct val="100000"/>
              <a:buFont typeface="Calibri"/>
              <a:buNone/>
            </a:pPr>
            <a:r>
              <a:t/>
            </a:r>
            <a:endParaRPr>
              <a:solidFill>
                <a:schemeClr val="accent5"/>
              </a:solidFill>
            </a:endParaRPr>
          </a:p>
        </p:txBody>
      </p:sp>
      <p:sp>
        <p:nvSpPr>
          <p:cNvPr id="645" name="Google Shape;645;p81"/>
          <p:cNvSpPr txBox="1"/>
          <p:nvPr>
            <p:ph idx="1" type="body"/>
          </p:nvPr>
        </p:nvSpPr>
        <p:spPr>
          <a:xfrm>
            <a:off x="546325" y="2186625"/>
            <a:ext cx="3379500" cy="4260600"/>
          </a:xfrm>
          <a:prstGeom prst="rect">
            <a:avLst/>
          </a:prstGeom>
          <a:noFill/>
          <a:ln>
            <a:noFill/>
          </a:ln>
        </p:spPr>
        <p:txBody>
          <a:bodyPr anchorCtr="0" anchor="t" bIns="45700" lIns="91425" spcFirstLastPara="1" rIns="91425" wrap="square" tIns="45700">
            <a:noAutofit/>
          </a:bodyPr>
          <a:lstStyle/>
          <a:p>
            <a:pPr indent="-254000" lvl="1" marL="685800" rtl="0" algn="l">
              <a:lnSpc>
                <a:spcPct val="130000"/>
              </a:lnSpc>
              <a:spcBef>
                <a:spcPts val="1000"/>
              </a:spcBef>
              <a:spcAft>
                <a:spcPts val="0"/>
              </a:spcAft>
              <a:buClr>
                <a:schemeClr val="accent2"/>
              </a:buClr>
              <a:buSzPts val="2200"/>
              <a:buFont typeface="Calibri"/>
              <a:buChar char="✔"/>
            </a:pPr>
            <a:r>
              <a:rPr lang="en-US" sz="1900"/>
              <a:t>Identify associations in construction</a:t>
            </a:r>
            <a:endParaRPr sz="1900"/>
          </a:p>
          <a:p>
            <a:pPr indent="-234950" lvl="1" marL="685800" rtl="0" algn="l">
              <a:lnSpc>
                <a:spcPct val="130000"/>
              </a:lnSpc>
              <a:spcBef>
                <a:spcPts val="1000"/>
              </a:spcBef>
              <a:spcAft>
                <a:spcPts val="0"/>
              </a:spcAft>
              <a:buClr>
                <a:schemeClr val="accent2"/>
              </a:buClr>
              <a:buSzPts val="1900"/>
              <a:buFont typeface="Calibri"/>
              <a:buChar char="✔"/>
            </a:pPr>
            <a:r>
              <a:rPr lang="en-US" sz="1900"/>
              <a:t>Select one association to target each month</a:t>
            </a:r>
            <a:endParaRPr sz="1900"/>
          </a:p>
          <a:p>
            <a:pPr indent="0" lvl="0" marL="0" rtl="0" algn="l">
              <a:lnSpc>
                <a:spcPct val="130000"/>
              </a:lnSpc>
              <a:spcBef>
                <a:spcPts val="1000"/>
              </a:spcBef>
              <a:spcAft>
                <a:spcPts val="0"/>
              </a:spcAft>
              <a:buNone/>
            </a:pPr>
            <a:r>
              <a:t/>
            </a:r>
            <a:endParaRPr sz="19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graphicFrame>
        <p:nvGraphicFramePr>
          <p:cNvPr id="646" name="Google Shape;646;p81"/>
          <p:cNvGraphicFramePr/>
          <p:nvPr/>
        </p:nvGraphicFramePr>
        <p:xfrm>
          <a:off x="4215875" y="2186613"/>
          <a:ext cx="3000000" cy="3000000"/>
        </p:xfrm>
        <a:graphic>
          <a:graphicData uri="http://schemas.openxmlformats.org/drawingml/2006/table">
            <a:tbl>
              <a:tblPr>
                <a:noFill/>
                <a:tableStyleId>{1E788136-AE12-4A8D-8108-555795C820F7}</a:tableStyleId>
              </a:tblPr>
              <a:tblGrid>
                <a:gridCol w="2635350"/>
                <a:gridCol w="2718225"/>
                <a:gridCol w="2221250"/>
              </a:tblGrid>
              <a:tr h="548600">
                <a:tc>
                  <a:txBody>
                    <a:bodyPr/>
                    <a:lstStyle/>
                    <a:p>
                      <a:pPr indent="0" lvl="0" marL="0" rtl="0" algn="l">
                        <a:spcBef>
                          <a:spcPts val="0"/>
                        </a:spcBef>
                        <a:spcAft>
                          <a:spcPts val="0"/>
                        </a:spcAft>
                        <a:buNone/>
                      </a:pPr>
                      <a:r>
                        <a:rPr b="1" lang="en-US" sz="1200"/>
                        <a:t>National Women-Focused Organizations</a:t>
                      </a:r>
                      <a:endParaRPr b="1"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200"/>
                        <a:t>National Organizations</a:t>
                      </a:r>
                      <a:endParaRPr b="1" sz="1200"/>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b="1" lang="en-US" sz="1200"/>
                        <a:t>Regional/Local Chapters</a:t>
                      </a:r>
                      <a:endParaRPr b="1" sz="1200"/>
                    </a:p>
                  </a:txBody>
                  <a:tcPr marT="91425" marB="91425" marR="91425" marL="91425"/>
                </a:tc>
              </a:tr>
              <a:tr h="548600">
                <a:tc>
                  <a:txBody>
                    <a:bodyPr/>
                    <a:lstStyle/>
                    <a:p>
                      <a:pPr indent="0" lvl="0" marL="0" rtl="0" algn="l">
                        <a:spcBef>
                          <a:spcPts val="0"/>
                        </a:spcBef>
                        <a:spcAft>
                          <a:spcPts val="0"/>
                        </a:spcAft>
                        <a:buNone/>
                      </a:pPr>
                      <a:r>
                        <a:rPr lang="en-US" sz="1200">
                          <a:solidFill>
                            <a:schemeClr val="dk1"/>
                          </a:solidFill>
                        </a:rPr>
                        <a:t>Canadian Association of Women in Construction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t>Canadian Construction Association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t>Provincial &amp; local chapters</a:t>
                      </a:r>
                      <a:endParaRPr sz="1200"/>
                    </a:p>
                  </a:txBody>
                  <a:tcPr marT="91425" marB="91425" marR="91425" marL="91425">
                    <a:lnL cap="flat" cmpd="sng" w="9525">
                      <a:solidFill>
                        <a:srgbClr val="9E9E9E"/>
                      </a:solidFill>
                      <a:prstDash val="solid"/>
                      <a:round/>
                      <a:headEnd len="sm" w="sm" type="none"/>
                      <a:tailEnd len="sm" w="sm" type="none"/>
                    </a:lnL>
                  </a:tcPr>
                </a:tc>
              </a:tr>
              <a:tr h="548600">
                <a:tc>
                  <a:txBody>
                    <a:bodyPr/>
                    <a:lstStyle/>
                    <a:p>
                      <a:pPr indent="0" lvl="0" marL="0" rtl="0" algn="l">
                        <a:spcBef>
                          <a:spcPts val="0"/>
                        </a:spcBef>
                        <a:spcAft>
                          <a:spcPts val="0"/>
                        </a:spcAft>
                        <a:buNone/>
                      </a:pPr>
                      <a:r>
                        <a:rPr lang="en-US" sz="1200"/>
                        <a:t>Canadian Association of Women in Construction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t>Canadian Home Builders Association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Provincial &amp; local chapters</a:t>
                      </a:r>
                      <a:endParaRPr sz="1200"/>
                    </a:p>
                  </a:txBody>
                  <a:tcPr marT="91425" marB="91425" marR="91425" marL="91425">
                    <a:lnL cap="flat" cmpd="sng" w="9525">
                      <a:solidFill>
                        <a:srgbClr val="9E9E9E"/>
                      </a:solidFill>
                      <a:prstDash val="solid"/>
                      <a:round/>
                      <a:headEnd len="sm" w="sm" type="none"/>
                      <a:tailEnd len="sm" w="sm" type="none"/>
                    </a:lnL>
                  </a:tcPr>
                </a:tc>
              </a:tr>
              <a:tr h="548600">
                <a:tc>
                  <a:txBody>
                    <a:bodyPr/>
                    <a:lstStyle/>
                    <a:p>
                      <a:pPr indent="0" lvl="0" marL="0" rtl="0" algn="l">
                        <a:spcBef>
                          <a:spcPts val="0"/>
                        </a:spcBef>
                        <a:spcAft>
                          <a:spcPts val="0"/>
                        </a:spcAft>
                        <a:buNone/>
                      </a:pPr>
                      <a:r>
                        <a:rPr lang="en-US" sz="1200"/>
                        <a:t>Canadian Construction Women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t>Canadian Roofing Contractors Association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US" sz="1200">
                          <a:solidFill>
                            <a:schemeClr val="dk1"/>
                          </a:solidFill>
                        </a:rPr>
                        <a:t>Provincial &amp; local chapters</a:t>
                      </a:r>
                      <a:endParaRPr sz="1200"/>
                    </a:p>
                  </a:txBody>
                  <a:tcPr marT="91425" marB="91425" marR="91425" marL="91425">
                    <a:lnL cap="flat" cmpd="sng" w="9525">
                      <a:solidFill>
                        <a:srgbClr val="9E9E9E"/>
                      </a:solidFill>
                      <a:prstDash val="solid"/>
                      <a:round/>
                      <a:headEnd len="sm" w="sm" type="none"/>
                      <a:tailEnd len="sm" w="sm" type="none"/>
                    </a:lnL>
                  </a:tcPr>
                </a:tc>
              </a:tr>
              <a:tr h="548600">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tcPr>
                </a:tc>
                <a:tc>
                  <a:txBody>
                    <a:bodyPr/>
                    <a:lstStyle/>
                    <a:p>
                      <a:pPr indent="0" lvl="0" marL="0" rtl="0" algn="l">
                        <a:spcBef>
                          <a:spcPts val="0"/>
                        </a:spcBef>
                        <a:spcAft>
                          <a:spcPts val="0"/>
                        </a:spcAft>
                        <a:buNone/>
                      </a:pPr>
                      <a:r>
                        <a:rPr lang="en-US" sz="1200"/>
                        <a:t>National Capital Heavy Construction Association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tcPr>
                </a:tc>
              </a:tr>
              <a:tr h="548600">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t>Progressive Contractors Association of Canada</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tcPr>
                </a:tc>
              </a:tr>
              <a:tr h="548600">
                <a:tc>
                  <a:txBody>
                    <a:bodyPr/>
                    <a:lstStyle/>
                    <a:p>
                      <a:pPr indent="0" lvl="0" marL="0" rtl="0" algn="l">
                        <a:spcBef>
                          <a:spcPts val="0"/>
                        </a:spcBef>
                        <a:spcAft>
                          <a:spcPts val="0"/>
                        </a:spcAft>
                        <a:buNone/>
                      </a:pPr>
                      <a:r>
                        <a:t/>
                      </a:r>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en-US" sz="1200"/>
                        <a:t>Canadian Federation of Construction Safety Associations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t/>
                      </a:r>
                      <a:endParaRPr sz="1200"/>
                    </a:p>
                  </a:txBody>
                  <a:tcPr marT="91425" marB="91425" marR="91425" marL="91425">
                    <a:lnL cap="flat" cmpd="sng" w="9525">
                      <a:solidFill>
                        <a:srgbClr val="9E9E9E"/>
                      </a:solidFill>
                      <a:prstDash val="solid"/>
                      <a:round/>
                      <a:headEnd len="sm" w="sm" type="none"/>
                      <a:tailEnd len="sm" w="sm" type="none"/>
                    </a:lnL>
                  </a:tcPr>
                </a:tc>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sp>
        <p:nvSpPr>
          <p:cNvPr id="651" name="Google Shape;651;p82"/>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Outreach </a:t>
            </a:r>
            <a:r>
              <a:rPr b="0" i="1" lang="en-US">
                <a:latin typeface="Calibri"/>
                <a:ea typeface="Calibri"/>
                <a:cs typeface="Calibri"/>
                <a:sym typeface="Calibri"/>
              </a:rPr>
              <a:t>- Corporates &amp; Public Sector </a:t>
            </a:r>
            <a:endParaRPr b="0" i="1">
              <a:latin typeface="Calibri"/>
              <a:ea typeface="Calibri"/>
              <a:cs typeface="Calibri"/>
              <a:sym typeface="Calibri"/>
            </a:endParaRPr>
          </a:p>
        </p:txBody>
      </p:sp>
      <p:sp>
        <p:nvSpPr>
          <p:cNvPr id="652" name="Google Shape;652;p82"/>
          <p:cNvSpPr txBox="1"/>
          <p:nvPr>
            <p:ph idx="1" type="body"/>
          </p:nvPr>
        </p:nvSpPr>
        <p:spPr>
          <a:xfrm>
            <a:off x="364750" y="1822975"/>
            <a:ext cx="7266000" cy="4188000"/>
          </a:xfrm>
          <a:prstGeom prst="rect">
            <a:avLst/>
          </a:prstGeom>
          <a:noFill/>
          <a:ln>
            <a:noFill/>
          </a:ln>
        </p:spPr>
        <p:txBody>
          <a:bodyPr anchorCtr="0" anchor="t" bIns="45700" lIns="91425" spcFirstLastPara="1" rIns="91425" wrap="square" tIns="45700">
            <a:noAutofit/>
          </a:bodyPr>
          <a:lstStyle/>
          <a:p>
            <a:pPr indent="-358775" lvl="1" marL="800100" marR="0" rtl="0" algn="l">
              <a:lnSpc>
                <a:spcPct val="100000"/>
              </a:lnSpc>
              <a:spcBef>
                <a:spcPts val="1000"/>
              </a:spcBef>
              <a:spcAft>
                <a:spcPts val="0"/>
              </a:spcAft>
              <a:buClr>
                <a:schemeClr val="accent2"/>
              </a:buClr>
              <a:buSzPts val="1850"/>
              <a:buFont typeface="Noto Sans Symbols"/>
              <a:buChar char="✔"/>
            </a:pPr>
            <a:r>
              <a:rPr lang="en-US" sz="1850"/>
              <a:t>Currently most corporates come in: </a:t>
            </a:r>
            <a:endParaRPr sz="1850"/>
          </a:p>
          <a:p>
            <a:pPr indent="-231775" lvl="2" marL="1143000" marR="0" rtl="0" algn="l">
              <a:lnSpc>
                <a:spcPct val="100000"/>
              </a:lnSpc>
              <a:spcBef>
                <a:spcPts val="1000"/>
              </a:spcBef>
              <a:spcAft>
                <a:spcPts val="0"/>
              </a:spcAft>
              <a:buClr>
                <a:schemeClr val="accent2"/>
              </a:buClr>
              <a:buSzPts val="1850"/>
              <a:buFont typeface="Noto Sans Symbols"/>
              <a:buChar char="•"/>
            </a:pPr>
            <a:r>
              <a:rPr lang="en-US" sz="1850"/>
              <a:t>Because they’ve already decided to implement a supplier diversity program and want to join the councils</a:t>
            </a:r>
            <a:endParaRPr sz="1850"/>
          </a:p>
          <a:p>
            <a:pPr indent="-231775" lvl="2" marL="1143000" marR="0" rtl="0" algn="l">
              <a:lnSpc>
                <a:spcPct val="100000"/>
              </a:lnSpc>
              <a:spcBef>
                <a:spcPts val="1000"/>
              </a:spcBef>
              <a:spcAft>
                <a:spcPts val="0"/>
              </a:spcAft>
              <a:buClr>
                <a:schemeClr val="accent2"/>
              </a:buClr>
              <a:buSzPts val="1850"/>
              <a:buFont typeface="Noto Sans Symbols"/>
              <a:buChar char="•"/>
            </a:pPr>
            <a:r>
              <a:rPr lang="en-US" sz="1850"/>
              <a:t>They’re at the early stages of supplier diversity, are searching for support, and find WBE</a:t>
            </a:r>
            <a:endParaRPr sz="1850"/>
          </a:p>
          <a:p>
            <a:pPr indent="-231775" lvl="2" marL="1143000" marR="0" rtl="0" algn="l">
              <a:lnSpc>
                <a:spcPct val="100000"/>
              </a:lnSpc>
              <a:spcBef>
                <a:spcPts val="1000"/>
              </a:spcBef>
              <a:spcAft>
                <a:spcPts val="0"/>
              </a:spcAft>
              <a:buClr>
                <a:schemeClr val="accent2"/>
              </a:buClr>
              <a:buSzPts val="1850"/>
              <a:buFont typeface="Noto Sans Symbols"/>
              <a:buChar char="•"/>
            </a:pPr>
            <a:r>
              <a:rPr lang="en-US" sz="1850"/>
              <a:t>Direct sales outreach and attending events</a:t>
            </a:r>
            <a:endParaRPr sz="1850"/>
          </a:p>
          <a:p>
            <a:pPr indent="-358775" lvl="1" marL="800100" marR="0" rtl="0" algn="l">
              <a:lnSpc>
                <a:spcPct val="100000"/>
              </a:lnSpc>
              <a:spcBef>
                <a:spcPts val="1000"/>
              </a:spcBef>
              <a:spcAft>
                <a:spcPts val="0"/>
              </a:spcAft>
              <a:buClr>
                <a:schemeClr val="accent2"/>
              </a:buClr>
              <a:buSzPts val="1850"/>
              <a:buFont typeface="Noto Sans Symbols"/>
              <a:buChar char="✔"/>
            </a:pPr>
            <a:r>
              <a:rPr lang="en-US" sz="1850"/>
              <a:t>Marketing can support the corporate area by:</a:t>
            </a:r>
            <a:endParaRPr sz="1850"/>
          </a:p>
          <a:p>
            <a:pPr indent="-231775" lvl="2" marL="1143000" marR="0" rtl="0" algn="l">
              <a:lnSpc>
                <a:spcPct val="100000"/>
              </a:lnSpc>
              <a:spcBef>
                <a:spcPts val="1000"/>
              </a:spcBef>
              <a:spcAft>
                <a:spcPts val="0"/>
              </a:spcAft>
              <a:buClr>
                <a:schemeClr val="accent2"/>
              </a:buClr>
              <a:buSzPts val="1850"/>
              <a:buFont typeface="Noto Sans Symbols"/>
              <a:buChar char="•"/>
            </a:pPr>
            <a:r>
              <a:rPr lang="en-US" sz="1850"/>
              <a:t>Creating the new marketing funnels for corporates and public sector - convert more qualified leads </a:t>
            </a:r>
            <a:endParaRPr sz="1850"/>
          </a:p>
          <a:p>
            <a:pPr indent="-244475" lvl="2" marL="1143000" marR="0" rtl="0" algn="l">
              <a:lnSpc>
                <a:spcPct val="100000"/>
              </a:lnSpc>
              <a:spcBef>
                <a:spcPts val="1000"/>
              </a:spcBef>
              <a:spcAft>
                <a:spcPts val="0"/>
              </a:spcAft>
              <a:buClr>
                <a:schemeClr val="accent2"/>
              </a:buClr>
              <a:buSzPts val="2050"/>
              <a:buFont typeface="Noto Sans Symbols"/>
              <a:buChar char="•"/>
            </a:pPr>
            <a:r>
              <a:rPr lang="en-US" sz="1850"/>
              <a:t>Association marketing similar to the WBE campaigns</a:t>
            </a:r>
            <a:endParaRPr sz="1850"/>
          </a:p>
          <a:p>
            <a:pPr indent="-212725" lvl="2" marL="1143000" marR="0" rtl="0" algn="l">
              <a:lnSpc>
                <a:spcPct val="100000"/>
              </a:lnSpc>
              <a:spcBef>
                <a:spcPts val="1000"/>
              </a:spcBef>
              <a:spcAft>
                <a:spcPts val="0"/>
              </a:spcAft>
              <a:buSzPts val="1550"/>
              <a:buChar char="•"/>
            </a:pPr>
            <a:r>
              <a:rPr lang="en-US" sz="1850"/>
              <a:t>Regular corporate profiles for referrals/actively support WBE</a:t>
            </a:r>
            <a:endParaRPr sz="1550"/>
          </a:p>
          <a:p>
            <a:pPr indent="0" lvl="0" marL="0" marR="0" rtl="0" algn="ctr">
              <a:lnSpc>
                <a:spcPct val="100000"/>
              </a:lnSpc>
              <a:spcBef>
                <a:spcPts val="1000"/>
              </a:spcBef>
              <a:spcAft>
                <a:spcPts val="0"/>
              </a:spcAft>
              <a:buNone/>
            </a:pPr>
            <a:r>
              <a:t/>
            </a:r>
            <a:endParaRPr sz="1950"/>
          </a:p>
          <a:p>
            <a:pPr indent="0" lvl="0" marL="0" marR="0" rtl="0" algn="ctr">
              <a:lnSpc>
                <a:spcPct val="100000"/>
              </a:lnSpc>
              <a:spcBef>
                <a:spcPts val="1000"/>
              </a:spcBef>
              <a:spcAft>
                <a:spcPts val="0"/>
              </a:spcAft>
              <a:buNone/>
            </a:pPr>
            <a:r>
              <a:t/>
            </a:r>
            <a:endParaRPr sz="1950"/>
          </a:p>
          <a:p>
            <a:pPr indent="0" lvl="0" marL="0" marR="0" rtl="0" algn="ctr">
              <a:lnSpc>
                <a:spcPct val="100000"/>
              </a:lnSpc>
              <a:spcBef>
                <a:spcPts val="1000"/>
              </a:spcBef>
              <a:spcAft>
                <a:spcPts val="0"/>
              </a:spcAft>
              <a:buNone/>
            </a:pPr>
            <a:r>
              <a:t/>
            </a:r>
            <a:endParaRPr sz="1950"/>
          </a:p>
          <a:p>
            <a:pPr indent="0" lvl="0" marL="0" marR="0" rtl="0" algn="l">
              <a:lnSpc>
                <a:spcPct val="100000"/>
              </a:lnSpc>
              <a:spcBef>
                <a:spcPts val="1000"/>
              </a:spcBef>
              <a:spcAft>
                <a:spcPts val="0"/>
              </a:spcAft>
              <a:buNone/>
            </a:pPr>
            <a:r>
              <a:t/>
            </a:r>
            <a:endParaRPr sz="1950"/>
          </a:p>
          <a:p>
            <a:pPr indent="0" lvl="0" marL="0" rtl="0" algn="l">
              <a:lnSpc>
                <a:spcPct val="100000"/>
              </a:lnSpc>
              <a:spcBef>
                <a:spcPts val="1000"/>
              </a:spcBef>
              <a:spcAft>
                <a:spcPts val="0"/>
              </a:spcAft>
              <a:buNone/>
            </a:pPr>
            <a:r>
              <a:t/>
            </a:r>
            <a:endParaRPr sz="205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pic>
        <p:nvPicPr>
          <p:cNvPr id="653" name="Google Shape;653;p82"/>
          <p:cNvPicPr preferRelativeResize="0"/>
          <p:nvPr/>
        </p:nvPicPr>
        <p:blipFill rotWithShape="1">
          <a:blip r:embed="rId3">
            <a:alphaModFix/>
          </a:blip>
          <a:srcRect b="0" l="0" r="0" t="0"/>
          <a:stretch/>
        </p:blipFill>
        <p:spPr>
          <a:xfrm>
            <a:off x="7990950" y="1822975"/>
            <a:ext cx="3566725" cy="3987425"/>
          </a:xfrm>
          <a:prstGeom prst="rect">
            <a:avLst/>
          </a:prstGeom>
          <a:noFill/>
          <a:ln>
            <a:noFill/>
          </a:ln>
        </p:spPr>
      </p:pic>
      <p:sp>
        <p:nvSpPr>
          <p:cNvPr id="654" name="Google Shape;654;p82"/>
          <p:cNvSpPr txBox="1"/>
          <p:nvPr/>
        </p:nvSpPr>
        <p:spPr>
          <a:xfrm>
            <a:off x="8282425" y="2028425"/>
            <a:ext cx="2983800" cy="26715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The corporate team has good sales processes in place</a:t>
            </a:r>
            <a:endParaRPr sz="1600">
              <a:solidFill>
                <a:srgbClr val="434343"/>
              </a:solidFill>
              <a:latin typeface="Calibri"/>
              <a:ea typeface="Calibri"/>
              <a:cs typeface="Calibri"/>
              <a:sym typeface="Calibri"/>
            </a:endParaRPr>
          </a:p>
          <a:p>
            <a:pPr indent="-298450" lvl="0" marL="285750" marR="0" rtl="0" algn="l">
              <a:lnSpc>
                <a:spcPct val="142857"/>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Marketing can support these processes</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83"/>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  </a:t>
            </a:r>
            <a:r>
              <a:rPr lang="en-US"/>
              <a:t>Outreach </a:t>
            </a:r>
            <a:r>
              <a:rPr b="0" i="1" lang="en-US">
                <a:latin typeface="Calibri"/>
                <a:ea typeface="Calibri"/>
                <a:cs typeface="Calibri"/>
                <a:sym typeface="Calibri"/>
              </a:rPr>
              <a:t>- Internal Collaboration</a:t>
            </a:r>
            <a:endParaRPr b="0" i="1">
              <a:latin typeface="Calibri"/>
              <a:ea typeface="Calibri"/>
              <a:cs typeface="Calibri"/>
              <a:sym typeface="Calibri"/>
            </a:endParaRPr>
          </a:p>
        </p:txBody>
      </p:sp>
      <p:sp>
        <p:nvSpPr>
          <p:cNvPr id="660" name="Google Shape;660;p83"/>
          <p:cNvSpPr txBox="1"/>
          <p:nvPr>
            <p:ph idx="1" type="body"/>
          </p:nvPr>
        </p:nvSpPr>
        <p:spPr>
          <a:xfrm>
            <a:off x="364750" y="1822975"/>
            <a:ext cx="9905700" cy="4188000"/>
          </a:xfrm>
          <a:prstGeom prst="rect">
            <a:avLst/>
          </a:prstGeom>
          <a:noFill/>
          <a:ln>
            <a:noFill/>
          </a:ln>
        </p:spPr>
        <p:txBody>
          <a:bodyPr anchorCtr="0" anchor="t" bIns="45700" lIns="91425" spcFirstLastPara="1" rIns="91425" wrap="square" tIns="45700">
            <a:noAutofit/>
          </a:bodyPr>
          <a:lstStyle/>
          <a:p>
            <a:pPr indent="-358775" lvl="1" marL="800100" marR="0" rtl="0" algn="l">
              <a:lnSpc>
                <a:spcPct val="100000"/>
              </a:lnSpc>
              <a:spcBef>
                <a:spcPts val="1000"/>
              </a:spcBef>
              <a:spcAft>
                <a:spcPts val="0"/>
              </a:spcAft>
              <a:buClr>
                <a:schemeClr val="accent2"/>
              </a:buClr>
              <a:buSzPts val="1850"/>
              <a:buFont typeface="Noto Sans Symbols"/>
              <a:buChar char="✔"/>
            </a:pPr>
            <a:r>
              <a:rPr lang="en-US" sz="1850"/>
              <a:t>Once the main marketing foundation and activities are in place, WBE Canada can create an internal collaboration process to:</a:t>
            </a:r>
            <a:endParaRPr sz="1850"/>
          </a:p>
          <a:p>
            <a:pPr indent="-231775" lvl="2" marL="1143000" marR="0" rtl="0" algn="l">
              <a:lnSpc>
                <a:spcPct val="100000"/>
              </a:lnSpc>
              <a:spcBef>
                <a:spcPts val="1000"/>
              </a:spcBef>
              <a:spcAft>
                <a:spcPts val="0"/>
              </a:spcAft>
              <a:buClr>
                <a:schemeClr val="accent2"/>
              </a:buClr>
              <a:buSzPts val="1850"/>
              <a:buFont typeface="Noto Sans Symbols"/>
              <a:buChar char="•"/>
            </a:pPr>
            <a:r>
              <a:rPr lang="en-US" sz="1850"/>
              <a:t>Inform all teams when new corporate buyers or WBEs come on board</a:t>
            </a:r>
            <a:endParaRPr sz="1850"/>
          </a:p>
          <a:p>
            <a:pPr indent="-231775" lvl="2" marL="1143000" marR="0" rtl="0" algn="l">
              <a:lnSpc>
                <a:spcPct val="100000"/>
              </a:lnSpc>
              <a:spcBef>
                <a:spcPts val="1000"/>
              </a:spcBef>
              <a:spcAft>
                <a:spcPts val="0"/>
              </a:spcAft>
              <a:buClr>
                <a:schemeClr val="accent2"/>
              </a:buClr>
              <a:buSzPts val="1850"/>
              <a:buFont typeface="Noto Sans Symbols"/>
              <a:buChar char="•"/>
            </a:pPr>
            <a:r>
              <a:rPr lang="en-US" sz="1850"/>
              <a:t>Determine if outreach is needed to either get more WBEs for the new buyer, or target more corporate buyers for groups of WBEs</a:t>
            </a:r>
            <a:endParaRPr sz="1850"/>
          </a:p>
          <a:p>
            <a:pPr indent="0" lvl="0" marL="0" marR="0" rtl="0" algn="l">
              <a:lnSpc>
                <a:spcPct val="100000"/>
              </a:lnSpc>
              <a:spcBef>
                <a:spcPts val="1000"/>
              </a:spcBef>
              <a:spcAft>
                <a:spcPts val="0"/>
              </a:spcAft>
              <a:buNone/>
            </a:pPr>
            <a:r>
              <a:rPr lang="en-US" sz="1850"/>
              <a:t> </a:t>
            </a:r>
            <a:endParaRPr sz="1550"/>
          </a:p>
          <a:p>
            <a:pPr indent="0" lvl="0" marL="0" marR="0" rtl="0" algn="ctr">
              <a:lnSpc>
                <a:spcPct val="100000"/>
              </a:lnSpc>
              <a:spcBef>
                <a:spcPts val="1000"/>
              </a:spcBef>
              <a:spcAft>
                <a:spcPts val="0"/>
              </a:spcAft>
              <a:buNone/>
            </a:pPr>
            <a:r>
              <a:t/>
            </a:r>
            <a:endParaRPr sz="1950"/>
          </a:p>
          <a:p>
            <a:pPr indent="0" lvl="0" marL="0" marR="0" rtl="0" algn="ctr">
              <a:lnSpc>
                <a:spcPct val="100000"/>
              </a:lnSpc>
              <a:spcBef>
                <a:spcPts val="1000"/>
              </a:spcBef>
              <a:spcAft>
                <a:spcPts val="0"/>
              </a:spcAft>
              <a:buNone/>
            </a:pPr>
            <a:r>
              <a:t/>
            </a:r>
            <a:endParaRPr sz="1950"/>
          </a:p>
          <a:p>
            <a:pPr indent="0" lvl="0" marL="0" marR="0" rtl="0" algn="ctr">
              <a:lnSpc>
                <a:spcPct val="100000"/>
              </a:lnSpc>
              <a:spcBef>
                <a:spcPts val="1000"/>
              </a:spcBef>
              <a:spcAft>
                <a:spcPts val="0"/>
              </a:spcAft>
              <a:buNone/>
            </a:pPr>
            <a:r>
              <a:t/>
            </a:r>
            <a:endParaRPr sz="1950"/>
          </a:p>
          <a:p>
            <a:pPr indent="0" lvl="0" marL="0" marR="0" rtl="0" algn="l">
              <a:lnSpc>
                <a:spcPct val="100000"/>
              </a:lnSpc>
              <a:spcBef>
                <a:spcPts val="1000"/>
              </a:spcBef>
              <a:spcAft>
                <a:spcPts val="0"/>
              </a:spcAft>
              <a:buNone/>
            </a:pPr>
            <a:r>
              <a:t/>
            </a:r>
            <a:endParaRPr sz="1950"/>
          </a:p>
          <a:p>
            <a:pPr indent="0" lvl="0" marL="0" rtl="0" algn="l">
              <a:lnSpc>
                <a:spcPct val="100000"/>
              </a:lnSpc>
              <a:spcBef>
                <a:spcPts val="1000"/>
              </a:spcBef>
              <a:spcAft>
                <a:spcPts val="0"/>
              </a:spcAft>
              <a:buNone/>
            </a:pPr>
            <a:r>
              <a:t/>
            </a:r>
            <a:endParaRPr sz="205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84"/>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Retention &amp; Referrals</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pic>
        <p:nvPicPr>
          <p:cNvPr id="670" name="Google Shape;670;p85"/>
          <p:cNvPicPr preferRelativeResize="0"/>
          <p:nvPr/>
        </p:nvPicPr>
        <p:blipFill rotWithShape="1">
          <a:blip r:embed="rId3">
            <a:alphaModFix/>
          </a:blip>
          <a:srcRect b="0" l="0" r="0" t="0"/>
          <a:stretch/>
        </p:blipFill>
        <p:spPr>
          <a:xfrm>
            <a:off x="8519625" y="1943100"/>
            <a:ext cx="3037925" cy="3655825"/>
          </a:xfrm>
          <a:prstGeom prst="rect">
            <a:avLst/>
          </a:prstGeom>
          <a:noFill/>
          <a:ln>
            <a:noFill/>
          </a:ln>
        </p:spPr>
      </p:pic>
      <p:sp>
        <p:nvSpPr>
          <p:cNvPr id="671" name="Google Shape;671;p85"/>
          <p:cNvSpPr txBox="1"/>
          <p:nvPr>
            <p:ph type="title"/>
          </p:nvPr>
        </p:nvSpPr>
        <p:spPr>
          <a:xfrm>
            <a:off x="497275" y="784225"/>
            <a:ext cx="114960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sz="3700">
                <a:latin typeface="Calibri"/>
                <a:ea typeface="Calibri"/>
                <a:cs typeface="Calibri"/>
                <a:sym typeface="Calibri"/>
              </a:rPr>
              <a:t>Retention &amp; Referrals: </a:t>
            </a:r>
            <a:r>
              <a:rPr b="0" i="1" lang="en-US" sz="3700">
                <a:latin typeface="Calibri"/>
                <a:ea typeface="Calibri"/>
                <a:cs typeface="Calibri"/>
                <a:sym typeface="Calibri"/>
              </a:rPr>
              <a:t>Communication &amp; Engagement</a:t>
            </a:r>
            <a:r>
              <a:rPr b="0" i="1" lang="en-US" sz="4200">
                <a:solidFill>
                  <a:schemeClr val="accent5"/>
                </a:solidFill>
                <a:latin typeface="Calibri"/>
                <a:ea typeface="Calibri"/>
                <a:cs typeface="Calibri"/>
                <a:sym typeface="Calibri"/>
              </a:rPr>
              <a:t> </a:t>
            </a:r>
            <a:endParaRPr b="0" i="1" sz="4200">
              <a:solidFill>
                <a:schemeClr val="accent5"/>
              </a:solidFill>
              <a:latin typeface="Calibri"/>
              <a:ea typeface="Calibri"/>
              <a:cs typeface="Calibri"/>
              <a:sym typeface="Calibri"/>
            </a:endParaRPr>
          </a:p>
        </p:txBody>
      </p:sp>
      <p:sp>
        <p:nvSpPr>
          <p:cNvPr id="672" name="Google Shape;672;p85"/>
          <p:cNvSpPr txBox="1"/>
          <p:nvPr>
            <p:ph idx="1" type="body"/>
          </p:nvPr>
        </p:nvSpPr>
        <p:spPr>
          <a:xfrm>
            <a:off x="255950" y="1943100"/>
            <a:ext cx="7560300" cy="4517700"/>
          </a:xfrm>
          <a:prstGeom prst="rect">
            <a:avLst/>
          </a:prstGeom>
          <a:noFill/>
          <a:ln>
            <a:noFill/>
          </a:ln>
        </p:spPr>
        <p:txBody>
          <a:bodyPr anchorCtr="0" anchor="t" bIns="45700" lIns="91425" spcFirstLastPara="1" rIns="91425" wrap="square" tIns="45700">
            <a:noAutofit/>
          </a:bodyPr>
          <a:lstStyle/>
          <a:p>
            <a:pPr indent="-384175" lvl="1" marL="800100" marR="0" rtl="0" algn="l">
              <a:lnSpc>
                <a:spcPct val="100000"/>
              </a:lnSpc>
              <a:spcBef>
                <a:spcPts val="1000"/>
              </a:spcBef>
              <a:spcAft>
                <a:spcPts val="0"/>
              </a:spcAft>
              <a:buClr>
                <a:schemeClr val="accent2"/>
              </a:buClr>
              <a:buSzPts val="2250"/>
              <a:buFont typeface="Noto Sans Symbols"/>
              <a:buChar char="✔"/>
            </a:pPr>
            <a:r>
              <a:rPr lang="en-US" sz="2250"/>
              <a:t>The best way to create referral members and sponsors is to provide a great experience and make sure they’re taking advantage of all WBE has to offer</a:t>
            </a:r>
            <a:endParaRPr sz="2250"/>
          </a:p>
          <a:p>
            <a:pPr indent="-384175" lvl="1" marL="800100" marR="0" rtl="0" algn="l">
              <a:lnSpc>
                <a:spcPct val="100000"/>
              </a:lnSpc>
              <a:spcBef>
                <a:spcPts val="1000"/>
              </a:spcBef>
              <a:spcAft>
                <a:spcPts val="0"/>
              </a:spcAft>
              <a:buClr>
                <a:schemeClr val="accent2"/>
              </a:buClr>
              <a:buSzPts val="2250"/>
              <a:buFont typeface="Noto Sans Symbols"/>
              <a:buChar char="✔"/>
            </a:pPr>
            <a:r>
              <a:rPr lang="en-US" sz="2250"/>
              <a:t>One of the main challenges is email communication on both the WBE and corporate side - they’re not opening or reading emails, and this impacts connection, participation  - and perceived value/retention/referrals</a:t>
            </a:r>
            <a:endParaRPr sz="2050"/>
          </a:p>
          <a:p>
            <a:pPr indent="0" lvl="0" marL="0" rtl="0" algn="l">
              <a:lnSpc>
                <a:spcPct val="100000"/>
              </a:lnSpc>
              <a:spcBef>
                <a:spcPts val="1000"/>
              </a:spcBef>
              <a:spcAft>
                <a:spcPts val="0"/>
              </a:spcAft>
              <a:buNone/>
            </a:pPr>
            <a:r>
              <a:t/>
            </a:r>
            <a:endParaRPr sz="205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
        <p:nvSpPr>
          <p:cNvPr id="673" name="Google Shape;673;p85"/>
          <p:cNvSpPr txBox="1"/>
          <p:nvPr/>
        </p:nvSpPr>
        <p:spPr>
          <a:xfrm>
            <a:off x="8277925" y="2272650"/>
            <a:ext cx="3037800" cy="1298100"/>
          </a:xfrm>
          <a:prstGeom prst="rect">
            <a:avLst/>
          </a:prstGeom>
          <a:noFill/>
          <a:ln>
            <a:noFill/>
          </a:ln>
        </p:spPr>
        <p:txBody>
          <a:bodyPr anchorCtr="0" anchor="t" bIns="91425" lIns="91425" spcFirstLastPara="1" rIns="91425" wrap="square" tIns="91425">
            <a:spAutoFit/>
          </a:bodyPr>
          <a:lstStyle/>
          <a:p>
            <a:pPr indent="-355600" lvl="1" marL="800100" rtl="0" algn="l">
              <a:spcBef>
                <a:spcPts val="1000"/>
              </a:spcBef>
              <a:spcAft>
                <a:spcPts val="0"/>
              </a:spcAft>
              <a:buClr>
                <a:schemeClr val="dk1"/>
              </a:buClr>
              <a:buSzPts val="1800"/>
              <a:buFont typeface="Calibri"/>
              <a:buChar char="✔"/>
            </a:pPr>
            <a:r>
              <a:rPr lang="en-US">
                <a:latin typeface="Calibri"/>
                <a:ea typeface="Calibri"/>
                <a:cs typeface="Calibri"/>
                <a:sym typeface="Calibri"/>
              </a:rPr>
              <a:t>Referrals and retention are important</a:t>
            </a:r>
            <a:endParaRPr>
              <a:latin typeface="Calibri"/>
              <a:ea typeface="Calibri"/>
              <a:cs typeface="Calibri"/>
              <a:sym typeface="Calibri"/>
            </a:endParaRPr>
          </a:p>
          <a:p>
            <a:pPr indent="-355600" lvl="1" marL="800100" rtl="0" algn="l">
              <a:spcBef>
                <a:spcPts val="1000"/>
              </a:spcBef>
              <a:spcAft>
                <a:spcPts val="0"/>
              </a:spcAft>
              <a:buClr>
                <a:schemeClr val="dk1"/>
              </a:buClr>
              <a:buSzPts val="1800"/>
              <a:buFont typeface="Calibri"/>
              <a:buChar char="✔"/>
            </a:pPr>
            <a:r>
              <a:rPr lang="en-US">
                <a:latin typeface="Calibri"/>
                <a:ea typeface="Calibri"/>
                <a:cs typeface="Calibri"/>
                <a:sym typeface="Calibri"/>
              </a:rPr>
              <a:t>If something isn’t working, find another way</a:t>
            </a:r>
            <a:endParaRPr>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pic>
        <p:nvPicPr>
          <p:cNvPr id="678" name="Google Shape;678;p86"/>
          <p:cNvPicPr preferRelativeResize="0"/>
          <p:nvPr/>
        </p:nvPicPr>
        <p:blipFill rotWithShape="1">
          <a:blip r:embed="rId3">
            <a:alphaModFix/>
          </a:blip>
          <a:srcRect b="0" l="0" r="0" t="0"/>
          <a:stretch/>
        </p:blipFill>
        <p:spPr>
          <a:xfrm>
            <a:off x="8519625" y="1943100"/>
            <a:ext cx="3037925" cy="3655825"/>
          </a:xfrm>
          <a:prstGeom prst="rect">
            <a:avLst/>
          </a:prstGeom>
          <a:noFill/>
          <a:ln>
            <a:noFill/>
          </a:ln>
        </p:spPr>
      </p:pic>
      <p:sp>
        <p:nvSpPr>
          <p:cNvPr id="679" name="Google Shape;679;p86"/>
          <p:cNvSpPr txBox="1"/>
          <p:nvPr>
            <p:ph type="title"/>
          </p:nvPr>
        </p:nvSpPr>
        <p:spPr>
          <a:xfrm>
            <a:off x="497275" y="784225"/>
            <a:ext cx="11694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3960"/>
              <a:buFont typeface="Calibri"/>
              <a:buNone/>
            </a:pPr>
            <a:r>
              <a:rPr lang="en-US" sz="3760">
                <a:latin typeface="Calibri"/>
                <a:ea typeface="Calibri"/>
                <a:cs typeface="Calibri"/>
                <a:sym typeface="Calibri"/>
              </a:rPr>
              <a:t>Retention &amp; Referrals: </a:t>
            </a:r>
            <a:r>
              <a:rPr b="0" i="1" lang="en-US" sz="3760">
                <a:latin typeface="Calibri"/>
                <a:ea typeface="Calibri"/>
                <a:cs typeface="Calibri"/>
                <a:sym typeface="Calibri"/>
              </a:rPr>
              <a:t>Communication &amp; Engagement</a:t>
            </a:r>
            <a:r>
              <a:rPr b="0" i="1" lang="en-US" sz="3760">
                <a:solidFill>
                  <a:schemeClr val="accent5"/>
                </a:solidFill>
                <a:latin typeface="Calibri"/>
                <a:ea typeface="Calibri"/>
                <a:cs typeface="Calibri"/>
                <a:sym typeface="Calibri"/>
              </a:rPr>
              <a:t> </a:t>
            </a:r>
            <a:endParaRPr b="0" i="1" sz="3760">
              <a:solidFill>
                <a:schemeClr val="accent5"/>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3960"/>
              <a:buFont typeface="Calibri"/>
              <a:buNone/>
            </a:pPr>
            <a:r>
              <a:t/>
            </a:r>
            <a:endParaRPr sz="3960">
              <a:solidFill>
                <a:schemeClr val="accent5"/>
              </a:solidFill>
            </a:endParaRPr>
          </a:p>
        </p:txBody>
      </p:sp>
      <p:sp>
        <p:nvSpPr>
          <p:cNvPr id="680" name="Google Shape;680;p86"/>
          <p:cNvSpPr txBox="1"/>
          <p:nvPr>
            <p:ph idx="1" type="body"/>
          </p:nvPr>
        </p:nvSpPr>
        <p:spPr>
          <a:xfrm>
            <a:off x="297825" y="1878600"/>
            <a:ext cx="7980000" cy="4431600"/>
          </a:xfrm>
          <a:prstGeom prst="rect">
            <a:avLst/>
          </a:prstGeom>
          <a:noFill/>
          <a:ln>
            <a:noFill/>
          </a:ln>
        </p:spPr>
        <p:txBody>
          <a:bodyPr anchorCtr="0" anchor="t" bIns="45700" lIns="91425" spcFirstLastPara="1" rIns="91425" wrap="square" tIns="45700">
            <a:noAutofit/>
          </a:bodyPr>
          <a:lstStyle/>
          <a:p>
            <a:pPr indent="-365125" lvl="1" marL="800100" marR="0" rtl="0" algn="l">
              <a:lnSpc>
                <a:spcPct val="100000"/>
              </a:lnSpc>
              <a:spcBef>
                <a:spcPts val="1000"/>
              </a:spcBef>
              <a:spcAft>
                <a:spcPts val="0"/>
              </a:spcAft>
              <a:buClr>
                <a:schemeClr val="accent2"/>
              </a:buClr>
              <a:buSzPts val="1950"/>
              <a:buFont typeface="Noto Sans Symbols"/>
              <a:buChar char="✔"/>
            </a:pPr>
            <a:r>
              <a:rPr lang="en-US" sz="1950"/>
              <a:t>Recommendation: Create an expected and predictable single source of information and eliminate as many emails as possible</a:t>
            </a:r>
            <a:endParaRPr sz="1950"/>
          </a:p>
          <a:p>
            <a:pPr indent="-238125" lvl="2" marL="1028700" marR="0" rtl="0" algn="l">
              <a:lnSpc>
                <a:spcPct val="100000"/>
              </a:lnSpc>
              <a:spcBef>
                <a:spcPts val="1000"/>
              </a:spcBef>
              <a:spcAft>
                <a:spcPts val="0"/>
              </a:spcAft>
              <a:buClr>
                <a:schemeClr val="accent2"/>
              </a:buClr>
              <a:buSzPts val="1950"/>
              <a:buFont typeface="Noto Sans Symbols"/>
              <a:buChar char="•"/>
            </a:pPr>
            <a:r>
              <a:rPr lang="en-US" sz="1950"/>
              <a:t>Have a regularly scheduled Zoom call on the same day and time every month (or two months, or quarter)</a:t>
            </a:r>
            <a:endParaRPr sz="1950"/>
          </a:p>
          <a:p>
            <a:pPr indent="-238125" lvl="2" marL="1028700" marR="0" rtl="0" algn="l">
              <a:lnSpc>
                <a:spcPct val="100000"/>
              </a:lnSpc>
              <a:spcBef>
                <a:spcPts val="1000"/>
              </a:spcBef>
              <a:spcAft>
                <a:spcPts val="0"/>
              </a:spcAft>
              <a:buClr>
                <a:schemeClr val="accent2"/>
              </a:buClr>
              <a:buSzPts val="1950"/>
              <a:buFont typeface="Noto Sans Symbols"/>
              <a:buChar char="•"/>
            </a:pPr>
            <a:r>
              <a:rPr lang="en-US" sz="1950"/>
              <a:t>This is where all information is about what’s new, what’s going on, and what’s coming up is shared</a:t>
            </a:r>
            <a:endParaRPr sz="1950"/>
          </a:p>
          <a:p>
            <a:pPr indent="-238125" lvl="2" marL="1028700" marR="0" rtl="0" algn="l">
              <a:lnSpc>
                <a:spcPct val="100000"/>
              </a:lnSpc>
              <a:spcBef>
                <a:spcPts val="1000"/>
              </a:spcBef>
              <a:spcAft>
                <a:spcPts val="0"/>
              </a:spcAft>
              <a:buClr>
                <a:schemeClr val="accent2"/>
              </a:buClr>
              <a:buSzPts val="1950"/>
              <a:buFont typeface="Noto Sans Symbols"/>
              <a:buChar char="•"/>
            </a:pPr>
            <a:r>
              <a:rPr lang="en-US" sz="1950"/>
              <a:t>Call is recorded and uploaded to a single “Communication or What’s New” page - Members can access the information in their preferred way: video recording, audio recording, transcript, summary</a:t>
            </a:r>
            <a:endParaRPr sz="1950"/>
          </a:p>
          <a:p>
            <a:pPr indent="-238125" lvl="2" marL="1028700" marR="0" rtl="0" algn="l">
              <a:lnSpc>
                <a:spcPct val="100000"/>
              </a:lnSpc>
              <a:spcBef>
                <a:spcPts val="1000"/>
              </a:spcBef>
              <a:spcAft>
                <a:spcPts val="0"/>
              </a:spcAft>
              <a:buClr>
                <a:schemeClr val="accent2"/>
              </a:buClr>
              <a:buSzPts val="1950"/>
              <a:buFont typeface="Noto Sans Symbols"/>
              <a:buChar char="•"/>
            </a:pPr>
            <a:r>
              <a:rPr lang="en-US" sz="1950"/>
              <a:t>One email is sent as a reminder for the Zoom, one email is sent following the call as a summary with a link.</a:t>
            </a:r>
            <a:endParaRPr sz="1950"/>
          </a:p>
          <a:p>
            <a:pPr indent="-238125" lvl="1" marL="685800" marR="0" rtl="0" algn="l">
              <a:lnSpc>
                <a:spcPct val="100000"/>
              </a:lnSpc>
              <a:spcBef>
                <a:spcPts val="1000"/>
              </a:spcBef>
              <a:spcAft>
                <a:spcPts val="0"/>
              </a:spcAft>
              <a:buSzPts val="1950"/>
              <a:buChar char="✔"/>
            </a:pPr>
            <a:r>
              <a:rPr lang="en-US" sz="1950"/>
              <a:t>Action Step: Create a guide for WBE Canada staff to implement</a:t>
            </a:r>
            <a:endParaRPr sz="1950"/>
          </a:p>
          <a:p>
            <a:pPr indent="0" lvl="0" marL="0" rtl="0" algn="l">
              <a:lnSpc>
                <a:spcPct val="100000"/>
              </a:lnSpc>
              <a:spcBef>
                <a:spcPts val="1000"/>
              </a:spcBef>
              <a:spcAft>
                <a:spcPts val="0"/>
              </a:spcAft>
              <a:buNone/>
            </a:pPr>
            <a:r>
              <a:t/>
            </a:r>
            <a:endParaRPr sz="205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
        <p:nvSpPr>
          <p:cNvPr id="681" name="Google Shape;681;p86"/>
          <p:cNvSpPr txBox="1"/>
          <p:nvPr/>
        </p:nvSpPr>
        <p:spPr>
          <a:xfrm>
            <a:off x="8277925" y="2272650"/>
            <a:ext cx="3037800" cy="3186300"/>
          </a:xfrm>
          <a:prstGeom prst="rect">
            <a:avLst/>
          </a:prstGeom>
          <a:noFill/>
          <a:ln>
            <a:noFill/>
          </a:ln>
        </p:spPr>
        <p:txBody>
          <a:bodyPr anchorCtr="0" anchor="t" bIns="91425" lIns="91425" spcFirstLastPara="1" rIns="91425" wrap="square" tIns="91425">
            <a:spAutoFit/>
          </a:bodyPr>
          <a:lstStyle/>
          <a:p>
            <a:pPr indent="-355600" lvl="1" marL="800100" rtl="0" algn="l">
              <a:spcBef>
                <a:spcPts val="1000"/>
              </a:spcBef>
              <a:spcAft>
                <a:spcPts val="0"/>
              </a:spcAft>
              <a:buClr>
                <a:schemeClr val="dk1"/>
              </a:buClr>
              <a:buSzPts val="1800"/>
              <a:buChar char="✔"/>
            </a:pPr>
            <a:r>
              <a:rPr lang="en-US">
                <a:latin typeface="Calibri"/>
                <a:ea typeface="Calibri"/>
                <a:cs typeface="Calibri"/>
                <a:sym typeface="Calibri"/>
              </a:rPr>
              <a:t>Increases connection with WBE - additional value</a:t>
            </a:r>
            <a:endParaRPr>
              <a:latin typeface="Calibri"/>
              <a:ea typeface="Calibri"/>
              <a:cs typeface="Calibri"/>
              <a:sym typeface="Calibri"/>
            </a:endParaRPr>
          </a:p>
          <a:p>
            <a:pPr indent="-355600" lvl="1" marL="800100" rtl="0" algn="l">
              <a:spcBef>
                <a:spcPts val="1000"/>
              </a:spcBef>
              <a:spcAft>
                <a:spcPts val="0"/>
              </a:spcAft>
              <a:buClr>
                <a:schemeClr val="dk1"/>
              </a:buClr>
              <a:buSzPts val="1800"/>
              <a:buFont typeface="Calibri"/>
              <a:buChar char="✔"/>
            </a:pPr>
            <a:r>
              <a:rPr lang="en-US">
                <a:latin typeface="Calibri"/>
                <a:ea typeface="Calibri"/>
                <a:cs typeface="Calibri"/>
                <a:sym typeface="Calibri"/>
              </a:rPr>
              <a:t>Predictable, regularly scheduled updates they can put on the calendar</a:t>
            </a:r>
            <a:endParaRPr>
              <a:latin typeface="Calibri"/>
              <a:ea typeface="Calibri"/>
              <a:cs typeface="Calibri"/>
              <a:sym typeface="Calibri"/>
            </a:endParaRPr>
          </a:p>
          <a:p>
            <a:pPr indent="-355600" lvl="1" marL="800100" rtl="0" algn="l">
              <a:spcBef>
                <a:spcPts val="1000"/>
              </a:spcBef>
              <a:spcAft>
                <a:spcPts val="0"/>
              </a:spcAft>
              <a:buClr>
                <a:schemeClr val="dk1"/>
              </a:buClr>
              <a:buSzPts val="1800"/>
              <a:buFont typeface="Calibri"/>
              <a:buChar char="✔"/>
            </a:pPr>
            <a:r>
              <a:rPr lang="en-US">
                <a:latin typeface="Calibri"/>
                <a:ea typeface="Calibri"/>
                <a:cs typeface="Calibri"/>
                <a:sym typeface="Calibri"/>
              </a:rPr>
              <a:t>Always know when it will be happening, always know the single place to go to get updates</a:t>
            </a:r>
            <a:endParaRPr>
              <a:latin typeface="Calibri"/>
              <a:ea typeface="Calibri"/>
              <a:cs typeface="Calibri"/>
              <a:sym typeface="Calibri"/>
            </a:endParaRPr>
          </a:p>
          <a:p>
            <a:pPr indent="-355600" lvl="1" marL="800100" rtl="0" algn="l">
              <a:spcBef>
                <a:spcPts val="1000"/>
              </a:spcBef>
              <a:spcAft>
                <a:spcPts val="0"/>
              </a:spcAft>
              <a:buClr>
                <a:schemeClr val="dk1"/>
              </a:buClr>
              <a:buSzPts val="1800"/>
              <a:buFont typeface="Calibri"/>
              <a:buChar char="✔"/>
            </a:pPr>
            <a:r>
              <a:rPr lang="en-US">
                <a:latin typeface="Calibri"/>
                <a:ea typeface="Calibri"/>
                <a:cs typeface="Calibri"/>
                <a:sym typeface="Calibri"/>
              </a:rPr>
              <a:t>Set this expectation with new WBEs &amp; Corps</a:t>
            </a:r>
            <a:endParaRPr>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87"/>
          <p:cNvPicPr preferRelativeResize="0"/>
          <p:nvPr/>
        </p:nvPicPr>
        <p:blipFill rotWithShape="1">
          <a:blip r:embed="rId3">
            <a:alphaModFix/>
          </a:blip>
          <a:srcRect b="0" l="0" r="0" t="0"/>
          <a:stretch/>
        </p:blipFill>
        <p:spPr>
          <a:xfrm>
            <a:off x="8519625" y="1943100"/>
            <a:ext cx="3037925" cy="3655825"/>
          </a:xfrm>
          <a:prstGeom prst="rect">
            <a:avLst/>
          </a:prstGeom>
          <a:noFill/>
          <a:ln>
            <a:noFill/>
          </a:ln>
        </p:spPr>
      </p:pic>
      <p:sp>
        <p:nvSpPr>
          <p:cNvPr id="687" name="Google Shape;687;p87"/>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3960"/>
              <a:buFont typeface="Calibri"/>
              <a:buNone/>
            </a:pPr>
            <a:r>
              <a:rPr lang="en-US" sz="3760">
                <a:latin typeface="Calibri"/>
                <a:ea typeface="Calibri"/>
                <a:cs typeface="Calibri"/>
                <a:sym typeface="Calibri"/>
              </a:rPr>
              <a:t>Retention &amp; Referrals: </a:t>
            </a:r>
            <a:r>
              <a:rPr b="0" i="1" lang="en-US" sz="3760">
                <a:latin typeface="Calibri"/>
                <a:ea typeface="Calibri"/>
                <a:cs typeface="Calibri"/>
                <a:sym typeface="Calibri"/>
              </a:rPr>
              <a:t>Onboarding &amp; Expectations</a:t>
            </a:r>
            <a:endParaRPr b="0" i="1" sz="3760">
              <a:solidFill>
                <a:schemeClr val="accent5"/>
              </a:solidFill>
              <a:latin typeface="Calibri"/>
              <a:ea typeface="Calibri"/>
              <a:cs typeface="Calibri"/>
              <a:sym typeface="Calibri"/>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688" name="Google Shape;688;p87"/>
          <p:cNvSpPr txBox="1"/>
          <p:nvPr>
            <p:ph idx="1" type="body"/>
          </p:nvPr>
        </p:nvSpPr>
        <p:spPr>
          <a:xfrm>
            <a:off x="573925" y="1767500"/>
            <a:ext cx="7704000" cy="443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lang="en-US" sz="2250"/>
              <a:t>Your onboarding process sets the expectations for the WOB and corporate experience with WBE:</a:t>
            </a:r>
            <a:endParaRPr sz="2250"/>
          </a:p>
          <a:p>
            <a:pPr indent="-384175" lvl="1" marL="800100" marR="0" rtl="0" algn="l">
              <a:lnSpc>
                <a:spcPct val="100000"/>
              </a:lnSpc>
              <a:spcBef>
                <a:spcPts val="1000"/>
              </a:spcBef>
              <a:spcAft>
                <a:spcPts val="0"/>
              </a:spcAft>
              <a:buClr>
                <a:schemeClr val="accent2"/>
              </a:buClr>
              <a:buSzPts val="2250"/>
              <a:buFont typeface="Noto Sans Symbols"/>
              <a:buChar char="✔"/>
            </a:pPr>
            <a:r>
              <a:rPr lang="en-US" sz="2250"/>
              <a:t>A gap in expectations can create complaints, distractors and unrest</a:t>
            </a:r>
            <a:endParaRPr sz="2250"/>
          </a:p>
          <a:p>
            <a:pPr indent="-384175" lvl="1" marL="800100" marR="0" rtl="0" algn="l">
              <a:lnSpc>
                <a:spcPct val="100000"/>
              </a:lnSpc>
              <a:spcBef>
                <a:spcPts val="1000"/>
              </a:spcBef>
              <a:spcAft>
                <a:spcPts val="0"/>
              </a:spcAft>
              <a:buClr>
                <a:schemeClr val="accent2"/>
              </a:buClr>
              <a:buSzPts val="2250"/>
              <a:buFont typeface="Noto Sans Symbols"/>
              <a:buChar char="✔"/>
            </a:pPr>
            <a:r>
              <a:rPr lang="en-US" sz="2250"/>
              <a:t>Setting realistic expectations sets the stage for a positive experience, retention and referrals</a:t>
            </a:r>
            <a:endParaRPr sz="2250"/>
          </a:p>
          <a:p>
            <a:pPr indent="-384175" lvl="1" marL="800100" marR="0" rtl="0" algn="l">
              <a:lnSpc>
                <a:spcPct val="100000"/>
              </a:lnSpc>
              <a:spcBef>
                <a:spcPts val="1000"/>
              </a:spcBef>
              <a:spcAft>
                <a:spcPts val="0"/>
              </a:spcAft>
              <a:buClr>
                <a:schemeClr val="accent2"/>
              </a:buClr>
              <a:buSzPts val="2250"/>
              <a:buFont typeface="Noto Sans Symbols"/>
              <a:buChar char="✔"/>
            </a:pPr>
            <a:r>
              <a:rPr lang="en-US" sz="2250"/>
              <a:t>Action Step: Create a Welcome Kit &amp; Onboarding Guide</a:t>
            </a:r>
            <a:endParaRPr sz="1950"/>
          </a:p>
          <a:p>
            <a:pPr indent="0" lvl="0" marL="0" rtl="0" algn="l">
              <a:lnSpc>
                <a:spcPct val="100000"/>
              </a:lnSpc>
              <a:spcBef>
                <a:spcPts val="1000"/>
              </a:spcBef>
              <a:spcAft>
                <a:spcPts val="0"/>
              </a:spcAft>
              <a:buNone/>
            </a:pPr>
            <a:r>
              <a:t/>
            </a:r>
            <a:endParaRPr sz="1650"/>
          </a:p>
        </p:txBody>
      </p:sp>
      <p:sp>
        <p:nvSpPr>
          <p:cNvPr id="689" name="Google Shape;689;p87"/>
          <p:cNvSpPr txBox="1"/>
          <p:nvPr/>
        </p:nvSpPr>
        <p:spPr>
          <a:xfrm>
            <a:off x="8277925" y="2272650"/>
            <a:ext cx="3037800" cy="1708500"/>
          </a:xfrm>
          <a:prstGeom prst="rect">
            <a:avLst/>
          </a:prstGeom>
          <a:noFill/>
          <a:ln>
            <a:noFill/>
          </a:ln>
        </p:spPr>
        <p:txBody>
          <a:bodyPr anchorCtr="0" anchor="t" bIns="91425" lIns="91425" spcFirstLastPara="1" rIns="91425" wrap="square" tIns="91425">
            <a:spAutoFit/>
          </a:bodyPr>
          <a:lstStyle/>
          <a:p>
            <a:pPr indent="-387350" lvl="1" marL="800100" rtl="0" algn="l">
              <a:spcBef>
                <a:spcPts val="1000"/>
              </a:spcBef>
              <a:spcAft>
                <a:spcPts val="0"/>
              </a:spcAft>
              <a:buClr>
                <a:schemeClr val="dk1"/>
              </a:buClr>
              <a:buSzPts val="2300"/>
              <a:buFont typeface="Calibri"/>
              <a:buChar char="✔"/>
            </a:pPr>
            <a:r>
              <a:rPr lang="en-US" sz="1900">
                <a:latin typeface="Calibri"/>
                <a:ea typeface="Calibri"/>
                <a:cs typeface="Calibri"/>
                <a:sym typeface="Calibri"/>
              </a:rPr>
              <a:t>Make sure to set the right expectations from the beginning - and mitigate any expectation gap</a:t>
            </a:r>
            <a:endParaRPr sz="1900">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88"/>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Awareness &amp; </a:t>
            </a:r>
            <a:br>
              <a:rPr lang="en-US"/>
            </a:br>
            <a:r>
              <a:rPr lang="en-US"/>
              <a:t>Inbound Marketing</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8" name="Shape 698"/>
        <p:cNvGrpSpPr/>
        <p:nvPr/>
      </p:nvGrpSpPr>
      <p:grpSpPr>
        <a:xfrm>
          <a:off x="0" y="0"/>
          <a:ext cx="0" cy="0"/>
          <a:chOff x="0" y="0"/>
          <a:chExt cx="0" cy="0"/>
        </a:xfrm>
      </p:grpSpPr>
      <p:sp>
        <p:nvSpPr>
          <p:cNvPr id="699" name="Google Shape;699;p89"/>
          <p:cNvSpPr txBox="1"/>
          <p:nvPr>
            <p:ph type="title"/>
          </p:nvPr>
        </p:nvSpPr>
        <p:spPr>
          <a:xfrm>
            <a:off x="927650" y="784225"/>
            <a:ext cx="106299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Awareness Campaigns:</a:t>
            </a:r>
            <a:endParaRPr/>
          </a:p>
          <a:p>
            <a:pPr indent="0" lvl="0" marL="0" rtl="0" algn="l">
              <a:lnSpc>
                <a:spcPct val="90000"/>
              </a:lnSpc>
              <a:spcBef>
                <a:spcPts val="0"/>
              </a:spcBef>
              <a:spcAft>
                <a:spcPts val="0"/>
              </a:spcAft>
              <a:buClr>
                <a:schemeClr val="accent2"/>
              </a:buClr>
              <a:buSzPts val="4400"/>
              <a:buFont typeface="Calibri"/>
              <a:buNone/>
            </a:pPr>
            <a:r>
              <a:t/>
            </a:r>
            <a:endParaRPr>
              <a:solidFill>
                <a:schemeClr val="accent5"/>
              </a:solidFill>
            </a:endParaRPr>
          </a:p>
        </p:txBody>
      </p:sp>
      <p:sp>
        <p:nvSpPr>
          <p:cNvPr id="700" name="Google Shape;700;p89"/>
          <p:cNvSpPr txBox="1"/>
          <p:nvPr>
            <p:ph idx="1" type="body"/>
          </p:nvPr>
        </p:nvSpPr>
        <p:spPr>
          <a:xfrm>
            <a:off x="629150" y="1711425"/>
            <a:ext cx="9608100" cy="4619700"/>
          </a:xfrm>
          <a:prstGeom prst="rect">
            <a:avLst/>
          </a:prstGeom>
          <a:noFill/>
          <a:ln>
            <a:noFill/>
          </a:ln>
        </p:spPr>
        <p:txBody>
          <a:bodyPr anchorCtr="0" anchor="t" bIns="45700" lIns="91425" spcFirstLastPara="1" rIns="91425" wrap="square" tIns="45700">
            <a:noAutofit/>
          </a:bodyPr>
          <a:lstStyle/>
          <a:p>
            <a:pPr indent="-285750" lvl="1" marL="685800" rtl="0" algn="l">
              <a:lnSpc>
                <a:spcPct val="130000"/>
              </a:lnSpc>
              <a:spcBef>
                <a:spcPts val="1000"/>
              </a:spcBef>
              <a:spcAft>
                <a:spcPts val="0"/>
              </a:spcAft>
              <a:buClr>
                <a:schemeClr val="accent2"/>
              </a:buClr>
              <a:buSzPts val="2700"/>
              <a:buChar char="✔"/>
            </a:pPr>
            <a:r>
              <a:rPr b="1" lang="en-US"/>
              <a:t>Challenge:</a:t>
            </a:r>
            <a:r>
              <a:rPr lang="en-US"/>
              <a:t> Lack of awareness of WBE Canada in general with many women business owners across Canada. </a:t>
            </a:r>
            <a:endParaRPr/>
          </a:p>
          <a:p>
            <a:pPr indent="-266700" lvl="1" marL="685800" rtl="0" algn="l">
              <a:lnSpc>
                <a:spcPct val="130000"/>
              </a:lnSpc>
              <a:spcBef>
                <a:spcPts val="1000"/>
              </a:spcBef>
              <a:spcAft>
                <a:spcPts val="0"/>
              </a:spcAft>
              <a:buClr>
                <a:schemeClr val="accent2"/>
              </a:buClr>
              <a:buSzPts val="2400"/>
              <a:buChar char="✔"/>
            </a:pPr>
            <a:r>
              <a:rPr b="1" lang="en-US"/>
              <a:t>Goals:</a:t>
            </a:r>
            <a:r>
              <a:rPr lang="en-US"/>
              <a:t> Increase awareness of WBE Canada with women business owners and referring organizations across Canada.</a:t>
            </a:r>
            <a:endParaRPr/>
          </a:p>
          <a:p>
            <a:pPr indent="-260350" lvl="1" marL="685800" rtl="0" algn="l">
              <a:lnSpc>
                <a:spcPct val="130000"/>
              </a:lnSpc>
              <a:spcBef>
                <a:spcPts val="1000"/>
              </a:spcBef>
              <a:spcAft>
                <a:spcPts val="0"/>
              </a:spcAft>
              <a:buClr>
                <a:schemeClr val="accent2"/>
              </a:buClr>
              <a:buSzPts val="2300"/>
              <a:buChar char="✔"/>
            </a:pPr>
            <a:r>
              <a:rPr b="1" lang="en-US"/>
              <a:t>Action Steps:</a:t>
            </a:r>
            <a:r>
              <a:rPr lang="en-US"/>
              <a:t> General awareness campaign targeted to all Women Owned Businesses through SEO, PR, hub pages, content marketing and social media. </a:t>
            </a:r>
            <a:endParaRPr/>
          </a:p>
          <a:p>
            <a:pPr indent="457200" lvl="0" marL="0" rtl="0" algn="l">
              <a:lnSpc>
                <a:spcPct val="130000"/>
              </a:lnSpc>
              <a:spcBef>
                <a:spcPts val="1000"/>
              </a:spcBef>
              <a:spcAft>
                <a:spcPts val="0"/>
              </a:spcAft>
              <a:buNone/>
            </a:pPr>
            <a:br>
              <a:rPr i="1" lang="en-US" sz="1400"/>
            </a:br>
            <a:r>
              <a:rPr i="1" lang="en-US" sz="1400"/>
              <a:t>	**While we aren’t specifically targeting Corporates, this campaign will have a residual awareness impact. </a:t>
            </a:r>
            <a:endParaRPr i="1" sz="1400"/>
          </a:p>
          <a:p>
            <a:pPr indent="0" lvl="0" marL="685800" marR="0" rtl="0" algn="l">
              <a:lnSpc>
                <a:spcPct val="100000"/>
              </a:lnSpc>
              <a:spcBef>
                <a:spcPts val="1000"/>
              </a:spcBef>
              <a:spcAft>
                <a:spcPts val="0"/>
              </a:spcAft>
              <a:buNone/>
            </a:pPr>
            <a:r>
              <a:t/>
            </a:r>
            <a:endParaRPr sz="1650"/>
          </a:p>
          <a:p>
            <a:pPr indent="0" lvl="0" marL="0" rtl="0" algn="l">
              <a:lnSpc>
                <a:spcPct val="100000"/>
              </a:lnSpc>
              <a:spcBef>
                <a:spcPts val="1000"/>
              </a:spcBef>
              <a:spcAft>
                <a:spcPts val="0"/>
              </a:spcAft>
              <a:buNone/>
            </a:pPr>
            <a:r>
              <a:t/>
            </a:r>
            <a:endParaRPr sz="165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90"/>
          <p:cNvSpPr txBox="1"/>
          <p:nvPr>
            <p:ph type="title"/>
          </p:nvPr>
        </p:nvSpPr>
        <p:spPr>
          <a:xfrm>
            <a:off x="960775" y="784225"/>
            <a:ext cx="105969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Awareness: </a:t>
            </a:r>
            <a:r>
              <a:rPr b="0" i="1" lang="en-US">
                <a:latin typeface="Calibri"/>
                <a:ea typeface="Calibri"/>
                <a:cs typeface="Calibri"/>
                <a:sym typeface="Calibri"/>
              </a:rPr>
              <a:t>Public Relations</a:t>
            </a:r>
            <a:endParaRPr b="0" i="1">
              <a:latin typeface="Calibri"/>
              <a:ea typeface="Calibri"/>
              <a:cs typeface="Calibri"/>
              <a:sym typeface="Calibri"/>
            </a:endParaRPr>
          </a:p>
        </p:txBody>
      </p:sp>
      <p:sp>
        <p:nvSpPr>
          <p:cNvPr id="706" name="Google Shape;706;p90"/>
          <p:cNvSpPr txBox="1"/>
          <p:nvPr>
            <p:ph idx="1" type="body"/>
          </p:nvPr>
        </p:nvSpPr>
        <p:spPr>
          <a:xfrm>
            <a:off x="548450" y="1727325"/>
            <a:ext cx="5717100" cy="4630200"/>
          </a:xfrm>
          <a:prstGeom prst="rect">
            <a:avLst/>
          </a:prstGeom>
          <a:noFill/>
          <a:ln>
            <a:noFill/>
          </a:ln>
        </p:spPr>
        <p:txBody>
          <a:bodyPr anchorCtr="0" anchor="t" bIns="45700" lIns="91425" spcFirstLastPara="1" rIns="91425" wrap="square" tIns="45700">
            <a:noAutofit/>
          </a:bodyPr>
          <a:lstStyle/>
          <a:p>
            <a:pPr indent="-352425" lvl="1" marL="800100" marR="0" rtl="0" algn="l">
              <a:lnSpc>
                <a:spcPct val="100000"/>
              </a:lnSpc>
              <a:spcBef>
                <a:spcPts val="1000"/>
              </a:spcBef>
              <a:spcAft>
                <a:spcPts val="0"/>
              </a:spcAft>
              <a:buClr>
                <a:schemeClr val="accent2"/>
              </a:buClr>
              <a:buSzPts val="1750"/>
              <a:buFont typeface="Noto Sans Symbols"/>
              <a:buChar char="✔"/>
            </a:pPr>
            <a:r>
              <a:rPr lang="en-US" sz="1750"/>
              <a:t>WBE Canada is a an important council, and its activities are newsworthy and important to many people </a:t>
            </a:r>
            <a:endParaRPr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PR activities can increase awareness of WBE Canada and inform key stakeholders of important events, milestones, and information.</a:t>
            </a:r>
            <a:endParaRPr sz="1750"/>
          </a:p>
          <a:p>
            <a:pPr indent="-352425" lvl="1" marL="800100" marR="0" rtl="0" algn="l">
              <a:lnSpc>
                <a:spcPct val="100000"/>
              </a:lnSpc>
              <a:spcBef>
                <a:spcPts val="1000"/>
              </a:spcBef>
              <a:spcAft>
                <a:spcPts val="0"/>
              </a:spcAft>
              <a:buClr>
                <a:schemeClr val="accent2"/>
              </a:buClr>
              <a:buSzPts val="1750"/>
              <a:buFont typeface="Noto Sans Symbols"/>
              <a:buChar char="✔"/>
            </a:pPr>
            <a:r>
              <a:rPr lang="en-US" sz="1750"/>
              <a:t>News releases can be posted online to increase awareness and SEO traffic back to the website</a:t>
            </a:r>
            <a:endParaRPr sz="1750"/>
          </a:p>
          <a:p>
            <a:pPr indent="-352425" lvl="1" marL="800100" marR="0" rtl="0" algn="l">
              <a:lnSpc>
                <a:spcPct val="100000"/>
              </a:lnSpc>
              <a:spcBef>
                <a:spcPts val="1000"/>
              </a:spcBef>
              <a:spcAft>
                <a:spcPts val="0"/>
              </a:spcAft>
              <a:buClr>
                <a:schemeClr val="accent2"/>
              </a:buClr>
              <a:buSzPts val="1750"/>
              <a:buFont typeface="Noto Sans Symbols"/>
              <a:buChar char="✔"/>
            </a:pPr>
            <a:r>
              <a:rPr lang="en-US" sz="1750"/>
              <a:t>News releases posted on the website can enhance credibility</a:t>
            </a:r>
            <a:endParaRPr sz="1750"/>
          </a:p>
          <a:p>
            <a:pPr indent="-352425" lvl="1" marL="800100" marR="0" rtl="0" algn="l">
              <a:lnSpc>
                <a:spcPct val="100000"/>
              </a:lnSpc>
              <a:spcBef>
                <a:spcPts val="1000"/>
              </a:spcBef>
              <a:spcAft>
                <a:spcPts val="0"/>
              </a:spcAft>
              <a:buClr>
                <a:schemeClr val="accent2"/>
              </a:buClr>
              <a:buSzPts val="1750"/>
              <a:buFont typeface="Noto Sans Symbols"/>
              <a:buChar char="✔"/>
            </a:pPr>
            <a:r>
              <a:rPr lang="en-US" sz="1750"/>
              <a:t>News releases picked up by the media (whether it’s mainstream, local or trade media) and republished has a strong credibility factor.</a:t>
            </a:r>
            <a:endParaRPr sz="2050"/>
          </a:p>
          <a:p>
            <a:pPr indent="0" lvl="0" marL="0" marR="0" rtl="0" algn="l">
              <a:lnSpc>
                <a:spcPct val="100000"/>
              </a:lnSpc>
              <a:spcBef>
                <a:spcPts val="1000"/>
              </a:spcBef>
              <a:spcAft>
                <a:spcPts val="0"/>
              </a:spcAft>
              <a:buNone/>
            </a:pPr>
            <a:r>
              <a:t/>
            </a:r>
            <a:endParaRPr sz="2050"/>
          </a:p>
        </p:txBody>
      </p:sp>
      <p:sp>
        <p:nvSpPr>
          <p:cNvPr id="707" name="Google Shape;707;p90"/>
          <p:cNvSpPr txBox="1"/>
          <p:nvPr>
            <p:ph idx="1" type="body"/>
          </p:nvPr>
        </p:nvSpPr>
        <p:spPr>
          <a:xfrm>
            <a:off x="6182100" y="1651125"/>
            <a:ext cx="57171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lang="en-US" sz="1750"/>
              <a:t>	</a:t>
            </a:r>
            <a:r>
              <a:rPr b="1" lang="en-US" sz="1750"/>
              <a:t>Action Steps:</a:t>
            </a:r>
            <a:endParaRPr b="1" sz="1750"/>
          </a:p>
          <a:p>
            <a:pPr indent="-352425" lvl="1" marL="800100" marR="0" rtl="0" algn="l">
              <a:lnSpc>
                <a:spcPct val="100000"/>
              </a:lnSpc>
              <a:spcBef>
                <a:spcPts val="1000"/>
              </a:spcBef>
              <a:spcAft>
                <a:spcPts val="0"/>
              </a:spcAft>
              <a:buClr>
                <a:schemeClr val="accent2"/>
              </a:buClr>
              <a:buSzPts val="1750"/>
              <a:buFont typeface="Noto Sans Symbols"/>
              <a:buChar char="✔"/>
            </a:pPr>
            <a:r>
              <a:rPr lang="en-US" sz="1750"/>
              <a:t>WBE Canada currently creates press releases announcing new corporate members</a:t>
            </a:r>
            <a:endParaRPr sz="1750"/>
          </a:p>
          <a:p>
            <a:pPr indent="-225425" lvl="2" marL="1143000" marR="0" rtl="0" algn="l">
              <a:lnSpc>
                <a:spcPct val="100000"/>
              </a:lnSpc>
              <a:spcBef>
                <a:spcPts val="1000"/>
              </a:spcBef>
              <a:spcAft>
                <a:spcPts val="0"/>
              </a:spcAft>
              <a:buSzPts val="1750"/>
              <a:buChar char="•"/>
            </a:pPr>
            <a:r>
              <a:rPr lang="en-US" sz="1750"/>
              <a:t>Post &amp; share news release through online news sites.</a:t>
            </a:r>
            <a:endParaRPr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Continue creating news releases around new corporate members, new WBE suppliers, events, supplier diversity and advocating for women and sharing to online news sites.</a:t>
            </a:r>
            <a:endParaRPr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Create a pitch quarterly - identify key media contacts and present the pitch</a:t>
            </a:r>
            <a:endParaRPr sz="1750"/>
          </a:p>
          <a:p>
            <a:pPr indent="-339725" lvl="1" marL="800100" marR="0" rtl="0" algn="l">
              <a:lnSpc>
                <a:spcPct val="100000"/>
              </a:lnSpc>
              <a:spcBef>
                <a:spcPts val="1000"/>
              </a:spcBef>
              <a:spcAft>
                <a:spcPts val="0"/>
              </a:spcAft>
              <a:buClr>
                <a:schemeClr val="accent2"/>
              </a:buClr>
              <a:buSzPts val="1750"/>
              <a:buFont typeface="Noto Sans Symbols"/>
              <a:buChar char="✔"/>
            </a:pPr>
            <a:r>
              <a:rPr lang="en-US" sz="1750"/>
              <a:t>Use as part of targeted niche campaigns and association marketing</a:t>
            </a:r>
            <a:endParaRPr sz="2050"/>
          </a:p>
          <a:p>
            <a:pPr indent="0" lvl="0" marL="0" marR="0" rtl="0" algn="l">
              <a:lnSpc>
                <a:spcPct val="100000"/>
              </a:lnSpc>
              <a:spcBef>
                <a:spcPts val="1000"/>
              </a:spcBef>
              <a:spcAft>
                <a:spcPts val="0"/>
              </a:spcAft>
              <a:buNone/>
            </a:pPr>
            <a:r>
              <a:t/>
            </a:r>
            <a:endParaRPr sz="2050"/>
          </a:p>
        </p:txBody>
      </p:sp>
      <p:cxnSp>
        <p:nvCxnSpPr>
          <p:cNvPr id="708" name="Google Shape;708;p90"/>
          <p:cNvCxnSpPr/>
          <p:nvPr/>
        </p:nvCxnSpPr>
        <p:spPr>
          <a:xfrm>
            <a:off x="6429375" y="1709875"/>
            <a:ext cx="23100" cy="4622100"/>
          </a:xfrm>
          <a:prstGeom prst="straightConnector1">
            <a:avLst/>
          </a:prstGeom>
          <a:noFill/>
          <a:ln cap="flat" cmpd="sng" w="9525">
            <a:solidFill>
              <a:srgbClr val="62C9D7"/>
            </a:solidFill>
            <a:prstDash val="solid"/>
            <a:round/>
            <a:headEnd len="med" w="med" type="none"/>
            <a:tailEnd len="med" w="med" type="none"/>
          </a:ln>
        </p:spPr>
      </p:cxn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91"/>
          <p:cNvSpPr txBox="1"/>
          <p:nvPr>
            <p:ph type="title"/>
          </p:nvPr>
        </p:nvSpPr>
        <p:spPr>
          <a:xfrm>
            <a:off x="960775" y="784225"/>
            <a:ext cx="105969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Awareness: </a:t>
            </a:r>
            <a:r>
              <a:rPr b="0" i="1" lang="en-US">
                <a:latin typeface="Calibri"/>
                <a:ea typeface="Calibri"/>
                <a:cs typeface="Calibri"/>
                <a:sym typeface="Calibri"/>
              </a:rPr>
              <a:t>Content Marketing</a:t>
            </a:r>
            <a:endParaRPr b="0" i="1">
              <a:latin typeface="Calibri"/>
              <a:ea typeface="Calibri"/>
              <a:cs typeface="Calibri"/>
              <a:sym typeface="Calibri"/>
            </a:endParaRPr>
          </a:p>
        </p:txBody>
      </p:sp>
      <p:sp>
        <p:nvSpPr>
          <p:cNvPr id="714" name="Google Shape;714;p91"/>
          <p:cNvSpPr txBox="1"/>
          <p:nvPr>
            <p:ph idx="1" type="body"/>
          </p:nvPr>
        </p:nvSpPr>
        <p:spPr>
          <a:xfrm>
            <a:off x="700850" y="1727325"/>
            <a:ext cx="10277400" cy="4630200"/>
          </a:xfrm>
          <a:prstGeom prst="rect">
            <a:avLst/>
          </a:prstGeom>
          <a:noFill/>
          <a:ln>
            <a:noFill/>
          </a:ln>
        </p:spPr>
        <p:txBody>
          <a:bodyPr anchorCtr="0" anchor="t" bIns="45700" lIns="91425" spcFirstLastPara="1" rIns="91425" wrap="square" tIns="45700">
            <a:noAutofit/>
          </a:bodyPr>
          <a:lstStyle/>
          <a:p>
            <a:pPr indent="-371475" lvl="1" marL="800100" marR="0" rtl="0" algn="l">
              <a:lnSpc>
                <a:spcPct val="100000"/>
              </a:lnSpc>
              <a:spcBef>
                <a:spcPts val="1000"/>
              </a:spcBef>
              <a:spcAft>
                <a:spcPts val="0"/>
              </a:spcAft>
              <a:buClr>
                <a:schemeClr val="accent2"/>
              </a:buClr>
              <a:buSzPts val="2050"/>
              <a:buFont typeface="Calibri"/>
              <a:buChar char="✔"/>
            </a:pPr>
            <a:r>
              <a:rPr b="1" lang="en-US" sz="2050"/>
              <a:t>Why? </a:t>
            </a:r>
            <a:r>
              <a:rPr lang="en-US" sz="2050"/>
              <a:t>Your ongoing content is the cornerstone of your marketing</a:t>
            </a:r>
            <a:endParaRPr sz="2050"/>
          </a:p>
          <a:p>
            <a:pPr indent="-244475" lvl="2" marL="1143000" marR="0" rtl="0" algn="l">
              <a:lnSpc>
                <a:spcPct val="100000"/>
              </a:lnSpc>
              <a:spcBef>
                <a:spcPts val="1000"/>
              </a:spcBef>
              <a:spcAft>
                <a:spcPts val="0"/>
              </a:spcAft>
              <a:buSzPts val="2050"/>
              <a:buChar char="•"/>
            </a:pPr>
            <a:r>
              <a:rPr lang="en-US" sz="2050"/>
              <a:t>Each piece of content can support your strategy through many levels from Know through Like, Trust and Try - as well as Repeat &amp; Refer</a:t>
            </a:r>
            <a:endParaRPr sz="2050"/>
          </a:p>
          <a:p>
            <a:pPr indent="-244475" lvl="2" marL="1143000" marR="0" rtl="0" algn="l">
              <a:lnSpc>
                <a:spcPct val="100000"/>
              </a:lnSpc>
              <a:spcBef>
                <a:spcPts val="1000"/>
              </a:spcBef>
              <a:spcAft>
                <a:spcPts val="0"/>
              </a:spcAft>
              <a:buSzPts val="2050"/>
              <a:buChar char="•"/>
            </a:pPr>
            <a:r>
              <a:rPr lang="en-US" sz="2050"/>
              <a:t>Your content can keep working for you over time and be repurposed</a:t>
            </a:r>
            <a:endParaRPr sz="2050"/>
          </a:p>
          <a:p>
            <a:pPr indent="-244475" lvl="2" marL="1143000" marR="0" rtl="0" algn="l">
              <a:lnSpc>
                <a:spcPct val="100000"/>
              </a:lnSpc>
              <a:spcBef>
                <a:spcPts val="1000"/>
              </a:spcBef>
              <a:spcAft>
                <a:spcPts val="0"/>
              </a:spcAft>
              <a:buSzPts val="2050"/>
              <a:buChar char="•"/>
            </a:pPr>
            <a:r>
              <a:rPr lang="en-US" sz="2050"/>
              <a:t>It gives you something to continually share with your prospects &amp; customers </a:t>
            </a:r>
            <a:endParaRPr sz="2050"/>
          </a:p>
          <a:p>
            <a:pPr indent="-371475" lvl="1" marL="800100" marR="0" rtl="0" algn="l">
              <a:lnSpc>
                <a:spcPct val="100000"/>
              </a:lnSpc>
              <a:spcBef>
                <a:spcPts val="1000"/>
              </a:spcBef>
              <a:spcAft>
                <a:spcPts val="0"/>
              </a:spcAft>
              <a:buClr>
                <a:schemeClr val="accent2"/>
              </a:buClr>
              <a:buSzPts val="2050"/>
              <a:buFont typeface="Calibri"/>
              <a:buChar char="✔"/>
            </a:pPr>
            <a:r>
              <a:rPr b="1" lang="en-US" sz="2050"/>
              <a:t>Who?</a:t>
            </a:r>
            <a:r>
              <a:rPr lang="en-US" sz="2050"/>
              <a:t> All Personas</a:t>
            </a:r>
            <a:endParaRPr sz="2050"/>
          </a:p>
          <a:p>
            <a:pPr indent="-371475" lvl="1" marL="800100" marR="0" rtl="0" algn="l">
              <a:lnSpc>
                <a:spcPct val="100000"/>
              </a:lnSpc>
              <a:spcBef>
                <a:spcPts val="1000"/>
              </a:spcBef>
              <a:spcAft>
                <a:spcPts val="0"/>
              </a:spcAft>
              <a:buClr>
                <a:schemeClr val="accent2"/>
              </a:buClr>
              <a:buSzPts val="2050"/>
              <a:buFont typeface="Calibri"/>
              <a:buChar char="✔"/>
            </a:pPr>
            <a:r>
              <a:rPr b="1" lang="en-US" sz="2050"/>
              <a:t>What?</a:t>
            </a:r>
            <a:r>
              <a:rPr lang="en-US" sz="2050"/>
              <a:t> Blog, Social Media, Videos, eBooks/guides/worksheets, Case Studies/Testimonials - Hub Pages</a:t>
            </a:r>
            <a:endParaRPr sz="2050"/>
          </a:p>
          <a:p>
            <a:pPr indent="-371475" lvl="1" marL="800100" marR="0" rtl="0" algn="l">
              <a:lnSpc>
                <a:spcPct val="100000"/>
              </a:lnSpc>
              <a:spcBef>
                <a:spcPts val="1000"/>
              </a:spcBef>
              <a:spcAft>
                <a:spcPts val="0"/>
              </a:spcAft>
              <a:buClr>
                <a:schemeClr val="accent2"/>
              </a:buClr>
              <a:buSzPts val="2050"/>
              <a:buFont typeface="Calibri"/>
              <a:buChar char="✔"/>
            </a:pPr>
            <a:r>
              <a:rPr b="1" lang="en-US" sz="2050"/>
              <a:t>Action Steps:</a:t>
            </a:r>
            <a:r>
              <a:rPr lang="en-US" sz="2050"/>
              <a:t> Ongoing Content Plan + Social Sharing + Hub Pages</a:t>
            </a:r>
            <a:endParaRPr sz="205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8" name="Shape 718"/>
        <p:cNvGrpSpPr/>
        <p:nvPr/>
      </p:nvGrpSpPr>
      <p:grpSpPr>
        <a:xfrm>
          <a:off x="0" y="0"/>
          <a:ext cx="0" cy="0"/>
          <a:chOff x="0" y="0"/>
          <a:chExt cx="0" cy="0"/>
        </a:xfrm>
      </p:grpSpPr>
      <p:sp>
        <p:nvSpPr>
          <p:cNvPr id="719" name="Google Shape;719;p92"/>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a:t>Awareness: </a:t>
            </a:r>
            <a:r>
              <a:rPr b="0" i="1" lang="en-US">
                <a:latin typeface="Calibri"/>
                <a:ea typeface="Calibri"/>
                <a:cs typeface="Calibri"/>
                <a:sym typeface="Calibri"/>
              </a:rPr>
              <a:t>Content Marketing Yearly Calendar</a:t>
            </a:r>
            <a:endParaRPr/>
          </a:p>
        </p:txBody>
      </p:sp>
      <p:sp>
        <p:nvSpPr>
          <p:cNvPr id="720" name="Google Shape;720;p92"/>
          <p:cNvSpPr txBox="1"/>
          <p:nvPr>
            <p:ph idx="1" type="body"/>
          </p:nvPr>
        </p:nvSpPr>
        <p:spPr>
          <a:xfrm>
            <a:off x="700850" y="1727325"/>
            <a:ext cx="10277400" cy="4630200"/>
          </a:xfrm>
          <a:prstGeom prst="rect">
            <a:avLst/>
          </a:prstGeom>
          <a:noFill/>
          <a:ln>
            <a:noFill/>
          </a:ln>
        </p:spPr>
        <p:txBody>
          <a:bodyPr anchorCtr="0" anchor="t" bIns="45700" lIns="91425" spcFirstLastPara="1" rIns="91425" wrap="square" tIns="45700">
            <a:noAutofit/>
          </a:bodyPr>
          <a:lstStyle/>
          <a:p>
            <a:pPr indent="-346075" lvl="1" marL="800100" marR="0" rtl="0" algn="l">
              <a:lnSpc>
                <a:spcPct val="100000"/>
              </a:lnSpc>
              <a:spcBef>
                <a:spcPts val="1000"/>
              </a:spcBef>
              <a:spcAft>
                <a:spcPts val="0"/>
              </a:spcAft>
              <a:buClr>
                <a:schemeClr val="accent2"/>
              </a:buClr>
              <a:buSzPts val="1650"/>
              <a:buChar char="✔"/>
            </a:pPr>
            <a:r>
              <a:rPr b="1" lang="en-US" sz="1650"/>
              <a:t>Content Calendar: </a:t>
            </a:r>
            <a:r>
              <a:rPr lang="en-US" sz="1650"/>
              <a:t>Create a six month content calendar outlining monthly themes and content pieces</a:t>
            </a:r>
            <a:endParaRPr sz="1650"/>
          </a:p>
          <a:p>
            <a:pPr indent="-346075" lvl="1" marL="800100" marR="0" rtl="0" algn="l">
              <a:lnSpc>
                <a:spcPct val="100000"/>
              </a:lnSpc>
              <a:spcBef>
                <a:spcPts val="1000"/>
              </a:spcBef>
              <a:spcAft>
                <a:spcPts val="0"/>
              </a:spcAft>
              <a:buClr>
                <a:schemeClr val="accent2"/>
              </a:buClr>
              <a:buSzPts val="1650"/>
              <a:buChar char="✔"/>
            </a:pPr>
            <a:r>
              <a:rPr b="1" lang="en-US" sz="1650"/>
              <a:t>Monthly Theme &amp; Main Content Piece</a:t>
            </a:r>
            <a:endParaRPr b="1" sz="1650"/>
          </a:p>
          <a:p>
            <a:pPr indent="-219075" lvl="2" marL="1143000" marR="0" rtl="0" algn="l">
              <a:lnSpc>
                <a:spcPct val="100000"/>
              </a:lnSpc>
              <a:spcBef>
                <a:spcPts val="0"/>
              </a:spcBef>
              <a:spcAft>
                <a:spcPts val="0"/>
              </a:spcAft>
              <a:buSzPts val="1650"/>
              <a:buChar char="•"/>
            </a:pPr>
            <a:r>
              <a:rPr lang="en-US" sz="1650"/>
              <a:t>Review &amp; revise one key piece of core content </a:t>
            </a:r>
            <a:endParaRPr sz="1650"/>
          </a:p>
          <a:p>
            <a:pPr indent="-219075" lvl="2" marL="1143000" marR="0" rtl="0" algn="l">
              <a:lnSpc>
                <a:spcPct val="100000"/>
              </a:lnSpc>
              <a:spcBef>
                <a:spcPts val="0"/>
              </a:spcBef>
              <a:spcAft>
                <a:spcPts val="0"/>
              </a:spcAft>
              <a:buSzPts val="1650"/>
              <a:buChar char="•"/>
            </a:pPr>
            <a:r>
              <a:rPr lang="en-US" sz="1650"/>
              <a:t>Start with the assets for the new Persona Funnels first</a:t>
            </a:r>
            <a:endParaRPr sz="1650"/>
          </a:p>
          <a:p>
            <a:pPr indent="-219075" lvl="2" marL="1143000" marR="0" rtl="0" algn="l">
              <a:lnSpc>
                <a:spcPct val="100000"/>
              </a:lnSpc>
              <a:spcBef>
                <a:spcPts val="0"/>
              </a:spcBef>
              <a:spcAft>
                <a:spcPts val="0"/>
              </a:spcAft>
              <a:buSzPts val="1650"/>
              <a:buChar char="•"/>
            </a:pPr>
            <a:r>
              <a:rPr lang="en-US" sz="1650"/>
              <a:t>Share new content piece on Social Media &amp; use in Campaigns</a:t>
            </a:r>
            <a:endParaRPr sz="1650"/>
          </a:p>
          <a:p>
            <a:pPr indent="-219075" lvl="1" marL="685800" marR="0" rtl="0" algn="l">
              <a:lnSpc>
                <a:spcPct val="100000"/>
              </a:lnSpc>
              <a:spcBef>
                <a:spcPts val="1000"/>
              </a:spcBef>
              <a:spcAft>
                <a:spcPts val="0"/>
              </a:spcAft>
              <a:buClr>
                <a:schemeClr val="accent2"/>
              </a:buClr>
              <a:buSzPts val="1650"/>
              <a:buChar char="✔"/>
            </a:pPr>
            <a:r>
              <a:rPr b="1" lang="en-US" sz="1650"/>
              <a:t>Weekly Blog Posts:</a:t>
            </a:r>
            <a:endParaRPr b="1" sz="1650"/>
          </a:p>
          <a:p>
            <a:pPr indent="-219075" lvl="2" marL="1143000" marR="0" rtl="0" algn="l">
              <a:lnSpc>
                <a:spcPct val="100000"/>
              </a:lnSpc>
              <a:spcBef>
                <a:spcPts val="0"/>
              </a:spcBef>
              <a:spcAft>
                <a:spcPts val="0"/>
              </a:spcAft>
              <a:buSzPts val="1650"/>
              <a:buChar char="•"/>
            </a:pPr>
            <a:r>
              <a:rPr lang="en-US" sz="1650"/>
              <a:t>Create three new blog posts related to the monthly theme &amp; content piece</a:t>
            </a:r>
            <a:endParaRPr sz="1650"/>
          </a:p>
          <a:p>
            <a:pPr indent="-219075" lvl="2" marL="1143000" marR="0" rtl="0" algn="l">
              <a:lnSpc>
                <a:spcPct val="100000"/>
              </a:lnSpc>
              <a:spcBef>
                <a:spcPts val="0"/>
              </a:spcBef>
              <a:spcAft>
                <a:spcPts val="0"/>
              </a:spcAft>
              <a:buSzPts val="1650"/>
              <a:buChar char="•"/>
            </a:pPr>
            <a:r>
              <a:rPr lang="en-US" sz="1650"/>
              <a:t>Identify an SME and create one long form educational blog post monthly</a:t>
            </a:r>
            <a:endParaRPr sz="1650"/>
          </a:p>
          <a:p>
            <a:pPr indent="-219075" lvl="1" marL="685800" marR="0" rtl="0" algn="l">
              <a:lnSpc>
                <a:spcPct val="100000"/>
              </a:lnSpc>
              <a:spcBef>
                <a:spcPts val="1000"/>
              </a:spcBef>
              <a:spcAft>
                <a:spcPts val="0"/>
              </a:spcAft>
              <a:buClr>
                <a:schemeClr val="accent2"/>
              </a:buClr>
              <a:buSzPts val="1650"/>
              <a:buChar char="✔"/>
            </a:pPr>
            <a:r>
              <a:rPr b="1" lang="en-US" sz="1650"/>
              <a:t>Social Sharing:</a:t>
            </a:r>
            <a:endParaRPr b="1" sz="1650"/>
          </a:p>
          <a:p>
            <a:pPr indent="-219075" lvl="2" marL="1143000" marR="0" rtl="0" algn="l">
              <a:lnSpc>
                <a:spcPct val="100000"/>
              </a:lnSpc>
              <a:spcBef>
                <a:spcPts val="0"/>
              </a:spcBef>
              <a:spcAft>
                <a:spcPts val="0"/>
              </a:spcAft>
              <a:buSzPts val="1650"/>
              <a:buChar char="•"/>
            </a:pPr>
            <a:r>
              <a:rPr lang="en-US" sz="1650"/>
              <a:t>Share all content on Facebook, LinkedIn (Page/Group), and Instagram (four posts per blog and asset)</a:t>
            </a:r>
            <a:endParaRPr sz="1650"/>
          </a:p>
          <a:p>
            <a:pPr indent="-219075" lvl="2" marL="1143000" marR="0" rtl="0" algn="l">
              <a:lnSpc>
                <a:spcPct val="100000"/>
              </a:lnSpc>
              <a:spcBef>
                <a:spcPts val="0"/>
              </a:spcBef>
              <a:spcAft>
                <a:spcPts val="0"/>
              </a:spcAft>
              <a:buSzPts val="1650"/>
              <a:buChar char="•"/>
            </a:pPr>
            <a:r>
              <a:rPr lang="en-US" sz="1650"/>
              <a:t>This will complement current team’s social media activities, which are active and strong </a:t>
            </a:r>
            <a:endParaRPr sz="1650"/>
          </a:p>
          <a:p>
            <a:pPr indent="-219075" lvl="1" marL="685800" marR="0" rtl="0" algn="l">
              <a:lnSpc>
                <a:spcPct val="100000"/>
              </a:lnSpc>
              <a:spcBef>
                <a:spcPts val="1000"/>
              </a:spcBef>
              <a:spcAft>
                <a:spcPts val="0"/>
              </a:spcAft>
              <a:buClr>
                <a:schemeClr val="accent2"/>
              </a:buClr>
              <a:buSzPts val="1650"/>
              <a:buChar char="✔"/>
            </a:pPr>
            <a:r>
              <a:rPr b="1" lang="en-US" sz="1650"/>
              <a:t>One LinkedIn Article Monthly</a:t>
            </a:r>
            <a:endParaRPr b="1" sz="1650"/>
          </a:p>
          <a:p>
            <a:pPr indent="-219075" lvl="1" marL="685800" marR="0" rtl="0" algn="l">
              <a:lnSpc>
                <a:spcPct val="100000"/>
              </a:lnSpc>
              <a:spcBef>
                <a:spcPts val="1000"/>
              </a:spcBef>
              <a:spcAft>
                <a:spcPts val="0"/>
              </a:spcAft>
              <a:buClr>
                <a:schemeClr val="accent2"/>
              </a:buClr>
              <a:buSzPts val="1650"/>
              <a:buChar char="✔"/>
            </a:pPr>
            <a:r>
              <a:rPr b="1" lang="en-US" sz="1650"/>
              <a:t>Weekly Newsletters - </a:t>
            </a:r>
            <a:r>
              <a:rPr lang="en-US" sz="1650"/>
              <a:t>review current newsletter &amp; process for opportunities</a:t>
            </a:r>
            <a:endParaRPr sz="1650"/>
          </a:p>
          <a:p>
            <a:pPr indent="-219075" lvl="1" marL="685800" marR="0" rtl="0" algn="l">
              <a:lnSpc>
                <a:spcPct val="100000"/>
              </a:lnSpc>
              <a:spcBef>
                <a:spcPts val="1000"/>
              </a:spcBef>
              <a:spcAft>
                <a:spcPts val="0"/>
              </a:spcAft>
              <a:buClr>
                <a:schemeClr val="accent2"/>
              </a:buClr>
              <a:buSzPts val="1650"/>
              <a:buChar char="✔"/>
            </a:pPr>
            <a:r>
              <a:rPr b="1" lang="en-US" sz="1650"/>
              <a:t>Content Updated on Hub Pages</a:t>
            </a:r>
            <a:endParaRPr b="1" sz="165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93"/>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t>Content keeps working for you 24/7…</a:t>
            </a:r>
            <a:endParaRPr sz="3800"/>
          </a:p>
          <a:p>
            <a:pPr indent="0" lvl="0" marL="0" rtl="0" algn="l">
              <a:lnSpc>
                <a:spcPct val="90000"/>
              </a:lnSpc>
              <a:spcBef>
                <a:spcPts val="0"/>
              </a:spcBef>
              <a:spcAft>
                <a:spcPts val="0"/>
              </a:spcAft>
              <a:buClr>
                <a:schemeClr val="accent2"/>
              </a:buClr>
              <a:buSzPts val="4400"/>
              <a:buFont typeface="Calibri"/>
              <a:buNone/>
            </a:pPr>
            <a:r>
              <a:t/>
            </a:r>
            <a:endParaRPr/>
          </a:p>
        </p:txBody>
      </p:sp>
      <p:sp>
        <p:nvSpPr>
          <p:cNvPr id="726" name="Google Shape;726;p93"/>
          <p:cNvSpPr txBox="1"/>
          <p:nvPr>
            <p:ph idx="1" type="body"/>
          </p:nvPr>
        </p:nvSpPr>
        <p:spPr>
          <a:xfrm>
            <a:off x="838200" y="1825625"/>
            <a:ext cx="9585900" cy="4351200"/>
          </a:xfrm>
          <a:prstGeom prst="rect">
            <a:avLst/>
          </a:prstGeom>
          <a:noFill/>
          <a:ln>
            <a:noFill/>
          </a:ln>
        </p:spPr>
        <p:txBody>
          <a:bodyPr anchorCtr="0" anchor="t" bIns="45700" lIns="91425" spcFirstLastPara="1" rIns="91425" wrap="square" tIns="45700">
            <a:noAutofit/>
          </a:bodyPr>
          <a:lstStyle/>
          <a:p>
            <a:pPr indent="-215900" lvl="1" marL="685800" rtl="0" algn="l">
              <a:lnSpc>
                <a:spcPct val="130000"/>
              </a:lnSpc>
              <a:spcBef>
                <a:spcPts val="1000"/>
              </a:spcBef>
              <a:spcAft>
                <a:spcPts val="0"/>
              </a:spcAft>
              <a:buClr>
                <a:schemeClr val="accent2"/>
              </a:buClr>
              <a:buSzPts val="1600"/>
              <a:buChar char="✔"/>
            </a:pPr>
            <a:r>
              <a:rPr lang="en-US" sz="1600"/>
              <a:t>T</a:t>
            </a:r>
            <a:r>
              <a:rPr lang="en-US" sz="1600"/>
              <a:t>argeted messaging</a:t>
            </a:r>
            <a:endParaRPr sz="1600"/>
          </a:p>
          <a:p>
            <a:pPr indent="-215900" lvl="1" marL="685800" rtl="0" algn="l">
              <a:lnSpc>
                <a:spcPct val="130000"/>
              </a:lnSpc>
              <a:spcBef>
                <a:spcPts val="1000"/>
              </a:spcBef>
              <a:spcAft>
                <a:spcPts val="0"/>
              </a:spcAft>
              <a:buClr>
                <a:schemeClr val="accent2"/>
              </a:buClr>
              <a:buSzPts val="1600"/>
              <a:buChar char="✔"/>
            </a:pPr>
            <a:r>
              <a:rPr lang="en-US" sz="1600"/>
              <a:t>48+ blogs with images</a:t>
            </a:r>
            <a:endParaRPr sz="1600"/>
          </a:p>
          <a:p>
            <a:pPr indent="-215900" lvl="1" marL="685800" rtl="0" algn="l">
              <a:lnSpc>
                <a:spcPct val="130000"/>
              </a:lnSpc>
              <a:spcBef>
                <a:spcPts val="1000"/>
              </a:spcBef>
              <a:spcAft>
                <a:spcPts val="0"/>
              </a:spcAft>
              <a:buClr>
                <a:schemeClr val="accent2"/>
              </a:buClr>
              <a:buSzPts val="1600"/>
              <a:buChar char="✔"/>
            </a:pPr>
            <a:r>
              <a:rPr lang="en-US" sz="1600"/>
              <a:t>3 persona hub pages </a:t>
            </a:r>
            <a:endParaRPr sz="1600"/>
          </a:p>
          <a:p>
            <a:pPr indent="-215900" lvl="1" marL="685800" rtl="0" algn="l">
              <a:lnSpc>
                <a:spcPct val="130000"/>
              </a:lnSpc>
              <a:spcBef>
                <a:spcPts val="1000"/>
              </a:spcBef>
              <a:spcAft>
                <a:spcPts val="0"/>
              </a:spcAft>
              <a:buClr>
                <a:schemeClr val="accent2"/>
              </a:buClr>
              <a:buSzPts val="1600"/>
              <a:buChar char="✔"/>
            </a:pPr>
            <a:r>
              <a:rPr lang="en-US" sz="1600"/>
              <a:t>192+ social posts tailored for each social media channel</a:t>
            </a:r>
            <a:endParaRPr sz="1600"/>
          </a:p>
          <a:p>
            <a:pPr indent="-215900" lvl="1" marL="685800" rtl="0" algn="l">
              <a:lnSpc>
                <a:spcPct val="130000"/>
              </a:lnSpc>
              <a:spcBef>
                <a:spcPts val="1000"/>
              </a:spcBef>
              <a:spcAft>
                <a:spcPts val="0"/>
              </a:spcAft>
              <a:buClr>
                <a:schemeClr val="accent2"/>
              </a:buClr>
              <a:buSzPts val="1600"/>
              <a:buChar char="✔"/>
            </a:pPr>
            <a:r>
              <a:rPr lang="en-US" sz="1600"/>
              <a:t>Your audience is consistently online</a:t>
            </a:r>
            <a:endParaRPr sz="1600"/>
          </a:p>
          <a:p>
            <a:pPr indent="-215900" lvl="1" marL="685800" rtl="0" algn="l">
              <a:lnSpc>
                <a:spcPct val="130000"/>
              </a:lnSpc>
              <a:spcBef>
                <a:spcPts val="1000"/>
              </a:spcBef>
              <a:spcAft>
                <a:spcPts val="0"/>
              </a:spcAft>
              <a:buClr>
                <a:schemeClr val="accent2"/>
              </a:buClr>
              <a:buSzPts val="1600"/>
              <a:buChar char="✔"/>
            </a:pPr>
            <a:r>
              <a:rPr lang="en-US" sz="1600"/>
              <a:t>Timeless content themes (appropriate 6 days, 6 weeks, 6+ months after posting initially)</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sp>
        <p:nvSpPr>
          <p:cNvPr id="731" name="Google Shape;731;p94"/>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Persona Hub Pages</a:t>
            </a:r>
            <a:endParaRPr/>
          </a:p>
          <a:p>
            <a:pPr indent="0" lvl="0" marL="0" rtl="0" algn="ctr">
              <a:lnSpc>
                <a:spcPct val="90000"/>
              </a:lnSpc>
              <a:spcBef>
                <a:spcPts val="0"/>
              </a:spcBef>
              <a:spcAft>
                <a:spcPts val="0"/>
              </a:spcAft>
              <a:buClr>
                <a:schemeClr val="accent2"/>
              </a:buClr>
              <a:buSzPts val="4400"/>
              <a:buFont typeface="Calibri"/>
              <a:buNone/>
            </a:pPr>
            <a:r>
              <a:rPr b="0" i="1" lang="en-US" sz="4000">
                <a:latin typeface="Calibri"/>
                <a:ea typeface="Calibri"/>
                <a:cs typeface="Calibri"/>
                <a:sym typeface="Calibri"/>
              </a:rPr>
              <a:t>awareness campaign detail</a:t>
            </a:r>
            <a:endParaRPr b="0" i="1" sz="4000">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id="737" name="Google Shape;737;p95"/>
          <p:cNvPicPr preferRelativeResize="0"/>
          <p:nvPr/>
        </p:nvPicPr>
        <p:blipFill>
          <a:blip r:embed="rId3">
            <a:alphaModFix/>
          </a:blip>
          <a:stretch>
            <a:fillRect/>
          </a:stretch>
        </p:blipFill>
        <p:spPr>
          <a:xfrm>
            <a:off x="272525" y="36850"/>
            <a:ext cx="11144250" cy="5800725"/>
          </a:xfrm>
          <a:prstGeom prst="rect">
            <a:avLst/>
          </a:prstGeom>
          <a:noFill/>
          <a:ln>
            <a:noFill/>
          </a:ln>
        </p:spPr>
      </p:pic>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sp>
        <p:nvSpPr>
          <p:cNvPr id="742" name="Google Shape;742;p96"/>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Hub Page Example</a:t>
            </a:r>
            <a:endParaRPr>
              <a:solidFill>
                <a:schemeClr val="accent5"/>
              </a:solidFill>
            </a:endParaRPr>
          </a:p>
        </p:txBody>
      </p:sp>
      <p:pic>
        <p:nvPicPr>
          <p:cNvPr id="743" name="Google Shape;743;p96"/>
          <p:cNvPicPr preferRelativeResize="0"/>
          <p:nvPr/>
        </p:nvPicPr>
        <p:blipFill>
          <a:blip r:embed="rId3">
            <a:alphaModFix/>
          </a:blip>
          <a:stretch>
            <a:fillRect/>
          </a:stretch>
        </p:blipFill>
        <p:spPr>
          <a:xfrm>
            <a:off x="848425" y="1566300"/>
            <a:ext cx="6488504" cy="4443274"/>
          </a:xfrm>
          <a:prstGeom prst="rect">
            <a:avLst/>
          </a:prstGeom>
          <a:noFill/>
          <a:ln>
            <a:noFill/>
          </a:ln>
        </p:spPr>
      </p:pic>
      <p:sp>
        <p:nvSpPr>
          <p:cNvPr id="744" name="Google Shape;744;p96"/>
          <p:cNvSpPr txBox="1"/>
          <p:nvPr/>
        </p:nvSpPr>
        <p:spPr>
          <a:xfrm>
            <a:off x="1595650" y="6009575"/>
            <a:ext cx="6980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https://polytechtalent.com/guide-to-hiring-executive-talent/</a:t>
            </a:r>
            <a:endParaRPr/>
          </a:p>
        </p:txBody>
      </p:sp>
      <p:pic>
        <p:nvPicPr>
          <p:cNvPr id="745" name="Google Shape;745;p96"/>
          <p:cNvPicPr preferRelativeResize="0"/>
          <p:nvPr/>
        </p:nvPicPr>
        <p:blipFill rotWithShape="1">
          <a:blip r:embed="rId4">
            <a:alphaModFix/>
          </a:blip>
          <a:srcRect b="0" l="0" r="0" t="0"/>
          <a:stretch/>
        </p:blipFill>
        <p:spPr>
          <a:xfrm>
            <a:off x="7990825" y="1611500"/>
            <a:ext cx="3566725" cy="3987425"/>
          </a:xfrm>
          <a:prstGeom prst="rect">
            <a:avLst/>
          </a:prstGeom>
          <a:noFill/>
          <a:ln>
            <a:noFill/>
          </a:ln>
        </p:spPr>
      </p:pic>
      <p:sp>
        <p:nvSpPr>
          <p:cNvPr id="746" name="Google Shape;746;p96"/>
          <p:cNvSpPr txBox="1"/>
          <p:nvPr/>
        </p:nvSpPr>
        <p:spPr>
          <a:xfrm>
            <a:off x="8282300" y="1816950"/>
            <a:ext cx="2983800" cy="37293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Insights:</a:t>
            </a:r>
            <a:endParaRPr sz="1600">
              <a:solidFill>
                <a:srgbClr val="434343"/>
              </a:solidFill>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Hubpages are a way to </a:t>
            </a:r>
            <a:r>
              <a:rPr lang="en-US" sz="1500">
                <a:solidFill>
                  <a:srgbClr val="434343"/>
                </a:solidFill>
                <a:latin typeface="Calibri"/>
                <a:ea typeface="Calibri"/>
                <a:cs typeface="Calibri"/>
                <a:sym typeface="Calibri"/>
              </a:rPr>
              <a:t>organize your content. It makes it easy for your persona to find all the information </a:t>
            </a:r>
            <a:r>
              <a:rPr b="1" lang="en-US" sz="1500">
                <a:solidFill>
                  <a:srgbClr val="434343"/>
                </a:solidFill>
                <a:latin typeface="Calibri"/>
                <a:ea typeface="Calibri"/>
                <a:cs typeface="Calibri"/>
                <a:sym typeface="Calibri"/>
              </a:rPr>
              <a:t>applicable to them </a:t>
            </a:r>
            <a:r>
              <a:rPr lang="en-US" sz="1500">
                <a:solidFill>
                  <a:srgbClr val="434343"/>
                </a:solidFill>
                <a:latin typeface="Calibri"/>
                <a:ea typeface="Calibri"/>
                <a:cs typeface="Calibri"/>
                <a:sym typeface="Calibri"/>
              </a:rPr>
              <a:t>in one spot. </a:t>
            </a:r>
            <a:endParaRPr sz="15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500">
                <a:solidFill>
                  <a:srgbClr val="434343"/>
                </a:solidFill>
                <a:latin typeface="Calibri"/>
                <a:ea typeface="Calibri"/>
                <a:cs typeface="Calibri"/>
                <a:sym typeface="Calibri"/>
              </a:rPr>
              <a:t>The alternative is leaving them to search through your site for content applicable to them. Which unfortunately, they will not do. </a:t>
            </a:r>
            <a:endParaRPr sz="15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500">
                <a:solidFill>
                  <a:srgbClr val="434343"/>
                </a:solidFill>
                <a:latin typeface="Calibri"/>
                <a:ea typeface="Calibri"/>
                <a:cs typeface="Calibri"/>
                <a:sym typeface="Calibri"/>
              </a:rPr>
              <a:t>Make it easy for your persona to know Function Point supports them, “gets” them, can help them.</a:t>
            </a:r>
            <a:endParaRPr sz="15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pic>
        <p:nvPicPr>
          <p:cNvPr id="751" name="Google Shape;751;p97"/>
          <p:cNvPicPr preferRelativeResize="0"/>
          <p:nvPr/>
        </p:nvPicPr>
        <p:blipFill>
          <a:blip r:embed="rId3">
            <a:alphaModFix/>
          </a:blip>
          <a:stretch>
            <a:fillRect/>
          </a:stretch>
        </p:blipFill>
        <p:spPr>
          <a:xfrm>
            <a:off x="894150" y="848076"/>
            <a:ext cx="9447324" cy="4300999"/>
          </a:xfrm>
          <a:prstGeom prst="rect">
            <a:avLst/>
          </a:prstGeom>
          <a:noFill/>
          <a:ln>
            <a:noFill/>
          </a:ln>
        </p:spPr>
      </p:pic>
      <p:sp>
        <p:nvSpPr>
          <p:cNvPr id="752" name="Google Shape;752;p97"/>
          <p:cNvSpPr/>
          <p:nvPr/>
        </p:nvSpPr>
        <p:spPr>
          <a:xfrm>
            <a:off x="2918825" y="926150"/>
            <a:ext cx="839400" cy="286500"/>
          </a:xfrm>
          <a:prstGeom prst="rect">
            <a:avLst/>
          </a:prstGeom>
          <a:solidFill>
            <a:schemeClr val="lt2"/>
          </a:solidFill>
          <a:ln cap="flat" cmpd="sng" w="28575">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3" name="Google Shape;753;p97"/>
          <p:cNvCxnSpPr/>
          <p:nvPr/>
        </p:nvCxnSpPr>
        <p:spPr>
          <a:xfrm rot="10800000">
            <a:off x="3617200" y="1152250"/>
            <a:ext cx="941700" cy="1013400"/>
          </a:xfrm>
          <a:prstGeom prst="straightConnector1">
            <a:avLst/>
          </a:prstGeom>
          <a:noFill/>
          <a:ln cap="flat" cmpd="sng" w="28575">
            <a:solidFill>
              <a:schemeClr val="dk2"/>
            </a:solidFill>
            <a:prstDash val="solid"/>
            <a:round/>
            <a:headEnd len="med" w="med" type="none"/>
            <a:tailEnd len="med" w="med" type="triangle"/>
          </a:ln>
        </p:spPr>
      </p:cxnSp>
      <p:sp>
        <p:nvSpPr>
          <p:cNvPr id="754" name="Google Shape;754;p97"/>
          <p:cNvSpPr txBox="1"/>
          <p:nvPr/>
        </p:nvSpPr>
        <p:spPr>
          <a:xfrm>
            <a:off x="3340075" y="2094125"/>
            <a:ext cx="13047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Hub pages could sit in the menu &amp; drop down for each persona</a:t>
            </a:r>
            <a:endParaRPr>
              <a:latin typeface="Calibri"/>
              <a:ea typeface="Calibri"/>
              <a:cs typeface="Calibri"/>
              <a:sym typeface="Calibri"/>
            </a:endParaRPr>
          </a:p>
        </p:txBody>
      </p:sp>
      <p:sp>
        <p:nvSpPr>
          <p:cNvPr id="755" name="Google Shape;755;p97"/>
          <p:cNvSpPr txBox="1"/>
          <p:nvPr/>
        </p:nvSpPr>
        <p:spPr>
          <a:xfrm>
            <a:off x="948575" y="5360250"/>
            <a:ext cx="8673900" cy="400200"/>
          </a:xfrm>
          <a:prstGeom prst="rect">
            <a:avLst/>
          </a:prstGeom>
          <a:noFill/>
          <a:ln cap="flat" cmpd="sng" w="9525">
            <a:solidFill>
              <a:schemeClr val="accent1"/>
            </a:solidFill>
            <a:prstDash val="dot"/>
            <a:round/>
            <a:headEnd len="sm" w="sm" type="none"/>
            <a:tailEnd len="sm" w="sm" type="none"/>
          </a:ln>
        </p:spPr>
        <p:txBody>
          <a:bodyPr anchorCtr="0" anchor="t" bIns="91425" lIns="91425" spcFirstLastPara="1" rIns="91425" wrap="square" tIns="91425">
            <a:spAutoFit/>
          </a:bodyPr>
          <a:lstStyle/>
          <a:p>
            <a:pPr indent="0" lvl="0" marL="0" rtl="0" algn="l">
              <a:spcBef>
                <a:spcPts val="0"/>
              </a:spcBef>
              <a:spcAft>
                <a:spcPts val="0"/>
              </a:spcAft>
              <a:buNone/>
            </a:pPr>
            <a:r>
              <a:rPr lang="en-US">
                <a:latin typeface="Calibri"/>
                <a:ea typeface="Calibri"/>
                <a:cs typeface="Calibri"/>
                <a:sym typeface="Calibri"/>
              </a:rPr>
              <a:t>Business Women     Corporate Enterprise      Public Sector      Events       Resources      About</a:t>
            </a:r>
            <a:endParaRPr>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p98"/>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WBEs</a:t>
            </a:r>
            <a:r>
              <a:rPr lang="en-US">
                <a:solidFill>
                  <a:schemeClr val="accent5"/>
                </a:solidFill>
              </a:rPr>
              <a:t> Hubpages</a:t>
            </a:r>
            <a:endParaRPr>
              <a:solidFill>
                <a:schemeClr val="accent5"/>
              </a:solidFill>
            </a:endParaRPr>
          </a:p>
        </p:txBody>
      </p:sp>
      <p:sp>
        <p:nvSpPr>
          <p:cNvPr id="761" name="Google Shape;761;p98"/>
          <p:cNvSpPr txBox="1"/>
          <p:nvPr>
            <p:ph idx="1" type="body"/>
          </p:nvPr>
        </p:nvSpPr>
        <p:spPr>
          <a:xfrm>
            <a:off x="274375" y="1611500"/>
            <a:ext cx="7471500" cy="4768200"/>
          </a:xfrm>
          <a:prstGeom prst="rect">
            <a:avLst/>
          </a:prstGeom>
          <a:noFill/>
          <a:ln>
            <a:noFill/>
          </a:ln>
        </p:spPr>
        <p:txBody>
          <a:bodyPr anchorCtr="0" anchor="t" bIns="45700" lIns="91425" spcFirstLastPara="1" rIns="91425" wrap="square" tIns="45700">
            <a:noAutofit/>
          </a:bodyPr>
          <a:lstStyle/>
          <a:p>
            <a:pPr indent="-355600" lvl="1" marL="800100" marR="0" rtl="0" algn="l">
              <a:lnSpc>
                <a:spcPct val="100000"/>
              </a:lnSpc>
              <a:spcBef>
                <a:spcPts val="1000"/>
              </a:spcBef>
              <a:spcAft>
                <a:spcPts val="0"/>
              </a:spcAft>
              <a:buClr>
                <a:schemeClr val="accent2"/>
              </a:buClr>
              <a:buSzPts val="1800"/>
              <a:buChar char="✔"/>
            </a:pPr>
            <a:r>
              <a:rPr lang="en-US" sz="1800"/>
              <a:t>The Ultimate Guide to Growing Your Woman-led Business by Winning Government, Public Sector and Corporate Contracts </a:t>
            </a:r>
            <a:r>
              <a:rPr lang="en-US" sz="1550"/>
              <a:t>Sample blog topics:</a:t>
            </a:r>
            <a:endParaRPr sz="1550"/>
          </a:p>
          <a:p>
            <a:pPr indent="-228600" lvl="3" marL="1600200" marR="0" rtl="0" algn="l">
              <a:lnSpc>
                <a:spcPct val="100000"/>
              </a:lnSpc>
              <a:spcBef>
                <a:spcPts val="1000"/>
              </a:spcBef>
              <a:spcAft>
                <a:spcPts val="0"/>
              </a:spcAft>
              <a:buSzPts val="1800"/>
              <a:buChar char="•"/>
            </a:pPr>
            <a:r>
              <a:rPr lang="en-US" sz="1550"/>
              <a:t>Why Win Corporate Contracts?</a:t>
            </a:r>
            <a:endParaRPr sz="1550"/>
          </a:p>
          <a:p>
            <a:pPr indent="-228600" lvl="3" marL="1600200" marR="0" rtl="0" algn="l">
              <a:lnSpc>
                <a:spcPct val="100000"/>
              </a:lnSpc>
              <a:spcBef>
                <a:spcPts val="1000"/>
              </a:spcBef>
              <a:spcAft>
                <a:spcPts val="0"/>
              </a:spcAft>
              <a:buSzPts val="1800"/>
              <a:buChar char="•"/>
            </a:pPr>
            <a:r>
              <a:rPr lang="en-US" sz="1550"/>
              <a:t>Why Win Public Sector/Government Contracts?</a:t>
            </a:r>
            <a:endParaRPr sz="1550"/>
          </a:p>
          <a:p>
            <a:pPr indent="-228600" lvl="3" marL="1600200" marR="0" rtl="0" algn="l">
              <a:lnSpc>
                <a:spcPct val="100000"/>
              </a:lnSpc>
              <a:spcBef>
                <a:spcPts val="1000"/>
              </a:spcBef>
              <a:spcAft>
                <a:spcPts val="0"/>
              </a:spcAft>
              <a:buSzPts val="1800"/>
              <a:buChar char="•"/>
            </a:pPr>
            <a:r>
              <a:rPr lang="en-US" sz="1550"/>
              <a:t>Will Large Business Buy From Small Companies?</a:t>
            </a:r>
            <a:endParaRPr sz="1550"/>
          </a:p>
          <a:p>
            <a:pPr indent="-228600" lvl="3" marL="1600200" marR="0" rtl="0" algn="l">
              <a:lnSpc>
                <a:spcPct val="100000"/>
              </a:lnSpc>
              <a:spcBef>
                <a:spcPts val="1000"/>
              </a:spcBef>
              <a:spcAft>
                <a:spcPts val="0"/>
              </a:spcAft>
              <a:buSzPts val="1800"/>
              <a:buChar char="•"/>
            </a:pPr>
            <a:r>
              <a:rPr lang="en-US" sz="1550"/>
              <a:t>10 Things to Know Before Pitching Corporate Canada</a:t>
            </a:r>
            <a:endParaRPr sz="1550"/>
          </a:p>
          <a:p>
            <a:pPr indent="-228600" lvl="3" marL="1600200" marR="0" rtl="0" algn="l">
              <a:lnSpc>
                <a:spcPct val="100000"/>
              </a:lnSpc>
              <a:spcBef>
                <a:spcPts val="1000"/>
              </a:spcBef>
              <a:spcAft>
                <a:spcPts val="0"/>
              </a:spcAft>
              <a:buSzPts val="1800"/>
              <a:buChar char="•"/>
            </a:pPr>
            <a:r>
              <a:rPr lang="en-US" sz="1550"/>
              <a:t>What to Expect When Selling to the Public Sector</a:t>
            </a:r>
            <a:endParaRPr sz="1550"/>
          </a:p>
          <a:p>
            <a:pPr indent="-228600" lvl="3" marL="1600200" marR="0" rtl="0" algn="l">
              <a:lnSpc>
                <a:spcPct val="100000"/>
              </a:lnSpc>
              <a:spcBef>
                <a:spcPts val="1000"/>
              </a:spcBef>
              <a:spcAft>
                <a:spcPts val="0"/>
              </a:spcAft>
              <a:buSzPts val="1800"/>
              <a:buChar char="•"/>
            </a:pPr>
            <a:r>
              <a:rPr lang="en-US" sz="1550"/>
              <a:t>How Long Does It Take to Win Large Contracts?</a:t>
            </a:r>
            <a:endParaRPr sz="1550"/>
          </a:p>
          <a:p>
            <a:pPr indent="-228600" lvl="3" marL="1600200" marR="0" rtl="0" algn="l">
              <a:lnSpc>
                <a:spcPct val="100000"/>
              </a:lnSpc>
              <a:spcBef>
                <a:spcPts val="1000"/>
              </a:spcBef>
              <a:spcAft>
                <a:spcPts val="0"/>
              </a:spcAft>
              <a:buSzPts val="1800"/>
              <a:buChar char="•"/>
            </a:pPr>
            <a:r>
              <a:rPr lang="en-US" sz="1550"/>
              <a:t>What is Supplier Diversity?</a:t>
            </a:r>
            <a:endParaRPr sz="1550"/>
          </a:p>
          <a:p>
            <a:pPr indent="-228600" lvl="3" marL="1600200" marR="0" rtl="0" algn="l">
              <a:lnSpc>
                <a:spcPct val="100000"/>
              </a:lnSpc>
              <a:spcBef>
                <a:spcPts val="1000"/>
              </a:spcBef>
              <a:spcAft>
                <a:spcPts val="0"/>
              </a:spcAft>
              <a:buSzPts val="1800"/>
              <a:buChar char="•"/>
            </a:pPr>
            <a:r>
              <a:rPr lang="en-US" sz="1550"/>
              <a:t>How to Participate in Supplier Diversity in Canada</a:t>
            </a:r>
            <a:endParaRPr sz="1550"/>
          </a:p>
          <a:p>
            <a:pPr indent="-228600" lvl="3" marL="1600200" marR="0" rtl="0" algn="l">
              <a:lnSpc>
                <a:spcPct val="100000"/>
              </a:lnSpc>
              <a:spcBef>
                <a:spcPts val="1000"/>
              </a:spcBef>
              <a:spcAft>
                <a:spcPts val="0"/>
              </a:spcAft>
              <a:buSzPts val="1800"/>
              <a:buChar char="•"/>
            </a:pPr>
            <a:r>
              <a:rPr lang="en-US" sz="1550"/>
              <a:t>Our Business is not Ready for Corporate Contracts - What Now?</a:t>
            </a:r>
            <a:endParaRPr sz="1550"/>
          </a:p>
          <a:p>
            <a:pPr indent="0" lvl="0" marL="1143000" marR="0" rtl="0" algn="l">
              <a:lnSpc>
                <a:spcPct val="100000"/>
              </a:lnSpc>
              <a:spcBef>
                <a:spcPts val="1000"/>
              </a:spcBef>
              <a:spcAft>
                <a:spcPts val="0"/>
              </a:spcAft>
              <a:buNone/>
            </a:pPr>
            <a:r>
              <a:t/>
            </a:r>
            <a:endParaRPr sz="1550"/>
          </a:p>
        </p:txBody>
      </p:sp>
      <p:pic>
        <p:nvPicPr>
          <p:cNvPr id="762" name="Google Shape;762;p98"/>
          <p:cNvPicPr preferRelativeResize="0"/>
          <p:nvPr/>
        </p:nvPicPr>
        <p:blipFill rotWithShape="1">
          <a:blip r:embed="rId3">
            <a:alphaModFix/>
          </a:blip>
          <a:srcRect b="0" l="0" r="0" t="0"/>
          <a:stretch/>
        </p:blipFill>
        <p:spPr>
          <a:xfrm>
            <a:off x="7990825" y="1611500"/>
            <a:ext cx="3566725" cy="3987425"/>
          </a:xfrm>
          <a:prstGeom prst="rect">
            <a:avLst/>
          </a:prstGeom>
          <a:noFill/>
          <a:ln>
            <a:noFill/>
          </a:ln>
        </p:spPr>
      </p:pic>
      <p:sp>
        <p:nvSpPr>
          <p:cNvPr id="763" name="Google Shape;763;p98"/>
          <p:cNvSpPr txBox="1"/>
          <p:nvPr/>
        </p:nvSpPr>
        <p:spPr>
          <a:xfrm>
            <a:off x="8282300" y="1816950"/>
            <a:ext cx="2983800" cy="35577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Highlights</a:t>
            </a:r>
            <a:r>
              <a:rPr b="1" lang="en-US" sz="1700">
                <a:solidFill>
                  <a:srgbClr val="434343"/>
                </a:solidFill>
                <a:latin typeface="Calibri"/>
                <a:ea typeface="Calibri"/>
                <a:cs typeface="Calibri"/>
                <a:sym typeface="Calibri"/>
              </a:rPr>
              <a:t>:</a:t>
            </a:r>
            <a:endParaRPr sz="1600">
              <a:solidFill>
                <a:srgbClr val="434343"/>
              </a:solidFill>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 </a:t>
            </a:r>
            <a:endParaRPr sz="16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Easy for sales to direct this buying group to one area on the website</a:t>
            </a:r>
            <a:endParaRPr sz="1600">
              <a:solidFill>
                <a:srgbClr val="434343"/>
              </a:solidFill>
              <a:latin typeface="Calibri"/>
              <a:ea typeface="Calibri"/>
              <a:cs typeface="Calibri"/>
              <a:sym typeface="Calibri"/>
            </a:endParaRPr>
          </a:p>
          <a:p>
            <a:pPr indent="-298450" lvl="0" marL="285750" marR="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Easy to advertise to this buying group and direct back to website.</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99"/>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Corporates </a:t>
            </a:r>
            <a:r>
              <a:rPr lang="en-US">
                <a:solidFill>
                  <a:schemeClr val="accent5"/>
                </a:solidFill>
              </a:rPr>
              <a:t>Hubpages</a:t>
            </a:r>
            <a:endParaRPr>
              <a:solidFill>
                <a:schemeClr val="accent5"/>
              </a:solidFill>
            </a:endParaRPr>
          </a:p>
        </p:txBody>
      </p:sp>
      <p:sp>
        <p:nvSpPr>
          <p:cNvPr id="769" name="Google Shape;769;p99"/>
          <p:cNvSpPr txBox="1"/>
          <p:nvPr>
            <p:ph idx="1" type="body"/>
          </p:nvPr>
        </p:nvSpPr>
        <p:spPr>
          <a:xfrm>
            <a:off x="274375" y="1611500"/>
            <a:ext cx="7471500" cy="4768200"/>
          </a:xfrm>
          <a:prstGeom prst="rect">
            <a:avLst/>
          </a:prstGeom>
          <a:noFill/>
          <a:ln>
            <a:noFill/>
          </a:ln>
        </p:spPr>
        <p:txBody>
          <a:bodyPr anchorCtr="0" anchor="t" bIns="45700" lIns="91425" spcFirstLastPara="1" rIns="91425" wrap="square" tIns="45700">
            <a:noAutofit/>
          </a:bodyPr>
          <a:lstStyle/>
          <a:p>
            <a:pPr indent="-349250" lvl="1" marL="800100" marR="0" rtl="0" algn="l">
              <a:lnSpc>
                <a:spcPct val="100000"/>
              </a:lnSpc>
              <a:spcBef>
                <a:spcPts val="1000"/>
              </a:spcBef>
              <a:spcAft>
                <a:spcPts val="0"/>
              </a:spcAft>
              <a:buClr>
                <a:schemeClr val="accent2"/>
              </a:buClr>
              <a:buSzPts val="1700"/>
              <a:buChar char="✔"/>
            </a:pPr>
            <a:r>
              <a:rPr lang="en-US" sz="1700"/>
              <a:t>The Ultimate Guide for Canadian Corporations to Working With Women-Led Businesses to Strengthen the Supply Chain</a:t>
            </a:r>
            <a:endParaRPr sz="1700"/>
          </a:p>
          <a:p>
            <a:pPr indent="-222250" lvl="2" marL="1143000" marR="0" rtl="0" algn="l">
              <a:lnSpc>
                <a:spcPct val="100000"/>
              </a:lnSpc>
              <a:spcBef>
                <a:spcPts val="1000"/>
              </a:spcBef>
              <a:spcAft>
                <a:spcPts val="0"/>
              </a:spcAft>
              <a:buSzPts val="1700"/>
              <a:buChar char="•"/>
            </a:pPr>
            <a:r>
              <a:rPr lang="en-US" sz="1700"/>
              <a:t>Sample blog topics</a:t>
            </a:r>
            <a:endParaRPr sz="1700"/>
          </a:p>
          <a:p>
            <a:pPr indent="-215900" lvl="3" marL="1600200" marR="0" rtl="0" algn="l">
              <a:lnSpc>
                <a:spcPct val="100000"/>
              </a:lnSpc>
              <a:spcBef>
                <a:spcPts val="1000"/>
              </a:spcBef>
              <a:spcAft>
                <a:spcPts val="0"/>
              </a:spcAft>
              <a:buSzPts val="1600"/>
              <a:buChar char="•"/>
            </a:pPr>
            <a:r>
              <a:rPr lang="en-US" sz="1600"/>
              <a:t>What is Supplier Diversity?</a:t>
            </a:r>
            <a:endParaRPr sz="1600"/>
          </a:p>
          <a:p>
            <a:pPr indent="-215900" lvl="3" marL="1600200" marR="0" rtl="0" algn="l">
              <a:lnSpc>
                <a:spcPct val="100000"/>
              </a:lnSpc>
              <a:spcBef>
                <a:spcPts val="1000"/>
              </a:spcBef>
              <a:spcAft>
                <a:spcPts val="0"/>
              </a:spcAft>
              <a:buSzPts val="1600"/>
              <a:buChar char="•"/>
            </a:pPr>
            <a:r>
              <a:rPr lang="en-US" sz="1600"/>
              <a:t>How to Get Started With Supplier Diversity</a:t>
            </a:r>
            <a:endParaRPr sz="1600"/>
          </a:p>
          <a:p>
            <a:pPr indent="-215900" lvl="3" marL="1600200" marR="0" rtl="0" algn="l">
              <a:lnSpc>
                <a:spcPct val="100000"/>
              </a:lnSpc>
              <a:spcBef>
                <a:spcPts val="1000"/>
              </a:spcBef>
              <a:spcAft>
                <a:spcPts val="0"/>
              </a:spcAft>
              <a:buSzPts val="1600"/>
              <a:buChar char="•"/>
            </a:pPr>
            <a:r>
              <a:rPr lang="en-US" sz="1600"/>
              <a:t>When to Roll Out Supplier Diversity During the Fiscal Year</a:t>
            </a:r>
            <a:endParaRPr sz="1600"/>
          </a:p>
          <a:p>
            <a:pPr indent="-215900" lvl="3" marL="1600200" marR="0" rtl="0" algn="l">
              <a:lnSpc>
                <a:spcPct val="100000"/>
              </a:lnSpc>
              <a:spcBef>
                <a:spcPts val="1000"/>
              </a:spcBef>
              <a:spcAft>
                <a:spcPts val="0"/>
              </a:spcAft>
              <a:buSzPts val="1600"/>
              <a:buChar char="•"/>
            </a:pPr>
            <a:r>
              <a:rPr lang="en-US" sz="1600"/>
              <a:t>How to Work With Small Business Owners</a:t>
            </a:r>
            <a:endParaRPr sz="1600"/>
          </a:p>
          <a:p>
            <a:pPr indent="-215900" lvl="3" marL="1600200" marR="0" rtl="0" algn="l">
              <a:lnSpc>
                <a:spcPct val="100000"/>
              </a:lnSpc>
              <a:spcBef>
                <a:spcPts val="1000"/>
              </a:spcBef>
              <a:spcAft>
                <a:spcPts val="0"/>
              </a:spcAft>
              <a:buSzPts val="1600"/>
              <a:buChar char="•"/>
            </a:pPr>
            <a:r>
              <a:rPr lang="en-US" sz="1600"/>
              <a:t>Encouraging Existing Vendors to Incorporate a Diverse Supply Chain</a:t>
            </a:r>
            <a:endParaRPr sz="1600"/>
          </a:p>
          <a:p>
            <a:pPr indent="-215900" lvl="3" marL="1600200" marR="0" rtl="0" algn="l">
              <a:lnSpc>
                <a:spcPct val="100000"/>
              </a:lnSpc>
              <a:spcBef>
                <a:spcPts val="1000"/>
              </a:spcBef>
              <a:spcAft>
                <a:spcPts val="0"/>
              </a:spcAft>
              <a:buSzPts val="1600"/>
              <a:buChar char="•"/>
            </a:pPr>
            <a:r>
              <a:rPr lang="en-US" sz="1600"/>
              <a:t>Who Wins When Corporate Canada Supports Supplier Diversity</a:t>
            </a:r>
            <a:endParaRPr sz="1600"/>
          </a:p>
          <a:p>
            <a:pPr indent="-215900" lvl="3" marL="1600200" marR="0" rtl="0" algn="l">
              <a:lnSpc>
                <a:spcPct val="100000"/>
              </a:lnSpc>
              <a:spcBef>
                <a:spcPts val="1000"/>
              </a:spcBef>
              <a:spcAft>
                <a:spcPts val="0"/>
              </a:spcAft>
              <a:buSzPts val="1600"/>
              <a:buChar char="•"/>
            </a:pPr>
            <a:r>
              <a:rPr lang="en-US" sz="1600"/>
              <a:t>What to Watch out for When Setting Supplier Diversity Quotas</a:t>
            </a:r>
            <a:endParaRPr sz="1600"/>
          </a:p>
          <a:p>
            <a:pPr indent="-215900" lvl="3" marL="1600200" marR="0" rtl="0" algn="l">
              <a:lnSpc>
                <a:spcPct val="100000"/>
              </a:lnSpc>
              <a:spcBef>
                <a:spcPts val="1000"/>
              </a:spcBef>
              <a:spcAft>
                <a:spcPts val="0"/>
              </a:spcAft>
              <a:buSzPts val="1600"/>
              <a:buChar char="•"/>
            </a:pPr>
            <a:r>
              <a:rPr lang="en-US" sz="1600"/>
              <a:t>How to Be a Supplier Diversity Leader in Your Industry</a:t>
            </a:r>
            <a:endParaRPr sz="1600"/>
          </a:p>
          <a:p>
            <a:pPr indent="-215900" lvl="3" marL="1600200" marR="0" rtl="0" algn="l">
              <a:lnSpc>
                <a:spcPct val="100000"/>
              </a:lnSpc>
              <a:spcBef>
                <a:spcPts val="1000"/>
              </a:spcBef>
              <a:spcAft>
                <a:spcPts val="0"/>
              </a:spcAft>
              <a:buSzPts val="1600"/>
              <a:buChar char="•"/>
            </a:pPr>
            <a:r>
              <a:rPr lang="en-US" sz="1600"/>
              <a:t>Why Supplier Diversity Attracts Better Talent to Your Organization </a:t>
            </a:r>
            <a:endParaRPr sz="1600"/>
          </a:p>
          <a:p>
            <a:pPr indent="0" lvl="0" marL="1371600" marR="0" rtl="0" algn="l">
              <a:lnSpc>
                <a:spcPct val="100000"/>
              </a:lnSpc>
              <a:spcBef>
                <a:spcPts val="1000"/>
              </a:spcBef>
              <a:spcAft>
                <a:spcPts val="0"/>
              </a:spcAft>
              <a:buNone/>
            </a:pPr>
            <a:r>
              <a:t/>
            </a:r>
            <a:endParaRPr sz="1450">
              <a:solidFill>
                <a:srgbClr val="FF9900"/>
              </a:solidFill>
            </a:endParaRPr>
          </a:p>
        </p:txBody>
      </p:sp>
      <p:pic>
        <p:nvPicPr>
          <p:cNvPr id="770" name="Google Shape;770;p99"/>
          <p:cNvPicPr preferRelativeResize="0"/>
          <p:nvPr/>
        </p:nvPicPr>
        <p:blipFill rotWithShape="1">
          <a:blip r:embed="rId3">
            <a:alphaModFix/>
          </a:blip>
          <a:srcRect b="0" l="0" r="0" t="0"/>
          <a:stretch/>
        </p:blipFill>
        <p:spPr>
          <a:xfrm>
            <a:off x="7990825" y="1611500"/>
            <a:ext cx="3566725" cy="3987425"/>
          </a:xfrm>
          <a:prstGeom prst="rect">
            <a:avLst/>
          </a:prstGeom>
          <a:noFill/>
          <a:ln>
            <a:noFill/>
          </a:ln>
        </p:spPr>
      </p:pic>
      <p:sp>
        <p:nvSpPr>
          <p:cNvPr id="771" name="Google Shape;771;p99"/>
          <p:cNvSpPr txBox="1"/>
          <p:nvPr/>
        </p:nvSpPr>
        <p:spPr>
          <a:xfrm>
            <a:off x="8282300" y="1816950"/>
            <a:ext cx="2983800" cy="3986700"/>
          </a:xfrm>
          <a:prstGeom prst="rect">
            <a:avLst/>
          </a:prstGeom>
          <a:noFill/>
          <a:ln>
            <a:noFill/>
          </a:ln>
        </p:spPr>
        <p:txBody>
          <a:bodyPr anchorCtr="0" anchor="t" bIns="45700" lIns="0" spcFirstLastPara="1" rIns="0" wrap="square" tIns="45700">
            <a:spAutoFit/>
          </a:bodyPr>
          <a:lstStyle/>
          <a:p>
            <a:pPr indent="0" lvl="0" marL="0" rtl="0" algn="l">
              <a:lnSpc>
                <a:spcPct val="142857"/>
              </a:lnSpc>
              <a:spcBef>
                <a:spcPts val="0"/>
              </a:spcBef>
              <a:spcAft>
                <a:spcPts val="0"/>
              </a:spcAft>
              <a:buNone/>
            </a:pPr>
            <a:r>
              <a:rPr b="1" lang="en-US" sz="1700">
                <a:solidFill>
                  <a:srgbClr val="434343"/>
                </a:solidFill>
                <a:latin typeface="Calibri"/>
                <a:ea typeface="Calibri"/>
                <a:cs typeface="Calibri"/>
                <a:sym typeface="Calibri"/>
              </a:rPr>
              <a:t>Highlights:</a:t>
            </a:r>
            <a:endParaRPr sz="1600">
              <a:solidFill>
                <a:srgbClr val="434343"/>
              </a:solidFill>
            </a:endParaRPr>
          </a:p>
          <a:p>
            <a:pPr indent="-330200" lvl="0" marL="45720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 </a:t>
            </a:r>
            <a:endParaRPr sz="1600">
              <a:solidFill>
                <a:srgbClr val="434343"/>
              </a:solidFill>
              <a:latin typeface="Calibri"/>
              <a:ea typeface="Calibri"/>
              <a:cs typeface="Calibri"/>
              <a:sym typeface="Calibri"/>
            </a:endParaRPr>
          </a:p>
          <a:p>
            <a:pPr indent="-330200" lvl="0" marL="45720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Easy for sales to direct this buying group to one area on the website</a:t>
            </a:r>
            <a:endParaRPr sz="1600">
              <a:solidFill>
                <a:srgbClr val="434343"/>
              </a:solidFill>
              <a:latin typeface="Calibri"/>
              <a:ea typeface="Calibri"/>
              <a:cs typeface="Calibri"/>
              <a:sym typeface="Calibri"/>
            </a:endParaRPr>
          </a:p>
          <a:p>
            <a:pPr indent="-330200" lvl="0" marL="45720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Easy to advertising to this buying group and direct back to website.</a:t>
            </a:r>
            <a:endParaRPr sz="1600">
              <a:solidFill>
                <a:srgbClr val="434343"/>
              </a:solidFill>
              <a:latin typeface="Calibri"/>
              <a:ea typeface="Calibri"/>
              <a:cs typeface="Calibri"/>
              <a:sym typeface="Calibri"/>
            </a:endParaRPr>
          </a:p>
          <a:p>
            <a:pPr indent="0" lvl="0" marL="45720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100"/>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Government/Public Sector</a:t>
            </a:r>
            <a:r>
              <a:rPr lang="en-US">
                <a:solidFill>
                  <a:schemeClr val="accent5"/>
                </a:solidFill>
              </a:rPr>
              <a:t> Hubpages</a:t>
            </a:r>
            <a:endParaRPr>
              <a:solidFill>
                <a:schemeClr val="accent5"/>
              </a:solidFill>
            </a:endParaRPr>
          </a:p>
        </p:txBody>
      </p:sp>
      <p:sp>
        <p:nvSpPr>
          <p:cNvPr id="777" name="Google Shape;777;p100"/>
          <p:cNvSpPr txBox="1"/>
          <p:nvPr>
            <p:ph idx="1" type="body"/>
          </p:nvPr>
        </p:nvSpPr>
        <p:spPr>
          <a:xfrm>
            <a:off x="274375" y="1611500"/>
            <a:ext cx="7471500" cy="4768200"/>
          </a:xfrm>
          <a:prstGeom prst="rect">
            <a:avLst/>
          </a:prstGeom>
          <a:noFill/>
          <a:ln>
            <a:noFill/>
          </a:ln>
        </p:spPr>
        <p:txBody>
          <a:bodyPr anchorCtr="0" anchor="t" bIns="45700" lIns="91425" spcFirstLastPara="1" rIns="91425" wrap="square" tIns="45700">
            <a:noAutofit/>
          </a:bodyPr>
          <a:lstStyle/>
          <a:p>
            <a:pPr indent="-361950" lvl="1" marL="800100" marR="0" rtl="0" algn="l">
              <a:lnSpc>
                <a:spcPct val="100000"/>
              </a:lnSpc>
              <a:spcBef>
                <a:spcPts val="1000"/>
              </a:spcBef>
              <a:spcAft>
                <a:spcPts val="0"/>
              </a:spcAft>
              <a:buClr>
                <a:schemeClr val="accent2"/>
              </a:buClr>
              <a:buSzPts val="1900"/>
              <a:buChar char="✔"/>
            </a:pPr>
            <a:r>
              <a:rPr lang="en-US" sz="1900"/>
              <a:t>The </a:t>
            </a:r>
            <a:r>
              <a:rPr lang="en-US" sz="1700"/>
              <a:t>The Ultimate Guide for Canadian Governments &amp; Public Sector Organizations to Working With Women-Led Businesses to Strengthen and Diversify the Supply Chain</a:t>
            </a:r>
            <a:endParaRPr sz="1900"/>
          </a:p>
          <a:p>
            <a:pPr indent="-234950" lvl="2" marL="1143000" marR="0" rtl="0" algn="l">
              <a:lnSpc>
                <a:spcPct val="100000"/>
              </a:lnSpc>
              <a:spcBef>
                <a:spcPts val="1000"/>
              </a:spcBef>
              <a:spcAft>
                <a:spcPts val="0"/>
              </a:spcAft>
              <a:buSzPts val="1900"/>
              <a:buChar char="•"/>
            </a:pPr>
            <a:r>
              <a:rPr lang="en-US" sz="1650"/>
              <a:t>Sample blog topics:</a:t>
            </a:r>
            <a:endParaRPr sz="1650"/>
          </a:p>
          <a:p>
            <a:pPr indent="-234950" lvl="3" marL="1600200" marR="0" rtl="0" algn="l">
              <a:lnSpc>
                <a:spcPct val="100000"/>
              </a:lnSpc>
              <a:spcBef>
                <a:spcPts val="1000"/>
              </a:spcBef>
              <a:spcAft>
                <a:spcPts val="0"/>
              </a:spcAft>
              <a:buSzPts val="1900"/>
              <a:buChar char="•"/>
            </a:pPr>
            <a:r>
              <a:rPr lang="en-US" sz="1650"/>
              <a:t>How Small Business Suppliers Can Support Public Sector Organizations Effectively</a:t>
            </a:r>
            <a:endParaRPr sz="1650"/>
          </a:p>
          <a:p>
            <a:pPr indent="-219075" lvl="3" marL="1600200" marR="0" rtl="0" algn="l">
              <a:lnSpc>
                <a:spcPct val="100000"/>
              </a:lnSpc>
              <a:spcBef>
                <a:spcPts val="1000"/>
              </a:spcBef>
              <a:spcAft>
                <a:spcPts val="0"/>
              </a:spcAft>
              <a:buSzPts val="1650"/>
              <a:buChar char="•"/>
            </a:pPr>
            <a:r>
              <a:rPr lang="en-US" sz="1650"/>
              <a:t>What is Supplier Diversity?</a:t>
            </a:r>
            <a:endParaRPr sz="1650"/>
          </a:p>
          <a:p>
            <a:pPr indent="-219075" lvl="3" marL="1600200" marR="0" rtl="0" algn="l">
              <a:lnSpc>
                <a:spcPct val="100000"/>
              </a:lnSpc>
              <a:spcBef>
                <a:spcPts val="1000"/>
              </a:spcBef>
              <a:spcAft>
                <a:spcPts val="0"/>
              </a:spcAft>
              <a:buSzPts val="1650"/>
              <a:buChar char="•"/>
            </a:pPr>
            <a:r>
              <a:rPr lang="en-US" sz="1650"/>
              <a:t>What does a Diverse Supply Chain look like in Government</a:t>
            </a:r>
            <a:endParaRPr sz="1650"/>
          </a:p>
          <a:p>
            <a:pPr indent="-219075" lvl="3" marL="1600200" marR="0" rtl="0" algn="l">
              <a:lnSpc>
                <a:spcPct val="100000"/>
              </a:lnSpc>
              <a:spcBef>
                <a:spcPts val="1000"/>
              </a:spcBef>
              <a:spcAft>
                <a:spcPts val="0"/>
              </a:spcAft>
              <a:buSzPts val="1650"/>
              <a:buChar char="•"/>
            </a:pPr>
            <a:r>
              <a:rPr lang="en-US" sz="1650"/>
              <a:t>How and Why Should We Work With Small Businesses?</a:t>
            </a:r>
            <a:endParaRPr sz="1650"/>
          </a:p>
          <a:p>
            <a:pPr indent="-219075" lvl="3" marL="1600200" marR="0" rtl="0" algn="l">
              <a:lnSpc>
                <a:spcPct val="100000"/>
              </a:lnSpc>
              <a:spcBef>
                <a:spcPts val="1000"/>
              </a:spcBef>
              <a:spcAft>
                <a:spcPts val="0"/>
              </a:spcAft>
              <a:buSzPts val="1650"/>
              <a:buChar char="•"/>
            </a:pPr>
            <a:r>
              <a:rPr lang="en-US" sz="1650"/>
              <a:t>5 Ways to Know Your Organization is Ready for Supplier Diversity</a:t>
            </a:r>
            <a:endParaRPr sz="1650"/>
          </a:p>
          <a:p>
            <a:pPr indent="-219075" lvl="3" marL="1600200" marR="0" rtl="0" algn="l">
              <a:lnSpc>
                <a:spcPct val="100000"/>
              </a:lnSpc>
              <a:spcBef>
                <a:spcPts val="1000"/>
              </a:spcBef>
              <a:spcAft>
                <a:spcPts val="0"/>
              </a:spcAft>
              <a:buSzPts val="1650"/>
              <a:buChar char="•"/>
            </a:pPr>
            <a:r>
              <a:rPr lang="en-US" sz="1650"/>
              <a:t>Helping Your Small Business Suppliers Through Your Procurement Process</a:t>
            </a:r>
            <a:endParaRPr sz="1650"/>
          </a:p>
          <a:p>
            <a:pPr indent="0" lvl="0" marL="1600200" marR="0" rtl="0" algn="l">
              <a:lnSpc>
                <a:spcPct val="100000"/>
              </a:lnSpc>
              <a:spcBef>
                <a:spcPts val="1000"/>
              </a:spcBef>
              <a:spcAft>
                <a:spcPts val="0"/>
              </a:spcAft>
              <a:buNone/>
            </a:pPr>
            <a:r>
              <a:t/>
            </a:r>
            <a:endParaRPr sz="1650"/>
          </a:p>
        </p:txBody>
      </p:sp>
      <p:pic>
        <p:nvPicPr>
          <p:cNvPr id="778" name="Google Shape;778;p100"/>
          <p:cNvPicPr preferRelativeResize="0"/>
          <p:nvPr/>
        </p:nvPicPr>
        <p:blipFill rotWithShape="1">
          <a:blip r:embed="rId3">
            <a:alphaModFix/>
          </a:blip>
          <a:srcRect b="0" l="0" r="0" t="0"/>
          <a:stretch/>
        </p:blipFill>
        <p:spPr>
          <a:xfrm>
            <a:off x="7990825" y="1611500"/>
            <a:ext cx="3566725" cy="3987425"/>
          </a:xfrm>
          <a:prstGeom prst="rect">
            <a:avLst/>
          </a:prstGeom>
          <a:noFill/>
          <a:ln>
            <a:noFill/>
          </a:ln>
        </p:spPr>
      </p:pic>
      <p:sp>
        <p:nvSpPr>
          <p:cNvPr id="779" name="Google Shape;779;p100"/>
          <p:cNvSpPr txBox="1"/>
          <p:nvPr/>
        </p:nvSpPr>
        <p:spPr>
          <a:xfrm>
            <a:off x="8282300" y="1816950"/>
            <a:ext cx="2983800" cy="3986700"/>
          </a:xfrm>
          <a:prstGeom prst="rect">
            <a:avLst/>
          </a:prstGeom>
          <a:noFill/>
          <a:ln>
            <a:noFill/>
          </a:ln>
        </p:spPr>
        <p:txBody>
          <a:bodyPr anchorCtr="0" anchor="t" bIns="45700" lIns="0" spcFirstLastPara="1" rIns="0" wrap="square" tIns="45700">
            <a:spAutoFit/>
          </a:bodyPr>
          <a:lstStyle/>
          <a:p>
            <a:pPr indent="0" lvl="0" marL="0" marR="0" rtl="0" algn="l">
              <a:lnSpc>
                <a:spcPct val="142857"/>
              </a:lnSpc>
              <a:spcBef>
                <a:spcPts val="0"/>
              </a:spcBef>
              <a:spcAft>
                <a:spcPts val="0"/>
              </a:spcAft>
              <a:buNone/>
            </a:pPr>
            <a:r>
              <a:rPr b="1" lang="en-US" sz="1700">
                <a:solidFill>
                  <a:srgbClr val="434343"/>
                </a:solidFill>
                <a:latin typeface="Calibri"/>
                <a:ea typeface="Calibri"/>
                <a:cs typeface="Calibri"/>
                <a:sym typeface="Calibri"/>
              </a:rPr>
              <a:t>Highlights</a:t>
            </a:r>
            <a:r>
              <a:rPr b="1" lang="en-US" sz="1700">
                <a:solidFill>
                  <a:srgbClr val="434343"/>
                </a:solidFill>
                <a:latin typeface="Calibri"/>
                <a:ea typeface="Calibri"/>
                <a:cs typeface="Calibri"/>
                <a:sym typeface="Calibri"/>
              </a:rPr>
              <a:t>:</a:t>
            </a:r>
            <a:endParaRPr sz="1600">
              <a:solidFill>
                <a:srgbClr val="434343"/>
              </a:solidFill>
            </a:endParaRPr>
          </a:p>
          <a:p>
            <a:pPr indent="-330200" lvl="0" marL="45720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Persona driven content specifically for this targeted buyer. </a:t>
            </a:r>
            <a:endParaRPr sz="1600">
              <a:solidFill>
                <a:srgbClr val="434343"/>
              </a:solidFill>
              <a:latin typeface="Calibri"/>
              <a:ea typeface="Calibri"/>
              <a:cs typeface="Calibri"/>
              <a:sym typeface="Calibri"/>
            </a:endParaRPr>
          </a:p>
          <a:p>
            <a:pPr indent="-330200" lvl="0" marL="45720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Easy for sales to direct this buying group to one area on the website</a:t>
            </a:r>
            <a:endParaRPr sz="1600">
              <a:solidFill>
                <a:srgbClr val="434343"/>
              </a:solidFill>
              <a:latin typeface="Calibri"/>
              <a:ea typeface="Calibri"/>
              <a:cs typeface="Calibri"/>
              <a:sym typeface="Calibri"/>
            </a:endParaRPr>
          </a:p>
          <a:p>
            <a:pPr indent="-330200" lvl="0" marL="457200" rtl="0" algn="l">
              <a:lnSpc>
                <a:spcPct val="100000"/>
              </a:lnSpc>
              <a:spcBef>
                <a:spcPts val="600"/>
              </a:spcBef>
              <a:spcAft>
                <a:spcPts val="0"/>
              </a:spcAft>
              <a:buClr>
                <a:srgbClr val="434343"/>
              </a:buClr>
              <a:buSzPts val="1600"/>
              <a:buFont typeface="Calibri"/>
              <a:buChar char="✔"/>
            </a:pPr>
            <a:r>
              <a:rPr lang="en-US" sz="1600">
                <a:solidFill>
                  <a:srgbClr val="434343"/>
                </a:solidFill>
                <a:latin typeface="Calibri"/>
                <a:ea typeface="Calibri"/>
                <a:cs typeface="Calibri"/>
                <a:sym typeface="Calibri"/>
              </a:rPr>
              <a:t>Easy to advertising to this buying group and direct back to website.</a:t>
            </a:r>
            <a:endParaRPr sz="1600">
              <a:solidFill>
                <a:srgbClr val="434343"/>
              </a:solidFill>
              <a:latin typeface="Calibri"/>
              <a:ea typeface="Calibri"/>
              <a:cs typeface="Calibri"/>
              <a:sym typeface="Calibri"/>
            </a:endParaRPr>
          </a:p>
          <a:p>
            <a:pPr indent="0" lvl="0" marL="45720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600"/>
              </a:spcBef>
              <a:spcAft>
                <a:spcPts val="0"/>
              </a:spcAft>
              <a:buNone/>
            </a:pPr>
            <a:r>
              <a:t/>
            </a:r>
            <a:endParaRPr sz="1600">
              <a:solidFill>
                <a:srgbClr val="434343"/>
              </a:solidFill>
              <a:latin typeface="Calibri"/>
              <a:ea typeface="Calibri"/>
              <a:cs typeface="Calibri"/>
              <a:sym typeface="Calibri"/>
            </a:endParaRPr>
          </a:p>
          <a:p>
            <a:pPr indent="0" lvl="0" marL="0" marR="0" rtl="0" algn="l">
              <a:lnSpc>
                <a:spcPct val="142857"/>
              </a:lnSpc>
              <a:spcBef>
                <a:spcPts val="0"/>
              </a:spcBef>
              <a:spcAft>
                <a:spcPts val="0"/>
              </a:spcAft>
              <a:buNone/>
            </a:pPr>
            <a:r>
              <a:t/>
            </a:r>
            <a:endParaRPr sz="1400">
              <a:solidFill>
                <a:schemeClr val="lt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101"/>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Better Content With Interviews - Our Process</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785" name="Google Shape;785;p101"/>
          <p:cNvSpPr txBox="1"/>
          <p:nvPr/>
        </p:nvSpPr>
        <p:spPr>
          <a:xfrm>
            <a:off x="470850" y="1740100"/>
            <a:ext cx="10584000" cy="4061100"/>
          </a:xfrm>
          <a:prstGeom prst="rect">
            <a:avLst/>
          </a:prstGeom>
          <a:noFill/>
          <a:ln>
            <a:noFill/>
          </a:ln>
        </p:spPr>
        <p:txBody>
          <a:bodyPr anchorCtr="0" anchor="t" bIns="91425" lIns="91425" spcFirstLastPara="1" rIns="91425" wrap="square" tIns="91425">
            <a:spAutoFit/>
          </a:bodyPr>
          <a:lstStyle/>
          <a:p>
            <a:pPr indent="-234950" lvl="1" marL="685800" rtl="0" algn="l">
              <a:lnSpc>
                <a:spcPct val="115000"/>
              </a:lnSpc>
              <a:spcBef>
                <a:spcPts val="1000"/>
              </a:spcBef>
              <a:spcAft>
                <a:spcPts val="0"/>
              </a:spcAft>
              <a:buClr>
                <a:schemeClr val="accent2"/>
              </a:buClr>
              <a:buSzPts val="1900"/>
              <a:buChar char="✔"/>
            </a:pPr>
            <a:r>
              <a:rPr b="1" lang="en-US" sz="1900">
                <a:solidFill>
                  <a:schemeClr val="dk1"/>
                </a:solidFill>
                <a:latin typeface="Calibri"/>
                <a:ea typeface="Calibri"/>
                <a:cs typeface="Calibri"/>
                <a:sym typeface="Calibri"/>
              </a:rPr>
              <a:t>Challenge:</a:t>
            </a:r>
            <a:r>
              <a:rPr b="1" lang="en-US" sz="1900">
                <a:solidFill>
                  <a:schemeClr val="accent1"/>
                </a:solidFill>
                <a:latin typeface="Calibri"/>
                <a:ea typeface="Calibri"/>
                <a:cs typeface="Calibri"/>
                <a:sym typeface="Calibri"/>
              </a:rPr>
              <a:t> </a:t>
            </a:r>
            <a:r>
              <a:rPr lang="en-US" sz="1900">
                <a:solidFill>
                  <a:schemeClr val="dk1"/>
                </a:solidFill>
                <a:latin typeface="Calibri"/>
                <a:ea typeface="Calibri"/>
                <a:cs typeface="Calibri"/>
                <a:sym typeface="Calibri"/>
              </a:rPr>
              <a:t>Create </a:t>
            </a:r>
            <a:r>
              <a:rPr b="1" lang="en-US" sz="1900">
                <a:solidFill>
                  <a:schemeClr val="dk1"/>
                </a:solidFill>
                <a:latin typeface="Calibri"/>
                <a:ea typeface="Calibri"/>
                <a:cs typeface="Calibri"/>
                <a:sym typeface="Calibri"/>
              </a:rPr>
              <a:t>large volume of content </a:t>
            </a:r>
            <a:r>
              <a:rPr lang="en-US" sz="1900">
                <a:solidFill>
                  <a:schemeClr val="dk1"/>
                </a:solidFill>
                <a:latin typeface="Calibri"/>
                <a:ea typeface="Calibri"/>
                <a:cs typeface="Calibri"/>
                <a:sym typeface="Calibri"/>
              </a:rPr>
              <a:t>consistently </a:t>
            </a:r>
            <a:endParaRPr b="1" sz="1900">
              <a:solidFill>
                <a:schemeClr val="dk1"/>
              </a:solidFill>
              <a:latin typeface="Calibri"/>
              <a:ea typeface="Calibri"/>
              <a:cs typeface="Calibri"/>
              <a:sym typeface="Calibri"/>
            </a:endParaRPr>
          </a:p>
          <a:p>
            <a:pPr indent="-234950" lvl="1" marL="685800" rtl="0" algn="l">
              <a:lnSpc>
                <a:spcPct val="130000"/>
              </a:lnSpc>
              <a:spcBef>
                <a:spcPts val="1000"/>
              </a:spcBef>
              <a:spcAft>
                <a:spcPts val="0"/>
              </a:spcAft>
              <a:buClr>
                <a:schemeClr val="accent2"/>
              </a:buClr>
              <a:buSzPts val="1900"/>
              <a:buChar char="✔"/>
            </a:pPr>
            <a:r>
              <a:rPr b="1" lang="en-US" sz="1900">
                <a:solidFill>
                  <a:schemeClr val="dk1"/>
                </a:solidFill>
                <a:latin typeface="Calibri"/>
                <a:ea typeface="Calibri"/>
                <a:cs typeface="Calibri"/>
                <a:sym typeface="Calibri"/>
              </a:rPr>
              <a:t>Goal: </a:t>
            </a:r>
            <a:r>
              <a:rPr lang="en-US" sz="1900">
                <a:solidFill>
                  <a:schemeClr val="dk1"/>
                </a:solidFill>
                <a:latin typeface="Calibri"/>
                <a:ea typeface="Calibri"/>
                <a:cs typeface="Calibri"/>
                <a:sym typeface="Calibri"/>
              </a:rPr>
              <a:t>Integrate emotional messaging AND sophisticated, insightful SEO’d writing</a:t>
            </a:r>
            <a:endParaRPr sz="1900">
              <a:solidFill>
                <a:schemeClr val="accent1"/>
              </a:solidFill>
              <a:latin typeface="Calibri"/>
              <a:ea typeface="Calibri"/>
              <a:cs typeface="Calibri"/>
              <a:sym typeface="Calibri"/>
            </a:endParaRPr>
          </a:p>
          <a:p>
            <a:pPr indent="-234950" lvl="1" marL="685800" rtl="0" algn="l">
              <a:lnSpc>
                <a:spcPct val="115000"/>
              </a:lnSpc>
              <a:spcBef>
                <a:spcPts val="1000"/>
              </a:spcBef>
              <a:spcAft>
                <a:spcPts val="0"/>
              </a:spcAft>
              <a:buClr>
                <a:schemeClr val="accent2"/>
              </a:buClr>
              <a:buSzPts val="1900"/>
              <a:buChar char="✔"/>
            </a:pPr>
            <a:r>
              <a:rPr b="1" lang="en-US" sz="1900">
                <a:solidFill>
                  <a:schemeClr val="dk1"/>
                </a:solidFill>
                <a:latin typeface="Calibri"/>
                <a:ea typeface="Calibri"/>
                <a:cs typeface="Calibri"/>
                <a:sym typeface="Calibri"/>
              </a:rPr>
              <a:t>Action Steps: </a:t>
            </a:r>
            <a:r>
              <a:rPr lang="en-US" sz="1900">
                <a:solidFill>
                  <a:schemeClr val="dk1"/>
                </a:solidFill>
                <a:latin typeface="Calibri"/>
                <a:ea typeface="Calibri"/>
                <a:cs typeface="Calibri"/>
                <a:sym typeface="Calibri"/>
              </a:rPr>
              <a:t>Use the blog interview method to achieve quantity goals while elevating several WBE Canada Employees and/or WBEs / Corporates/Government</a:t>
            </a:r>
            <a:endParaRPr sz="1900">
              <a:solidFill>
                <a:schemeClr val="dk1"/>
              </a:solidFill>
              <a:latin typeface="Calibri"/>
              <a:ea typeface="Calibri"/>
              <a:cs typeface="Calibri"/>
              <a:sym typeface="Calibri"/>
            </a:endParaRPr>
          </a:p>
          <a:p>
            <a:pPr indent="-234950" lvl="2" marL="1143000" rtl="0" algn="l">
              <a:lnSpc>
                <a:spcPct val="115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Commit to a 4x per month blog posting cadence following a content plan aligned </a:t>
            </a:r>
            <a:br>
              <a:rPr lang="en-US" sz="1900">
                <a:solidFill>
                  <a:schemeClr val="dk1"/>
                </a:solidFill>
                <a:latin typeface="Calibri"/>
                <a:ea typeface="Calibri"/>
                <a:cs typeface="Calibri"/>
                <a:sym typeface="Calibri"/>
              </a:rPr>
            </a:br>
            <a:r>
              <a:rPr lang="en-US" sz="1900">
                <a:solidFill>
                  <a:schemeClr val="dk1"/>
                </a:solidFill>
                <a:latin typeface="Calibri"/>
                <a:ea typeface="Calibri"/>
                <a:cs typeface="Calibri"/>
                <a:sym typeface="Calibri"/>
              </a:rPr>
              <a:t>with SEO and your personas.</a:t>
            </a:r>
            <a:endParaRPr sz="1900">
              <a:solidFill>
                <a:schemeClr val="dk1"/>
              </a:solidFill>
              <a:latin typeface="Calibri"/>
              <a:ea typeface="Calibri"/>
              <a:cs typeface="Calibri"/>
              <a:sym typeface="Calibri"/>
            </a:endParaRPr>
          </a:p>
          <a:p>
            <a:pPr indent="-234950" lvl="2" marL="1143000" rtl="0" algn="l">
              <a:lnSpc>
                <a:spcPct val="115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The blog works “double duty” as when there is a blog topic about WBEs, Corporates, or the Public Sector, it not only is featured on  your blog, but also contributes to the corresponding hub page. This means your 3 main “customer” hub pages are populated consistently with updated information.</a:t>
            </a:r>
            <a:endParaRPr sz="1900">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102"/>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Better Blogs With Interviews - Our Process</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791" name="Google Shape;791;p102"/>
          <p:cNvSpPr txBox="1"/>
          <p:nvPr/>
        </p:nvSpPr>
        <p:spPr>
          <a:xfrm>
            <a:off x="470850" y="1740100"/>
            <a:ext cx="6602100" cy="4428000"/>
          </a:xfrm>
          <a:prstGeom prst="rect">
            <a:avLst/>
          </a:prstGeom>
          <a:noFill/>
          <a:ln>
            <a:noFill/>
          </a:ln>
        </p:spPr>
        <p:txBody>
          <a:bodyPr anchorCtr="0" anchor="t" bIns="91425" lIns="91425" spcFirstLastPara="1" rIns="91425" wrap="square" tIns="91425">
            <a:spAutoFit/>
          </a:bodyPr>
          <a:lstStyle/>
          <a:p>
            <a:pPr indent="-234950" lvl="1" marL="685800" rtl="0" algn="l">
              <a:lnSpc>
                <a:spcPct val="100000"/>
              </a:lnSpc>
              <a:spcBef>
                <a:spcPts val="1000"/>
              </a:spcBef>
              <a:spcAft>
                <a:spcPts val="0"/>
              </a:spcAft>
              <a:buClr>
                <a:schemeClr val="accent2"/>
              </a:buClr>
              <a:buSzPts val="1900"/>
              <a:buChar char="✔"/>
            </a:pPr>
            <a:r>
              <a:rPr lang="en-US" sz="1900">
                <a:solidFill>
                  <a:schemeClr val="dk1"/>
                </a:solidFill>
                <a:latin typeface="Calibri"/>
                <a:ea typeface="Calibri"/>
                <a:cs typeface="Calibri"/>
                <a:sym typeface="Calibri"/>
              </a:rPr>
              <a:t>SME is interviewed by our writers over recorded Zoom call. 1hr = 2-3blogs/pcs of content</a:t>
            </a:r>
            <a:endParaRPr sz="1900">
              <a:solidFill>
                <a:schemeClr val="dk1"/>
              </a:solidFill>
              <a:latin typeface="Calibri"/>
              <a:ea typeface="Calibri"/>
              <a:cs typeface="Calibri"/>
              <a:sym typeface="Calibri"/>
            </a:endParaRPr>
          </a:p>
          <a:p>
            <a:pPr indent="-234950" lvl="1" marL="685800" rtl="0" algn="l">
              <a:lnSpc>
                <a:spcPct val="100000"/>
              </a:lnSpc>
              <a:spcBef>
                <a:spcPts val="1000"/>
              </a:spcBef>
              <a:spcAft>
                <a:spcPts val="0"/>
              </a:spcAft>
              <a:buClr>
                <a:schemeClr val="accent2"/>
              </a:buClr>
              <a:buSzPts val="1900"/>
              <a:buFont typeface="Calibri"/>
              <a:buChar char="✔"/>
            </a:pPr>
            <a:r>
              <a:rPr lang="en-US" sz="1900">
                <a:solidFill>
                  <a:schemeClr val="dk1"/>
                </a:solidFill>
                <a:latin typeface="Calibri"/>
                <a:ea typeface="Calibri"/>
                <a:cs typeface="Calibri"/>
                <a:sym typeface="Calibri"/>
              </a:rPr>
              <a:t>Draft is reviewed/approved </a:t>
            </a:r>
            <a:endParaRPr sz="1900">
              <a:solidFill>
                <a:schemeClr val="dk1"/>
              </a:solidFill>
              <a:latin typeface="Calibri"/>
              <a:ea typeface="Calibri"/>
              <a:cs typeface="Calibri"/>
              <a:sym typeface="Calibri"/>
            </a:endParaRPr>
          </a:p>
          <a:p>
            <a:pPr indent="-234950" lvl="1" marL="685800" rtl="0" algn="l">
              <a:lnSpc>
                <a:spcPct val="100000"/>
              </a:lnSpc>
              <a:spcBef>
                <a:spcPts val="1000"/>
              </a:spcBef>
              <a:spcAft>
                <a:spcPts val="0"/>
              </a:spcAft>
              <a:buClr>
                <a:schemeClr val="accent2"/>
              </a:buClr>
              <a:buSzPts val="1900"/>
              <a:buFont typeface="Calibri"/>
              <a:buChar char="✔"/>
            </a:pPr>
            <a:r>
              <a:rPr lang="en-US" sz="1900">
                <a:solidFill>
                  <a:schemeClr val="dk1"/>
                </a:solidFill>
                <a:latin typeface="Calibri"/>
                <a:ea typeface="Calibri"/>
                <a:cs typeface="Calibri"/>
                <a:sym typeface="Calibri"/>
              </a:rPr>
              <a:t>Posted on website as blog + image</a:t>
            </a:r>
            <a:endParaRPr sz="1900">
              <a:solidFill>
                <a:schemeClr val="dk1"/>
              </a:solidFill>
              <a:latin typeface="Calibri"/>
              <a:ea typeface="Calibri"/>
              <a:cs typeface="Calibri"/>
              <a:sym typeface="Calibri"/>
            </a:endParaRPr>
          </a:p>
          <a:p>
            <a:pPr indent="-234950" lvl="1" marL="685800" rtl="0" algn="l">
              <a:lnSpc>
                <a:spcPct val="100000"/>
              </a:lnSpc>
              <a:spcBef>
                <a:spcPts val="1000"/>
              </a:spcBef>
              <a:spcAft>
                <a:spcPts val="0"/>
              </a:spcAft>
              <a:buClr>
                <a:schemeClr val="accent2"/>
              </a:buClr>
              <a:buSzPts val="1900"/>
              <a:buFont typeface="Calibri"/>
              <a:buChar char="✔"/>
            </a:pPr>
            <a:r>
              <a:rPr lang="en-US" sz="1900">
                <a:solidFill>
                  <a:schemeClr val="dk1"/>
                </a:solidFill>
                <a:latin typeface="Calibri"/>
                <a:ea typeface="Calibri"/>
                <a:cs typeface="Calibri"/>
                <a:sym typeface="Calibri"/>
              </a:rPr>
              <a:t>Posted on social media in rotation</a:t>
            </a:r>
            <a:endParaRPr sz="1900">
              <a:solidFill>
                <a:schemeClr val="dk1"/>
              </a:solidFill>
              <a:latin typeface="Calibri"/>
              <a:ea typeface="Calibri"/>
              <a:cs typeface="Calibri"/>
              <a:sym typeface="Calibri"/>
            </a:endParaRPr>
          </a:p>
          <a:p>
            <a:pPr indent="-234950" lvl="1" marL="685800" rtl="0" algn="l">
              <a:lnSpc>
                <a:spcPct val="100000"/>
              </a:lnSpc>
              <a:spcBef>
                <a:spcPts val="1000"/>
              </a:spcBef>
              <a:spcAft>
                <a:spcPts val="0"/>
              </a:spcAft>
              <a:buClr>
                <a:schemeClr val="accent2"/>
              </a:buClr>
              <a:buSzPts val="1900"/>
              <a:buFont typeface="Calibri"/>
              <a:buChar char="✔"/>
            </a:pPr>
            <a:r>
              <a:rPr lang="en-US" sz="1900">
                <a:solidFill>
                  <a:schemeClr val="dk1"/>
                </a:solidFill>
                <a:latin typeface="Calibri"/>
                <a:ea typeface="Calibri"/>
                <a:cs typeface="Calibri"/>
                <a:sym typeface="Calibri"/>
              </a:rPr>
              <a:t>1 week later, posted on SME’s LinkedIn as article</a:t>
            </a:r>
            <a:endParaRPr sz="1900">
              <a:solidFill>
                <a:schemeClr val="dk1"/>
              </a:solidFill>
              <a:latin typeface="Calibri"/>
              <a:ea typeface="Calibri"/>
              <a:cs typeface="Calibri"/>
              <a:sym typeface="Calibri"/>
            </a:endParaRPr>
          </a:p>
          <a:p>
            <a:pPr indent="-234950" lvl="2" marL="1143000" rtl="0" algn="l">
              <a:lnSpc>
                <a:spcPct val="100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Raises their professional profile with existing &amp; potential clients</a:t>
            </a:r>
            <a:endParaRPr sz="1900">
              <a:solidFill>
                <a:schemeClr val="dk1"/>
              </a:solidFill>
              <a:latin typeface="Calibri"/>
              <a:ea typeface="Calibri"/>
              <a:cs typeface="Calibri"/>
              <a:sym typeface="Calibri"/>
            </a:endParaRPr>
          </a:p>
          <a:p>
            <a:pPr indent="-234950" lvl="2" marL="1143000" rtl="0" algn="l">
              <a:lnSpc>
                <a:spcPct val="100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SME builds thought leadership &amp; feels appreciated </a:t>
            </a:r>
            <a:endParaRPr sz="1900">
              <a:solidFill>
                <a:schemeClr val="dk1"/>
              </a:solidFill>
              <a:latin typeface="Calibri"/>
              <a:ea typeface="Calibri"/>
              <a:cs typeface="Calibri"/>
              <a:sym typeface="Calibri"/>
            </a:endParaRPr>
          </a:p>
          <a:p>
            <a:pPr indent="-234950" lvl="2" marL="1143000" rtl="0" algn="l">
              <a:lnSpc>
                <a:spcPct val="100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Saves time, SMEs typically enjoy the process</a:t>
            </a:r>
            <a:endParaRPr sz="1900">
              <a:solidFill>
                <a:schemeClr val="dk1"/>
              </a:solidFill>
              <a:latin typeface="Calibri"/>
              <a:ea typeface="Calibri"/>
              <a:cs typeface="Calibri"/>
              <a:sym typeface="Calibri"/>
            </a:endParaRPr>
          </a:p>
          <a:p>
            <a:pPr indent="-234950" lvl="2" marL="1143000" rtl="0" algn="l">
              <a:lnSpc>
                <a:spcPct val="100000"/>
              </a:lnSpc>
              <a:spcBef>
                <a:spcPts val="100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SME retention, </a:t>
            </a:r>
            <a:r>
              <a:rPr lang="en-US" sz="1900">
                <a:solidFill>
                  <a:schemeClr val="dk1"/>
                </a:solidFill>
                <a:latin typeface="Calibri"/>
                <a:ea typeface="Calibri"/>
                <a:cs typeface="Calibri"/>
                <a:sym typeface="Calibri"/>
              </a:rPr>
              <a:t>committed</a:t>
            </a:r>
            <a:r>
              <a:rPr lang="en-US" sz="1900">
                <a:solidFill>
                  <a:schemeClr val="dk1"/>
                </a:solidFill>
                <a:latin typeface="Calibri"/>
                <a:ea typeface="Calibri"/>
                <a:cs typeface="Calibri"/>
                <a:sym typeface="Calibri"/>
              </a:rPr>
              <a:t>, invested in success</a:t>
            </a:r>
            <a:endParaRPr sz="1900">
              <a:solidFill>
                <a:schemeClr val="dk1"/>
              </a:solidFill>
              <a:latin typeface="Calibri"/>
              <a:ea typeface="Calibri"/>
              <a:cs typeface="Calibri"/>
              <a:sym typeface="Calibri"/>
            </a:endParaRPr>
          </a:p>
        </p:txBody>
      </p:sp>
      <p:pic>
        <p:nvPicPr>
          <p:cNvPr id="792" name="Google Shape;792;p102"/>
          <p:cNvPicPr preferRelativeResize="0"/>
          <p:nvPr/>
        </p:nvPicPr>
        <p:blipFill>
          <a:blip r:embed="rId3">
            <a:alphaModFix/>
          </a:blip>
          <a:stretch>
            <a:fillRect/>
          </a:stretch>
        </p:blipFill>
        <p:spPr>
          <a:xfrm>
            <a:off x="7225350" y="1701388"/>
            <a:ext cx="4586310" cy="4084526"/>
          </a:xfrm>
          <a:prstGeom prst="rect">
            <a:avLst/>
          </a:prstGeom>
          <a:noFill/>
          <a:ln cap="flat" cmpd="sng" w="9525">
            <a:solidFill>
              <a:srgbClr val="CCCCCC"/>
            </a:solidFill>
            <a:prstDash val="dot"/>
            <a:round/>
            <a:headEnd len="sm" w="sm" type="none"/>
            <a:tailEnd len="sm" w="sm" type="none"/>
          </a:ln>
        </p:spPr>
      </p:pic>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103"/>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Social Media</a:t>
            </a:r>
            <a:endParaRPr/>
          </a:p>
          <a:p>
            <a:pPr indent="0" lvl="0" marL="0" rtl="0" algn="ctr">
              <a:lnSpc>
                <a:spcPct val="90000"/>
              </a:lnSpc>
              <a:spcBef>
                <a:spcPts val="0"/>
              </a:spcBef>
              <a:spcAft>
                <a:spcPts val="0"/>
              </a:spcAft>
              <a:buClr>
                <a:schemeClr val="accent2"/>
              </a:buClr>
              <a:buSzPts val="4400"/>
              <a:buFont typeface="Calibri"/>
              <a:buNone/>
            </a:pPr>
            <a:r>
              <a:rPr b="0" i="1" lang="en-US" sz="4000">
                <a:latin typeface="Calibri"/>
                <a:ea typeface="Calibri"/>
                <a:cs typeface="Calibri"/>
                <a:sym typeface="Calibri"/>
              </a:rPr>
              <a:t>competitive landscape and what’s next</a:t>
            </a:r>
            <a:endParaRPr b="0" i="1" sz="4000">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p104"/>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Social Media - LinkedIn Company Page</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803" name="Google Shape;803;p104"/>
          <p:cNvSpPr txBox="1"/>
          <p:nvPr>
            <p:ph idx="1" type="body"/>
          </p:nvPr>
        </p:nvSpPr>
        <p:spPr>
          <a:xfrm>
            <a:off x="6406500" y="1586775"/>
            <a:ext cx="4760700" cy="4351200"/>
          </a:xfrm>
          <a:prstGeom prst="rect">
            <a:avLst/>
          </a:prstGeom>
          <a:noFill/>
          <a:ln>
            <a:noFill/>
          </a:ln>
        </p:spPr>
        <p:txBody>
          <a:bodyPr anchorCtr="0" anchor="t" bIns="45700" lIns="91425" spcFirstLastPara="1" rIns="91425" wrap="square" tIns="45700">
            <a:noAutofit/>
          </a:bodyPr>
          <a:lstStyle/>
          <a:p>
            <a:pPr indent="0" lvl="0" marL="457200" rtl="0" algn="l">
              <a:lnSpc>
                <a:spcPct val="130000"/>
              </a:lnSpc>
              <a:spcBef>
                <a:spcPts val="1000"/>
              </a:spcBef>
              <a:spcAft>
                <a:spcPts val="0"/>
              </a:spcAft>
              <a:buNone/>
            </a:pPr>
            <a:r>
              <a:rPr lang="en-US" sz="1600"/>
              <a:t>To do:</a:t>
            </a:r>
            <a:endParaRPr sz="1600"/>
          </a:p>
          <a:p>
            <a:pPr indent="0" lvl="0" marL="0" rtl="0" algn="l">
              <a:lnSpc>
                <a:spcPct val="130000"/>
              </a:lnSpc>
              <a:spcBef>
                <a:spcPts val="1000"/>
              </a:spcBef>
              <a:spcAft>
                <a:spcPts val="0"/>
              </a:spcAft>
              <a:buNone/>
            </a:pPr>
            <a:r>
              <a:t/>
            </a:r>
            <a:endParaRPr sz="1600"/>
          </a:p>
          <a:p>
            <a:pPr indent="-215900" lvl="1" marL="685800" rtl="0" algn="l">
              <a:lnSpc>
                <a:spcPct val="130000"/>
              </a:lnSpc>
              <a:spcBef>
                <a:spcPts val="1000"/>
              </a:spcBef>
              <a:spcAft>
                <a:spcPts val="0"/>
              </a:spcAft>
              <a:buSzPts val="1600"/>
              <a:buChar char="✔"/>
            </a:pPr>
            <a:r>
              <a:rPr lang="en-US" sz="1600"/>
              <a:t>Post daily based on content plan</a:t>
            </a:r>
            <a:endParaRPr sz="1600"/>
          </a:p>
          <a:p>
            <a:pPr indent="-215900" lvl="1" marL="685800" rtl="0" algn="l">
              <a:lnSpc>
                <a:spcPct val="130000"/>
              </a:lnSpc>
              <a:spcBef>
                <a:spcPts val="1000"/>
              </a:spcBef>
              <a:spcAft>
                <a:spcPts val="0"/>
              </a:spcAft>
              <a:buSzPts val="1600"/>
              <a:buChar char="✔"/>
            </a:pPr>
            <a:r>
              <a:rPr lang="en-US" sz="1600"/>
              <a:t>Encourage employee engagement on social</a:t>
            </a:r>
            <a:endParaRPr sz="1600"/>
          </a:p>
          <a:p>
            <a:pPr indent="-215900" lvl="1" marL="685800" rtl="0" algn="l">
              <a:lnSpc>
                <a:spcPct val="130000"/>
              </a:lnSpc>
              <a:spcBef>
                <a:spcPts val="1000"/>
              </a:spcBef>
              <a:spcAft>
                <a:spcPts val="0"/>
              </a:spcAft>
              <a:buSzPts val="1600"/>
              <a:buChar char="✔"/>
            </a:pPr>
            <a:r>
              <a:rPr lang="en-US" sz="1600"/>
              <a:t>Consider paid ads after 6 weeks of </a:t>
            </a:r>
            <a:r>
              <a:rPr lang="en-US" sz="1600"/>
              <a:t>consistent</a:t>
            </a:r>
            <a:r>
              <a:rPr lang="en-US" sz="1600"/>
              <a:t> organic increased activity</a:t>
            </a:r>
            <a:endParaRPr sz="1600"/>
          </a:p>
          <a:p>
            <a:pPr indent="-215900" lvl="1" marL="685800" rtl="0" algn="l">
              <a:lnSpc>
                <a:spcPct val="130000"/>
              </a:lnSpc>
              <a:spcBef>
                <a:spcPts val="1000"/>
              </a:spcBef>
              <a:spcAft>
                <a:spcPts val="0"/>
              </a:spcAft>
              <a:buSzPts val="1600"/>
              <a:buChar char="✔"/>
            </a:pPr>
            <a:r>
              <a:rPr lang="en-US" sz="1600"/>
              <a:t>Establish the free lead gen form on the company page for interested “potential” WBEs. (easy validation)</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p:txBody>
      </p:sp>
      <p:pic>
        <p:nvPicPr>
          <p:cNvPr id="804" name="Google Shape;804;p104"/>
          <p:cNvPicPr preferRelativeResize="0"/>
          <p:nvPr/>
        </p:nvPicPr>
        <p:blipFill>
          <a:blip r:embed="rId3">
            <a:alphaModFix/>
          </a:blip>
          <a:stretch>
            <a:fillRect/>
          </a:stretch>
        </p:blipFill>
        <p:spPr>
          <a:xfrm>
            <a:off x="914075" y="1586773"/>
            <a:ext cx="5306949" cy="2970325"/>
          </a:xfrm>
          <a:prstGeom prst="rect">
            <a:avLst/>
          </a:prstGeom>
          <a:noFill/>
          <a:ln>
            <a:noFill/>
          </a:ln>
        </p:spPr>
      </p:pic>
      <p:pic>
        <p:nvPicPr>
          <p:cNvPr id="805" name="Google Shape;805;p104"/>
          <p:cNvPicPr preferRelativeResize="0"/>
          <p:nvPr/>
        </p:nvPicPr>
        <p:blipFill>
          <a:blip r:embed="rId4">
            <a:alphaModFix/>
          </a:blip>
          <a:stretch>
            <a:fillRect/>
          </a:stretch>
        </p:blipFill>
        <p:spPr>
          <a:xfrm>
            <a:off x="1249300" y="4844225"/>
            <a:ext cx="2326300" cy="1140050"/>
          </a:xfrm>
          <a:prstGeom prst="rect">
            <a:avLst/>
          </a:prstGeom>
          <a:noFill/>
          <a:ln>
            <a:noFill/>
          </a:ln>
        </p:spPr>
      </p:pic>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9" name="Shape 809"/>
        <p:cNvGrpSpPr/>
        <p:nvPr/>
      </p:nvGrpSpPr>
      <p:grpSpPr>
        <a:xfrm>
          <a:off x="0" y="0"/>
          <a:ext cx="0" cy="0"/>
          <a:chOff x="0" y="0"/>
          <a:chExt cx="0" cy="0"/>
        </a:xfrm>
      </p:grpSpPr>
      <p:sp>
        <p:nvSpPr>
          <p:cNvPr id="810" name="Google Shape;810;p105"/>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Social Media - Certified WBE LinkedIn Group</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811" name="Google Shape;811;p105"/>
          <p:cNvSpPr txBox="1"/>
          <p:nvPr>
            <p:ph idx="1" type="body"/>
          </p:nvPr>
        </p:nvSpPr>
        <p:spPr>
          <a:xfrm>
            <a:off x="6406500" y="1586775"/>
            <a:ext cx="4760700" cy="4351200"/>
          </a:xfrm>
          <a:prstGeom prst="rect">
            <a:avLst/>
          </a:prstGeom>
          <a:noFill/>
          <a:ln>
            <a:noFill/>
          </a:ln>
        </p:spPr>
        <p:txBody>
          <a:bodyPr anchorCtr="0" anchor="t" bIns="45700" lIns="91425" spcFirstLastPara="1" rIns="91425" wrap="square" tIns="45700">
            <a:noAutofit/>
          </a:bodyPr>
          <a:lstStyle/>
          <a:p>
            <a:pPr indent="0" lvl="0" marL="457200" rtl="0" algn="l">
              <a:lnSpc>
                <a:spcPct val="130000"/>
              </a:lnSpc>
              <a:spcBef>
                <a:spcPts val="1000"/>
              </a:spcBef>
              <a:spcAft>
                <a:spcPts val="0"/>
              </a:spcAft>
              <a:buNone/>
            </a:pPr>
            <a:r>
              <a:rPr lang="en-US" sz="1600"/>
              <a:t>To do:</a:t>
            </a:r>
            <a:endParaRPr sz="1600"/>
          </a:p>
          <a:p>
            <a:pPr indent="-215900" lvl="1" marL="685800" rtl="0" algn="l">
              <a:lnSpc>
                <a:spcPct val="100000"/>
              </a:lnSpc>
              <a:spcBef>
                <a:spcPts val="1000"/>
              </a:spcBef>
              <a:spcAft>
                <a:spcPts val="0"/>
              </a:spcAft>
              <a:buClr>
                <a:schemeClr val="accent2"/>
              </a:buClr>
              <a:buSzPts val="1600"/>
              <a:buChar char="✔"/>
            </a:pPr>
            <a:r>
              <a:rPr lang="en-US" sz="1600"/>
              <a:t>Suggest moving group to “listed” so that women who are not yet WBEs can be exposed to WBE Canada</a:t>
            </a:r>
            <a:endParaRPr sz="1600"/>
          </a:p>
          <a:p>
            <a:pPr indent="-215900" lvl="1" marL="685800" rtl="0" algn="l">
              <a:lnSpc>
                <a:spcPct val="100000"/>
              </a:lnSpc>
              <a:spcBef>
                <a:spcPts val="1000"/>
              </a:spcBef>
              <a:spcAft>
                <a:spcPts val="0"/>
              </a:spcAft>
              <a:buClr>
                <a:schemeClr val="accent2"/>
              </a:buClr>
              <a:buSzPts val="1600"/>
              <a:buChar char="✔"/>
            </a:pPr>
            <a:r>
              <a:rPr lang="en-US" sz="1600"/>
              <a:t>Suggest a cadence of tips/success stories/FAQs/third party articles and posting at different times/days to re-engage the community</a:t>
            </a:r>
            <a:endParaRPr sz="1600"/>
          </a:p>
          <a:p>
            <a:pPr indent="-203200" lvl="1" marL="685800" rtl="0" algn="l">
              <a:lnSpc>
                <a:spcPct val="100000"/>
              </a:lnSpc>
              <a:spcBef>
                <a:spcPts val="1000"/>
              </a:spcBef>
              <a:spcAft>
                <a:spcPts val="0"/>
              </a:spcAft>
              <a:buClr>
                <a:schemeClr val="accent2"/>
              </a:buClr>
              <a:buSzPts val="1400"/>
              <a:buFont typeface="Calibri"/>
              <a:buChar char="✔"/>
            </a:pPr>
            <a:r>
              <a:rPr lang="en-US" sz="1400">
                <a:highlight>
                  <a:srgbClr val="FFFFFF"/>
                </a:highlight>
              </a:rPr>
              <a:t>Unlisted groups do not appear in search results for non-group members and are not visible to others on members’ profiles. For all groups, only group members can see group posts.</a:t>
            </a:r>
            <a:endParaRPr sz="1400">
              <a:solidFill>
                <a:schemeClr val="accent2"/>
              </a:solidFill>
            </a:endParaRPr>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p:txBody>
      </p:sp>
      <p:pic>
        <p:nvPicPr>
          <p:cNvPr id="812" name="Google Shape;812;p105"/>
          <p:cNvPicPr preferRelativeResize="0"/>
          <p:nvPr/>
        </p:nvPicPr>
        <p:blipFill>
          <a:blip r:embed="rId3">
            <a:alphaModFix/>
          </a:blip>
          <a:stretch>
            <a:fillRect/>
          </a:stretch>
        </p:blipFill>
        <p:spPr>
          <a:xfrm>
            <a:off x="1286175" y="2004225"/>
            <a:ext cx="4760700" cy="2297452"/>
          </a:xfrm>
          <a:prstGeom prst="rect">
            <a:avLst/>
          </a:prstGeom>
          <a:noFill/>
          <a:ln cap="flat" cmpd="sng" w="9525">
            <a:solidFill>
              <a:srgbClr val="CCCCCC"/>
            </a:solidFill>
            <a:prstDash val="dot"/>
            <a:round/>
            <a:headEnd len="sm" w="sm" type="none"/>
            <a:tailEnd len="sm" w="sm" type="none"/>
          </a:ln>
        </p:spPr>
      </p:pic>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sp>
        <p:nvSpPr>
          <p:cNvPr id="817" name="Google Shape;817;p106"/>
          <p:cNvSpPr txBox="1"/>
          <p:nvPr>
            <p:ph type="title"/>
          </p:nvPr>
        </p:nvSpPr>
        <p:spPr>
          <a:xfrm>
            <a:off x="794100" y="621600"/>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Social Media - Google Business Profile</a:t>
            </a:r>
            <a:endParaRPr>
              <a:solidFill>
                <a:schemeClr val="accent5"/>
              </a:solidFill>
            </a:endParaRPr>
          </a:p>
        </p:txBody>
      </p:sp>
      <p:sp>
        <p:nvSpPr>
          <p:cNvPr id="818" name="Google Shape;818;p106"/>
          <p:cNvSpPr txBox="1"/>
          <p:nvPr>
            <p:ph idx="1" type="body"/>
          </p:nvPr>
        </p:nvSpPr>
        <p:spPr>
          <a:xfrm>
            <a:off x="4348250" y="1478450"/>
            <a:ext cx="6982800" cy="4294500"/>
          </a:xfrm>
          <a:prstGeom prst="rect">
            <a:avLst/>
          </a:prstGeom>
          <a:noFill/>
          <a:ln>
            <a:noFill/>
          </a:ln>
        </p:spPr>
        <p:txBody>
          <a:bodyPr anchorCtr="0" anchor="t" bIns="45700" lIns="91425" spcFirstLastPara="1" rIns="91425" wrap="square" tIns="45700">
            <a:noAutofit/>
          </a:bodyPr>
          <a:lstStyle/>
          <a:p>
            <a:pPr indent="-368300" lvl="1" marL="800100" marR="0" rtl="0" algn="l">
              <a:lnSpc>
                <a:spcPct val="100000"/>
              </a:lnSpc>
              <a:spcBef>
                <a:spcPts val="1000"/>
              </a:spcBef>
              <a:spcAft>
                <a:spcPts val="0"/>
              </a:spcAft>
              <a:buClr>
                <a:schemeClr val="accent2"/>
              </a:buClr>
              <a:buSzPts val="2000"/>
              <a:buChar char="✔"/>
            </a:pPr>
            <a:r>
              <a:rPr lang="en-US" sz="2000"/>
              <a:t>To do:</a:t>
            </a:r>
            <a:endParaRPr sz="2000"/>
          </a:p>
          <a:p>
            <a:pPr indent="-241300" lvl="2" marL="1143000" marR="0" rtl="0" algn="l">
              <a:lnSpc>
                <a:spcPct val="100000"/>
              </a:lnSpc>
              <a:spcBef>
                <a:spcPts val="1000"/>
              </a:spcBef>
              <a:spcAft>
                <a:spcPts val="0"/>
              </a:spcAft>
              <a:buClr>
                <a:schemeClr val="accent2"/>
              </a:buClr>
              <a:buSzPts val="2000"/>
              <a:buChar char="•"/>
            </a:pPr>
            <a:r>
              <a:rPr lang="en-US"/>
              <a:t>Officially claim the listing</a:t>
            </a:r>
            <a:endParaRPr/>
          </a:p>
          <a:p>
            <a:pPr indent="-241300" lvl="2" marL="1143000" marR="0" rtl="0" algn="l">
              <a:lnSpc>
                <a:spcPct val="100000"/>
              </a:lnSpc>
              <a:spcBef>
                <a:spcPts val="1000"/>
              </a:spcBef>
              <a:spcAft>
                <a:spcPts val="0"/>
              </a:spcAft>
              <a:buClr>
                <a:schemeClr val="accent2"/>
              </a:buClr>
              <a:buSzPts val="2000"/>
              <a:buChar char="•"/>
            </a:pPr>
            <a:r>
              <a:rPr lang="en-US"/>
              <a:t>Post your blogs and other content on a 7 day rotation</a:t>
            </a:r>
            <a:endParaRPr/>
          </a:p>
          <a:p>
            <a:pPr indent="-241300" lvl="2" marL="1143000" marR="0" rtl="0" algn="l">
              <a:lnSpc>
                <a:spcPct val="100000"/>
              </a:lnSpc>
              <a:spcBef>
                <a:spcPts val="1000"/>
              </a:spcBef>
              <a:spcAft>
                <a:spcPts val="0"/>
              </a:spcAft>
              <a:buClr>
                <a:schemeClr val="accent2"/>
              </a:buClr>
              <a:buSzPts val="2000"/>
              <a:buChar char="•"/>
            </a:pPr>
            <a:r>
              <a:rPr lang="en-US"/>
              <a:t>Use the 1500 character field in every post to include keywords and information about WBE Canada</a:t>
            </a:r>
            <a:endParaRPr/>
          </a:p>
          <a:p>
            <a:pPr indent="-241300" lvl="2" marL="1143000" marR="0" rtl="0" algn="l">
              <a:lnSpc>
                <a:spcPct val="100000"/>
              </a:lnSpc>
              <a:spcBef>
                <a:spcPts val="1000"/>
              </a:spcBef>
              <a:spcAft>
                <a:spcPts val="0"/>
              </a:spcAft>
              <a:buClr>
                <a:schemeClr val="accent2"/>
              </a:buClr>
              <a:buSzPts val="2000"/>
              <a:buChar char="•"/>
            </a:pPr>
            <a:r>
              <a:rPr lang="en-US"/>
              <a:t>Post additional association information - there is room for a lot of information to share</a:t>
            </a:r>
            <a:endParaRPr/>
          </a:p>
          <a:p>
            <a:pPr indent="-241300" lvl="2" marL="1143000" marR="0" rtl="0" algn="l">
              <a:lnSpc>
                <a:spcPct val="100000"/>
              </a:lnSpc>
              <a:spcBef>
                <a:spcPts val="1000"/>
              </a:spcBef>
              <a:spcAft>
                <a:spcPts val="0"/>
              </a:spcAft>
              <a:buClr>
                <a:schemeClr val="accent2"/>
              </a:buClr>
              <a:buSzPts val="2000"/>
              <a:buChar char="•"/>
            </a:pPr>
            <a:r>
              <a:rPr lang="en-US"/>
              <a:t>Fill the listing out fully to take advantage of its ability to promote your association (Google property)</a:t>
            </a:r>
            <a:endParaRPr/>
          </a:p>
          <a:p>
            <a:pPr indent="-228600" lvl="2" marL="1143000" marR="0" rtl="0" algn="l">
              <a:lnSpc>
                <a:spcPct val="100000"/>
              </a:lnSpc>
              <a:spcBef>
                <a:spcPts val="1000"/>
              </a:spcBef>
              <a:spcAft>
                <a:spcPts val="0"/>
              </a:spcAft>
              <a:buSzPts val="1800"/>
              <a:buChar char="•"/>
            </a:pPr>
            <a:r>
              <a:rPr lang="en-US"/>
              <a:t>Free!</a:t>
            </a:r>
            <a:endParaRPr/>
          </a:p>
          <a:p>
            <a:pPr indent="0" lvl="0" marL="1143000" marR="0" rtl="0" algn="l">
              <a:lnSpc>
                <a:spcPct val="100000"/>
              </a:lnSpc>
              <a:spcBef>
                <a:spcPts val="1000"/>
              </a:spcBef>
              <a:spcAft>
                <a:spcPts val="0"/>
              </a:spcAft>
              <a:buNone/>
            </a:pPr>
            <a:r>
              <a:t/>
            </a:r>
            <a:endParaRPr sz="1750"/>
          </a:p>
        </p:txBody>
      </p:sp>
      <p:pic>
        <p:nvPicPr>
          <p:cNvPr id="819" name="Google Shape;819;p106"/>
          <p:cNvPicPr preferRelativeResize="0"/>
          <p:nvPr/>
        </p:nvPicPr>
        <p:blipFill>
          <a:blip r:embed="rId3">
            <a:alphaModFix/>
          </a:blip>
          <a:stretch>
            <a:fillRect/>
          </a:stretch>
        </p:blipFill>
        <p:spPr>
          <a:xfrm>
            <a:off x="908250" y="1322750"/>
            <a:ext cx="2738829" cy="4605900"/>
          </a:xfrm>
          <a:prstGeom prst="rect">
            <a:avLst/>
          </a:prstGeom>
          <a:noFill/>
          <a:ln>
            <a:noFill/>
          </a:ln>
        </p:spPr>
      </p:pic>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pic>
        <p:nvPicPr>
          <p:cNvPr id="824" name="Google Shape;824;p107"/>
          <p:cNvPicPr preferRelativeResize="0"/>
          <p:nvPr/>
        </p:nvPicPr>
        <p:blipFill>
          <a:blip r:embed="rId3">
            <a:alphaModFix/>
          </a:blip>
          <a:stretch>
            <a:fillRect/>
          </a:stretch>
        </p:blipFill>
        <p:spPr>
          <a:xfrm>
            <a:off x="843750" y="759850"/>
            <a:ext cx="9221149" cy="5213925"/>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pic>
        <p:nvPicPr>
          <p:cNvPr id="829" name="Google Shape;829;p108"/>
          <p:cNvPicPr preferRelativeResize="0"/>
          <p:nvPr/>
        </p:nvPicPr>
        <p:blipFill>
          <a:blip r:embed="rId3">
            <a:alphaModFix/>
          </a:blip>
          <a:stretch>
            <a:fillRect/>
          </a:stretch>
        </p:blipFill>
        <p:spPr>
          <a:xfrm>
            <a:off x="622475" y="1013875"/>
            <a:ext cx="10548550" cy="4754649"/>
          </a:xfrm>
          <a:prstGeom prst="rect">
            <a:avLst/>
          </a:prstGeom>
          <a:noFill/>
          <a:ln>
            <a:noFill/>
          </a:ln>
        </p:spPr>
      </p:pic>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3" name="Shape 833"/>
        <p:cNvGrpSpPr/>
        <p:nvPr/>
      </p:nvGrpSpPr>
      <p:grpSpPr>
        <a:xfrm>
          <a:off x="0" y="0"/>
          <a:ext cx="0" cy="0"/>
          <a:chOff x="0" y="0"/>
          <a:chExt cx="0" cy="0"/>
        </a:xfrm>
      </p:grpSpPr>
      <p:pic>
        <p:nvPicPr>
          <p:cNvPr id="834" name="Google Shape;834;p109"/>
          <p:cNvPicPr preferRelativeResize="0"/>
          <p:nvPr/>
        </p:nvPicPr>
        <p:blipFill>
          <a:blip r:embed="rId3">
            <a:alphaModFix/>
          </a:blip>
          <a:stretch>
            <a:fillRect/>
          </a:stretch>
        </p:blipFill>
        <p:spPr>
          <a:xfrm>
            <a:off x="816075" y="782675"/>
            <a:ext cx="6889100" cy="5600300"/>
          </a:xfrm>
          <a:prstGeom prst="rect">
            <a:avLst/>
          </a:prstGeom>
          <a:noFill/>
          <a:ln>
            <a:noFill/>
          </a:ln>
        </p:spPr>
      </p:pic>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8" name="Shape 838"/>
        <p:cNvGrpSpPr/>
        <p:nvPr/>
      </p:nvGrpSpPr>
      <p:grpSpPr>
        <a:xfrm>
          <a:off x="0" y="0"/>
          <a:ext cx="0" cy="0"/>
          <a:chOff x="0" y="0"/>
          <a:chExt cx="0" cy="0"/>
        </a:xfrm>
      </p:grpSpPr>
      <p:pic>
        <p:nvPicPr>
          <p:cNvPr id="839" name="Google Shape;839;p110"/>
          <p:cNvPicPr preferRelativeResize="0"/>
          <p:nvPr/>
        </p:nvPicPr>
        <p:blipFill>
          <a:blip r:embed="rId3">
            <a:alphaModFix/>
          </a:blip>
          <a:stretch>
            <a:fillRect/>
          </a:stretch>
        </p:blipFill>
        <p:spPr>
          <a:xfrm>
            <a:off x="834500" y="723875"/>
            <a:ext cx="8981525" cy="5714499"/>
          </a:xfrm>
          <a:prstGeom prst="rect">
            <a:avLst/>
          </a:prstGeom>
          <a:noFill/>
          <a:ln>
            <a:noFill/>
          </a:ln>
        </p:spPr>
      </p:pic>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3" name="Shape 843"/>
        <p:cNvGrpSpPr/>
        <p:nvPr/>
      </p:nvGrpSpPr>
      <p:grpSpPr>
        <a:xfrm>
          <a:off x="0" y="0"/>
          <a:ext cx="0" cy="0"/>
          <a:chOff x="0" y="0"/>
          <a:chExt cx="0" cy="0"/>
        </a:xfrm>
      </p:grpSpPr>
      <p:pic>
        <p:nvPicPr>
          <p:cNvPr id="844" name="Google Shape;844;p111"/>
          <p:cNvPicPr preferRelativeResize="0"/>
          <p:nvPr/>
        </p:nvPicPr>
        <p:blipFill>
          <a:blip r:embed="rId3">
            <a:alphaModFix/>
          </a:blip>
          <a:stretch>
            <a:fillRect/>
          </a:stretch>
        </p:blipFill>
        <p:spPr>
          <a:xfrm>
            <a:off x="862175" y="832387"/>
            <a:ext cx="8898549" cy="5396026"/>
          </a:xfrm>
          <a:prstGeom prst="rect">
            <a:avLst/>
          </a:prstGeom>
          <a:noFill/>
          <a:ln>
            <a:noFill/>
          </a:ln>
        </p:spPr>
      </p:pic>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112"/>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Ads &amp; Sponsorships</a:t>
            </a:r>
            <a:endParaRPr/>
          </a:p>
          <a:p>
            <a:pPr indent="0" lvl="0" marL="0" rtl="0" algn="ctr">
              <a:lnSpc>
                <a:spcPct val="90000"/>
              </a:lnSpc>
              <a:spcBef>
                <a:spcPts val="0"/>
              </a:spcBef>
              <a:spcAft>
                <a:spcPts val="0"/>
              </a:spcAft>
              <a:buClr>
                <a:schemeClr val="accent2"/>
              </a:buClr>
              <a:buSzPts val="4400"/>
              <a:buFont typeface="Calibri"/>
              <a:buNone/>
            </a:pPr>
            <a:r>
              <a:rPr b="0" i="1" lang="en-US" sz="4000">
                <a:latin typeface="Calibri"/>
                <a:ea typeface="Calibri"/>
                <a:cs typeface="Calibri"/>
                <a:sym typeface="Calibri"/>
              </a:rPr>
              <a:t>what to consider</a:t>
            </a:r>
            <a:endParaRPr b="0" i="1" sz="4000">
              <a:latin typeface="Calibri"/>
              <a:ea typeface="Calibri"/>
              <a:cs typeface="Calibri"/>
              <a:sym typeface="Calibri"/>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p113"/>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Awareness Advertising/Sponsorships</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855" name="Google Shape;855;p113"/>
          <p:cNvSpPr txBox="1"/>
          <p:nvPr>
            <p:ph idx="1" type="body"/>
          </p:nvPr>
        </p:nvSpPr>
        <p:spPr>
          <a:xfrm>
            <a:off x="838200" y="1825625"/>
            <a:ext cx="9585900" cy="4351200"/>
          </a:xfrm>
          <a:prstGeom prst="rect">
            <a:avLst/>
          </a:prstGeom>
          <a:noFill/>
          <a:ln>
            <a:noFill/>
          </a:ln>
        </p:spPr>
        <p:txBody>
          <a:bodyPr anchorCtr="0" anchor="t" bIns="45700" lIns="91425" spcFirstLastPara="1" rIns="91425" wrap="square" tIns="45700">
            <a:noAutofit/>
          </a:bodyPr>
          <a:lstStyle/>
          <a:p>
            <a:pPr indent="-215900" lvl="2" marL="1143000" rtl="0" algn="l">
              <a:lnSpc>
                <a:spcPct val="130000"/>
              </a:lnSpc>
              <a:spcBef>
                <a:spcPts val="1000"/>
              </a:spcBef>
              <a:spcAft>
                <a:spcPts val="0"/>
              </a:spcAft>
              <a:buSzPts val="1600"/>
              <a:buChar char="•"/>
            </a:pPr>
            <a:r>
              <a:rPr lang="en-US" sz="1500"/>
              <a:t>Keywords - now that we’re not so focused on “Procurement” or “Supply Chain” as key words, we are more focused on the decision-making process of the potential WBE since that is the fastest type of “customer” to win over…suggest keyword </a:t>
            </a:r>
            <a:r>
              <a:rPr lang="en-US" sz="1500"/>
              <a:t>research</a:t>
            </a:r>
            <a:r>
              <a:rPr lang="en-US" sz="1500"/>
              <a:t> start from discovery:</a:t>
            </a:r>
            <a:endParaRPr sz="1500"/>
          </a:p>
          <a:p>
            <a:pPr indent="-215900" lvl="3" marL="1600200" rtl="0" algn="l">
              <a:lnSpc>
                <a:spcPct val="130000"/>
              </a:lnSpc>
              <a:spcBef>
                <a:spcPts val="1000"/>
              </a:spcBef>
              <a:spcAft>
                <a:spcPts val="0"/>
              </a:spcAft>
              <a:buClr>
                <a:schemeClr val="accent2"/>
              </a:buClr>
              <a:buSzPts val="1600"/>
              <a:buChar char="•"/>
            </a:pPr>
            <a:r>
              <a:rPr lang="en-US" sz="1600">
                <a:solidFill>
                  <a:schemeClr val="accent2"/>
                </a:solidFill>
              </a:rPr>
              <a:t>How to grow my Canadian Business</a:t>
            </a:r>
            <a:endParaRPr sz="1600">
              <a:solidFill>
                <a:schemeClr val="accent2"/>
              </a:solidFill>
            </a:endParaRPr>
          </a:p>
          <a:p>
            <a:pPr indent="-215900" lvl="3" marL="1600200" rtl="0" algn="l">
              <a:lnSpc>
                <a:spcPct val="130000"/>
              </a:lnSpc>
              <a:spcBef>
                <a:spcPts val="1000"/>
              </a:spcBef>
              <a:spcAft>
                <a:spcPts val="0"/>
              </a:spcAft>
              <a:buClr>
                <a:schemeClr val="accent2"/>
              </a:buClr>
              <a:buSzPts val="1600"/>
              <a:buChar char="•"/>
            </a:pPr>
            <a:r>
              <a:rPr lang="en-US" sz="1600">
                <a:solidFill>
                  <a:schemeClr val="accent2"/>
                </a:solidFill>
              </a:rPr>
              <a:t>What networking </a:t>
            </a:r>
            <a:r>
              <a:rPr lang="en-US" sz="1600">
                <a:solidFill>
                  <a:schemeClr val="accent2"/>
                </a:solidFill>
              </a:rPr>
              <a:t>organizations</a:t>
            </a:r>
            <a:r>
              <a:rPr lang="en-US" sz="1600">
                <a:solidFill>
                  <a:schemeClr val="accent2"/>
                </a:solidFill>
              </a:rPr>
              <a:t> to join to grow my business?</a:t>
            </a:r>
            <a:endParaRPr sz="1600">
              <a:solidFill>
                <a:schemeClr val="accent2"/>
              </a:solidFill>
            </a:endParaRPr>
          </a:p>
          <a:p>
            <a:pPr indent="-215900" lvl="3" marL="1600200" rtl="0" algn="l">
              <a:lnSpc>
                <a:spcPct val="130000"/>
              </a:lnSpc>
              <a:spcBef>
                <a:spcPts val="1000"/>
              </a:spcBef>
              <a:spcAft>
                <a:spcPts val="0"/>
              </a:spcAft>
              <a:buClr>
                <a:schemeClr val="accent2"/>
              </a:buClr>
              <a:buSzPts val="1600"/>
              <a:buChar char="•"/>
            </a:pPr>
            <a:r>
              <a:rPr lang="en-US" sz="1600">
                <a:solidFill>
                  <a:schemeClr val="accent2"/>
                </a:solidFill>
              </a:rPr>
              <a:t>Women business owner opportunities</a:t>
            </a:r>
            <a:endParaRPr sz="1600">
              <a:solidFill>
                <a:schemeClr val="accent2"/>
              </a:solidFill>
            </a:endParaRPr>
          </a:p>
          <a:p>
            <a:pPr indent="-215900" lvl="3" marL="1600200" rtl="0" algn="l">
              <a:lnSpc>
                <a:spcPct val="130000"/>
              </a:lnSpc>
              <a:spcBef>
                <a:spcPts val="1000"/>
              </a:spcBef>
              <a:spcAft>
                <a:spcPts val="0"/>
              </a:spcAft>
              <a:buClr>
                <a:schemeClr val="accent2"/>
              </a:buClr>
              <a:buSzPts val="1600"/>
              <a:buChar char="•"/>
            </a:pPr>
            <a:r>
              <a:rPr lang="en-US" sz="1600">
                <a:solidFill>
                  <a:schemeClr val="accent2"/>
                </a:solidFill>
              </a:rPr>
              <a:t>Best organization to belong to as a woman business owner</a:t>
            </a:r>
            <a:endParaRPr sz="1600">
              <a:solidFill>
                <a:schemeClr val="accent2"/>
              </a:solidFill>
            </a:endParaRPr>
          </a:p>
          <a:p>
            <a:pPr indent="-215900" lvl="3" marL="1600200" rtl="0" algn="l">
              <a:lnSpc>
                <a:spcPct val="130000"/>
              </a:lnSpc>
              <a:spcBef>
                <a:spcPts val="1000"/>
              </a:spcBef>
              <a:spcAft>
                <a:spcPts val="0"/>
              </a:spcAft>
              <a:buSzPts val="1600"/>
              <a:buChar char="•"/>
            </a:pPr>
            <a:r>
              <a:rPr lang="en-US" sz="1600"/>
              <a:t>&gt;&gt;&gt;focus on construction</a:t>
            </a:r>
            <a:endParaRPr sz="1600"/>
          </a:p>
          <a:p>
            <a:pPr indent="-215900" lvl="3" marL="1600200" rtl="0" algn="l">
              <a:lnSpc>
                <a:spcPct val="130000"/>
              </a:lnSpc>
              <a:spcBef>
                <a:spcPts val="1000"/>
              </a:spcBef>
              <a:spcAft>
                <a:spcPts val="0"/>
              </a:spcAft>
              <a:buSzPts val="1600"/>
              <a:buChar char="•"/>
            </a:pPr>
            <a:r>
              <a:rPr lang="en-US" sz="1600"/>
              <a:t>&gt;&gt;&gt;focus on catering</a:t>
            </a:r>
            <a:endParaRPr sz="1600"/>
          </a:p>
          <a:p>
            <a:pPr indent="-215900" lvl="1" marL="685800" rtl="0" algn="l">
              <a:lnSpc>
                <a:spcPct val="130000"/>
              </a:lnSpc>
              <a:spcBef>
                <a:spcPts val="1000"/>
              </a:spcBef>
              <a:spcAft>
                <a:spcPts val="0"/>
              </a:spcAft>
              <a:buSzPts val="1600"/>
              <a:buChar char="✔"/>
            </a:pPr>
            <a:r>
              <a:rPr b="1" lang="en-US" sz="1600"/>
              <a:t>Action step</a:t>
            </a:r>
            <a:r>
              <a:rPr lang="en-US" sz="1600"/>
              <a:t> - commission keyword research and develop ads and content based on keywords, rewrite</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9" name="Shape 859"/>
        <p:cNvGrpSpPr/>
        <p:nvPr/>
      </p:nvGrpSpPr>
      <p:grpSpPr>
        <a:xfrm>
          <a:off x="0" y="0"/>
          <a:ext cx="0" cy="0"/>
          <a:chOff x="0" y="0"/>
          <a:chExt cx="0" cy="0"/>
        </a:xfrm>
      </p:grpSpPr>
      <p:sp>
        <p:nvSpPr>
          <p:cNvPr id="860" name="Google Shape;860;p114"/>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9 Canadian Construction Associations</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861" name="Google Shape;861;p114"/>
          <p:cNvSpPr txBox="1"/>
          <p:nvPr>
            <p:ph idx="1" type="body"/>
          </p:nvPr>
        </p:nvSpPr>
        <p:spPr>
          <a:xfrm>
            <a:off x="838200" y="1609275"/>
            <a:ext cx="9585900" cy="4351200"/>
          </a:xfrm>
          <a:prstGeom prst="rect">
            <a:avLst/>
          </a:prstGeom>
          <a:noFill/>
          <a:ln>
            <a:noFill/>
          </a:ln>
        </p:spPr>
        <p:txBody>
          <a:bodyPr anchorCtr="0" anchor="t" bIns="45700" lIns="91425" spcFirstLastPara="1" rIns="91425" wrap="square" tIns="45700">
            <a:noAutofit/>
          </a:bodyPr>
          <a:lstStyle/>
          <a:p>
            <a:pPr indent="-203200" lvl="2" marL="1143000" rtl="0" algn="l">
              <a:lnSpc>
                <a:spcPct val="130000"/>
              </a:lnSpc>
              <a:spcBef>
                <a:spcPts val="1000"/>
              </a:spcBef>
              <a:spcAft>
                <a:spcPts val="0"/>
              </a:spcAft>
              <a:buSzPts val="1400"/>
              <a:buChar char="•"/>
            </a:pPr>
            <a:r>
              <a:rPr lang="en-US" sz="1400"/>
              <a:t>Canadian Electrical Contractors Assoc: </a:t>
            </a:r>
            <a:r>
              <a:rPr lang="en-US" sz="1400" u="sng">
                <a:solidFill>
                  <a:schemeClr val="hlink"/>
                </a:solidFill>
                <a:hlinkClick r:id="rId3"/>
              </a:rPr>
              <a:t>https://ceca.org/</a:t>
            </a:r>
            <a:endParaRPr sz="1400"/>
          </a:p>
          <a:p>
            <a:pPr indent="-203200" lvl="2" marL="1143000" rtl="0" algn="l">
              <a:lnSpc>
                <a:spcPct val="130000"/>
              </a:lnSpc>
              <a:spcBef>
                <a:spcPts val="1000"/>
              </a:spcBef>
              <a:spcAft>
                <a:spcPts val="0"/>
              </a:spcAft>
              <a:buSzPts val="1400"/>
              <a:buChar char="•"/>
            </a:pPr>
            <a:r>
              <a:rPr lang="en-US" sz="1400"/>
              <a:t>Surety Association of Canada: </a:t>
            </a:r>
            <a:r>
              <a:rPr lang="en-US" sz="1400" u="sng">
                <a:solidFill>
                  <a:schemeClr val="hlink"/>
                </a:solidFill>
                <a:hlinkClick r:id="rId4"/>
              </a:rPr>
              <a:t>https://suretycanada.com/</a:t>
            </a:r>
            <a:endParaRPr sz="1400"/>
          </a:p>
          <a:p>
            <a:pPr indent="-203200" lvl="2" marL="1143000" rtl="0" algn="l">
              <a:lnSpc>
                <a:spcPct val="130000"/>
              </a:lnSpc>
              <a:spcBef>
                <a:spcPts val="1000"/>
              </a:spcBef>
              <a:spcAft>
                <a:spcPts val="0"/>
              </a:spcAft>
              <a:buSzPts val="1400"/>
              <a:buChar char="•"/>
            </a:pPr>
            <a:r>
              <a:rPr lang="en-US" sz="1400"/>
              <a:t>Canadian Roofing Contractors: </a:t>
            </a:r>
            <a:r>
              <a:rPr lang="en-US" sz="1400" u="sng">
                <a:solidFill>
                  <a:schemeClr val="hlink"/>
                </a:solidFill>
                <a:hlinkClick r:id="rId5"/>
              </a:rPr>
              <a:t>https://roofingcanada.com/</a:t>
            </a:r>
            <a:endParaRPr sz="1400"/>
          </a:p>
          <a:p>
            <a:pPr indent="-203200" lvl="2" marL="1143000" rtl="0" algn="l">
              <a:lnSpc>
                <a:spcPct val="130000"/>
              </a:lnSpc>
              <a:spcBef>
                <a:spcPts val="1000"/>
              </a:spcBef>
              <a:spcAft>
                <a:spcPts val="0"/>
              </a:spcAft>
              <a:buSzPts val="1400"/>
              <a:buChar char="•"/>
            </a:pPr>
            <a:r>
              <a:rPr lang="en-US" sz="1400"/>
              <a:t>Canadian Institute of Steel Construction: </a:t>
            </a:r>
            <a:r>
              <a:rPr lang="en-US" sz="1400" u="sng">
                <a:solidFill>
                  <a:schemeClr val="hlink"/>
                </a:solidFill>
                <a:hlinkClick r:id="rId6"/>
              </a:rPr>
              <a:t>https://www.cisc-icca.ca/</a:t>
            </a:r>
            <a:endParaRPr sz="1400"/>
          </a:p>
          <a:p>
            <a:pPr indent="-203200" lvl="2" marL="1143000" rtl="0" algn="l">
              <a:lnSpc>
                <a:spcPct val="130000"/>
              </a:lnSpc>
              <a:spcBef>
                <a:spcPts val="1000"/>
              </a:spcBef>
              <a:spcAft>
                <a:spcPts val="0"/>
              </a:spcAft>
              <a:buSzPts val="1400"/>
              <a:buChar char="•"/>
            </a:pPr>
            <a:r>
              <a:rPr lang="en-US" sz="1400"/>
              <a:t>Canadian Federation of </a:t>
            </a:r>
            <a:r>
              <a:rPr lang="en-US" sz="1400"/>
              <a:t>Construction</a:t>
            </a:r>
            <a:r>
              <a:rPr lang="en-US" sz="1400"/>
              <a:t> Safety Associations: https://cfcsa.ca/</a:t>
            </a:r>
            <a:endParaRPr sz="1400"/>
          </a:p>
          <a:p>
            <a:pPr indent="-203200" lvl="2" marL="1143000" rtl="0" algn="l">
              <a:lnSpc>
                <a:spcPct val="130000"/>
              </a:lnSpc>
              <a:spcBef>
                <a:spcPts val="1000"/>
              </a:spcBef>
              <a:spcAft>
                <a:spcPts val="0"/>
              </a:spcAft>
              <a:buSzPts val="1400"/>
              <a:buChar char="•"/>
            </a:pPr>
            <a:r>
              <a:rPr lang="en-US" sz="1400"/>
              <a:t>National Capital Heavy Construction Association: </a:t>
            </a:r>
            <a:r>
              <a:rPr lang="en-US" sz="1400" u="sng">
                <a:solidFill>
                  <a:schemeClr val="hlink"/>
                </a:solidFill>
                <a:hlinkClick r:id="rId7"/>
              </a:rPr>
              <a:t>https://cfcsa.ca/</a:t>
            </a:r>
            <a:endParaRPr sz="1400"/>
          </a:p>
          <a:p>
            <a:pPr indent="-203200" lvl="2" marL="1143000" rtl="0" algn="l">
              <a:lnSpc>
                <a:spcPct val="130000"/>
              </a:lnSpc>
              <a:spcBef>
                <a:spcPts val="1000"/>
              </a:spcBef>
              <a:spcAft>
                <a:spcPts val="0"/>
              </a:spcAft>
              <a:buSzPts val="1400"/>
              <a:buChar char="•"/>
            </a:pPr>
            <a:r>
              <a:rPr lang="en-US" sz="1400"/>
              <a:t>Project Management Association of Canada: </a:t>
            </a:r>
            <a:r>
              <a:rPr lang="en-US" sz="1400" u="sng">
                <a:solidFill>
                  <a:schemeClr val="hlink"/>
                </a:solidFill>
                <a:hlinkClick r:id="rId8"/>
              </a:rPr>
              <a:t>https://pmac-agpc.ca/</a:t>
            </a:r>
            <a:endParaRPr sz="1400"/>
          </a:p>
          <a:p>
            <a:pPr indent="-203200" lvl="2" marL="1143000" rtl="0" algn="l">
              <a:lnSpc>
                <a:spcPct val="130000"/>
              </a:lnSpc>
              <a:spcBef>
                <a:spcPts val="1000"/>
              </a:spcBef>
              <a:spcAft>
                <a:spcPts val="0"/>
              </a:spcAft>
              <a:buSzPts val="1400"/>
              <a:buChar char="•"/>
            </a:pPr>
            <a:r>
              <a:rPr lang="en-US" sz="1400"/>
              <a:t>Canadian Home </a:t>
            </a:r>
            <a:r>
              <a:rPr lang="en-US" sz="1400"/>
              <a:t>Builders</a:t>
            </a:r>
            <a:r>
              <a:rPr lang="en-US" sz="1400"/>
              <a:t> Association: </a:t>
            </a:r>
            <a:r>
              <a:rPr lang="en-US" sz="1400" u="sng">
                <a:solidFill>
                  <a:schemeClr val="hlink"/>
                </a:solidFill>
                <a:hlinkClick r:id="rId9"/>
              </a:rPr>
              <a:t>https://www.chba.ca/</a:t>
            </a:r>
            <a:endParaRPr sz="1400"/>
          </a:p>
          <a:p>
            <a:pPr indent="-203200" lvl="2" marL="1143000" rtl="0" algn="l">
              <a:lnSpc>
                <a:spcPct val="130000"/>
              </a:lnSpc>
              <a:spcBef>
                <a:spcPts val="1000"/>
              </a:spcBef>
              <a:spcAft>
                <a:spcPts val="0"/>
              </a:spcAft>
              <a:buSzPts val="1400"/>
              <a:buChar char="•"/>
            </a:pPr>
            <a:r>
              <a:rPr lang="en-US" sz="1400"/>
              <a:t>Canadian Construction Association: </a:t>
            </a:r>
            <a:r>
              <a:rPr lang="en-US" sz="1400" u="sng">
                <a:solidFill>
                  <a:schemeClr val="hlink"/>
                </a:solidFill>
                <a:hlinkClick r:id="rId10"/>
              </a:rPr>
              <a:t>https://www.cca-acc.com/</a:t>
            </a:r>
            <a:endParaRPr sz="1400"/>
          </a:p>
          <a:p>
            <a:pPr indent="-203200" lvl="2" marL="1143000" rtl="0" algn="l">
              <a:lnSpc>
                <a:spcPct val="130000"/>
              </a:lnSpc>
              <a:spcBef>
                <a:spcPts val="1000"/>
              </a:spcBef>
              <a:spcAft>
                <a:spcPts val="0"/>
              </a:spcAft>
              <a:buSzPts val="1400"/>
              <a:buChar char="•"/>
            </a:pPr>
            <a:r>
              <a:rPr lang="en-US" sz="1400"/>
              <a:t>Canadian Association of Women in Construction: </a:t>
            </a:r>
            <a:r>
              <a:rPr lang="en-US" sz="1400" u="sng">
                <a:solidFill>
                  <a:schemeClr val="hlink"/>
                </a:solidFill>
                <a:hlinkClick r:id="rId11"/>
              </a:rPr>
              <a:t>https://cawic.ca/</a:t>
            </a:r>
            <a:endParaRPr sz="1400"/>
          </a:p>
          <a:p>
            <a:pPr indent="-203200" lvl="2" marL="1143000" rtl="0" algn="l">
              <a:lnSpc>
                <a:spcPct val="130000"/>
              </a:lnSpc>
              <a:spcBef>
                <a:spcPts val="1000"/>
              </a:spcBef>
              <a:spcAft>
                <a:spcPts val="0"/>
              </a:spcAft>
              <a:buSzPts val="1400"/>
              <a:buChar char="•"/>
            </a:pPr>
            <a:r>
              <a:rPr lang="en-US" sz="1400"/>
              <a:t>Women in Construction: </a:t>
            </a:r>
            <a:r>
              <a:rPr lang="en-US" sz="1400" u="sng">
                <a:solidFill>
                  <a:schemeClr val="hlink"/>
                </a:solidFill>
                <a:hlinkClick r:id="rId12"/>
              </a:rPr>
              <a:t>https://www.women-in-construction.ca/</a:t>
            </a:r>
            <a:endParaRPr sz="1400"/>
          </a:p>
          <a:p>
            <a:pPr indent="-215900" lvl="0" marL="228600" rtl="0" algn="l">
              <a:lnSpc>
                <a:spcPct val="130000"/>
              </a:lnSpc>
              <a:spcBef>
                <a:spcPts val="1000"/>
              </a:spcBef>
              <a:spcAft>
                <a:spcPts val="0"/>
              </a:spcAft>
              <a:buSzPts val="1600"/>
              <a:buChar char="•"/>
            </a:pPr>
            <a:r>
              <a:rPr b="1" lang="en-US" sz="1600"/>
              <a:t>Action step</a:t>
            </a:r>
            <a:r>
              <a:rPr lang="en-US" sz="1600"/>
              <a:t> - reach out to attend/sponsor/educate/get known to this sector</a:t>
            </a:r>
            <a:endParaRPr sz="1600"/>
          </a:p>
          <a:p>
            <a:pPr indent="0" lvl="0" marL="685800" rtl="0" algn="l">
              <a:lnSpc>
                <a:spcPct val="130000"/>
              </a:lnSpc>
              <a:spcBef>
                <a:spcPts val="1000"/>
              </a:spcBef>
              <a:spcAft>
                <a:spcPts val="0"/>
              </a:spcAft>
              <a:buNone/>
            </a:pPr>
            <a:r>
              <a:t/>
            </a:r>
            <a:endParaRPr sz="15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115"/>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6</a:t>
            </a:r>
            <a:r>
              <a:rPr lang="en-US" sz="3800">
                <a:solidFill>
                  <a:schemeClr val="accent5"/>
                </a:solidFill>
              </a:rPr>
              <a:t> Canadian Catering/Food Associations</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867" name="Google Shape;867;p115"/>
          <p:cNvSpPr txBox="1"/>
          <p:nvPr>
            <p:ph idx="1" type="body"/>
          </p:nvPr>
        </p:nvSpPr>
        <p:spPr>
          <a:xfrm>
            <a:off x="838200" y="1609275"/>
            <a:ext cx="9585900" cy="4351200"/>
          </a:xfrm>
          <a:prstGeom prst="rect">
            <a:avLst/>
          </a:prstGeom>
          <a:noFill/>
          <a:ln>
            <a:noFill/>
          </a:ln>
        </p:spPr>
        <p:txBody>
          <a:bodyPr anchorCtr="0" anchor="t" bIns="45700" lIns="91425" spcFirstLastPara="1" rIns="91425" wrap="square" tIns="45700">
            <a:noAutofit/>
          </a:bodyPr>
          <a:lstStyle/>
          <a:p>
            <a:pPr indent="-203200" lvl="2" marL="1143000" rtl="0" algn="l">
              <a:lnSpc>
                <a:spcPct val="130000"/>
              </a:lnSpc>
              <a:spcBef>
                <a:spcPts val="1000"/>
              </a:spcBef>
              <a:spcAft>
                <a:spcPts val="0"/>
              </a:spcAft>
              <a:buSzPts val="1400"/>
              <a:buChar char="•"/>
            </a:pPr>
            <a:r>
              <a:rPr lang="en-US" sz="1400"/>
              <a:t>Restaurants Canada: </a:t>
            </a:r>
            <a:r>
              <a:rPr lang="en-US" sz="1400" u="sng">
                <a:solidFill>
                  <a:schemeClr val="hlink"/>
                </a:solidFill>
                <a:hlinkClick r:id="rId3"/>
              </a:rPr>
              <a:t>https://www.restaurantscanada.org/</a:t>
            </a:r>
            <a:endParaRPr sz="1400"/>
          </a:p>
          <a:p>
            <a:pPr indent="-203200" lvl="2" marL="1143000" rtl="0" algn="l">
              <a:lnSpc>
                <a:spcPct val="130000"/>
              </a:lnSpc>
              <a:spcBef>
                <a:spcPts val="1000"/>
              </a:spcBef>
              <a:spcAft>
                <a:spcPts val="0"/>
              </a:spcAft>
              <a:buSzPts val="1400"/>
              <a:buChar char="•"/>
            </a:pPr>
            <a:r>
              <a:rPr lang="en-US" sz="1400"/>
              <a:t>Canadian Restaurant and Foodservice Association: </a:t>
            </a:r>
            <a:r>
              <a:rPr lang="en-US" sz="1400" u="sng">
                <a:solidFill>
                  <a:schemeClr val="hlink"/>
                </a:solidFill>
                <a:hlinkClick r:id="rId4"/>
              </a:rPr>
              <a:t>https://www.hospitalitynet.org/organization/17003657.html</a:t>
            </a:r>
            <a:endParaRPr sz="1400"/>
          </a:p>
          <a:p>
            <a:pPr indent="-203200" lvl="2" marL="1143000" rtl="0" algn="l">
              <a:lnSpc>
                <a:spcPct val="130000"/>
              </a:lnSpc>
              <a:spcBef>
                <a:spcPts val="1000"/>
              </a:spcBef>
              <a:spcAft>
                <a:spcPts val="0"/>
              </a:spcAft>
              <a:buSzPts val="1400"/>
              <a:buChar char="•"/>
            </a:pPr>
            <a:r>
              <a:rPr lang="en-US" sz="1400"/>
              <a:t>Ontario Restaurant Hotel and Motel Association: </a:t>
            </a:r>
            <a:r>
              <a:rPr lang="en-US" sz="1400" u="sng">
                <a:solidFill>
                  <a:schemeClr val="hlink"/>
                </a:solidFill>
                <a:hlinkClick r:id="rId5"/>
              </a:rPr>
              <a:t>https://www.orhma.com/</a:t>
            </a:r>
            <a:endParaRPr sz="1400"/>
          </a:p>
          <a:p>
            <a:pPr indent="-203200" lvl="2" marL="1143000" rtl="0" algn="l">
              <a:lnSpc>
                <a:spcPct val="130000"/>
              </a:lnSpc>
              <a:spcBef>
                <a:spcPts val="1000"/>
              </a:spcBef>
              <a:spcAft>
                <a:spcPts val="0"/>
              </a:spcAft>
              <a:buSzPts val="1400"/>
              <a:buChar char="•"/>
            </a:pPr>
            <a:r>
              <a:rPr lang="en-US" sz="1400"/>
              <a:t>Canadian Association of Professional Sommeliers: </a:t>
            </a:r>
            <a:r>
              <a:rPr lang="en-US" sz="1400" u="sng">
                <a:solidFill>
                  <a:schemeClr val="hlink"/>
                </a:solidFill>
                <a:hlinkClick r:id="rId6"/>
              </a:rPr>
              <a:t>http://sommelierscanada.com/</a:t>
            </a:r>
            <a:endParaRPr sz="1400"/>
          </a:p>
          <a:p>
            <a:pPr indent="-203200" lvl="2" marL="1143000" rtl="0" algn="l">
              <a:lnSpc>
                <a:spcPct val="130000"/>
              </a:lnSpc>
              <a:spcBef>
                <a:spcPts val="1000"/>
              </a:spcBef>
              <a:spcAft>
                <a:spcPts val="0"/>
              </a:spcAft>
              <a:buSzPts val="1400"/>
              <a:buChar char="•"/>
            </a:pPr>
            <a:r>
              <a:rPr lang="en-US" sz="1400"/>
              <a:t>Canadian Professional Bartenders Association: </a:t>
            </a:r>
            <a:r>
              <a:rPr lang="en-US" sz="1400" u="sng">
                <a:solidFill>
                  <a:schemeClr val="hlink"/>
                </a:solidFill>
                <a:hlinkClick r:id="rId7"/>
              </a:rPr>
              <a:t>https://canadianbartenders.com/</a:t>
            </a:r>
            <a:endParaRPr sz="1400"/>
          </a:p>
          <a:p>
            <a:pPr indent="-203200" lvl="2" marL="1143000" rtl="0" algn="l">
              <a:lnSpc>
                <a:spcPct val="130000"/>
              </a:lnSpc>
              <a:spcBef>
                <a:spcPts val="1000"/>
              </a:spcBef>
              <a:spcAft>
                <a:spcPts val="0"/>
              </a:spcAft>
              <a:buSzPts val="1400"/>
              <a:buChar char="•"/>
            </a:pPr>
            <a:r>
              <a:rPr lang="en-US" sz="1400"/>
              <a:t>Canadian Culinary Association: </a:t>
            </a:r>
            <a:r>
              <a:rPr lang="en-US" sz="1400" u="sng">
                <a:solidFill>
                  <a:schemeClr val="hlink"/>
                </a:solidFill>
                <a:hlinkClick r:id="rId8"/>
              </a:rPr>
              <a:t>https://www.canadianculinaryinstitute.ca/canadian-culinary-federation.html</a:t>
            </a:r>
            <a:endParaRPr sz="1400"/>
          </a:p>
          <a:p>
            <a:pPr indent="0" lvl="0" marL="1143000" rtl="0" algn="l">
              <a:lnSpc>
                <a:spcPct val="130000"/>
              </a:lnSpc>
              <a:spcBef>
                <a:spcPts val="1000"/>
              </a:spcBef>
              <a:spcAft>
                <a:spcPts val="0"/>
              </a:spcAft>
              <a:buNone/>
            </a:pPr>
            <a:r>
              <a:t/>
            </a:r>
            <a:endParaRPr sz="1400"/>
          </a:p>
          <a:p>
            <a:pPr indent="-215900" lvl="0" marL="228600" rtl="0" algn="l">
              <a:lnSpc>
                <a:spcPct val="130000"/>
              </a:lnSpc>
              <a:spcBef>
                <a:spcPts val="1000"/>
              </a:spcBef>
              <a:spcAft>
                <a:spcPts val="0"/>
              </a:spcAft>
              <a:buSzPts val="1600"/>
              <a:buChar char="•"/>
            </a:pPr>
            <a:r>
              <a:rPr b="1" lang="en-US" sz="1600"/>
              <a:t>Action step</a:t>
            </a:r>
            <a:r>
              <a:rPr lang="en-US" sz="1600"/>
              <a:t> - reach out to attend/sponsor/educate/get known to this sector</a:t>
            </a:r>
            <a:endParaRPr sz="1600"/>
          </a:p>
          <a:p>
            <a:pPr indent="0" lvl="0" marL="685800" rtl="0" algn="l">
              <a:lnSpc>
                <a:spcPct val="130000"/>
              </a:lnSpc>
              <a:spcBef>
                <a:spcPts val="1000"/>
              </a:spcBef>
              <a:spcAft>
                <a:spcPts val="0"/>
              </a:spcAft>
              <a:buNone/>
            </a:pPr>
            <a:r>
              <a:t/>
            </a:r>
            <a:endParaRPr sz="15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116"/>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Example Google Ads Pricing</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pic>
        <p:nvPicPr>
          <p:cNvPr descr="Graphical user interface, application, table&#10;&#10;Description automatically generated" id="873" name="Google Shape;873;p116"/>
          <p:cNvPicPr preferRelativeResize="0"/>
          <p:nvPr/>
        </p:nvPicPr>
        <p:blipFill>
          <a:blip r:embed="rId3">
            <a:alphaModFix/>
          </a:blip>
          <a:stretch>
            <a:fillRect/>
          </a:stretch>
        </p:blipFill>
        <p:spPr>
          <a:xfrm>
            <a:off x="961025" y="1677525"/>
            <a:ext cx="8864699" cy="3952175"/>
          </a:xfrm>
          <a:prstGeom prst="rect">
            <a:avLst/>
          </a:prstGeom>
          <a:noFill/>
          <a:ln>
            <a:noFill/>
          </a:ln>
        </p:spPr>
      </p:pic>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117"/>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Reporting</a:t>
            </a:r>
            <a:endParaRPr/>
          </a:p>
          <a:p>
            <a:pPr indent="0" lvl="0" marL="0" rtl="0" algn="ctr">
              <a:lnSpc>
                <a:spcPct val="90000"/>
              </a:lnSpc>
              <a:spcBef>
                <a:spcPts val="0"/>
              </a:spcBef>
              <a:spcAft>
                <a:spcPts val="0"/>
              </a:spcAft>
              <a:buClr>
                <a:schemeClr val="accent2"/>
              </a:buClr>
              <a:buSzPts val="4400"/>
              <a:buFont typeface="Calibri"/>
              <a:buNone/>
            </a:pPr>
            <a:r>
              <a:rPr b="0" i="1" lang="en-US" sz="4000">
                <a:latin typeface="Calibri"/>
                <a:ea typeface="Calibri"/>
                <a:cs typeface="Calibri"/>
                <a:sym typeface="Calibri"/>
              </a:rPr>
              <a:t>what to measure</a:t>
            </a:r>
            <a:endParaRPr b="0" i="1" sz="4000">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p118"/>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Reporting</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884" name="Google Shape;884;p118"/>
          <p:cNvSpPr txBox="1"/>
          <p:nvPr>
            <p:ph idx="1" type="body"/>
          </p:nvPr>
        </p:nvSpPr>
        <p:spPr>
          <a:xfrm>
            <a:off x="838200" y="1825625"/>
            <a:ext cx="4661400" cy="4351200"/>
          </a:xfrm>
          <a:prstGeom prst="rect">
            <a:avLst/>
          </a:prstGeom>
          <a:noFill/>
          <a:ln>
            <a:noFill/>
          </a:ln>
        </p:spPr>
        <p:txBody>
          <a:bodyPr anchorCtr="0" anchor="t" bIns="45700" lIns="91425" spcFirstLastPara="1" rIns="91425" wrap="square" tIns="45700">
            <a:noAutofit/>
          </a:bodyPr>
          <a:lstStyle/>
          <a:p>
            <a:pPr indent="-222250" lvl="0" marL="228600" rtl="0" algn="l">
              <a:lnSpc>
                <a:spcPct val="130000"/>
              </a:lnSpc>
              <a:spcBef>
                <a:spcPts val="1000"/>
              </a:spcBef>
              <a:spcAft>
                <a:spcPts val="0"/>
              </a:spcAft>
              <a:buSzPts val="1700"/>
              <a:buChar char="•"/>
            </a:pPr>
            <a:r>
              <a:rPr lang="en-US" sz="1700"/>
              <a:t>WBE Canada’s current reporting metrics</a:t>
            </a:r>
            <a:endParaRPr sz="1700"/>
          </a:p>
          <a:p>
            <a:pPr indent="-222250" lvl="0" marL="228600" rtl="0" algn="l">
              <a:lnSpc>
                <a:spcPct val="130000"/>
              </a:lnSpc>
              <a:spcBef>
                <a:spcPts val="1000"/>
              </a:spcBef>
              <a:spcAft>
                <a:spcPts val="0"/>
              </a:spcAft>
              <a:buSzPts val="1700"/>
              <a:buChar char="•"/>
            </a:pPr>
            <a:r>
              <a:rPr lang="en-US" sz="1700"/>
              <a:t>WBEs - Recommended items:</a:t>
            </a:r>
            <a:endParaRPr sz="1700"/>
          </a:p>
          <a:p>
            <a:pPr indent="-222250" lvl="1" marL="685800" rtl="0" algn="l">
              <a:lnSpc>
                <a:spcPct val="130000"/>
              </a:lnSpc>
              <a:spcBef>
                <a:spcPts val="1000"/>
              </a:spcBef>
              <a:spcAft>
                <a:spcPts val="0"/>
              </a:spcAft>
              <a:buClr>
                <a:schemeClr val="accent2"/>
              </a:buClr>
              <a:buSzPts val="1700"/>
              <a:buChar char="✔"/>
            </a:pPr>
            <a:r>
              <a:rPr lang="en-US" sz="1700"/>
              <a:t>Traffic to website</a:t>
            </a:r>
            <a:endParaRPr sz="1700"/>
          </a:p>
          <a:p>
            <a:pPr indent="-222250" lvl="2" marL="1143000" rtl="0" algn="l">
              <a:lnSpc>
                <a:spcPct val="130000"/>
              </a:lnSpc>
              <a:spcBef>
                <a:spcPts val="1000"/>
              </a:spcBef>
              <a:spcAft>
                <a:spcPts val="0"/>
              </a:spcAft>
              <a:buSzPts val="1700"/>
              <a:buChar char="•"/>
            </a:pPr>
            <a:r>
              <a:rPr lang="en-US" sz="1700"/>
              <a:t>Top landing pages</a:t>
            </a:r>
            <a:endParaRPr sz="1700"/>
          </a:p>
          <a:p>
            <a:pPr indent="-222250" lvl="2" marL="1143000" rtl="0" algn="l">
              <a:lnSpc>
                <a:spcPct val="130000"/>
              </a:lnSpc>
              <a:spcBef>
                <a:spcPts val="1000"/>
              </a:spcBef>
              <a:spcAft>
                <a:spcPts val="0"/>
              </a:spcAft>
              <a:buSzPts val="1700"/>
              <a:buChar char="•"/>
            </a:pPr>
            <a:r>
              <a:rPr lang="en-US" sz="1700"/>
              <a:t>Traffic by source: Organic, Paid, Referrals, Social Media Sites, Email, etc. </a:t>
            </a:r>
            <a:endParaRPr sz="1700"/>
          </a:p>
          <a:p>
            <a:pPr indent="-222250" lvl="1" marL="685800" rtl="0" algn="l">
              <a:lnSpc>
                <a:spcPct val="130000"/>
              </a:lnSpc>
              <a:spcBef>
                <a:spcPts val="1000"/>
              </a:spcBef>
              <a:spcAft>
                <a:spcPts val="0"/>
              </a:spcAft>
              <a:buClr>
                <a:schemeClr val="accent2"/>
              </a:buClr>
              <a:buSzPts val="1700"/>
              <a:buChar char="✔"/>
            </a:pPr>
            <a:r>
              <a:rPr lang="en-US" sz="1700"/>
              <a:t>Email sign-ups on website</a:t>
            </a:r>
            <a:endParaRPr sz="1700"/>
          </a:p>
          <a:p>
            <a:pPr indent="-215900" lvl="1" marL="685800" rtl="0" algn="l">
              <a:lnSpc>
                <a:spcPct val="130000"/>
              </a:lnSpc>
              <a:spcBef>
                <a:spcPts val="1000"/>
              </a:spcBef>
              <a:spcAft>
                <a:spcPts val="0"/>
              </a:spcAft>
              <a:buClr>
                <a:schemeClr val="accent2"/>
              </a:buClr>
              <a:buSzPts val="1600"/>
              <a:buChar char="✔"/>
            </a:pPr>
            <a:r>
              <a:rPr lang="en-US" sz="1700"/>
              <a:t>Tools for Growth sign ups per mont</a:t>
            </a:r>
            <a:r>
              <a:rPr lang="en-US" sz="1600"/>
              <a:t>h</a:t>
            </a:r>
            <a:endParaRPr sz="1600"/>
          </a:p>
          <a:p>
            <a:pPr indent="0" lvl="0" marL="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p:txBody>
      </p:sp>
      <p:sp>
        <p:nvSpPr>
          <p:cNvPr id="885" name="Google Shape;885;p118"/>
          <p:cNvSpPr txBox="1"/>
          <p:nvPr/>
        </p:nvSpPr>
        <p:spPr>
          <a:xfrm>
            <a:off x="6195400" y="2947650"/>
            <a:ext cx="4008900" cy="2532000"/>
          </a:xfrm>
          <a:prstGeom prst="rect">
            <a:avLst/>
          </a:prstGeom>
          <a:noFill/>
          <a:ln>
            <a:noFill/>
          </a:ln>
        </p:spPr>
        <p:txBody>
          <a:bodyPr anchorCtr="0" anchor="t" bIns="91425" lIns="91425" spcFirstLastPara="1" rIns="91425" wrap="square" tIns="91425">
            <a:spAutoFit/>
          </a:bodyPr>
          <a:lstStyle/>
          <a:p>
            <a:pPr indent="-222250" lvl="1" marL="685800" rtl="0" algn="l">
              <a:lnSpc>
                <a:spcPct val="130000"/>
              </a:lnSpc>
              <a:spcBef>
                <a:spcPts val="1000"/>
              </a:spcBef>
              <a:spcAft>
                <a:spcPts val="0"/>
              </a:spcAft>
              <a:buClr>
                <a:schemeClr val="accent2"/>
              </a:buClr>
              <a:buSzPts val="1700"/>
              <a:buChar char="✔"/>
            </a:pPr>
            <a:r>
              <a:rPr lang="en-US" sz="1700">
                <a:solidFill>
                  <a:schemeClr val="dk1"/>
                </a:solidFill>
                <a:latin typeface="Calibri"/>
                <a:ea typeface="Calibri"/>
                <a:cs typeface="Calibri"/>
                <a:sym typeface="Calibri"/>
              </a:rPr>
              <a:t>Certification call requests per month</a:t>
            </a:r>
            <a:endParaRPr sz="1700">
              <a:solidFill>
                <a:schemeClr val="dk1"/>
              </a:solidFill>
              <a:latin typeface="Calibri"/>
              <a:ea typeface="Calibri"/>
              <a:cs typeface="Calibri"/>
              <a:sym typeface="Calibri"/>
            </a:endParaRPr>
          </a:p>
          <a:p>
            <a:pPr indent="-222250" lvl="1" marL="685800" rtl="0" algn="l">
              <a:lnSpc>
                <a:spcPct val="130000"/>
              </a:lnSpc>
              <a:spcBef>
                <a:spcPts val="1000"/>
              </a:spcBef>
              <a:spcAft>
                <a:spcPts val="0"/>
              </a:spcAft>
              <a:buClr>
                <a:schemeClr val="accent2"/>
              </a:buClr>
              <a:buSzPts val="1700"/>
              <a:buChar char="✔"/>
            </a:pPr>
            <a:r>
              <a:rPr lang="en-US" sz="1700">
                <a:solidFill>
                  <a:schemeClr val="dk1"/>
                </a:solidFill>
                <a:latin typeface="Calibri"/>
                <a:ea typeface="Calibri"/>
                <a:cs typeface="Calibri"/>
                <a:sym typeface="Calibri"/>
              </a:rPr>
              <a:t>Certification applications per month</a:t>
            </a:r>
            <a:endParaRPr sz="1700">
              <a:solidFill>
                <a:schemeClr val="dk1"/>
              </a:solidFill>
              <a:latin typeface="Calibri"/>
              <a:ea typeface="Calibri"/>
              <a:cs typeface="Calibri"/>
              <a:sym typeface="Calibri"/>
            </a:endParaRPr>
          </a:p>
          <a:p>
            <a:pPr indent="-222250" lvl="1" marL="685800" rtl="0" algn="l">
              <a:lnSpc>
                <a:spcPct val="130000"/>
              </a:lnSpc>
              <a:spcBef>
                <a:spcPts val="1000"/>
              </a:spcBef>
              <a:spcAft>
                <a:spcPts val="0"/>
              </a:spcAft>
              <a:buClr>
                <a:schemeClr val="accent2"/>
              </a:buClr>
              <a:buSzPts val="1700"/>
              <a:buChar char="✔"/>
            </a:pPr>
            <a:r>
              <a:rPr lang="en-US" sz="1700">
                <a:solidFill>
                  <a:schemeClr val="dk1"/>
                </a:solidFill>
                <a:latin typeface="Calibri"/>
                <a:ea typeface="Calibri"/>
                <a:cs typeface="Calibri"/>
                <a:sym typeface="Calibri"/>
              </a:rPr>
              <a:t>Marketing activities each month</a:t>
            </a:r>
            <a:endParaRPr sz="1700">
              <a:solidFill>
                <a:schemeClr val="dk1"/>
              </a:solidFill>
              <a:latin typeface="Calibri"/>
              <a:ea typeface="Calibri"/>
              <a:cs typeface="Calibri"/>
              <a:sym typeface="Calibri"/>
            </a:endParaRPr>
          </a:p>
          <a:p>
            <a:pPr indent="-215900" lvl="1" marL="685800" rtl="0" algn="l">
              <a:lnSpc>
                <a:spcPct val="130000"/>
              </a:lnSpc>
              <a:spcBef>
                <a:spcPts val="1000"/>
              </a:spcBef>
              <a:spcAft>
                <a:spcPts val="0"/>
              </a:spcAft>
              <a:buClr>
                <a:schemeClr val="accent2"/>
              </a:buClr>
              <a:buSzPts val="1600"/>
              <a:buChar char="✔"/>
            </a:pPr>
            <a:r>
              <a:rPr lang="en-US" sz="1700">
                <a:solidFill>
                  <a:schemeClr val="dk1"/>
                </a:solidFill>
                <a:latin typeface="Calibri"/>
                <a:ea typeface="Calibri"/>
                <a:cs typeface="Calibri"/>
                <a:sym typeface="Calibri"/>
              </a:rPr>
              <a:t>Specific campaign metric</a:t>
            </a:r>
            <a:r>
              <a:rPr lang="en-US" sz="1600">
                <a:solidFill>
                  <a:schemeClr val="dk1"/>
                </a:solidFill>
                <a:latin typeface="Calibri"/>
                <a:ea typeface="Calibri"/>
                <a:cs typeface="Calibri"/>
                <a:sym typeface="Calibri"/>
              </a:rPr>
              <a:t>s</a:t>
            </a:r>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9" name="Shape 889"/>
        <p:cNvGrpSpPr/>
        <p:nvPr/>
      </p:nvGrpSpPr>
      <p:grpSpPr>
        <a:xfrm>
          <a:off x="0" y="0"/>
          <a:ext cx="0" cy="0"/>
          <a:chOff x="0" y="0"/>
          <a:chExt cx="0" cy="0"/>
        </a:xfrm>
      </p:grpSpPr>
      <p:sp>
        <p:nvSpPr>
          <p:cNvPr id="890" name="Google Shape;890;p119"/>
          <p:cNvSpPr txBox="1"/>
          <p:nvPr>
            <p:ph type="title"/>
          </p:nvPr>
        </p:nvSpPr>
        <p:spPr>
          <a:xfrm>
            <a:off x="528000" y="2483525"/>
            <a:ext cx="10515600" cy="132570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accent2"/>
              </a:buClr>
              <a:buSzPts val="4400"/>
              <a:buFont typeface="Calibri"/>
              <a:buNone/>
            </a:pPr>
            <a:r>
              <a:rPr lang="en-US"/>
              <a:t>What’s In It For WBE Canada?</a:t>
            </a:r>
            <a:endParaRPr/>
          </a:p>
          <a:p>
            <a:pPr indent="0" lvl="0" marL="0" rtl="0" algn="ctr">
              <a:lnSpc>
                <a:spcPct val="90000"/>
              </a:lnSpc>
              <a:spcBef>
                <a:spcPts val="0"/>
              </a:spcBef>
              <a:spcAft>
                <a:spcPts val="0"/>
              </a:spcAft>
              <a:buClr>
                <a:schemeClr val="accent2"/>
              </a:buClr>
              <a:buSzPts val="4400"/>
              <a:buFont typeface="Calibri"/>
              <a:buNone/>
            </a:pPr>
            <a:r>
              <a:rPr b="0" i="1" lang="en-US" sz="4000">
                <a:latin typeface="Calibri"/>
                <a:ea typeface="Calibri"/>
                <a:cs typeface="Calibri"/>
                <a:sym typeface="Calibri"/>
              </a:rPr>
              <a:t>why do all this work?</a:t>
            </a:r>
            <a:endParaRPr b="0" i="1" sz="4000">
              <a:latin typeface="Calibri"/>
              <a:ea typeface="Calibri"/>
              <a:cs typeface="Calibri"/>
              <a:sym typeface="Calibri"/>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120"/>
          <p:cNvSpPr txBox="1"/>
          <p:nvPr>
            <p:ph type="title"/>
          </p:nvPr>
        </p:nvSpPr>
        <p:spPr>
          <a:xfrm>
            <a:off x="838200" y="784225"/>
            <a:ext cx="10515600" cy="13257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accent2"/>
              </a:buClr>
              <a:buSzPts val="4400"/>
              <a:buFont typeface="Calibri"/>
              <a:buNone/>
            </a:pPr>
            <a:r>
              <a:rPr lang="en-US" sz="3800">
                <a:solidFill>
                  <a:schemeClr val="accent5"/>
                </a:solidFill>
              </a:rPr>
              <a:t>Content keeps working for you 24/7…</a:t>
            </a:r>
            <a:endParaRPr sz="3800">
              <a:solidFill>
                <a:schemeClr val="accent5"/>
              </a:solidFill>
            </a:endParaRPr>
          </a:p>
          <a:p>
            <a:pPr indent="0" lvl="0" marL="0" rtl="0" algn="l">
              <a:lnSpc>
                <a:spcPct val="90000"/>
              </a:lnSpc>
              <a:spcBef>
                <a:spcPts val="0"/>
              </a:spcBef>
              <a:spcAft>
                <a:spcPts val="0"/>
              </a:spcAft>
              <a:buClr>
                <a:schemeClr val="accent2"/>
              </a:buClr>
              <a:buSzPts val="4400"/>
              <a:buFont typeface="Calibri"/>
              <a:buNone/>
            </a:pPr>
            <a:r>
              <a:t/>
            </a:r>
            <a:endParaRPr/>
          </a:p>
        </p:txBody>
      </p:sp>
      <p:sp>
        <p:nvSpPr>
          <p:cNvPr id="896" name="Google Shape;896;p120"/>
          <p:cNvSpPr txBox="1"/>
          <p:nvPr>
            <p:ph idx="1" type="body"/>
          </p:nvPr>
        </p:nvSpPr>
        <p:spPr>
          <a:xfrm>
            <a:off x="838200" y="1520825"/>
            <a:ext cx="9585900" cy="4351200"/>
          </a:xfrm>
          <a:prstGeom prst="rect">
            <a:avLst/>
          </a:prstGeom>
          <a:noFill/>
          <a:ln>
            <a:noFill/>
          </a:ln>
        </p:spPr>
        <p:txBody>
          <a:bodyPr anchorCtr="0" anchor="t" bIns="45700" lIns="91425" spcFirstLastPara="1" rIns="91425" wrap="square" tIns="45700">
            <a:noAutofit/>
          </a:bodyPr>
          <a:lstStyle/>
          <a:p>
            <a:pPr indent="0" lvl="0" marL="0" rtl="0" algn="l">
              <a:lnSpc>
                <a:spcPct val="130000"/>
              </a:lnSpc>
              <a:spcBef>
                <a:spcPts val="1000"/>
              </a:spcBef>
              <a:spcAft>
                <a:spcPts val="0"/>
              </a:spcAft>
              <a:buNone/>
            </a:pPr>
            <a:r>
              <a:t/>
            </a:r>
            <a:endParaRPr sz="1600"/>
          </a:p>
          <a:p>
            <a:pPr indent="-215900" lvl="1" marL="685800" rtl="0" algn="l">
              <a:lnSpc>
                <a:spcPct val="130000"/>
              </a:lnSpc>
              <a:spcBef>
                <a:spcPts val="1000"/>
              </a:spcBef>
              <a:spcAft>
                <a:spcPts val="0"/>
              </a:spcAft>
              <a:buClr>
                <a:schemeClr val="accent2"/>
              </a:buClr>
              <a:buSzPts val="1600"/>
              <a:buChar char="✔"/>
            </a:pPr>
            <a:r>
              <a:rPr lang="en-US" sz="1600"/>
              <a:t>targeted messaging</a:t>
            </a:r>
            <a:endParaRPr sz="1600"/>
          </a:p>
          <a:p>
            <a:pPr indent="-215900" lvl="1" marL="685800" rtl="0" algn="l">
              <a:lnSpc>
                <a:spcPct val="130000"/>
              </a:lnSpc>
              <a:spcBef>
                <a:spcPts val="1000"/>
              </a:spcBef>
              <a:spcAft>
                <a:spcPts val="0"/>
              </a:spcAft>
              <a:buClr>
                <a:schemeClr val="accent2"/>
              </a:buClr>
              <a:buSzPts val="1600"/>
              <a:buChar char="✔"/>
            </a:pPr>
            <a:r>
              <a:rPr lang="en-US" sz="1600"/>
              <a:t>48+ blogs with images</a:t>
            </a:r>
            <a:endParaRPr sz="1600"/>
          </a:p>
          <a:p>
            <a:pPr indent="-215900" lvl="1" marL="685800" rtl="0" algn="l">
              <a:lnSpc>
                <a:spcPct val="130000"/>
              </a:lnSpc>
              <a:spcBef>
                <a:spcPts val="1000"/>
              </a:spcBef>
              <a:spcAft>
                <a:spcPts val="0"/>
              </a:spcAft>
              <a:buClr>
                <a:schemeClr val="accent2"/>
              </a:buClr>
              <a:buSzPts val="1600"/>
              <a:buChar char="✔"/>
            </a:pPr>
            <a:r>
              <a:rPr lang="en-US" sz="1600"/>
              <a:t>3 persona hub pages </a:t>
            </a:r>
            <a:endParaRPr sz="1600"/>
          </a:p>
          <a:p>
            <a:pPr indent="-215900" lvl="1" marL="685800" rtl="0" algn="l">
              <a:lnSpc>
                <a:spcPct val="130000"/>
              </a:lnSpc>
              <a:spcBef>
                <a:spcPts val="1000"/>
              </a:spcBef>
              <a:spcAft>
                <a:spcPts val="0"/>
              </a:spcAft>
              <a:buClr>
                <a:schemeClr val="accent2"/>
              </a:buClr>
              <a:buSzPts val="1600"/>
              <a:buChar char="✔"/>
            </a:pPr>
            <a:r>
              <a:rPr lang="en-US" sz="1600"/>
              <a:t>192+ social posts tailored for each social media channel </a:t>
            </a:r>
            <a:r>
              <a:rPr i="1" lang="en-US" sz="1600"/>
              <a:t>(we can hand off to the internal team)</a:t>
            </a:r>
            <a:endParaRPr i="1" sz="1600"/>
          </a:p>
          <a:p>
            <a:pPr indent="-215900" lvl="1" marL="685800" rtl="0" algn="l">
              <a:lnSpc>
                <a:spcPct val="130000"/>
              </a:lnSpc>
              <a:spcBef>
                <a:spcPts val="1000"/>
              </a:spcBef>
              <a:spcAft>
                <a:spcPts val="0"/>
              </a:spcAft>
              <a:buClr>
                <a:schemeClr val="accent2"/>
              </a:buClr>
              <a:buSzPts val="1600"/>
              <a:buChar char="✔"/>
            </a:pPr>
            <a:r>
              <a:rPr lang="en-US" sz="1600"/>
              <a:t>your audience is consistently online</a:t>
            </a:r>
            <a:endParaRPr sz="1600"/>
          </a:p>
          <a:p>
            <a:pPr indent="-215900" lvl="1" marL="685800" rtl="0" algn="l">
              <a:lnSpc>
                <a:spcPct val="130000"/>
              </a:lnSpc>
              <a:spcBef>
                <a:spcPts val="1000"/>
              </a:spcBef>
              <a:spcAft>
                <a:spcPts val="0"/>
              </a:spcAft>
              <a:buClr>
                <a:schemeClr val="accent2"/>
              </a:buClr>
              <a:buSzPts val="1600"/>
              <a:buChar char="✔"/>
            </a:pPr>
            <a:r>
              <a:rPr lang="en-US" sz="1600"/>
              <a:t>timeless content themes (appropriate 6 days, 6 weeks, 6+ months after posting initially)</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a:p>
            <a:pPr indent="0" lvl="0" marL="685800" rtl="0" algn="l">
              <a:lnSpc>
                <a:spcPct val="130000"/>
              </a:lnSpc>
              <a:spcBef>
                <a:spcPts val="1000"/>
              </a:spcBef>
              <a:spcAft>
                <a:spcPts val="0"/>
              </a:spcAft>
              <a:buNone/>
            </a:pPr>
            <a:r>
              <a:t/>
            </a:r>
            <a:endParaRPr sz="1600"/>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121"/>
          <p:cNvSpPr txBox="1"/>
          <p:nvPr>
            <p:ph type="title"/>
          </p:nvPr>
        </p:nvSpPr>
        <p:spPr>
          <a:xfrm>
            <a:off x="3845075" y="2670500"/>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Action Plan</a:t>
            </a:r>
            <a:endParaRPr/>
          </a:p>
        </p:txBody>
      </p:sp>
      <p:sp>
        <p:nvSpPr>
          <p:cNvPr id="902" name="Google Shape;902;p121"/>
          <p:cNvSpPr txBox="1"/>
          <p:nvPr>
            <p:ph idx="1" type="body"/>
          </p:nvPr>
        </p:nvSpPr>
        <p:spPr>
          <a:xfrm>
            <a:off x="700850" y="1727325"/>
            <a:ext cx="10277400" cy="4630200"/>
          </a:xfrm>
          <a:prstGeom prst="rect">
            <a:avLst/>
          </a:prstGeom>
          <a:noFill/>
          <a:ln>
            <a:noFill/>
          </a:ln>
        </p:spPr>
        <p:txBody>
          <a:bodyPr anchorCtr="0" anchor="t" bIns="45700" lIns="91425" spcFirstLastPara="1" rIns="91425" wrap="square" tIns="45700">
            <a:noAutofit/>
          </a:bodyPr>
          <a:lstStyle/>
          <a:p>
            <a:pPr indent="0" lvl="0" marL="685800" marR="0" rtl="0" algn="l">
              <a:lnSpc>
                <a:spcPct val="100000"/>
              </a:lnSpc>
              <a:spcBef>
                <a:spcPts val="1000"/>
              </a:spcBef>
              <a:spcAft>
                <a:spcPts val="0"/>
              </a:spcAft>
              <a:buNone/>
            </a:pPr>
            <a:r>
              <a:t/>
            </a:r>
            <a:endParaRPr sz="1650"/>
          </a:p>
          <a:p>
            <a:pPr indent="0" lvl="0" marL="685800" marR="0" rtl="0" algn="l">
              <a:lnSpc>
                <a:spcPct val="100000"/>
              </a:lnSpc>
              <a:spcBef>
                <a:spcPts val="1000"/>
              </a:spcBef>
              <a:spcAft>
                <a:spcPts val="0"/>
              </a:spcAft>
              <a:buNone/>
            </a:pPr>
            <a:r>
              <a:t/>
            </a:r>
            <a:endParaRPr sz="1550"/>
          </a:p>
          <a:p>
            <a:pPr indent="0" lvl="0" marL="685800" marR="0" rtl="0" algn="l">
              <a:lnSpc>
                <a:spcPct val="100000"/>
              </a:lnSpc>
              <a:spcBef>
                <a:spcPts val="1000"/>
              </a:spcBef>
              <a:spcAft>
                <a:spcPts val="0"/>
              </a:spcAft>
              <a:buNone/>
            </a:pPr>
            <a:r>
              <a:t/>
            </a:r>
            <a:endParaRPr sz="1550"/>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6" name="Shape 906"/>
        <p:cNvGrpSpPr/>
        <p:nvPr/>
      </p:nvGrpSpPr>
      <p:grpSpPr>
        <a:xfrm>
          <a:off x="0" y="0"/>
          <a:ext cx="0" cy="0"/>
          <a:chOff x="0" y="0"/>
          <a:chExt cx="0" cy="0"/>
        </a:xfrm>
      </p:grpSpPr>
      <p:sp>
        <p:nvSpPr>
          <p:cNvPr id="907" name="Google Shape;907;p122"/>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Action Plan</a:t>
            </a:r>
            <a:endParaRPr/>
          </a:p>
        </p:txBody>
      </p:sp>
      <p:sp>
        <p:nvSpPr>
          <p:cNvPr id="908" name="Google Shape;908;p122"/>
          <p:cNvSpPr txBox="1"/>
          <p:nvPr>
            <p:ph idx="1" type="body"/>
          </p:nvPr>
        </p:nvSpPr>
        <p:spPr>
          <a:xfrm>
            <a:off x="624650" y="1574925"/>
            <a:ext cx="10277400" cy="4630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b="1" lang="en-US" sz="1950">
                <a:solidFill>
                  <a:schemeClr val="accent2"/>
                </a:solidFill>
              </a:rPr>
              <a:t>Marketing Foundation:</a:t>
            </a:r>
            <a:endParaRPr b="1" sz="1950">
              <a:solidFill>
                <a:schemeClr val="accent2"/>
              </a:solidFill>
            </a:endParaRPr>
          </a:p>
          <a:p>
            <a:pPr indent="-231775" lvl="1" marL="685800" marR="0" rtl="0" algn="l">
              <a:lnSpc>
                <a:spcPct val="100000"/>
              </a:lnSpc>
              <a:spcBef>
                <a:spcPts val="1000"/>
              </a:spcBef>
              <a:spcAft>
                <a:spcPts val="0"/>
              </a:spcAft>
              <a:buSzPts val="1850"/>
              <a:buChar char="✔"/>
            </a:pPr>
            <a:r>
              <a:rPr b="1" lang="en-US" sz="1850"/>
              <a:t>Messaging &amp; Positioning:</a:t>
            </a:r>
            <a:endParaRPr b="1" sz="1850"/>
          </a:p>
          <a:p>
            <a:pPr indent="-231775" lvl="2" marL="1143000" marR="0" rtl="0" algn="l">
              <a:lnSpc>
                <a:spcPct val="100000"/>
              </a:lnSpc>
              <a:spcBef>
                <a:spcPts val="1000"/>
              </a:spcBef>
              <a:spcAft>
                <a:spcPts val="0"/>
              </a:spcAft>
              <a:buSzPts val="1850"/>
              <a:buChar char="•"/>
            </a:pPr>
            <a:r>
              <a:rPr lang="en-US" sz="1850"/>
              <a:t>Create a messaging &amp; persona guide </a:t>
            </a:r>
            <a:endParaRPr sz="1850"/>
          </a:p>
          <a:p>
            <a:pPr indent="-231775" lvl="2" marL="1143000" marR="0" rtl="0" algn="l">
              <a:lnSpc>
                <a:spcPct val="100000"/>
              </a:lnSpc>
              <a:spcBef>
                <a:spcPts val="1000"/>
              </a:spcBef>
              <a:spcAft>
                <a:spcPts val="0"/>
              </a:spcAft>
              <a:buSzPts val="1850"/>
              <a:buChar char="•"/>
            </a:pPr>
            <a:r>
              <a:rPr lang="en-US" sz="1850"/>
              <a:t>Review and update website, social media &amp; foundational marketing assets for new high level WBE messaging</a:t>
            </a:r>
            <a:endParaRPr sz="1850"/>
          </a:p>
          <a:p>
            <a:pPr indent="-231775" lvl="2" marL="1143000" marR="0" rtl="0" algn="l">
              <a:lnSpc>
                <a:spcPct val="100000"/>
              </a:lnSpc>
              <a:spcBef>
                <a:spcPts val="1000"/>
              </a:spcBef>
              <a:spcAft>
                <a:spcPts val="0"/>
              </a:spcAft>
              <a:buSzPts val="1850"/>
              <a:buChar char="•"/>
            </a:pPr>
            <a:r>
              <a:rPr lang="en-US" sz="1850"/>
              <a:t>Update website to make the WBE Certification &amp; Pre-Certification options clearer</a:t>
            </a:r>
            <a:endParaRPr sz="1850"/>
          </a:p>
          <a:p>
            <a:pPr indent="-231775" lvl="1" marL="685800" rtl="0" algn="l">
              <a:lnSpc>
                <a:spcPct val="100000"/>
              </a:lnSpc>
              <a:spcBef>
                <a:spcPts val="1000"/>
              </a:spcBef>
              <a:spcAft>
                <a:spcPts val="0"/>
              </a:spcAft>
              <a:buSzPts val="1850"/>
              <a:buChar char="✔"/>
            </a:pPr>
            <a:r>
              <a:rPr b="1" lang="en-US" sz="1850"/>
              <a:t>Online Listing and Review Sites:</a:t>
            </a:r>
            <a:r>
              <a:rPr lang="en-US" sz="1850"/>
              <a:t> Identify and update with new positioning and messaging/claim Google Business listing and any other identified listing sites.</a:t>
            </a:r>
            <a:endParaRPr b="1" sz="1850"/>
          </a:p>
          <a:p>
            <a:pPr indent="-231775" lvl="1" marL="685800" marR="0" rtl="0" algn="l">
              <a:lnSpc>
                <a:spcPct val="100000"/>
              </a:lnSpc>
              <a:spcBef>
                <a:spcPts val="1000"/>
              </a:spcBef>
              <a:spcAft>
                <a:spcPts val="0"/>
              </a:spcAft>
              <a:buSzPts val="1850"/>
              <a:buChar char="✔"/>
            </a:pPr>
            <a:r>
              <a:rPr b="1" lang="en-US" sz="1850"/>
              <a:t>New Persona Marketing Funnels:</a:t>
            </a:r>
            <a:endParaRPr b="1" sz="1850"/>
          </a:p>
          <a:p>
            <a:pPr indent="-231775" lvl="2" marL="1143000" marR="0" rtl="0" algn="l">
              <a:lnSpc>
                <a:spcPct val="100000"/>
              </a:lnSpc>
              <a:spcBef>
                <a:spcPts val="1000"/>
              </a:spcBef>
              <a:spcAft>
                <a:spcPts val="0"/>
              </a:spcAft>
              <a:buSzPts val="1850"/>
              <a:buChar char="•"/>
            </a:pPr>
            <a:r>
              <a:rPr lang="en-US" sz="1850"/>
              <a:t>Set up four new persona marketing funnels, including Landing Pages, Thank You Pages, Auto-Responders and email nurturing sequences</a:t>
            </a:r>
            <a:endParaRPr sz="1850"/>
          </a:p>
          <a:p>
            <a:pPr indent="-231775" lvl="2" marL="1143000" marR="0" rtl="0" algn="l">
              <a:lnSpc>
                <a:spcPct val="100000"/>
              </a:lnSpc>
              <a:spcBef>
                <a:spcPts val="1000"/>
              </a:spcBef>
              <a:spcAft>
                <a:spcPts val="0"/>
              </a:spcAft>
              <a:buSzPts val="1850"/>
              <a:buChar char="•"/>
            </a:pPr>
            <a:r>
              <a:rPr lang="en-US" sz="1850"/>
              <a:t>Begin with the WBE Certification Persona</a:t>
            </a:r>
            <a:endParaRPr sz="1750"/>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123"/>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Action Plan</a:t>
            </a:r>
            <a:endParaRPr/>
          </a:p>
        </p:txBody>
      </p:sp>
      <p:sp>
        <p:nvSpPr>
          <p:cNvPr id="914" name="Google Shape;914;p123"/>
          <p:cNvSpPr txBox="1"/>
          <p:nvPr>
            <p:ph idx="1" type="body"/>
          </p:nvPr>
        </p:nvSpPr>
        <p:spPr>
          <a:xfrm>
            <a:off x="497275" y="1604925"/>
            <a:ext cx="8663400" cy="4631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b="1" lang="en-US" sz="2050">
                <a:solidFill>
                  <a:schemeClr val="accent2"/>
                </a:solidFill>
              </a:rPr>
              <a:t>Awareness Campaigns:</a:t>
            </a:r>
            <a:endParaRPr sz="2050">
              <a:solidFill>
                <a:schemeClr val="accent2"/>
              </a:solidFill>
            </a:endParaRPr>
          </a:p>
          <a:p>
            <a:pPr indent="-225425" lvl="1" marL="685800" marR="0" rtl="0" algn="l">
              <a:lnSpc>
                <a:spcPct val="100000"/>
              </a:lnSpc>
              <a:spcBef>
                <a:spcPts val="1000"/>
              </a:spcBef>
              <a:spcAft>
                <a:spcPts val="0"/>
              </a:spcAft>
              <a:buClr>
                <a:schemeClr val="accent2"/>
              </a:buClr>
              <a:buSzPts val="1750"/>
              <a:buChar char="✔"/>
            </a:pPr>
            <a:r>
              <a:rPr b="1" lang="en-US" sz="1750"/>
              <a:t>Keyword Research and On Page SEO:</a:t>
            </a:r>
            <a:endParaRPr b="1" sz="1750"/>
          </a:p>
          <a:p>
            <a:pPr indent="-225425" lvl="2" marL="1143000" marR="0" rtl="0" algn="l">
              <a:lnSpc>
                <a:spcPct val="100000"/>
              </a:lnSpc>
              <a:spcBef>
                <a:spcPts val="1000"/>
              </a:spcBef>
              <a:spcAft>
                <a:spcPts val="0"/>
              </a:spcAft>
              <a:buSzPts val="1750"/>
              <a:buChar char="•"/>
            </a:pPr>
            <a:r>
              <a:rPr lang="en-US" sz="1750"/>
              <a:t>Conduct keyword research and update the on-page SEO for all website pages</a:t>
            </a:r>
            <a:endParaRPr sz="1750"/>
          </a:p>
          <a:p>
            <a:pPr indent="-225425" lvl="1" marL="685800" marR="0" rtl="0" algn="l">
              <a:lnSpc>
                <a:spcPct val="100000"/>
              </a:lnSpc>
              <a:spcBef>
                <a:spcPts val="1000"/>
              </a:spcBef>
              <a:spcAft>
                <a:spcPts val="0"/>
              </a:spcAft>
              <a:buClr>
                <a:schemeClr val="accent2"/>
              </a:buClr>
              <a:buSzPts val="1750"/>
              <a:buChar char="✔"/>
            </a:pPr>
            <a:r>
              <a:rPr b="1" lang="en-US" sz="1750"/>
              <a:t>New Persona SEO Hub Pages</a:t>
            </a:r>
            <a:endParaRPr b="1" sz="1750"/>
          </a:p>
          <a:p>
            <a:pPr indent="-225425" lvl="2" marL="1143000" marR="0" rtl="0" algn="l">
              <a:lnSpc>
                <a:spcPct val="100000"/>
              </a:lnSpc>
              <a:spcBef>
                <a:spcPts val="1000"/>
              </a:spcBef>
              <a:spcAft>
                <a:spcPts val="0"/>
              </a:spcAft>
              <a:buSzPts val="1750"/>
              <a:buChar char="•"/>
            </a:pPr>
            <a:r>
              <a:rPr lang="en-US" sz="1750"/>
              <a:t>Begin with the WBE Certification Persona - ongoing project</a:t>
            </a:r>
            <a:endParaRPr sz="1750"/>
          </a:p>
          <a:p>
            <a:pPr indent="0" lvl="0" marL="0" rtl="0" algn="l">
              <a:lnSpc>
                <a:spcPct val="100000"/>
              </a:lnSpc>
              <a:spcBef>
                <a:spcPts val="1000"/>
              </a:spcBef>
              <a:spcAft>
                <a:spcPts val="0"/>
              </a:spcAft>
              <a:buNone/>
            </a:pPr>
            <a:r>
              <a:rPr b="1" lang="en-US" sz="2050">
                <a:solidFill>
                  <a:schemeClr val="accent2"/>
                </a:solidFill>
              </a:rPr>
              <a:t>Content Marketing:</a:t>
            </a:r>
            <a:endParaRPr sz="2050">
              <a:solidFill>
                <a:schemeClr val="accent2"/>
              </a:solidFill>
            </a:endParaRPr>
          </a:p>
          <a:p>
            <a:pPr indent="-225425" lvl="1" marL="685800" rtl="0" algn="l">
              <a:lnSpc>
                <a:spcPct val="100000"/>
              </a:lnSpc>
              <a:spcBef>
                <a:spcPts val="1000"/>
              </a:spcBef>
              <a:spcAft>
                <a:spcPts val="0"/>
              </a:spcAft>
              <a:buClr>
                <a:schemeClr val="accent2"/>
              </a:buClr>
              <a:buSzPts val="1750"/>
              <a:buChar char="✔"/>
            </a:pPr>
            <a:r>
              <a:rPr lang="en-US" sz="1750"/>
              <a:t>Updated/New Core Content Piece Monthly</a:t>
            </a:r>
            <a:endParaRPr sz="1750"/>
          </a:p>
          <a:p>
            <a:pPr indent="-225425" lvl="1" marL="685800" rtl="0" algn="l">
              <a:lnSpc>
                <a:spcPct val="100000"/>
              </a:lnSpc>
              <a:spcBef>
                <a:spcPts val="1000"/>
              </a:spcBef>
              <a:spcAft>
                <a:spcPts val="0"/>
              </a:spcAft>
              <a:buClr>
                <a:schemeClr val="accent2"/>
              </a:buClr>
              <a:buSzPts val="1750"/>
              <a:buChar char="✔"/>
            </a:pPr>
            <a:r>
              <a:rPr lang="en-US" sz="1750"/>
              <a:t>Four weekly blog posts (one SME interview, 3 from content piece)</a:t>
            </a:r>
            <a:endParaRPr sz="1750"/>
          </a:p>
          <a:p>
            <a:pPr indent="-225425" lvl="1" marL="685800" rtl="0" algn="l">
              <a:lnSpc>
                <a:spcPct val="100000"/>
              </a:lnSpc>
              <a:spcBef>
                <a:spcPts val="1000"/>
              </a:spcBef>
              <a:spcAft>
                <a:spcPts val="0"/>
              </a:spcAft>
              <a:buClr>
                <a:schemeClr val="accent2"/>
              </a:buClr>
              <a:buSzPts val="1750"/>
              <a:buChar char="✔"/>
            </a:pPr>
            <a:r>
              <a:rPr lang="en-US" sz="1750"/>
              <a:t>Social sharing</a:t>
            </a:r>
            <a:endParaRPr sz="1750"/>
          </a:p>
          <a:p>
            <a:pPr indent="-225425" lvl="1" marL="685800" rtl="0" algn="l">
              <a:lnSpc>
                <a:spcPct val="100000"/>
              </a:lnSpc>
              <a:spcBef>
                <a:spcPts val="1000"/>
              </a:spcBef>
              <a:spcAft>
                <a:spcPts val="0"/>
              </a:spcAft>
              <a:buClr>
                <a:schemeClr val="accent2"/>
              </a:buClr>
              <a:buSzPts val="1750"/>
              <a:buChar char="✔"/>
            </a:pPr>
            <a:r>
              <a:rPr lang="en-US" sz="1750"/>
              <a:t>Monthly LinkedIn article</a:t>
            </a:r>
            <a:endParaRPr sz="1750"/>
          </a:p>
          <a:p>
            <a:pPr indent="-225425" lvl="1" marL="685800" rtl="0" algn="l">
              <a:lnSpc>
                <a:spcPct val="100000"/>
              </a:lnSpc>
              <a:spcBef>
                <a:spcPts val="1000"/>
              </a:spcBef>
              <a:spcAft>
                <a:spcPts val="0"/>
              </a:spcAft>
              <a:buClr>
                <a:schemeClr val="accent2"/>
              </a:buClr>
              <a:buSzPts val="1750"/>
              <a:buChar char="✔"/>
            </a:pPr>
            <a:r>
              <a:rPr lang="en-US" sz="1750"/>
              <a:t>Weekly newsletter</a:t>
            </a:r>
            <a:endParaRPr sz="1750"/>
          </a:p>
          <a:p>
            <a:pPr indent="0" lvl="0" marL="685800" marR="0" rtl="0" algn="l">
              <a:lnSpc>
                <a:spcPct val="100000"/>
              </a:lnSpc>
              <a:spcBef>
                <a:spcPts val="1000"/>
              </a:spcBef>
              <a:spcAft>
                <a:spcPts val="0"/>
              </a:spcAft>
              <a:buNone/>
            </a:pPr>
            <a:r>
              <a:t/>
            </a:r>
            <a:endParaRPr sz="1750"/>
          </a:p>
          <a:p>
            <a:pPr indent="0" lvl="0" marL="685800" marR="0" rtl="0" algn="l">
              <a:lnSpc>
                <a:spcPct val="100000"/>
              </a:lnSpc>
              <a:spcBef>
                <a:spcPts val="1000"/>
              </a:spcBef>
              <a:spcAft>
                <a:spcPts val="0"/>
              </a:spcAft>
              <a:buNone/>
            </a:pPr>
            <a:r>
              <a:t/>
            </a:r>
            <a:endParaRPr sz="1550"/>
          </a:p>
        </p:txBody>
      </p:sp>
      <p:sp>
        <p:nvSpPr>
          <p:cNvPr id="915" name="Google Shape;915;p123"/>
          <p:cNvSpPr txBox="1"/>
          <p:nvPr>
            <p:ph idx="1" type="body"/>
          </p:nvPr>
        </p:nvSpPr>
        <p:spPr>
          <a:xfrm>
            <a:off x="7768650" y="1681125"/>
            <a:ext cx="4859400" cy="4631400"/>
          </a:xfrm>
          <a:prstGeom prst="rect">
            <a:avLst/>
          </a:prstGeom>
          <a:noFill/>
          <a:ln>
            <a:noFill/>
          </a:ln>
        </p:spPr>
        <p:txBody>
          <a:bodyPr anchorCtr="0" anchor="t" bIns="45700" lIns="91425" spcFirstLastPara="1" rIns="91425" wrap="square" tIns="45700">
            <a:noAutofit/>
          </a:bodyPr>
          <a:lstStyle/>
          <a:p>
            <a:pPr indent="0" lvl="0" marL="685800" marR="0" rtl="0" algn="l">
              <a:lnSpc>
                <a:spcPct val="100000"/>
              </a:lnSpc>
              <a:spcBef>
                <a:spcPts val="1000"/>
              </a:spcBef>
              <a:spcAft>
                <a:spcPts val="0"/>
              </a:spcAft>
              <a:buNone/>
            </a:pPr>
            <a:r>
              <a:t/>
            </a:r>
            <a:endParaRPr sz="1750"/>
          </a:p>
          <a:p>
            <a:pPr indent="0" lvl="0" marL="685800" marR="0" rtl="0" algn="l">
              <a:lnSpc>
                <a:spcPct val="100000"/>
              </a:lnSpc>
              <a:spcBef>
                <a:spcPts val="1000"/>
              </a:spcBef>
              <a:spcAft>
                <a:spcPts val="0"/>
              </a:spcAft>
              <a:buNone/>
            </a:pPr>
            <a:r>
              <a:t/>
            </a:r>
            <a:endParaRPr sz="1550"/>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9" name="Shape 919"/>
        <p:cNvGrpSpPr/>
        <p:nvPr/>
      </p:nvGrpSpPr>
      <p:grpSpPr>
        <a:xfrm>
          <a:off x="0" y="0"/>
          <a:ext cx="0" cy="0"/>
          <a:chOff x="0" y="0"/>
          <a:chExt cx="0" cy="0"/>
        </a:xfrm>
      </p:grpSpPr>
      <p:sp>
        <p:nvSpPr>
          <p:cNvPr id="920" name="Google Shape;920;p124"/>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Action Plan</a:t>
            </a:r>
            <a:endParaRPr/>
          </a:p>
        </p:txBody>
      </p:sp>
      <p:sp>
        <p:nvSpPr>
          <p:cNvPr id="921" name="Google Shape;921;p124"/>
          <p:cNvSpPr txBox="1"/>
          <p:nvPr>
            <p:ph idx="1" type="body"/>
          </p:nvPr>
        </p:nvSpPr>
        <p:spPr>
          <a:xfrm>
            <a:off x="700850" y="1847675"/>
            <a:ext cx="10277400" cy="4509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b="1" lang="en-US" sz="2050">
                <a:solidFill>
                  <a:schemeClr val="accent2"/>
                </a:solidFill>
              </a:rPr>
              <a:t>Lead Generation Campaigns:</a:t>
            </a:r>
            <a:endParaRPr sz="2050">
              <a:solidFill>
                <a:schemeClr val="accent2"/>
              </a:solidFill>
            </a:endParaRPr>
          </a:p>
          <a:p>
            <a:pPr indent="-231775" lvl="1" marL="685800" marR="0" rtl="0" algn="l">
              <a:lnSpc>
                <a:spcPct val="100000"/>
              </a:lnSpc>
              <a:spcBef>
                <a:spcPts val="1000"/>
              </a:spcBef>
              <a:spcAft>
                <a:spcPts val="0"/>
              </a:spcAft>
              <a:buClr>
                <a:schemeClr val="accent2"/>
              </a:buClr>
              <a:buSzPts val="1850"/>
              <a:buChar char="✔"/>
            </a:pPr>
            <a:r>
              <a:rPr b="1" lang="en-US" sz="1850"/>
              <a:t>Facebook and LinkedIn Advertising</a:t>
            </a:r>
            <a:endParaRPr b="1" sz="1850"/>
          </a:p>
          <a:p>
            <a:pPr indent="-231775" lvl="2" marL="1143000" marR="0" rtl="0" algn="l">
              <a:lnSpc>
                <a:spcPct val="100000"/>
              </a:lnSpc>
              <a:spcBef>
                <a:spcPts val="1000"/>
              </a:spcBef>
              <a:spcAft>
                <a:spcPts val="0"/>
              </a:spcAft>
              <a:buSzPts val="1850"/>
              <a:buChar char="•"/>
            </a:pPr>
            <a:r>
              <a:rPr lang="en-US" sz="1850"/>
              <a:t>Targeting WBEs to both create awareness and leads - leading to the WBE Certification Funnel</a:t>
            </a:r>
            <a:endParaRPr sz="1850"/>
          </a:p>
          <a:p>
            <a:pPr indent="-231775" lvl="2" marL="1143000" marR="0" rtl="0" algn="l">
              <a:lnSpc>
                <a:spcPct val="100000"/>
              </a:lnSpc>
              <a:spcBef>
                <a:spcPts val="1000"/>
              </a:spcBef>
              <a:spcAft>
                <a:spcPts val="0"/>
              </a:spcAft>
              <a:buSzPts val="1850"/>
              <a:buChar char="•"/>
            </a:pPr>
            <a:r>
              <a:rPr lang="en-US" sz="1850"/>
              <a:t>Targeting key WBE niche industries to bring in more WBEs - leading to the WBE Niche Funnel</a:t>
            </a:r>
            <a:endParaRPr sz="1850"/>
          </a:p>
          <a:p>
            <a:pPr indent="-231775" lvl="1" marL="685800" marR="0" rtl="0" algn="l">
              <a:lnSpc>
                <a:spcPct val="100000"/>
              </a:lnSpc>
              <a:spcBef>
                <a:spcPts val="1000"/>
              </a:spcBef>
              <a:spcAft>
                <a:spcPts val="0"/>
              </a:spcAft>
              <a:buClr>
                <a:schemeClr val="accent2"/>
              </a:buClr>
              <a:buSzPts val="1850"/>
              <a:buChar char="✔"/>
            </a:pPr>
            <a:r>
              <a:rPr b="1" lang="en-US" sz="1850"/>
              <a:t>Association Marketing</a:t>
            </a:r>
            <a:endParaRPr b="1" sz="1850"/>
          </a:p>
          <a:p>
            <a:pPr indent="-231775" lvl="2" marL="1143000" marR="0" rtl="0" algn="l">
              <a:lnSpc>
                <a:spcPct val="100000"/>
              </a:lnSpc>
              <a:spcBef>
                <a:spcPts val="1000"/>
              </a:spcBef>
              <a:spcAft>
                <a:spcPts val="0"/>
              </a:spcAft>
              <a:buSzPts val="1850"/>
              <a:buChar char="•"/>
            </a:pPr>
            <a:r>
              <a:rPr lang="en-US" sz="1850"/>
              <a:t>For all personas, create association marketing campaigns leading back to the appropriate funnels</a:t>
            </a:r>
            <a:endParaRPr sz="1850"/>
          </a:p>
          <a:p>
            <a:pPr indent="-231775" lvl="2" marL="1143000" marR="0" rtl="0" algn="l">
              <a:lnSpc>
                <a:spcPct val="100000"/>
              </a:lnSpc>
              <a:spcBef>
                <a:spcPts val="1000"/>
              </a:spcBef>
              <a:spcAft>
                <a:spcPts val="0"/>
              </a:spcAft>
              <a:buSzPts val="1850"/>
              <a:buChar char="•"/>
            </a:pPr>
            <a:r>
              <a:rPr lang="en-US" sz="1850"/>
              <a:t>Create an association marketing template kit</a:t>
            </a:r>
            <a:endParaRPr sz="1850"/>
          </a:p>
          <a:p>
            <a:pPr indent="-231775" lvl="2" marL="1143000" marR="0" rtl="0" algn="l">
              <a:lnSpc>
                <a:spcPct val="100000"/>
              </a:lnSpc>
              <a:spcBef>
                <a:spcPts val="1000"/>
              </a:spcBef>
              <a:spcAft>
                <a:spcPts val="0"/>
              </a:spcAft>
              <a:buSzPts val="1850"/>
              <a:buChar char="•"/>
            </a:pPr>
            <a:r>
              <a:rPr lang="en-US" sz="1850"/>
              <a:t>Identify and select one association per persona to target monthly</a:t>
            </a:r>
            <a:endParaRPr sz="1850"/>
          </a:p>
          <a:p>
            <a:pPr indent="-231775" lvl="2" marL="1143000" marR="0" rtl="0" algn="l">
              <a:lnSpc>
                <a:spcPct val="100000"/>
              </a:lnSpc>
              <a:spcBef>
                <a:spcPts val="1000"/>
              </a:spcBef>
              <a:spcAft>
                <a:spcPts val="0"/>
              </a:spcAft>
              <a:buSzPts val="1850"/>
              <a:buChar char="•"/>
            </a:pPr>
            <a:r>
              <a:rPr lang="en-US" sz="1850"/>
              <a:t>Select and execute lead generation marketing activities</a:t>
            </a:r>
            <a:endParaRPr sz="1850"/>
          </a:p>
          <a:p>
            <a:pPr indent="0" lvl="0" marL="0" marR="0" rtl="0" algn="l">
              <a:lnSpc>
                <a:spcPct val="100000"/>
              </a:lnSpc>
              <a:spcBef>
                <a:spcPts val="1000"/>
              </a:spcBef>
              <a:spcAft>
                <a:spcPts val="0"/>
              </a:spcAft>
              <a:buNone/>
            </a:pPr>
            <a:r>
              <a:t/>
            </a:r>
            <a:endParaRPr sz="1850"/>
          </a:p>
          <a:p>
            <a:pPr indent="0" lvl="0" marL="685800" marR="0" rtl="0" algn="l">
              <a:lnSpc>
                <a:spcPct val="100000"/>
              </a:lnSpc>
              <a:spcBef>
                <a:spcPts val="1000"/>
              </a:spcBef>
              <a:spcAft>
                <a:spcPts val="0"/>
              </a:spcAft>
              <a:buNone/>
            </a:pPr>
            <a:r>
              <a:t/>
            </a:r>
            <a:endParaRPr sz="1550"/>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5" name="Shape 925"/>
        <p:cNvGrpSpPr/>
        <p:nvPr/>
      </p:nvGrpSpPr>
      <p:grpSpPr>
        <a:xfrm>
          <a:off x="0" y="0"/>
          <a:ext cx="0" cy="0"/>
          <a:chOff x="0" y="0"/>
          <a:chExt cx="0" cy="0"/>
        </a:xfrm>
      </p:grpSpPr>
      <p:sp>
        <p:nvSpPr>
          <p:cNvPr id="926" name="Google Shape;926;p125"/>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Action Plan</a:t>
            </a:r>
            <a:endParaRPr/>
          </a:p>
        </p:txBody>
      </p:sp>
      <p:sp>
        <p:nvSpPr>
          <p:cNvPr id="927" name="Google Shape;927;p125"/>
          <p:cNvSpPr txBox="1"/>
          <p:nvPr>
            <p:ph idx="1" type="body"/>
          </p:nvPr>
        </p:nvSpPr>
        <p:spPr>
          <a:xfrm>
            <a:off x="700850" y="1847675"/>
            <a:ext cx="10277400" cy="4509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rPr b="1" lang="en-US" sz="2050">
                <a:solidFill>
                  <a:schemeClr val="accent2"/>
                </a:solidFill>
              </a:rPr>
              <a:t>Referrals &amp; Retention:</a:t>
            </a:r>
            <a:endParaRPr sz="2050">
              <a:solidFill>
                <a:schemeClr val="accent2"/>
              </a:solidFill>
            </a:endParaRPr>
          </a:p>
          <a:p>
            <a:pPr indent="-231775" lvl="1" marL="685800" marR="0" rtl="0" algn="l">
              <a:lnSpc>
                <a:spcPct val="100000"/>
              </a:lnSpc>
              <a:spcBef>
                <a:spcPts val="1000"/>
              </a:spcBef>
              <a:spcAft>
                <a:spcPts val="0"/>
              </a:spcAft>
              <a:buClr>
                <a:schemeClr val="accent2"/>
              </a:buClr>
              <a:buSzPts val="1850"/>
              <a:buChar char="✔"/>
            </a:pPr>
            <a:r>
              <a:rPr b="1" lang="en-US" sz="1850"/>
              <a:t>Engagement &amp; Communication:</a:t>
            </a:r>
            <a:endParaRPr b="1" sz="1850"/>
          </a:p>
          <a:p>
            <a:pPr indent="-231775" lvl="2" marL="1143000" marR="0" rtl="0" algn="l">
              <a:lnSpc>
                <a:spcPct val="100000"/>
              </a:lnSpc>
              <a:spcBef>
                <a:spcPts val="1000"/>
              </a:spcBef>
              <a:spcAft>
                <a:spcPts val="0"/>
              </a:spcAft>
              <a:buSzPts val="1850"/>
              <a:buChar char="•"/>
            </a:pPr>
            <a:r>
              <a:rPr lang="en-US" sz="1850"/>
              <a:t>Create a communication guide &amp; recommended process to improve engagement (to be implemented by staff)</a:t>
            </a:r>
            <a:endParaRPr sz="1850"/>
          </a:p>
          <a:p>
            <a:pPr indent="-231775" lvl="1" marL="685800" marR="0" rtl="0" algn="l">
              <a:lnSpc>
                <a:spcPct val="100000"/>
              </a:lnSpc>
              <a:spcBef>
                <a:spcPts val="1000"/>
              </a:spcBef>
              <a:spcAft>
                <a:spcPts val="0"/>
              </a:spcAft>
              <a:buClr>
                <a:schemeClr val="accent2"/>
              </a:buClr>
              <a:buSzPts val="1850"/>
              <a:buChar char="✔"/>
            </a:pPr>
            <a:r>
              <a:rPr b="1" lang="en-US" sz="1850"/>
              <a:t>Onboarding &amp; Expectations:</a:t>
            </a:r>
            <a:endParaRPr b="1" sz="1850"/>
          </a:p>
          <a:p>
            <a:pPr indent="-231775" lvl="2" marL="1143000" marR="0" rtl="0" algn="l">
              <a:lnSpc>
                <a:spcPct val="100000"/>
              </a:lnSpc>
              <a:spcBef>
                <a:spcPts val="1000"/>
              </a:spcBef>
              <a:spcAft>
                <a:spcPts val="0"/>
              </a:spcAft>
              <a:buSzPts val="1850"/>
              <a:buChar char="•"/>
            </a:pPr>
            <a:r>
              <a:rPr lang="en-US" sz="1850"/>
              <a:t>Create a welcome kit and onboarding process (to be implemented by staff)</a:t>
            </a:r>
            <a:endParaRPr sz="1850"/>
          </a:p>
          <a:p>
            <a:pPr indent="0" lvl="0" marL="0" marR="0" rtl="0" algn="l">
              <a:lnSpc>
                <a:spcPct val="100000"/>
              </a:lnSpc>
              <a:spcBef>
                <a:spcPts val="1000"/>
              </a:spcBef>
              <a:spcAft>
                <a:spcPts val="0"/>
              </a:spcAft>
              <a:buNone/>
            </a:pPr>
            <a:r>
              <a:t/>
            </a:r>
            <a:endParaRPr sz="1850"/>
          </a:p>
          <a:p>
            <a:pPr indent="0" lvl="0" marL="0" marR="0" rtl="0" algn="l">
              <a:lnSpc>
                <a:spcPct val="100000"/>
              </a:lnSpc>
              <a:spcBef>
                <a:spcPts val="1000"/>
              </a:spcBef>
              <a:spcAft>
                <a:spcPts val="0"/>
              </a:spcAft>
              <a:buNone/>
            </a:pPr>
            <a:r>
              <a:t/>
            </a:r>
            <a:endParaRPr sz="1850"/>
          </a:p>
          <a:p>
            <a:pPr indent="0" lvl="0" marL="685800" marR="0" rtl="0" algn="l">
              <a:lnSpc>
                <a:spcPct val="100000"/>
              </a:lnSpc>
              <a:spcBef>
                <a:spcPts val="1000"/>
              </a:spcBef>
              <a:spcAft>
                <a:spcPts val="0"/>
              </a:spcAft>
              <a:buNone/>
            </a:pPr>
            <a:r>
              <a:t/>
            </a:r>
            <a:endParaRPr sz="1550"/>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26"/>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By the end of the year… you’ll have:</a:t>
            </a:r>
            <a:endParaRPr/>
          </a:p>
        </p:txBody>
      </p:sp>
      <p:sp>
        <p:nvSpPr>
          <p:cNvPr id="933" name="Google Shape;933;p126"/>
          <p:cNvSpPr txBox="1"/>
          <p:nvPr>
            <p:ph idx="1" type="body"/>
          </p:nvPr>
        </p:nvSpPr>
        <p:spPr>
          <a:xfrm>
            <a:off x="802075" y="1676100"/>
            <a:ext cx="9234000" cy="4630200"/>
          </a:xfrm>
          <a:prstGeom prst="rect">
            <a:avLst/>
          </a:prstGeom>
          <a:noFill/>
          <a:ln>
            <a:noFill/>
          </a:ln>
        </p:spPr>
        <p:txBody>
          <a:bodyPr anchorCtr="0" anchor="t" bIns="45700" lIns="91425" spcFirstLastPara="1" rIns="91425" wrap="square" tIns="45700">
            <a:noAutofit/>
          </a:bodyPr>
          <a:lstStyle/>
          <a:p>
            <a:pPr indent="-333375" lvl="1" marL="800100" marR="0" rtl="0" algn="l">
              <a:lnSpc>
                <a:spcPct val="100000"/>
              </a:lnSpc>
              <a:spcBef>
                <a:spcPts val="1000"/>
              </a:spcBef>
              <a:spcAft>
                <a:spcPts val="0"/>
              </a:spcAft>
              <a:buClr>
                <a:schemeClr val="accent2"/>
              </a:buClr>
              <a:buSzPts val="1450"/>
              <a:buChar char="✔"/>
            </a:pPr>
            <a:r>
              <a:rPr b="1" lang="en-US" sz="1450"/>
              <a:t>Marketing Foundation:</a:t>
            </a:r>
            <a:endParaRPr b="1" sz="1450"/>
          </a:p>
          <a:p>
            <a:pPr indent="-206375" lvl="2" marL="1143000" marR="0" rtl="0" algn="l">
              <a:lnSpc>
                <a:spcPct val="100000"/>
              </a:lnSpc>
              <a:spcBef>
                <a:spcPts val="0"/>
              </a:spcBef>
              <a:spcAft>
                <a:spcPts val="0"/>
              </a:spcAft>
              <a:buSzPts val="1450"/>
              <a:buChar char="•"/>
            </a:pPr>
            <a:r>
              <a:rPr lang="en-US" sz="1450"/>
              <a:t>Updated website &amp; online content reflecting high level messaging that all WBEs can relate to</a:t>
            </a:r>
            <a:endParaRPr sz="1450"/>
          </a:p>
          <a:p>
            <a:pPr indent="-206375" lvl="2" marL="1143000" marR="0" rtl="0" algn="l">
              <a:lnSpc>
                <a:spcPct val="100000"/>
              </a:lnSpc>
              <a:spcBef>
                <a:spcPts val="0"/>
              </a:spcBef>
              <a:spcAft>
                <a:spcPts val="0"/>
              </a:spcAft>
              <a:buSzPts val="1450"/>
              <a:buChar char="•"/>
            </a:pPr>
            <a:r>
              <a:rPr lang="en-US" sz="1450"/>
              <a:t>More clear process on the website so more WBEs will convert to Certification or Tools for Growth</a:t>
            </a:r>
            <a:endParaRPr sz="1450"/>
          </a:p>
          <a:p>
            <a:pPr indent="-206375" lvl="2" marL="1143000" marR="0" rtl="0" algn="l">
              <a:lnSpc>
                <a:spcPct val="100000"/>
              </a:lnSpc>
              <a:spcBef>
                <a:spcPts val="0"/>
              </a:spcBef>
              <a:spcAft>
                <a:spcPts val="0"/>
              </a:spcAft>
              <a:buSzPts val="1450"/>
              <a:buChar char="•"/>
            </a:pPr>
            <a:r>
              <a:rPr lang="en-US" sz="1450"/>
              <a:t>Four new persona marketing funnels, including landing pages, thank you pages, updated content and lead nurturing sequences</a:t>
            </a:r>
            <a:endParaRPr sz="1450"/>
          </a:p>
          <a:p>
            <a:pPr indent="-333375" lvl="1" marL="800100" marR="0" rtl="0" algn="l">
              <a:lnSpc>
                <a:spcPct val="100000"/>
              </a:lnSpc>
              <a:spcBef>
                <a:spcPts val="1000"/>
              </a:spcBef>
              <a:spcAft>
                <a:spcPts val="0"/>
              </a:spcAft>
              <a:buClr>
                <a:schemeClr val="accent2"/>
              </a:buClr>
              <a:buSzPts val="1450"/>
              <a:buChar char="✔"/>
            </a:pPr>
            <a:r>
              <a:rPr b="1" lang="en-US" sz="1450"/>
              <a:t>Content Marketing:</a:t>
            </a:r>
            <a:endParaRPr b="1" sz="1450"/>
          </a:p>
          <a:p>
            <a:pPr indent="-206375" lvl="2" marL="1143000" marR="0" rtl="0" algn="l">
              <a:lnSpc>
                <a:spcPct val="100000"/>
              </a:lnSpc>
              <a:spcBef>
                <a:spcPts val="0"/>
              </a:spcBef>
              <a:spcAft>
                <a:spcPts val="0"/>
              </a:spcAft>
              <a:buSzPts val="1450"/>
              <a:buChar char="•"/>
            </a:pPr>
            <a:r>
              <a:rPr lang="en-US" sz="1450"/>
              <a:t>48 new blog posts</a:t>
            </a:r>
            <a:endParaRPr sz="1450"/>
          </a:p>
          <a:p>
            <a:pPr indent="-206375" lvl="2" marL="1143000" marR="0" rtl="0" algn="l">
              <a:lnSpc>
                <a:spcPct val="100000"/>
              </a:lnSpc>
              <a:spcBef>
                <a:spcPts val="0"/>
              </a:spcBef>
              <a:spcAft>
                <a:spcPts val="0"/>
              </a:spcAft>
              <a:buSzPts val="1450"/>
              <a:buChar char="•"/>
            </a:pPr>
            <a:r>
              <a:rPr lang="en-US" sz="1450"/>
              <a:t>1152 new social posts (and LinkedIn articles), many driving back to the website and lead nurturing sequences</a:t>
            </a:r>
            <a:endParaRPr sz="1450"/>
          </a:p>
          <a:p>
            <a:pPr indent="-206375" lvl="1" marL="685800" marR="0" rtl="0" algn="l">
              <a:lnSpc>
                <a:spcPct val="100000"/>
              </a:lnSpc>
              <a:spcBef>
                <a:spcPts val="0"/>
              </a:spcBef>
              <a:spcAft>
                <a:spcPts val="0"/>
              </a:spcAft>
              <a:buClr>
                <a:schemeClr val="accent2"/>
              </a:buClr>
              <a:buSzPts val="1450"/>
              <a:buChar char="✔"/>
            </a:pPr>
            <a:r>
              <a:rPr b="1" lang="en-US" sz="1450"/>
              <a:t>Awareness:</a:t>
            </a:r>
            <a:endParaRPr b="1" sz="1450"/>
          </a:p>
          <a:p>
            <a:pPr indent="-206375" lvl="2" marL="1143000" marR="0" rtl="0" algn="l">
              <a:lnSpc>
                <a:spcPct val="100000"/>
              </a:lnSpc>
              <a:spcBef>
                <a:spcPts val="0"/>
              </a:spcBef>
              <a:spcAft>
                <a:spcPts val="0"/>
              </a:spcAft>
              <a:buSzPts val="1450"/>
              <a:buChar char="•"/>
            </a:pPr>
            <a:r>
              <a:rPr lang="en-US" sz="1450"/>
              <a:t>Three new persona Hub Pages increasing SEO and conversions</a:t>
            </a:r>
            <a:endParaRPr sz="1450"/>
          </a:p>
          <a:p>
            <a:pPr indent="-206375" lvl="2" marL="1143000" marR="0" rtl="0" algn="l">
              <a:lnSpc>
                <a:spcPct val="100000"/>
              </a:lnSpc>
              <a:spcBef>
                <a:spcPts val="0"/>
              </a:spcBef>
              <a:spcAft>
                <a:spcPts val="0"/>
              </a:spcAft>
              <a:buSzPts val="1450"/>
              <a:buChar char="•"/>
            </a:pPr>
            <a:r>
              <a:rPr lang="en-US" sz="1450"/>
              <a:t>Dedicated outreach to construction &amp; catering associations</a:t>
            </a:r>
            <a:endParaRPr sz="1450"/>
          </a:p>
          <a:p>
            <a:pPr indent="-206375" lvl="1" marL="685800" marR="0" rtl="0" algn="l">
              <a:lnSpc>
                <a:spcPct val="100000"/>
              </a:lnSpc>
              <a:spcBef>
                <a:spcPts val="0"/>
              </a:spcBef>
              <a:spcAft>
                <a:spcPts val="0"/>
              </a:spcAft>
              <a:buClr>
                <a:schemeClr val="accent2"/>
              </a:buClr>
              <a:buSzPts val="1450"/>
              <a:buChar char="✔"/>
            </a:pPr>
            <a:r>
              <a:rPr b="1" lang="en-US" sz="1450"/>
              <a:t>Lead Generation:</a:t>
            </a:r>
            <a:endParaRPr b="1" sz="1450"/>
          </a:p>
          <a:p>
            <a:pPr indent="-206375" lvl="2" marL="1143000" marR="0" rtl="0" algn="l">
              <a:lnSpc>
                <a:spcPct val="100000"/>
              </a:lnSpc>
              <a:spcBef>
                <a:spcPts val="0"/>
              </a:spcBef>
              <a:spcAft>
                <a:spcPts val="0"/>
              </a:spcAft>
              <a:buSzPts val="1450"/>
              <a:buChar char="•"/>
            </a:pPr>
            <a:r>
              <a:rPr lang="en-US" sz="1450"/>
              <a:t>Two social advertising campaigns running (each on Facebook &amp; LinkedIn) driving traffic back to the WBE Certification Funnel and the WBE Niche Funnel</a:t>
            </a:r>
            <a:endParaRPr sz="1450"/>
          </a:p>
          <a:p>
            <a:pPr indent="-206375" lvl="2" marL="1143000" marR="0" rtl="0" algn="l">
              <a:lnSpc>
                <a:spcPct val="100000"/>
              </a:lnSpc>
              <a:spcBef>
                <a:spcPts val="0"/>
              </a:spcBef>
              <a:spcAft>
                <a:spcPts val="0"/>
              </a:spcAft>
              <a:buSzPts val="1450"/>
              <a:buChar char="•"/>
            </a:pPr>
            <a:r>
              <a:rPr lang="en-US" sz="1450"/>
              <a:t>Association Marketing Kit with core messaging and templates for ads, blurbs, news releases, sheet</a:t>
            </a:r>
            <a:endParaRPr sz="1450"/>
          </a:p>
          <a:p>
            <a:pPr indent="-206375" lvl="2" marL="1143000" marR="0" rtl="0" algn="l">
              <a:lnSpc>
                <a:spcPct val="100000"/>
              </a:lnSpc>
              <a:spcBef>
                <a:spcPts val="0"/>
              </a:spcBef>
              <a:spcAft>
                <a:spcPts val="0"/>
              </a:spcAft>
              <a:buSzPts val="1450"/>
              <a:buChar char="•"/>
            </a:pPr>
            <a:r>
              <a:rPr lang="en-US" sz="1450"/>
              <a:t>Directly targeted and contacted 10+ associations</a:t>
            </a:r>
            <a:endParaRPr sz="1450"/>
          </a:p>
          <a:p>
            <a:pPr indent="-206375" lvl="2" marL="1143000" marR="0" rtl="0" algn="l">
              <a:lnSpc>
                <a:spcPct val="100000"/>
              </a:lnSpc>
              <a:spcBef>
                <a:spcPts val="0"/>
              </a:spcBef>
              <a:spcAft>
                <a:spcPts val="0"/>
              </a:spcAft>
              <a:buSzPts val="1450"/>
              <a:buChar char="•"/>
            </a:pPr>
            <a:r>
              <a:rPr lang="en-US" sz="1450"/>
              <a:t>Dedicated outreach to one key industry niche - such as construction or catering </a:t>
            </a:r>
            <a:endParaRPr sz="1450"/>
          </a:p>
          <a:p>
            <a:pPr indent="0" lvl="0" marL="0" marR="0" rtl="0" algn="l">
              <a:lnSpc>
                <a:spcPct val="100000"/>
              </a:lnSpc>
              <a:spcBef>
                <a:spcPts val="0"/>
              </a:spcBef>
              <a:spcAft>
                <a:spcPts val="0"/>
              </a:spcAft>
              <a:buNone/>
            </a:pPr>
            <a:r>
              <a:t/>
            </a:r>
            <a:endParaRPr sz="1450"/>
          </a:p>
          <a:p>
            <a:pPr indent="0" lvl="0" marL="1143000" marR="0" rtl="0" algn="l">
              <a:lnSpc>
                <a:spcPct val="100000"/>
              </a:lnSpc>
              <a:spcBef>
                <a:spcPts val="0"/>
              </a:spcBef>
              <a:spcAft>
                <a:spcPts val="0"/>
              </a:spcAft>
              <a:buNone/>
            </a:pPr>
            <a:r>
              <a:t/>
            </a:r>
            <a:endParaRPr sz="1650"/>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7" name="Shape 937"/>
        <p:cNvGrpSpPr/>
        <p:nvPr/>
      </p:nvGrpSpPr>
      <p:grpSpPr>
        <a:xfrm>
          <a:off x="0" y="0"/>
          <a:ext cx="0" cy="0"/>
          <a:chOff x="0" y="0"/>
          <a:chExt cx="0" cy="0"/>
        </a:xfrm>
      </p:grpSpPr>
      <p:sp>
        <p:nvSpPr>
          <p:cNvPr id="938" name="Google Shape;938;p127"/>
          <p:cNvSpPr txBox="1"/>
          <p:nvPr>
            <p:ph type="title"/>
          </p:nvPr>
        </p:nvSpPr>
        <p:spPr>
          <a:xfrm>
            <a:off x="3845075" y="2670500"/>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t>Next Steps</a:t>
            </a:r>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128"/>
          <p:cNvSpPr txBox="1"/>
          <p:nvPr>
            <p:ph type="title"/>
          </p:nvPr>
        </p:nvSpPr>
        <p:spPr>
          <a:xfrm>
            <a:off x="497275" y="784225"/>
            <a:ext cx="11060400" cy="13257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accent2"/>
              </a:buClr>
              <a:buSzPts val="4400"/>
              <a:buFont typeface="Calibri"/>
              <a:buNone/>
            </a:pPr>
            <a:r>
              <a:rPr lang="en-US">
                <a:solidFill>
                  <a:schemeClr val="accent5"/>
                </a:solidFill>
              </a:rPr>
              <a:t>Next Steps:</a:t>
            </a:r>
            <a:endParaRPr>
              <a:solidFill>
                <a:schemeClr val="accent5"/>
              </a:solidFill>
            </a:endParaRPr>
          </a:p>
        </p:txBody>
      </p:sp>
      <p:sp>
        <p:nvSpPr>
          <p:cNvPr id="944" name="Google Shape;944;p128"/>
          <p:cNvSpPr txBox="1"/>
          <p:nvPr>
            <p:ph idx="1" type="body"/>
          </p:nvPr>
        </p:nvSpPr>
        <p:spPr>
          <a:xfrm>
            <a:off x="700850" y="1847675"/>
            <a:ext cx="10277400" cy="45099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1000"/>
              </a:spcBef>
              <a:spcAft>
                <a:spcPts val="0"/>
              </a:spcAft>
              <a:buNone/>
            </a:pPr>
            <a:r>
              <a:t/>
            </a:r>
            <a:endParaRPr sz="2050">
              <a:solidFill>
                <a:schemeClr val="accent2"/>
              </a:solidFill>
            </a:endParaRPr>
          </a:p>
          <a:p>
            <a:pPr indent="-231775" lvl="1" marL="685800" marR="0" rtl="0" algn="l">
              <a:lnSpc>
                <a:spcPct val="100000"/>
              </a:lnSpc>
              <a:spcBef>
                <a:spcPts val="1000"/>
              </a:spcBef>
              <a:spcAft>
                <a:spcPts val="0"/>
              </a:spcAft>
              <a:buClr>
                <a:schemeClr val="accent2"/>
              </a:buClr>
              <a:buSzPts val="1850"/>
              <a:buChar char="✔"/>
            </a:pPr>
            <a:r>
              <a:rPr b="1" lang="en-US" sz="1850"/>
              <a:t>Revise strategy based on feedback today</a:t>
            </a:r>
            <a:endParaRPr b="1" sz="1850"/>
          </a:p>
          <a:p>
            <a:pPr indent="-231775" lvl="1" marL="685800" marR="0" rtl="0" algn="l">
              <a:lnSpc>
                <a:spcPct val="100000"/>
              </a:lnSpc>
              <a:spcBef>
                <a:spcPts val="1000"/>
              </a:spcBef>
              <a:spcAft>
                <a:spcPts val="0"/>
              </a:spcAft>
              <a:buClr>
                <a:schemeClr val="accent2"/>
              </a:buClr>
              <a:buSzPts val="1850"/>
              <a:buChar char="✔"/>
            </a:pPr>
            <a:r>
              <a:rPr b="1" lang="en-US" sz="1850"/>
              <a:t>Deliver strategy &amp; action plan</a:t>
            </a:r>
            <a:endParaRPr b="1" sz="1850"/>
          </a:p>
          <a:p>
            <a:pPr indent="-231775" lvl="1" marL="685800" marR="0" rtl="0" algn="l">
              <a:lnSpc>
                <a:spcPct val="100000"/>
              </a:lnSpc>
              <a:spcBef>
                <a:spcPts val="1000"/>
              </a:spcBef>
              <a:spcAft>
                <a:spcPts val="0"/>
              </a:spcAft>
              <a:buClr>
                <a:schemeClr val="accent2"/>
              </a:buClr>
              <a:buSzPts val="1850"/>
              <a:buChar char="✔"/>
            </a:pPr>
            <a:r>
              <a:rPr b="1" lang="en-US" sz="1850"/>
              <a:t>Deliver proposed budget, resourcing and timelines for approval</a:t>
            </a:r>
            <a:endParaRPr b="1" sz="1850"/>
          </a:p>
          <a:p>
            <a:pPr indent="-231775" lvl="1" marL="685800" marR="0" rtl="0" algn="l">
              <a:lnSpc>
                <a:spcPct val="100000"/>
              </a:lnSpc>
              <a:spcBef>
                <a:spcPts val="1000"/>
              </a:spcBef>
              <a:spcAft>
                <a:spcPts val="0"/>
              </a:spcAft>
              <a:buClr>
                <a:schemeClr val="accent2"/>
              </a:buClr>
              <a:buSzPts val="1850"/>
              <a:buChar char="✔"/>
            </a:pPr>
            <a:r>
              <a:rPr b="1" lang="en-US" sz="1850"/>
              <a:t>Following approval - meet with team and get started!</a:t>
            </a:r>
            <a:endParaRPr sz="1850"/>
          </a:p>
          <a:p>
            <a:pPr indent="0" lvl="0" marL="685800" marR="0" rtl="0" algn="l">
              <a:lnSpc>
                <a:spcPct val="100000"/>
              </a:lnSpc>
              <a:spcBef>
                <a:spcPts val="1000"/>
              </a:spcBef>
              <a:spcAft>
                <a:spcPts val="0"/>
              </a:spcAft>
              <a:buNone/>
            </a:pPr>
            <a:r>
              <a:t/>
            </a:r>
            <a:endParaRPr sz="155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NIM colors">
      <a:dk1>
        <a:srgbClr val="000000"/>
      </a:dk1>
      <a:lt1>
        <a:srgbClr val="FFFFFF"/>
      </a:lt1>
      <a:dk2>
        <a:srgbClr val="44546A"/>
      </a:dk2>
      <a:lt2>
        <a:srgbClr val="E7E6E6"/>
      </a:lt2>
      <a:accent1>
        <a:srgbClr val="F36E25"/>
      </a:accent1>
      <a:accent2>
        <a:srgbClr val="F7BB49"/>
      </a:accent2>
      <a:accent3>
        <a:srgbClr val="F2E390"/>
      </a:accent3>
      <a:accent4>
        <a:srgbClr val="63C9D7"/>
      </a:accent4>
      <a:accent5>
        <a:srgbClr val="413F5E"/>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