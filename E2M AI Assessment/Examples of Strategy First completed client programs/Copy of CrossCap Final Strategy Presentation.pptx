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6" r:id="rId73"/>
    <p:sldId id="327" r:id="rId74"/>
    <p:sldId id="328" r:id="rId75"/>
    <p:sldId id="325"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Lst>
  <p:sldSz cx="12192000" cy="6858000"/>
  <p:notesSz cx="6858000" cy="9144000"/>
  <p:embeddedFontLst>
    <p:embeddedFont>
      <p:font typeface="Roboto" panose="02000000000000000000"/>
      <p:regular r:id="rId1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22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414FFC-F9EC-43E0-91B3-72DFC5CB31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224"/>
        <p:guide pos="384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2" Type="http://schemas.openxmlformats.org/officeDocument/2006/relationships/font" Target="fonts/font1.fntdata"/><Relationship Id="rId151" Type="http://schemas.openxmlformats.org/officeDocument/2006/relationships/tableStyles" Target="tableStyles.xml"/><Relationship Id="rId150" Type="http://schemas.openxmlformats.org/officeDocument/2006/relationships/viewProps" Target="viewProps.xml"/><Relationship Id="rId15" Type="http://schemas.openxmlformats.org/officeDocument/2006/relationships/slide" Target="slides/slide12.xml"/><Relationship Id="rId149" Type="http://schemas.openxmlformats.org/officeDocument/2006/relationships/presProps" Target="presProps.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 name="Shape 123"/>
        <p:cNvGrpSpPr/>
        <p:nvPr/>
      </p:nvGrpSpPr>
      <p:grpSpPr>
        <a:xfrm>
          <a:off x="0" y="0"/>
          <a:ext cx="0" cy="0"/>
          <a:chOff x="0" y="0"/>
          <a:chExt cx="0" cy="0"/>
        </a:xfrm>
      </p:grpSpPr>
      <p:sp>
        <p:nvSpPr>
          <p:cNvPr id="124" name="Google Shape;124;p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 name="Google Shape;125;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2: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2" name="Google Shape;132;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fddc564d5e_0_6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9" name="Google Shape;139;gfddc564d5e_0_6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g1405d41e7ed_1_16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0" name="Google Shape;150;g1405d41e7ed_1_16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g147d0867b72_0_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g147d0867b72_0_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g153efc85b47_0_4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2" name="Google Shape;162;g153efc85b47_0_4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g153efc85b47_0_4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9" name="Google Shape;169;g153efc85b47_0_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g153efc85b47_0_21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6" name="Google Shape;176;g153efc85b47_0_2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g1c29ea25a34_0_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3" name="Google Shape;183;g1c29ea25a34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g147d0867b72_0_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0" name="Google Shape;190;g147d0867b72_0_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g147d0867b72_0_2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7" name="Google Shape;197;g147d0867b72_0_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g1c29ea25a34_0_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4" name="Google Shape;204;g1c29ea25a34_0_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g147d0867b72_0_65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1" name="Google Shape;211;g147d0867b72_0_65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g1405d41e7ed_1_15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6" name="Google Shape;216;g1405d41e7ed_1_15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g153ab46a580_0_1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2" name="Google Shape;222;g153ab46a580_0_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g1ce41771991_1_4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9" name="Google Shape;229;g1ce41771991_1_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g147d0867b72_0_16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9" name="Google Shape;239;g147d0867b72_0_16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g147d0867b72_0_66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0" name="Google Shape;260;g147d0867b72_0_66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g153ab46a580_0_3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5" name="Google Shape;265;g153ab46a580_0_3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1" name="Shape 271"/>
        <p:cNvGrpSpPr/>
        <p:nvPr/>
      </p:nvGrpSpPr>
      <p:grpSpPr>
        <a:xfrm>
          <a:off x="0" y="0"/>
          <a:ext cx="0" cy="0"/>
          <a:chOff x="0" y="0"/>
          <a:chExt cx="0" cy="0"/>
        </a:xfrm>
      </p:grpSpPr>
      <p:sp>
        <p:nvSpPr>
          <p:cNvPr id="272" name="Google Shape;272;g1c5bc27dca8_1_68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3" name="Google Shape;273;g1c5bc27dca8_1_68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g1c29ea25a34_0_4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9" name="Google Shape;279;g1c29ea25a34_0_4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286"/>
        <p:cNvGrpSpPr/>
        <p:nvPr/>
      </p:nvGrpSpPr>
      <p:grpSpPr>
        <a:xfrm>
          <a:off x="0" y="0"/>
          <a:ext cx="0" cy="0"/>
          <a:chOff x="0" y="0"/>
          <a:chExt cx="0" cy="0"/>
        </a:xfrm>
      </p:grpSpPr>
      <p:sp>
        <p:nvSpPr>
          <p:cNvPr id="287" name="Google Shape;287;g1c29ea25a34_0_3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8" name="Google Shape;288;g1c29ea25a34_0_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3" name="Shape 293"/>
        <p:cNvGrpSpPr/>
        <p:nvPr/>
      </p:nvGrpSpPr>
      <p:grpSpPr>
        <a:xfrm>
          <a:off x="0" y="0"/>
          <a:ext cx="0" cy="0"/>
          <a:chOff x="0" y="0"/>
          <a:chExt cx="0" cy="0"/>
        </a:xfrm>
      </p:grpSpPr>
      <p:sp>
        <p:nvSpPr>
          <p:cNvPr id="294" name="Google Shape;294;g1c29ea25a34_0_9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5" name="Google Shape;295;g1c29ea25a34_0_9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g1c29ea25a34_0_5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6" name="Google Shape;316;g1c29ea25a34_0_5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2" name="Shape 322"/>
        <p:cNvGrpSpPr/>
        <p:nvPr/>
      </p:nvGrpSpPr>
      <p:grpSpPr>
        <a:xfrm>
          <a:off x="0" y="0"/>
          <a:ext cx="0" cy="0"/>
          <a:chOff x="0" y="0"/>
          <a:chExt cx="0" cy="0"/>
        </a:xfrm>
      </p:grpSpPr>
      <p:sp>
        <p:nvSpPr>
          <p:cNvPr id="323" name="Google Shape;323;g1c29ea25a34_0_5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4" name="Google Shape;324;g1c29ea25a34_0_5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0" name="Shape 330"/>
        <p:cNvGrpSpPr/>
        <p:nvPr/>
      </p:nvGrpSpPr>
      <p:grpSpPr>
        <a:xfrm>
          <a:off x="0" y="0"/>
          <a:ext cx="0" cy="0"/>
          <a:chOff x="0" y="0"/>
          <a:chExt cx="0" cy="0"/>
        </a:xfrm>
      </p:grpSpPr>
      <p:sp>
        <p:nvSpPr>
          <p:cNvPr id="331" name="Google Shape;331;g1c29ea25a34_0_6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2" name="Google Shape;332;g1c29ea25a34_0_6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7" name="Shape 337"/>
        <p:cNvGrpSpPr/>
        <p:nvPr/>
      </p:nvGrpSpPr>
      <p:grpSpPr>
        <a:xfrm>
          <a:off x="0" y="0"/>
          <a:ext cx="0" cy="0"/>
          <a:chOff x="0" y="0"/>
          <a:chExt cx="0" cy="0"/>
        </a:xfrm>
      </p:grpSpPr>
      <p:sp>
        <p:nvSpPr>
          <p:cNvPr id="338" name="Google Shape;338;g1c29ea25a34_0_22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9" name="Google Shape;339;g1c29ea25a34_0_2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g1c29ea25a34_0_6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6" name="Google Shape;366;g1c29ea25a34_0_6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2" name="Shape 372"/>
        <p:cNvGrpSpPr/>
        <p:nvPr/>
      </p:nvGrpSpPr>
      <p:grpSpPr>
        <a:xfrm>
          <a:off x="0" y="0"/>
          <a:ext cx="0" cy="0"/>
          <a:chOff x="0" y="0"/>
          <a:chExt cx="0" cy="0"/>
        </a:xfrm>
      </p:grpSpPr>
      <p:sp>
        <p:nvSpPr>
          <p:cNvPr id="373" name="Google Shape;373;g1c29ea25a34_0_7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4" name="Google Shape;374;g1c29ea25a34_0_7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g1c29ea25a34_0_63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2" name="Google Shape;382;g1c29ea25a34_0_6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8" name="Shape 388"/>
        <p:cNvGrpSpPr/>
        <p:nvPr/>
      </p:nvGrpSpPr>
      <p:grpSpPr>
        <a:xfrm>
          <a:off x="0" y="0"/>
          <a:ext cx="0" cy="0"/>
          <a:chOff x="0" y="0"/>
          <a:chExt cx="0" cy="0"/>
        </a:xfrm>
      </p:grpSpPr>
      <p:sp>
        <p:nvSpPr>
          <p:cNvPr id="389" name="Google Shape;389;g1ce5fea9e0d_0_6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0" name="Google Shape;390;g1ce5fea9e0d_0_6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5" name="Shape 395"/>
        <p:cNvGrpSpPr/>
        <p:nvPr/>
      </p:nvGrpSpPr>
      <p:grpSpPr>
        <a:xfrm>
          <a:off x="0" y="0"/>
          <a:ext cx="0" cy="0"/>
          <a:chOff x="0" y="0"/>
          <a:chExt cx="0" cy="0"/>
        </a:xfrm>
      </p:grpSpPr>
      <p:sp>
        <p:nvSpPr>
          <p:cNvPr id="396" name="Google Shape;396;g1c5bc27dca8_1_69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7" name="Google Shape;397;g1c5bc27dca8_1_69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1" name="Shape 401"/>
        <p:cNvGrpSpPr/>
        <p:nvPr/>
      </p:nvGrpSpPr>
      <p:grpSpPr>
        <a:xfrm>
          <a:off x="0" y="0"/>
          <a:ext cx="0" cy="0"/>
          <a:chOff x="0" y="0"/>
          <a:chExt cx="0" cy="0"/>
        </a:xfrm>
      </p:grpSpPr>
      <p:sp>
        <p:nvSpPr>
          <p:cNvPr id="402" name="Google Shape;402;g1c68682d43e_0_4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3" name="Google Shape;403;g1c68682d43e_0_4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0" name="Shape 410"/>
        <p:cNvGrpSpPr/>
        <p:nvPr/>
      </p:nvGrpSpPr>
      <p:grpSpPr>
        <a:xfrm>
          <a:off x="0" y="0"/>
          <a:ext cx="0" cy="0"/>
          <a:chOff x="0" y="0"/>
          <a:chExt cx="0" cy="0"/>
        </a:xfrm>
      </p:grpSpPr>
      <p:sp>
        <p:nvSpPr>
          <p:cNvPr id="411" name="Google Shape;411;g1c29ea25a34_0_36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2" name="Google Shape;412;g1c29ea25a34_0_36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0" name="Shape 420"/>
        <p:cNvGrpSpPr/>
        <p:nvPr/>
      </p:nvGrpSpPr>
      <p:grpSpPr>
        <a:xfrm>
          <a:off x="0" y="0"/>
          <a:ext cx="0" cy="0"/>
          <a:chOff x="0" y="0"/>
          <a:chExt cx="0" cy="0"/>
        </a:xfrm>
      </p:grpSpPr>
      <p:sp>
        <p:nvSpPr>
          <p:cNvPr id="421" name="Google Shape;421;g1c29ea25a34_0_37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2" name="Google Shape;422;g1c29ea25a34_0_37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g1c59d76f89b_0_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6" name="Google Shape;436;g1c59d76f89b_0_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1" name="Shape 441"/>
        <p:cNvGrpSpPr/>
        <p:nvPr/>
      </p:nvGrpSpPr>
      <p:grpSpPr>
        <a:xfrm>
          <a:off x="0" y="0"/>
          <a:ext cx="0" cy="0"/>
          <a:chOff x="0" y="0"/>
          <a:chExt cx="0" cy="0"/>
        </a:xfrm>
      </p:grpSpPr>
      <p:sp>
        <p:nvSpPr>
          <p:cNvPr id="442" name="Google Shape;442;g1c29ea25a34_0_39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3" name="Google Shape;443;g1c29ea25a34_0_39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2" name="Shape 452"/>
        <p:cNvGrpSpPr/>
        <p:nvPr/>
      </p:nvGrpSpPr>
      <p:grpSpPr>
        <a:xfrm>
          <a:off x="0" y="0"/>
          <a:ext cx="0" cy="0"/>
          <a:chOff x="0" y="0"/>
          <a:chExt cx="0" cy="0"/>
        </a:xfrm>
      </p:grpSpPr>
      <p:sp>
        <p:nvSpPr>
          <p:cNvPr id="453" name="Google Shape;453;g1c29ea25a34_0_40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4" name="Google Shape;454;g1c29ea25a34_0_40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3" name="Shape 463"/>
        <p:cNvGrpSpPr/>
        <p:nvPr/>
      </p:nvGrpSpPr>
      <p:grpSpPr>
        <a:xfrm>
          <a:off x="0" y="0"/>
          <a:ext cx="0" cy="0"/>
          <a:chOff x="0" y="0"/>
          <a:chExt cx="0" cy="0"/>
        </a:xfrm>
      </p:grpSpPr>
      <p:sp>
        <p:nvSpPr>
          <p:cNvPr id="464" name="Google Shape;464;g1c29ea25a34_0_41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5" name="Google Shape;465;g1c29ea25a34_0_4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2" name="Shape 472"/>
        <p:cNvGrpSpPr/>
        <p:nvPr/>
      </p:nvGrpSpPr>
      <p:grpSpPr>
        <a:xfrm>
          <a:off x="0" y="0"/>
          <a:ext cx="0" cy="0"/>
          <a:chOff x="0" y="0"/>
          <a:chExt cx="0" cy="0"/>
        </a:xfrm>
      </p:grpSpPr>
      <p:sp>
        <p:nvSpPr>
          <p:cNvPr id="473" name="Google Shape;473;g1c29ea25a34_0_41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4" name="Google Shape;474;g1c29ea25a34_0_4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1" name="Shape 481"/>
        <p:cNvGrpSpPr/>
        <p:nvPr/>
      </p:nvGrpSpPr>
      <p:grpSpPr>
        <a:xfrm>
          <a:off x="0" y="0"/>
          <a:ext cx="0" cy="0"/>
          <a:chOff x="0" y="0"/>
          <a:chExt cx="0" cy="0"/>
        </a:xfrm>
      </p:grpSpPr>
      <p:sp>
        <p:nvSpPr>
          <p:cNvPr id="482" name="Google Shape;482;g1c59d76f89b_0_1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3" name="Google Shape;483;g1c59d76f89b_0_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8" name="Shape 488"/>
        <p:cNvGrpSpPr/>
        <p:nvPr/>
      </p:nvGrpSpPr>
      <p:grpSpPr>
        <a:xfrm>
          <a:off x="0" y="0"/>
          <a:ext cx="0" cy="0"/>
          <a:chOff x="0" y="0"/>
          <a:chExt cx="0" cy="0"/>
        </a:xfrm>
      </p:grpSpPr>
      <p:sp>
        <p:nvSpPr>
          <p:cNvPr id="489" name="Google Shape;489;g1c59d76f89b_0_2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0" name="Google Shape;490;g1c59d76f89b_0_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5" name="Shape 495"/>
        <p:cNvGrpSpPr/>
        <p:nvPr/>
      </p:nvGrpSpPr>
      <p:grpSpPr>
        <a:xfrm>
          <a:off x="0" y="0"/>
          <a:ext cx="0" cy="0"/>
          <a:chOff x="0" y="0"/>
          <a:chExt cx="0" cy="0"/>
        </a:xfrm>
      </p:grpSpPr>
      <p:sp>
        <p:nvSpPr>
          <p:cNvPr id="496" name="Google Shape;496;g1c29ea25a34_0_42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7" name="Google Shape;497;g1c29ea25a34_0_4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3" name="Shape 503"/>
        <p:cNvGrpSpPr/>
        <p:nvPr/>
      </p:nvGrpSpPr>
      <p:grpSpPr>
        <a:xfrm>
          <a:off x="0" y="0"/>
          <a:ext cx="0" cy="0"/>
          <a:chOff x="0" y="0"/>
          <a:chExt cx="0" cy="0"/>
        </a:xfrm>
      </p:grpSpPr>
      <p:sp>
        <p:nvSpPr>
          <p:cNvPr id="504" name="Google Shape;504;g1c29ea25a34_0_43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5" name="Google Shape;505;g1c29ea25a34_0_4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0" name="Shape 510"/>
        <p:cNvGrpSpPr/>
        <p:nvPr/>
      </p:nvGrpSpPr>
      <p:grpSpPr>
        <a:xfrm>
          <a:off x="0" y="0"/>
          <a:ext cx="0" cy="0"/>
          <a:chOff x="0" y="0"/>
          <a:chExt cx="0" cy="0"/>
        </a:xfrm>
      </p:grpSpPr>
      <p:sp>
        <p:nvSpPr>
          <p:cNvPr id="511" name="Google Shape;511;g1c29ea25a34_0_38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2" name="Google Shape;512;g1c29ea25a34_0_38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8" name="Shape 518"/>
        <p:cNvGrpSpPr/>
        <p:nvPr/>
      </p:nvGrpSpPr>
      <p:grpSpPr>
        <a:xfrm>
          <a:off x="0" y="0"/>
          <a:ext cx="0" cy="0"/>
          <a:chOff x="0" y="0"/>
          <a:chExt cx="0" cy="0"/>
        </a:xfrm>
      </p:grpSpPr>
      <p:sp>
        <p:nvSpPr>
          <p:cNvPr id="519" name="Google Shape;519;g1c31aefcc20_1_25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0" name="Google Shape;520;g1c31aefcc20_1_25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7" name="Shape 527"/>
        <p:cNvGrpSpPr/>
        <p:nvPr/>
      </p:nvGrpSpPr>
      <p:grpSpPr>
        <a:xfrm>
          <a:off x="0" y="0"/>
          <a:ext cx="0" cy="0"/>
          <a:chOff x="0" y="0"/>
          <a:chExt cx="0" cy="0"/>
        </a:xfrm>
      </p:grpSpPr>
      <p:sp>
        <p:nvSpPr>
          <p:cNvPr id="528" name="Google Shape;528;g1c29ea25a34_0_36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9" name="Google Shape;529;g1c29ea25a34_0_36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6" name="Shape 536"/>
        <p:cNvGrpSpPr/>
        <p:nvPr/>
      </p:nvGrpSpPr>
      <p:grpSpPr>
        <a:xfrm>
          <a:off x="0" y="0"/>
          <a:ext cx="0" cy="0"/>
          <a:chOff x="0" y="0"/>
          <a:chExt cx="0" cy="0"/>
        </a:xfrm>
      </p:grpSpPr>
      <p:sp>
        <p:nvSpPr>
          <p:cNvPr id="537" name="Google Shape;537;g1c31aefcc20_1_26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8" name="Google Shape;538;g1c31aefcc20_1_26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5" name="Shape 545"/>
        <p:cNvGrpSpPr/>
        <p:nvPr/>
      </p:nvGrpSpPr>
      <p:grpSpPr>
        <a:xfrm>
          <a:off x="0" y="0"/>
          <a:ext cx="0" cy="0"/>
          <a:chOff x="0" y="0"/>
          <a:chExt cx="0" cy="0"/>
        </a:xfrm>
      </p:grpSpPr>
      <p:sp>
        <p:nvSpPr>
          <p:cNvPr id="546" name="Google Shape;546;g1c31aefcc20_1_26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7" name="Google Shape;547;g1c31aefcc20_1_26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5" name="Shape 555"/>
        <p:cNvGrpSpPr/>
        <p:nvPr/>
      </p:nvGrpSpPr>
      <p:grpSpPr>
        <a:xfrm>
          <a:off x="0" y="0"/>
          <a:ext cx="0" cy="0"/>
          <a:chOff x="0" y="0"/>
          <a:chExt cx="0" cy="0"/>
        </a:xfrm>
      </p:grpSpPr>
      <p:sp>
        <p:nvSpPr>
          <p:cNvPr id="556" name="Google Shape;556;g1c31aefcc20_1_27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7" name="Google Shape;557;g1c31aefcc20_1_27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6" name="Shape 566"/>
        <p:cNvGrpSpPr/>
        <p:nvPr/>
      </p:nvGrpSpPr>
      <p:grpSpPr>
        <a:xfrm>
          <a:off x="0" y="0"/>
          <a:ext cx="0" cy="0"/>
          <a:chOff x="0" y="0"/>
          <a:chExt cx="0" cy="0"/>
        </a:xfrm>
      </p:grpSpPr>
      <p:sp>
        <p:nvSpPr>
          <p:cNvPr id="567" name="Google Shape;567;g1c31aefcc20_1_28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8" name="Google Shape;568;g1c31aefcc20_1_28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8" name="Shape 578"/>
        <p:cNvGrpSpPr/>
        <p:nvPr/>
      </p:nvGrpSpPr>
      <p:grpSpPr>
        <a:xfrm>
          <a:off x="0" y="0"/>
          <a:ext cx="0" cy="0"/>
          <a:chOff x="0" y="0"/>
          <a:chExt cx="0" cy="0"/>
        </a:xfrm>
      </p:grpSpPr>
      <p:sp>
        <p:nvSpPr>
          <p:cNvPr id="579" name="Google Shape;579;g1c31aefcc20_1_29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0" name="Google Shape;580;g1c31aefcc20_1_29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8" name="Shape 588"/>
        <p:cNvGrpSpPr/>
        <p:nvPr/>
      </p:nvGrpSpPr>
      <p:grpSpPr>
        <a:xfrm>
          <a:off x="0" y="0"/>
          <a:ext cx="0" cy="0"/>
          <a:chOff x="0" y="0"/>
          <a:chExt cx="0" cy="0"/>
        </a:xfrm>
      </p:grpSpPr>
      <p:sp>
        <p:nvSpPr>
          <p:cNvPr id="589" name="Google Shape;589;g1c68682d43e_0_1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0" name="Google Shape;590;g1c68682d43e_0_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9" name="Shape 599"/>
        <p:cNvGrpSpPr/>
        <p:nvPr/>
      </p:nvGrpSpPr>
      <p:grpSpPr>
        <a:xfrm>
          <a:off x="0" y="0"/>
          <a:ext cx="0" cy="0"/>
          <a:chOff x="0" y="0"/>
          <a:chExt cx="0" cy="0"/>
        </a:xfrm>
      </p:grpSpPr>
      <p:sp>
        <p:nvSpPr>
          <p:cNvPr id="600" name="Google Shape;600;g1c68682d43e_0_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1" name="Google Shape;601;g1c68682d43e_0_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0" name="Shape 610"/>
        <p:cNvGrpSpPr/>
        <p:nvPr/>
      </p:nvGrpSpPr>
      <p:grpSpPr>
        <a:xfrm>
          <a:off x="0" y="0"/>
          <a:ext cx="0" cy="0"/>
          <a:chOff x="0" y="0"/>
          <a:chExt cx="0" cy="0"/>
        </a:xfrm>
      </p:grpSpPr>
      <p:sp>
        <p:nvSpPr>
          <p:cNvPr id="611" name="Google Shape;611;g1c31aefcc20_1_31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2" name="Google Shape;612;g1c31aefcc20_1_3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0" name="Shape 620"/>
        <p:cNvGrpSpPr/>
        <p:nvPr/>
      </p:nvGrpSpPr>
      <p:grpSpPr>
        <a:xfrm>
          <a:off x="0" y="0"/>
          <a:ext cx="0" cy="0"/>
          <a:chOff x="0" y="0"/>
          <a:chExt cx="0" cy="0"/>
        </a:xfrm>
      </p:grpSpPr>
      <p:sp>
        <p:nvSpPr>
          <p:cNvPr id="621" name="Google Shape;621;g1c31aefcc20_1_31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2" name="Google Shape;622;g1c31aefcc20_1_3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1" name="Shape 631"/>
        <p:cNvGrpSpPr/>
        <p:nvPr/>
      </p:nvGrpSpPr>
      <p:grpSpPr>
        <a:xfrm>
          <a:off x="0" y="0"/>
          <a:ext cx="0" cy="0"/>
          <a:chOff x="0" y="0"/>
          <a:chExt cx="0" cy="0"/>
        </a:xfrm>
      </p:grpSpPr>
      <p:sp>
        <p:nvSpPr>
          <p:cNvPr id="632" name="Google Shape;632;g1c5bc27dca8_1_69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3" name="Google Shape;633;g1c5bc27dca8_1_69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7" name="Shape 637"/>
        <p:cNvGrpSpPr/>
        <p:nvPr/>
      </p:nvGrpSpPr>
      <p:grpSpPr>
        <a:xfrm>
          <a:off x="0" y="0"/>
          <a:ext cx="0" cy="0"/>
          <a:chOff x="0" y="0"/>
          <a:chExt cx="0" cy="0"/>
        </a:xfrm>
      </p:grpSpPr>
      <p:sp>
        <p:nvSpPr>
          <p:cNvPr id="638" name="Google Shape;638;g1c68682d43e_0_6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9" name="Google Shape;639;g1c68682d43e_0_6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5" name="Shape 645"/>
        <p:cNvGrpSpPr/>
        <p:nvPr/>
      </p:nvGrpSpPr>
      <p:grpSpPr>
        <a:xfrm>
          <a:off x="0" y="0"/>
          <a:ext cx="0" cy="0"/>
          <a:chOff x="0" y="0"/>
          <a:chExt cx="0" cy="0"/>
        </a:xfrm>
      </p:grpSpPr>
      <p:sp>
        <p:nvSpPr>
          <p:cNvPr id="646" name="Google Shape;646;g1c59d76f89b_0_2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7" name="Google Shape;647;g1c59d76f89b_0_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8" name="Shape 658"/>
        <p:cNvGrpSpPr/>
        <p:nvPr/>
      </p:nvGrpSpPr>
      <p:grpSpPr>
        <a:xfrm>
          <a:off x="0" y="0"/>
          <a:ext cx="0" cy="0"/>
          <a:chOff x="0" y="0"/>
          <a:chExt cx="0" cy="0"/>
        </a:xfrm>
      </p:grpSpPr>
      <p:sp>
        <p:nvSpPr>
          <p:cNvPr id="659" name="Google Shape;659;g1c5bc27dca8_1_70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0" name="Google Shape;660;g1c5bc27dca8_1_70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4" name="Shape 664"/>
        <p:cNvGrpSpPr/>
        <p:nvPr/>
      </p:nvGrpSpPr>
      <p:grpSpPr>
        <a:xfrm>
          <a:off x="0" y="0"/>
          <a:ext cx="0" cy="0"/>
          <a:chOff x="0" y="0"/>
          <a:chExt cx="0" cy="0"/>
        </a:xfrm>
      </p:grpSpPr>
      <p:sp>
        <p:nvSpPr>
          <p:cNvPr id="665" name="Google Shape;665;g1c5bc27dca8_1_54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6" name="Google Shape;666;g1c5bc27dca8_1_54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1" name="Shape 671"/>
        <p:cNvGrpSpPr/>
        <p:nvPr/>
      </p:nvGrpSpPr>
      <p:grpSpPr>
        <a:xfrm>
          <a:off x="0" y="0"/>
          <a:ext cx="0" cy="0"/>
          <a:chOff x="0" y="0"/>
          <a:chExt cx="0" cy="0"/>
        </a:xfrm>
      </p:grpSpPr>
      <p:sp>
        <p:nvSpPr>
          <p:cNvPr id="672" name="Google Shape;672;g1c5bc27dca8_1_54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3" name="Google Shape;673;g1c5bc27dca8_1_54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7" name="Shape 697"/>
        <p:cNvGrpSpPr/>
        <p:nvPr/>
      </p:nvGrpSpPr>
      <p:grpSpPr>
        <a:xfrm>
          <a:off x="0" y="0"/>
          <a:ext cx="0" cy="0"/>
          <a:chOff x="0" y="0"/>
          <a:chExt cx="0" cy="0"/>
        </a:xfrm>
      </p:grpSpPr>
      <p:sp>
        <p:nvSpPr>
          <p:cNvPr id="698" name="Google Shape;698;g1c5bc27dca8_1_57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9" name="Google Shape;699;g1c5bc27dca8_1_57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4" name="Shape 704"/>
        <p:cNvGrpSpPr/>
        <p:nvPr/>
      </p:nvGrpSpPr>
      <p:grpSpPr>
        <a:xfrm>
          <a:off x="0" y="0"/>
          <a:ext cx="0" cy="0"/>
          <a:chOff x="0" y="0"/>
          <a:chExt cx="0" cy="0"/>
        </a:xfrm>
      </p:grpSpPr>
      <p:sp>
        <p:nvSpPr>
          <p:cNvPr id="705" name="Google Shape;705;g1c5bc27dca8_1_58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6" name="Google Shape;706;g1c5bc27dca8_1_5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0" name="Shape 730"/>
        <p:cNvGrpSpPr/>
        <p:nvPr/>
      </p:nvGrpSpPr>
      <p:grpSpPr>
        <a:xfrm>
          <a:off x="0" y="0"/>
          <a:ext cx="0" cy="0"/>
          <a:chOff x="0" y="0"/>
          <a:chExt cx="0" cy="0"/>
        </a:xfrm>
      </p:grpSpPr>
      <p:sp>
        <p:nvSpPr>
          <p:cNvPr id="731" name="Google Shape;731;g1c5bc27dca8_1_70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32" name="Google Shape;732;g1c5bc27dca8_1_70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6" name="Shape 736"/>
        <p:cNvGrpSpPr/>
        <p:nvPr/>
      </p:nvGrpSpPr>
      <p:grpSpPr>
        <a:xfrm>
          <a:off x="0" y="0"/>
          <a:ext cx="0" cy="0"/>
          <a:chOff x="0" y="0"/>
          <a:chExt cx="0" cy="0"/>
        </a:xfrm>
      </p:grpSpPr>
      <p:sp>
        <p:nvSpPr>
          <p:cNvPr id="737" name="Google Shape;737;g1c5bc27dca8_1_60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38" name="Google Shape;738;g1c5bc27dca8_1_60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3" name="Shape 743"/>
        <p:cNvGrpSpPr/>
        <p:nvPr/>
      </p:nvGrpSpPr>
      <p:grpSpPr>
        <a:xfrm>
          <a:off x="0" y="0"/>
          <a:ext cx="0" cy="0"/>
          <a:chOff x="0" y="0"/>
          <a:chExt cx="0" cy="0"/>
        </a:xfrm>
      </p:grpSpPr>
      <p:sp>
        <p:nvSpPr>
          <p:cNvPr id="744" name="Google Shape;744;g1c5bc27dca8_1_62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5" name="Google Shape;745;g1c5bc27dca8_1_6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1" name="Shape 751"/>
        <p:cNvGrpSpPr/>
        <p:nvPr/>
      </p:nvGrpSpPr>
      <p:grpSpPr>
        <a:xfrm>
          <a:off x="0" y="0"/>
          <a:ext cx="0" cy="0"/>
          <a:chOff x="0" y="0"/>
          <a:chExt cx="0" cy="0"/>
        </a:xfrm>
      </p:grpSpPr>
      <p:sp>
        <p:nvSpPr>
          <p:cNvPr id="752" name="Google Shape;752;g1c5bc27dca8_1_63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3" name="Google Shape;753;g1c5bc27dca8_1_6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0" name="Shape 760"/>
        <p:cNvGrpSpPr/>
        <p:nvPr/>
      </p:nvGrpSpPr>
      <p:grpSpPr>
        <a:xfrm>
          <a:off x="0" y="0"/>
          <a:ext cx="0" cy="0"/>
          <a:chOff x="0" y="0"/>
          <a:chExt cx="0" cy="0"/>
        </a:xfrm>
      </p:grpSpPr>
      <p:sp>
        <p:nvSpPr>
          <p:cNvPr id="761" name="Google Shape;761;g1c5bc27dca8_1_64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2" name="Google Shape;762;g1c5bc27dca8_1_64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5" name="Shape 775"/>
        <p:cNvGrpSpPr/>
        <p:nvPr/>
      </p:nvGrpSpPr>
      <p:grpSpPr>
        <a:xfrm>
          <a:off x="0" y="0"/>
          <a:ext cx="0" cy="0"/>
          <a:chOff x="0" y="0"/>
          <a:chExt cx="0" cy="0"/>
        </a:xfrm>
      </p:grpSpPr>
      <p:sp>
        <p:nvSpPr>
          <p:cNvPr id="776" name="Google Shape;776;g1c5bc27dca8_1_65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7" name="Google Shape;777;g1c5bc27dca8_1_65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2" name="Shape 782"/>
        <p:cNvGrpSpPr/>
        <p:nvPr/>
      </p:nvGrpSpPr>
      <p:grpSpPr>
        <a:xfrm>
          <a:off x="0" y="0"/>
          <a:ext cx="0" cy="0"/>
          <a:chOff x="0" y="0"/>
          <a:chExt cx="0" cy="0"/>
        </a:xfrm>
      </p:grpSpPr>
      <p:sp>
        <p:nvSpPr>
          <p:cNvPr id="783" name="Google Shape;783;g1c5bc27dca8_1_66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4" name="Google Shape;784;g1c5bc27dca8_1_66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0" name="Shape 790"/>
        <p:cNvGrpSpPr/>
        <p:nvPr/>
      </p:nvGrpSpPr>
      <p:grpSpPr>
        <a:xfrm>
          <a:off x="0" y="0"/>
          <a:ext cx="0" cy="0"/>
          <a:chOff x="0" y="0"/>
          <a:chExt cx="0" cy="0"/>
        </a:xfrm>
      </p:grpSpPr>
      <p:sp>
        <p:nvSpPr>
          <p:cNvPr id="791" name="Google Shape;791;g1c5bc27dca8_1_66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2" name="Google Shape;792;g1c5bc27dca8_1_66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8" name="Shape 768"/>
        <p:cNvGrpSpPr/>
        <p:nvPr/>
      </p:nvGrpSpPr>
      <p:grpSpPr>
        <a:xfrm>
          <a:off x="0" y="0"/>
          <a:ext cx="0" cy="0"/>
          <a:chOff x="0" y="0"/>
          <a:chExt cx="0" cy="0"/>
        </a:xfrm>
      </p:grpSpPr>
      <p:sp>
        <p:nvSpPr>
          <p:cNvPr id="769" name="Google Shape;769;g1c5bc27dca8_1_64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0" name="Google Shape;770;g1c5bc27dca8_1_6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9" name="Shape 799"/>
        <p:cNvGrpSpPr/>
        <p:nvPr/>
      </p:nvGrpSpPr>
      <p:grpSpPr>
        <a:xfrm>
          <a:off x="0" y="0"/>
          <a:ext cx="0" cy="0"/>
          <a:chOff x="0" y="0"/>
          <a:chExt cx="0" cy="0"/>
        </a:xfrm>
      </p:grpSpPr>
      <p:sp>
        <p:nvSpPr>
          <p:cNvPr id="800" name="Google Shape;800;g1c5bc27dca8_1_31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1" name="Google Shape;801;g1c5bc27dca8_1_3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4" name="Shape 804"/>
        <p:cNvGrpSpPr/>
        <p:nvPr/>
      </p:nvGrpSpPr>
      <p:grpSpPr>
        <a:xfrm>
          <a:off x="0" y="0"/>
          <a:ext cx="0" cy="0"/>
          <a:chOff x="0" y="0"/>
          <a:chExt cx="0" cy="0"/>
        </a:xfrm>
      </p:grpSpPr>
      <p:sp>
        <p:nvSpPr>
          <p:cNvPr id="805" name="Google Shape;805;g1c5bc27dca8_1_31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6" name="Google Shape;806;g1c5bc27dca8_1_3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3" name="Shape 813"/>
        <p:cNvGrpSpPr/>
        <p:nvPr/>
      </p:nvGrpSpPr>
      <p:grpSpPr>
        <a:xfrm>
          <a:off x="0" y="0"/>
          <a:ext cx="0" cy="0"/>
          <a:chOff x="0" y="0"/>
          <a:chExt cx="0" cy="0"/>
        </a:xfrm>
      </p:grpSpPr>
      <p:sp>
        <p:nvSpPr>
          <p:cNvPr id="814" name="Google Shape;814;g1c5bc27dca8_1_50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5" name="Google Shape;815;g1c5bc27dca8_1_50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9" name="Shape 819"/>
        <p:cNvGrpSpPr/>
        <p:nvPr/>
      </p:nvGrpSpPr>
      <p:grpSpPr>
        <a:xfrm>
          <a:off x="0" y="0"/>
          <a:ext cx="0" cy="0"/>
          <a:chOff x="0" y="0"/>
          <a:chExt cx="0" cy="0"/>
        </a:xfrm>
      </p:grpSpPr>
      <p:sp>
        <p:nvSpPr>
          <p:cNvPr id="820" name="Google Shape;820;g1c5bc27dca8_1_81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21" name="Google Shape;821;g1c5bc27dca8_1_8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8" name="Shape 828"/>
        <p:cNvGrpSpPr/>
        <p:nvPr/>
      </p:nvGrpSpPr>
      <p:grpSpPr>
        <a:xfrm>
          <a:off x="0" y="0"/>
          <a:ext cx="0" cy="0"/>
          <a:chOff x="0" y="0"/>
          <a:chExt cx="0" cy="0"/>
        </a:xfrm>
      </p:grpSpPr>
      <p:sp>
        <p:nvSpPr>
          <p:cNvPr id="829" name="Google Shape;829;g1c5bc27dca8_1_32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0" name="Google Shape;830;g1c5bc27dca8_1_3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7" name="Shape 837"/>
        <p:cNvGrpSpPr/>
        <p:nvPr/>
      </p:nvGrpSpPr>
      <p:grpSpPr>
        <a:xfrm>
          <a:off x="0" y="0"/>
          <a:ext cx="0" cy="0"/>
          <a:chOff x="0" y="0"/>
          <a:chExt cx="0" cy="0"/>
        </a:xfrm>
      </p:grpSpPr>
      <p:sp>
        <p:nvSpPr>
          <p:cNvPr id="838" name="Google Shape;838;g1c68682d43e_0_5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9" name="Google Shape;839;g1c68682d43e_0_5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5" name="Shape 845"/>
        <p:cNvGrpSpPr/>
        <p:nvPr/>
      </p:nvGrpSpPr>
      <p:grpSpPr>
        <a:xfrm>
          <a:off x="0" y="0"/>
          <a:ext cx="0" cy="0"/>
          <a:chOff x="0" y="0"/>
          <a:chExt cx="0" cy="0"/>
        </a:xfrm>
      </p:grpSpPr>
      <p:sp>
        <p:nvSpPr>
          <p:cNvPr id="846" name="Google Shape;846;g1c5bc27dca8_1_84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47" name="Google Shape;847;g1c5bc27dca8_1_84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1" name="Shape 861"/>
        <p:cNvGrpSpPr/>
        <p:nvPr/>
      </p:nvGrpSpPr>
      <p:grpSpPr>
        <a:xfrm>
          <a:off x="0" y="0"/>
          <a:ext cx="0" cy="0"/>
          <a:chOff x="0" y="0"/>
          <a:chExt cx="0" cy="0"/>
        </a:xfrm>
      </p:grpSpPr>
      <p:sp>
        <p:nvSpPr>
          <p:cNvPr id="862" name="Google Shape;862;g1c5bc27dca8_1_51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3" name="Google Shape;863;g1c5bc27dca8_1_5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7" name="Shape 867"/>
        <p:cNvGrpSpPr/>
        <p:nvPr/>
      </p:nvGrpSpPr>
      <p:grpSpPr>
        <a:xfrm>
          <a:off x="0" y="0"/>
          <a:ext cx="0" cy="0"/>
          <a:chOff x="0" y="0"/>
          <a:chExt cx="0" cy="0"/>
        </a:xfrm>
      </p:grpSpPr>
      <p:sp>
        <p:nvSpPr>
          <p:cNvPr id="868" name="Google Shape;868;g1c5bc27dca8_1_33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9" name="Google Shape;869;g1c5bc27dca8_1_3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6" name="Shape 876"/>
        <p:cNvGrpSpPr/>
        <p:nvPr/>
      </p:nvGrpSpPr>
      <p:grpSpPr>
        <a:xfrm>
          <a:off x="0" y="0"/>
          <a:ext cx="0" cy="0"/>
          <a:chOff x="0" y="0"/>
          <a:chExt cx="0" cy="0"/>
        </a:xfrm>
      </p:grpSpPr>
      <p:sp>
        <p:nvSpPr>
          <p:cNvPr id="877" name="Google Shape;877;g1c5bc27dca8_1_52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8" name="Google Shape;878;g1c5bc27dca8_1_5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2" name="Shape 882"/>
        <p:cNvGrpSpPr/>
        <p:nvPr/>
      </p:nvGrpSpPr>
      <p:grpSpPr>
        <a:xfrm>
          <a:off x="0" y="0"/>
          <a:ext cx="0" cy="0"/>
          <a:chOff x="0" y="0"/>
          <a:chExt cx="0" cy="0"/>
        </a:xfrm>
      </p:grpSpPr>
      <p:sp>
        <p:nvSpPr>
          <p:cNvPr id="883" name="Google Shape;883;g1c5bc27dca8_1_80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4" name="Google Shape;884;g1c5bc27dca8_1_80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1" name="Shape 891"/>
        <p:cNvGrpSpPr/>
        <p:nvPr/>
      </p:nvGrpSpPr>
      <p:grpSpPr>
        <a:xfrm>
          <a:off x="0" y="0"/>
          <a:ext cx="0" cy="0"/>
          <a:chOff x="0" y="0"/>
          <a:chExt cx="0" cy="0"/>
        </a:xfrm>
      </p:grpSpPr>
      <p:sp>
        <p:nvSpPr>
          <p:cNvPr id="892" name="Google Shape;892;g1c5bc27dca8_1_82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93" name="Google Shape;893;g1c5bc27dca8_1_8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3" name="Shape 903"/>
        <p:cNvGrpSpPr/>
        <p:nvPr/>
      </p:nvGrpSpPr>
      <p:grpSpPr>
        <a:xfrm>
          <a:off x="0" y="0"/>
          <a:ext cx="0" cy="0"/>
          <a:chOff x="0" y="0"/>
          <a:chExt cx="0" cy="0"/>
        </a:xfrm>
      </p:grpSpPr>
      <p:sp>
        <p:nvSpPr>
          <p:cNvPr id="904" name="Google Shape;904;g1c5bc27dca8_1_52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5" name="Google Shape;905;g1c5bc27dca8_1_5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9" name="Shape 909"/>
        <p:cNvGrpSpPr/>
        <p:nvPr/>
      </p:nvGrpSpPr>
      <p:grpSpPr>
        <a:xfrm>
          <a:off x="0" y="0"/>
          <a:ext cx="0" cy="0"/>
          <a:chOff x="0" y="0"/>
          <a:chExt cx="0" cy="0"/>
        </a:xfrm>
      </p:grpSpPr>
      <p:sp>
        <p:nvSpPr>
          <p:cNvPr id="910" name="Google Shape;910;g1c31aefcc20_1_56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1" name="Google Shape;911;g1c31aefcc20_1_56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8" name="Shape 918"/>
        <p:cNvGrpSpPr/>
        <p:nvPr/>
      </p:nvGrpSpPr>
      <p:grpSpPr>
        <a:xfrm>
          <a:off x="0" y="0"/>
          <a:ext cx="0" cy="0"/>
          <a:chOff x="0" y="0"/>
          <a:chExt cx="0" cy="0"/>
        </a:xfrm>
      </p:grpSpPr>
      <p:sp>
        <p:nvSpPr>
          <p:cNvPr id="919" name="Google Shape;919;g1c31aefcc20_1_58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0" name="Google Shape;920;g1c31aefcc20_1_58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7" name="Shape 927"/>
        <p:cNvGrpSpPr/>
        <p:nvPr/>
      </p:nvGrpSpPr>
      <p:grpSpPr>
        <a:xfrm>
          <a:off x="0" y="0"/>
          <a:ext cx="0" cy="0"/>
          <a:chOff x="0" y="0"/>
          <a:chExt cx="0" cy="0"/>
        </a:xfrm>
      </p:grpSpPr>
      <p:sp>
        <p:nvSpPr>
          <p:cNvPr id="928" name="Google Shape;928;g1c31aefcc20_1_57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9" name="Google Shape;929;g1c31aefcc20_1_57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8" name="Shape 938"/>
        <p:cNvGrpSpPr/>
        <p:nvPr/>
      </p:nvGrpSpPr>
      <p:grpSpPr>
        <a:xfrm>
          <a:off x="0" y="0"/>
          <a:ext cx="0" cy="0"/>
          <a:chOff x="0" y="0"/>
          <a:chExt cx="0" cy="0"/>
        </a:xfrm>
      </p:grpSpPr>
      <p:sp>
        <p:nvSpPr>
          <p:cNvPr id="939" name="Google Shape;939;g1c5bc27dca8_1_40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40" name="Google Shape;940;g1c5bc27dca8_1_40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3" name="Shape 943"/>
        <p:cNvGrpSpPr/>
        <p:nvPr/>
      </p:nvGrpSpPr>
      <p:grpSpPr>
        <a:xfrm>
          <a:off x="0" y="0"/>
          <a:ext cx="0" cy="0"/>
          <a:chOff x="0" y="0"/>
          <a:chExt cx="0" cy="0"/>
        </a:xfrm>
      </p:grpSpPr>
      <p:sp>
        <p:nvSpPr>
          <p:cNvPr id="944" name="Google Shape;944;g1c5bc27dca8_1_40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45" name="Google Shape;945;g1c5bc27dca8_1_40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2" name="Shape 952"/>
        <p:cNvGrpSpPr/>
        <p:nvPr/>
      </p:nvGrpSpPr>
      <p:grpSpPr>
        <a:xfrm>
          <a:off x="0" y="0"/>
          <a:ext cx="0" cy="0"/>
          <a:chOff x="0" y="0"/>
          <a:chExt cx="0" cy="0"/>
        </a:xfrm>
      </p:grpSpPr>
      <p:sp>
        <p:nvSpPr>
          <p:cNvPr id="953" name="Google Shape;953;g1c5bc27dca8_1_42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4" name="Google Shape;954;g1c5bc27dca8_1_4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8" name="Shape 958"/>
        <p:cNvGrpSpPr/>
        <p:nvPr/>
      </p:nvGrpSpPr>
      <p:grpSpPr>
        <a:xfrm>
          <a:off x="0" y="0"/>
          <a:ext cx="0" cy="0"/>
          <a:chOff x="0" y="0"/>
          <a:chExt cx="0" cy="0"/>
        </a:xfrm>
      </p:grpSpPr>
      <p:sp>
        <p:nvSpPr>
          <p:cNvPr id="959" name="Google Shape;959;g1c31aefcc20_1_55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0" name="Google Shape;960;g1c31aefcc20_1_55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7" name="Shape 967"/>
        <p:cNvGrpSpPr/>
        <p:nvPr/>
      </p:nvGrpSpPr>
      <p:grpSpPr>
        <a:xfrm>
          <a:off x="0" y="0"/>
          <a:ext cx="0" cy="0"/>
          <a:chOff x="0" y="0"/>
          <a:chExt cx="0" cy="0"/>
        </a:xfrm>
      </p:grpSpPr>
      <p:sp>
        <p:nvSpPr>
          <p:cNvPr id="968" name="Google Shape;968;g1c31aefcc20_1_54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69" name="Google Shape;969;g1c31aefcc20_1_5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6" name="Shape 976"/>
        <p:cNvGrpSpPr/>
        <p:nvPr/>
      </p:nvGrpSpPr>
      <p:grpSpPr>
        <a:xfrm>
          <a:off x="0" y="0"/>
          <a:ext cx="0" cy="0"/>
          <a:chOff x="0" y="0"/>
          <a:chExt cx="0" cy="0"/>
        </a:xfrm>
      </p:grpSpPr>
      <p:sp>
        <p:nvSpPr>
          <p:cNvPr id="977" name="Google Shape;977;g1c5bc27dca8_1_53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8" name="Google Shape;978;g1c5bc27dca8_1_5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2" name="Shape 982"/>
        <p:cNvGrpSpPr/>
        <p:nvPr/>
      </p:nvGrpSpPr>
      <p:grpSpPr>
        <a:xfrm>
          <a:off x="0" y="0"/>
          <a:ext cx="0" cy="0"/>
          <a:chOff x="0" y="0"/>
          <a:chExt cx="0" cy="0"/>
        </a:xfrm>
      </p:grpSpPr>
      <p:sp>
        <p:nvSpPr>
          <p:cNvPr id="983" name="Google Shape;983;g1c31aefcc20_1_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1c31aefcc20_1_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85" name="Google Shape;985;g1c31aefcc20_1_7:notes"/>
          <p:cNvSpPr txBox="1"/>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704020202020204"/>
              <a:buNone/>
            </a:pPr>
            <a:fld id="{00000000-1234-1234-1234-123412341234}" type="slidenum">
              <a:rPr lang="en-US"/>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7" name="Shape 997"/>
        <p:cNvGrpSpPr/>
        <p:nvPr/>
      </p:nvGrpSpPr>
      <p:grpSpPr>
        <a:xfrm>
          <a:off x="0" y="0"/>
          <a:ext cx="0" cy="0"/>
          <a:chOff x="0" y="0"/>
          <a:chExt cx="0" cy="0"/>
        </a:xfrm>
      </p:grpSpPr>
      <p:sp>
        <p:nvSpPr>
          <p:cNvPr id="998" name="Google Shape;998;g1c31aefcc20_1_2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99" name="Google Shape;999;g1c31aefcc20_1_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7" name="Shape 1007"/>
        <p:cNvGrpSpPr/>
        <p:nvPr/>
      </p:nvGrpSpPr>
      <p:grpSpPr>
        <a:xfrm>
          <a:off x="0" y="0"/>
          <a:ext cx="0" cy="0"/>
          <a:chOff x="0" y="0"/>
          <a:chExt cx="0" cy="0"/>
        </a:xfrm>
      </p:grpSpPr>
      <p:sp>
        <p:nvSpPr>
          <p:cNvPr id="1008" name="Google Shape;1008;g1c31aefcc20_1_2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9" name="Google Shape;1009;g1c31aefcc20_1_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6" name="Shape 1016"/>
        <p:cNvGrpSpPr/>
        <p:nvPr/>
      </p:nvGrpSpPr>
      <p:grpSpPr>
        <a:xfrm>
          <a:off x="0" y="0"/>
          <a:ext cx="0" cy="0"/>
          <a:chOff x="0" y="0"/>
          <a:chExt cx="0" cy="0"/>
        </a:xfrm>
      </p:grpSpPr>
      <p:sp>
        <p:nvSpPr>
          <p:cNvPr id="1017" name="Google Shape;1017;g1ce41771991_0_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8" name="Google Shape;1018;g1ce41771991_0_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5" name="Shape 1025"/>
        <p:cNvGrpSpPr/>
        <p:nvPr/>
      </p:nvGrpSpPr>
      <p:grpSpPr>
        <a:xfrm>
          <a:off x="0" y="0"/>
          <a:ext cx="0" cy="0"/>
          <a:chOff x="0" y="0"/>
          <a:chExt cx="0" cy="0"/>
        </a:xfrm>
      </p:grpSpPr>
      <p:sp>
        <p:nvSpPr>
          <p:cNvPr id="1026" name="Google Shape;1026;g1c31aefcc20_1_3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27" name="Google Shape;1027;g1c31aefcc20_1_3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4" name="Shape 1034"/>
        <p:cNvGrpSpPr/>
        <p:nvPr/>
      </p:nvGrpSpPr>
      <p:grpSpPr>
        <a:xfrm>
          <a:off x="0" y="0"/>
          <a:ext cx="0" cy="0"/>
          <a:chOff x="0" y="0"/>
          <a:chExt cx="0" cy="0"/>
        </a:xfrm>
      </p:grpSpPr>
      <p:sp>
        <p:nvSpPr>
          <p:cNvPr id="1035" name="Google Shape;1035;g1ce41771991_1_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36" name="Google Shape;1036;g1ce41771991_1_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3" name="Shape 1043"/>
        <p:cNvGrpSpPr/>
        <p:nvPr/>
      </p:nvGrpSpPr>
      <p:grpSpPr>
        <a:xfrm>
          <a:off x="0" y="0"/>
          <a:ext cx="0" cy="0"/>
          <a:chOff x="0" y="0"/>
          <a:chExt cx="0" cy="0"/>
        </a:xfrm>
      </p:grpSpPr>
      <p:sp>
        <p:nvSpPr>
          <p:cNvPr id="1044" name="Google Shape;1044;g1c31aefcc20_1_4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45" name="Google Shape;1045;g1c31aefcc20_1_4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2" name="Shape 1052"/>
        <p:cNvGrpSpPr/>
        <p:nvPr/>
      </p:nvGrpSpPr>
      <p:grpSpPr>
        <a:xfrm>
          <a:off x="0" y="0"/>
          <a:ext cx="0" cy="0"/>
          <a:chOff x="0" y="0"/>
          <a:chExt cx="0" cy="0"/>
        </a:xfrm>
      </p:grpSpPr>
      <p:sp>
        <p:nvSpPr>
          <p:cNvPr id="1053" name="Google Shape;1053;g1ce41771991_1_1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54" name="Google Shape;1054;g1ce41771991_1_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1" name="Shape 1061"/>
        <p:cNvGrpSpPr/>
        <p:nvPr/>
      </p:nvGrpSpPr>
      <p:grpSpPr>
        <a:xfrm>
          <a:off x="0" y="0"/>
          <a:ext cx="0" cy="0"/>
          <a:chOff x="0" y="0"/>
          <a:chExt cx="0" cy="0"/>
        </a:xfrm>
      </p:grpSpPr>
      <p:sp>
        <p:nvSpPr>
          <p:cNvPr id="1062" name="Google Shape;1062;g1ce41771991_1_1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63" name="Google Shape;1063;g1ce41771991_1_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0" name="Shape 1070"/>
        <p:cNvGrpSpPr/>
        <p:nvPr/>
      </p:nvGrpSpPr>
      <p:grpSpPr>
        <a:xfrm>
          <a:off x="0" y="0"/>
          <a:ext cx="0" cy="0"/>
          <a:chOff x="0" y="0"/>
          <a:chExt cx="0" cy="0"/>
        </a:xfrm>
      </p:grpSpPr>
      <p:sp>
        <p:nvSpPr>
          <p:cNvPr id="1071" name="Google Shape;1071;g1ce41771991_1_2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72" name="Google Shape;1072;g1ce41771991_1_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9" name="Shape 1079"/>
        <p:cNvGrpSpPr/>
        <p:nvPr/>
      </p:nvGrpSpPr>
      <p:grpSpPr>
        <a:xfrm>
          <a:off x="0" y="0"/>
          <a:ext cx="0" cy="0"/>
          <a:chOff x="0" y="0"/>
          <a:chExt cx="0" cy="0"/>
        </a:xfrm>
      </p:grpSpPr>
      <p:sp>
        <p:nvSpPr>
          <p:cNvPr id="1080" name="Google Shape;1080;g1c5bc27dca8_1_50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81" name="Google Shape;1081;g1c5bc27dca8_1_50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5" name="Shape 1085"/>
        <p:cNvGrpSpPr/>
        <p:nvPr/>
      </p:nvGrpSpPr>
      <p:grpSpPr>
        <a:xfrm>
          <a:off x="0" y="0"/>
          <a:ext cx="0" cy="0"/>
          <a:chOff x="0" y="0"/>
          <a:chExt cx="0" cy="0"/>
        </a:xfrm>
      </p:grpSpPr>
      <p:sp>
        <p:nvSpPr>
          <p:cNvPr id="1086" name="Google Shape;1086;g1c5bc27dca8_1_44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87" name="Google Shape;1087;g1c5bc27dca8_1_44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4" name="Shape 1094"/>
        <p:cNvGrpSpPr/>
        <p:nvPr/>
      </p:nvGrpSpPr>
      <p:grpSpPr>
        <a:xfrm>
          <a:off x="0" y="0"/>
          <a:ext cx="0" cy="0"/>
          <a:chOff x="0" y="0"/>
          <a:chExt cx="0" cy="0"/>
        </a:xfrm>
      </p:grpSpPr>
      <p:sp>
        <p:nvSpPr>
          <p:cNvPr id="1095" name="Google Shape;1095;g1c5bc27dca8_1_45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96" name="Google Shape;1096;g1c5bc27dca8_1_45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3" name="Shape 1103"/>
        <p:cNvGrpSpPr/>
        <p:nvPr/>
      </p:nvGrpSpPr>
      <p:grpSpPr>
        <a:xfrm>
          <a:off x="0" y="0"/>
          <a:ext cx="0" cy="0"/>
          <a:chOff x="0" y="0"/>
          <a:chExt cx="0" cy="0"/>
        </a:xfrm>
      </p:grpSpPr>
      <p:sp>
        <p:nvSpPr>
          <p:cNvPr id="1104" name="Google Shape;1104;g1c5bc27dca8_1_46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5" name="Google Shape;1105;g1c5bc27dca8_1_46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2" name="Shape 1112"/>
        <p:cNvGrpSpPr/>
        <p:nvPr/>
      </p:nvGrpSpPr>
      <p:grpSpPr>
        <a:xfrm>
          <a:off x="0" y="0"/>
          <a:ext cx="0" cy="0"/>
          <a:chOff x="0" y="0"/>
          <a:chExt cx="0" cy="0"/>
        </a:xfrm>
      </p:grpSpPr>
      <p:sp>
        <p:nvSpPr>
          <p:cNvPr id="1113" name="Google Shape;1113;g1c5bc27dca8_1_47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14" name="Google Shape;1114;g1c5bc27dca8_1_47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1" name="Shape 1121"/>
        <p:cNvGrpSpPr/>
        <p:nvPr/>
      </p:nvGrpSpPr>
      <p:grpSpPr>
        <a:xfrm>
          <a:off x="0" y="0"/>
          <a:ext cx="0" cy="0"/>
          <a:chOff x="0" y="0"/>
          <a:chExt cx="0" cy="0"/>
        </a:xfrm>
      </p:grpSpPr>
      <p:sp>
        <p:nvSpPr>
          <p:cNvPr id="1122" name="Google Shape;1122;g1c5bc27dca8_1_48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3" name="Google Shape;1123;g1c5bc27dca8_1_48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2" name="Shape 1132"/>
        <p:cNvGrpSpPr/>
        <p:nvPr/>
      </p:nvGrpSpPr>
      <p:grpSpPr>
        <a:xfrm>
          <a:off x="0" y="0"/>
          <a:ext cx="0" cy="0"/>
          <a:chOff x="0" y="0"/>
          <a:chExt cx="0" cy="0"/>
        </a:xfrm>
      </p:grpSpPr>
      <p:sp>
        <p:nvSpPr>
          <p:cNvPr id="1133" name="Google Shape;1133;g1c5bc27dca8_1_49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34" name="Google Shape;1134;g1c5bc27dca8_1_49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3" name="Shape 1143"/>
        <p:cNvGrpSpPr/>
        <p:nvPr/>
      </p:nvGrpSpPr>
      <p:grpSpPr>
        <a:xfrm>
          <a:off x="0" y="0"/>
          <a:ext cx="0" cy="0"/>
          <a:chOff x="0" y="0"/>
          <a:chExt cx="0" cy="0"/>
        </a:xfrm>
      </p:grpSpPr>
      <p:sp>
        <p:nvSpPr>
          <p:cNvPr id="1144" name="Google Shape;1144;g1c5bc27dca8_1_44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5" name="Google Shape;1145;g1c5bc27dca8_1_44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9" name="Shape 1149"/>
        <p:cNvGrpSpPr/>
        <p:nvPr/>
      </p:nvGrpSpPr>
      <p:grpSpPr>
        <a:xfrm>
          <a:off x="0" y="0"/>
          <a:ext cx="0" cy="0"/>
          <a:chOff x="0" y="0"/>
          <a:chExt cx="0" cy="0"/>
        </a:xfrm>
      </p:grpSpPr>
      <p:sp>
        <p:nvSpPr>
          <p:cNvPr id="1150" name="Google Shape;1150;g1c5bc27dca8_1_78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51" name="Google Shape;1151;g1c5bc27dca8_1_78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6" name="Shape 1156"/>
        <p:cNvGrpSpPr/>
        <p:nvPr/>
      </p:nvGrpSpPr>
      <p:grpSpPr>
        <a:xfrm>
          <a:off x="0" y="0"/>
          <a:ext cx="0" cy="0"/>
          <a:chOff x="0" y="0"/>
          <a:chExt cx="0" cy="0"/>
        </a:xfrm>
      </p:grpSpPr>
      <p:sp>
        <p:nvSpPr>
          <p:cNvPr id="1157" name="Google Shape;1157;g1c5bc27dca8_1_79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58" name="Google Shape;1158;g1c5bc27dca8_1_79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3" name="Shape 1163"/>
        <p:cNvGrpSpPr/>
        <p:nvPr/>
      </p:nvGrpSpPr>
      <p:grpSpPr>
        <a:xfrm>
          <a:off x="0" y="0"/>
          <a:ext cx="0" cy="0"/>
          <a:chOff x="0" y="0"/>
          <a:chExt cx="0" cy="0"/>
        </a:xfrm>
      </p:grpSpPr>
      <p:sp>
        <p:nvSpPr>
          <p:cNvPr id="1164" name="Google Shape;1164;g1c31aefcc20_1_5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65" name="Google Shape;1165;g1c31aefcc20_1_5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0" name="Shape 1170"/>
        <p:cNvGrpSpPr/>
        <p:nvPr/>
      </p:nvGrpSpPr>
      <p:grpSpPr>
        <a:xfrm>
          <a:off x="0" y="0"/>
          <a:ext cx="0" cy="0"/>
          <a:chOff x="0" y="0"/>
          <a:chExt cx="0" cy="0"/>
        </a:xfrm>
      </p:grpSpPr>
      <p:sp>
        <p:nvSpPr>
          <p:cNvPr id="1171" name="Google Shape;1171;g1c31aefcc20_1_6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72" name="Google Shape;1172;g1c31aefcc20_1_6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8" name="Shape 1178"/>
        <p:cNvGrpSpPr/>
        <p:nvPr/>
      </p:nvGrpSpPr>
      <p:grpSpPr>
        <a:xfrm>
          <a:off x="0" y="0"/>
          <a:ext cx="0" cy="0"/>
          <a:chOff x="0" y="0"/>
          <a:chExt cx="0" cy="0"/>
        </a:xfrm>
      </p:grpSpPr>
      <p:sp>
        <p:nvSpPr>
          <p:cNvPr id="1179" name="Google Shape;1179;g1c31aefcc20_1_43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0" name="Google Shape;1180;g1c31aefcc20_1_4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6" name="Shape 1186"/>
        <p:cNvGrpSpPr/>
        <p:nvPr/>
      </p:nvGrpSpPr>
      <p:grpSpPr>
        <a:xfrm>
          <a:off x="0" y="0"/>
          <a:ext cx="0" cy="0"/>
          <a:chOff x="0" y="0"/>
          <a:chExt cx="0" cy="0"/>
        </a:xfrm>
      </p:grpSpPr>
      <p:sp>
        <p:nvSpPr>
          <p:cNvPr id="1187" name="Google Shape;1187;g1c5bc27dca8_1_74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8" name="Google Shape;1188;g1c5bc27dca8_1_74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1" name="Shape 1191"/>
        <p:cNvGrpSpPr/>
        <p:nvPr/>
      </p:nvGrpSpPr>
      <p:grpSpPr>
        <a:xfrm>
          <a:off x="0" y="0"/>
          <a:ext cx="0" cy="0"/>
          <a:chOff x="0" y="0"/>
          <a:chExt cx="0" cy="0"/>
        </a:xfrm>
      </p:grpSpPr>
      <p:sp>
        <p:nvSpPr>
          <p:cNvPr id="1192" name="Google Shape;1192;g1c5bc27dca8_1_78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93" name="Google Shape;1193;g1c5bc27dca8_1_78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0" name="Shape 1200"/>
        <p:cNvGrpSpPr/>
        <p:nvPr/>
      </p:nvGrpSpPr>
      <p:grpSpPr>
        <a:xfrm>
          <a:off x="0" y="0"/>
          <a:ext cx="0" cy="0"/>
          <a:chOff x="0" y="0"/>
          <a:chExt cx="0" cy="0"/>
        </a:xfrm>
      </p:grpSpPr>
      <p:sp>
        <p:nvSpPr>
          <p:cNvPr id="1201" name="Google Shape;1201;g1c5bc27dca8_1_75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02" name="Google Shape;1202;g1c5bc27dca8_1_7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6" name="Shape 1206"/>
        <p:cNvGrpSpPr/>
        <p:nvPr/>
      </p:nvGrpSpPr>
      <p:grpSpPr>
        <a:xfrm>
          <a:off x="0" y="0"/>
          <a:ext cx="0" cy="0"/>
          <a:chOff x="0" y="0"/>
          <a:chExt cx="0" cy="0"/>
        </a:xfrm>
      </p:grpSpPr>
      <p:sp>
        <p:nvSpPr>
          <p:cNvPr id="1207" name="Google Shape;1207;g1ce5fea9e0d_0_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08" name="Google Shape;1208;g1ce5fea9e0d_0_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5" name="Shape 1215"/>
        <p:cNvGrpSpPr/>
        <p:nvPr/>
      </p:nvGrpSpPr>
      <p:grpSpPr>
        <a:xfrm>
          <a:off x="0" y="0"/>
          <a:ext cx="0" cy="0"/>
          <a:chOff x="0" y="0"/>
          <a:chExt cx="0" cy="0"/>
        </a:xfrm>
      </p:grpSpPr>
      <p:sp>
        <p:nvSpPr>
          <p:cNvPr id="1216" name="Google Shape;1216;g1c5bc27dca8_1_1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7" name="Google Shape;1217;g1c5bc27dca8_1_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4" name="Shape 1224"/>
        <p:cNvGrpSpPr/>
        <p:nvPr/>
      </p:nvGrpSpPr>
      <p:grpSpPr>
        <a:xfrm>
          <a:off x="0" y="0"/>
          <a:ext cx="0" cy="0"/>
          <a:chOff x="0" y="0"/>
          <a:chExt cx="0" cy="0"/>
        </a:xfrm>
      </p:grpSpPr>
      <p:sp>
        <p:nvSpPr>
          <p:cNvPr id="1225" name="Google Shape;1225;g1c5bc27dca8_1_2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6" name="Google Shape;1226;g1c5bc27dca8_1_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32" name="Shape 1232"/>
        <p:cNvGrpSpPr/>
        <p:nvPr/>
      </p:nvGrpSpPr>
      <p:grpSpPr>
        <a:xfrm>
          <a:off x="0" y="0"/>
          <a:ext cx="0" cy="0"/>
          <a:chOff x="0" y="0"/>
          <a:chExt cx="0" cy="0"/>
        </a:xfrm>
      </p:grpSpPr>
      <p:sp>
        <p:nvSpPr>
          <p:cNvPr id="1233" name="Google Shape;1233;g1ce5fea9e0d_0_1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34" name="Google Shape;1234;g1ce5fea9e0d_0_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0" name="Shape 1240"/>
        <p:cNvGrpSpPr/>
        <p:nvPr/>
      </p:nvGrpSpPr>
      <p:grpSpPr>
        <a:xfrm>
          <a:off x="0" y="0"/>
          <a:ext cx="0" cy="0"/>
          <a:chOff x="0" y="0"/>
          <a:chExt cx="0" cy="0"/>
        </a:xfrm>
      </p:grpSpPr>
      <p:sp>
        <p:nvSpPr>
          <p:cNvPr id="1241" name="Google Shape;1241;g1c5bc27dca8_1_83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2" name="Google Shape;1242;g1c5bc27dca8_1_83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9" name="Shape 1249"/>
        <p:cNvGrpSpPr/>
        <p:nvPr/>
      </p:nvGrpSpPr>
      <p:grpSpPr>
        <a:xfrm>
          <a:off x="0" y="0"/>
          <a:ext cx="0" cy="0"/>
          <a:chOff x="0" y="0"/>
          <a:chExt cx="0" cy="0"/>
        </a:xfrm>
      </p:grpSpPr>
      <p:sp>
        <p:nvSpPr>
          <p:cNvPr id="1250" name="Google Shape;1250;g1c5bc27dca8_1_86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1" name="Google Shape;1251;g1c5bc27dca8_1_86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6" name="Shape 1256"/>
        <p:cNvGrpSpPr/>
        <p:nvPr/>
      </p:nvGrpSpPr>
      <p:grpSpPr>
        <a:xfrm>
          <a:off x="0" y="0"/>
          <a:ext cx="0" cy="0"/>
          <a:chOff x="0" y="0"/>
          <a:chExt cx="0" cy="0"/>
        </a:xfrm>
      </p:grpSpPr>
      <p:sp>
        <p:nvSpPr>
          <p:cNvPr id="1257" name="Google Shape;1257;g1c5bc27dca8_1_7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58" name="Google Shape;1258;g1c5bc27dca8_1_7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3" name="Shape 1263"/>
        <p:cNvGrpSpPr/>
        <p:nvPr/>
      </p:nvGrpSpPr>
      <p:grpSpPr>
        <a:xfrm>
          <a:off x="0" y="0"/>
          <a:ext cx="0" cy="0"/>
          <a:chOff x="0" y="0"/>
          <a:chExt cx="0" cy="0"/>
        </a:xfrm>
      </p:grpSpPr>
      <p:sp>
        <p:nvSpPr>
          <p:cNvPr id="1264" name="Google Shape;1264;g1c5bc27dca8_1_87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65" name="Google Shape;1265;g1c5bc27dca8_1_87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2" name="Shape 1272"/>
        <p:cNvGrpSpPr/>
        <p:nvPr/>
      </p:nvGrpSpPr>
      <p:grpSpPr>
        <a:xfrm>
          <a:off x="0" y="0"/>
          <a:ext cx="0" cy="0"/>
          <a:chOff x="0" y="0"/>
          <a:chExt cx="0" cy="0"/>
        </a:xfrm>
      </p:grpSpPr>
      <p:sp>
        <p:nvSpPr>
          <p:cNvPr id="1273" name="Google Shape;1273;g1c5bc27dca8_1_887: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74" name="Google Shape;1274;g1c5bc27dca8_1_88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8" name="Shape 1298"/>
        <p:cNvGrpSpPr/>
        <p:nvPr/>
      </p:nvGrpSpPr>
      <p:grpSpPr>
        <a:xfrm>
          <a:off x="0" y="0"/>
          <a:ext cx="0" cy="0"/>
          <a:chOff x="0" y="0"/>
          <a:chExt cx="0" cy="0"/>
        </a:xfrm>
      </p:grpSpPr>
      <p:sp>
        <p:nvSpPr>
          <p:cNvPr id="1299" name="Google Shape;1299;g1c5bc27dca8_1_27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00" name="Google Shape;1300;g1c5bc27dca8_1_27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8" name="Shape 1308"/>
        <p:cNvGrpSpPr/>
        <p:nvPr/>
      </p:nvGrpSpPr>
      <p:grpSpPr>
        <a:xfrm>
          <a:off x="0" y="0"/>
          <a:ext cx="0" cy="0"/>
          <a:chOff x="0" y="0"/>
          <a:chExt cx="0" cy="0"/>
        </a:xfrm>
      </p:grpSpPr>
      <p:sp>
        <p:nvSpPr>
          <p:cNvPr id="1309" name="Google Shape;1309;g1c5bc27dca8_1_280: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10" name="Google Shape;1310;g1c5bc27dca8_1_28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7" name="Shape 1317"/>
        <p:cNvGrpSpPr/>
        <p:nvPr/>
      </p:nvGrpSpPr>
      <p:grpSpPr>
        <a:xfrm>
          <a:off x="0" y="0"/>
          <a:ext cx="0" cy="0"/>
          <a:chOff x="0" y="0"/>
          <a:chExt cx="0" cy="0"/>
        </a:xfrm>
      </p:grpSpPr>
      <p:sp>
        <p:nvSpPr>
          <p:cNvPr id="1318" name="Google Shape;1318;g1c5bc27dca8_1_76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19" name="Google Shape;1319;g1c5bc27dca8_1_76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3" name="Shape 1323"/>
        <p:cNvGrpSpPr/>
        <p:nvPr/>
      </p:nvGrpSpPr>
      <p:grpSpPr>
        <a:xfrm>
          <a:off x="0" y="0"/>
          <a:ext cx="0" cy="0"/>
          <a:chOff x="0" y="0"/>
          <a:chExt cx="0" cy="0"/>
        </a:xfrm>
      </p:grpSpPr>
      <p:sp>
        <p:nvSpPr>
          <p:cNvPr id="1324" name="Google Shape;1324;g1c5bc27dca8_1_10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25" name="Google Shape;1325;g1c5bc27dca8_1_10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0" name="Shape 1330"/>
        <p:cNvGrpSpPr/>
        <p:nvPr/>
      </p:nvGrpSpPr>
      <p:grpSpPr>
        <a:xfrm>
          <a:off x="0" y="0"/>
          <a:ext cx="0" cy="0"/>
          <a:chOff x="0" y="0"/>
          <a:chExt cx="0" cy="0"/>
        </a:xfrm>
      </p:grpSpPr>
      <p:sp>
        <p:nvSpPr>
          <p:cNvPr id="1331" name="Google Shape;1331;g1c5bc27dca8_1_77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32" name="Google Shape;1332;g1c5bc27dca8_1_77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6" name="Shape 1336"/>
        <p:cNvGrpSpPr/>
        <p:nvPr/>
      </p:nvGrpSpPr>
      <p:grpSpPr>
        <a:xfrm>
          <a:off x="0" y="0"/>
          <a:ext cx="0" cy="0"/>
          <a:chOff x="0" y="0"/>
          <a:chExt cx="0" cy="0"/>
        </a:xfrm>
      </p:grpSpPr>
      <p:sp>
        <p:nvSpPr>
          <p:cNvPr id="1337" name="Google Shape;1337;g1c5bc27dca8_1_109: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38" name="Google Shape;1338;g1c5bc27dca8_1_10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3" name="Shape 1343"/>
        <p:cNvGrpSpPr/>
        <p:nvPr/>
      </p:nvGrpSpPr>
      <p:grpSpPr>
        <a:xfrm>
          <a:off x="0" y="0"/>
          <a:ext cx="0" cy="0"/>
          <a:chOff x="0" y="0"/>
          <a:chExt cx="0" cy="0"/>
        </a:xfrm>
      </p:grpSpPr>
      <p:sp>
        <p:nvSpPr>
          <p:cNvPr id="1344" name="Google Shape;1344;g1ce5fea9e0d_0_2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45" name="Google Shape;1345;g1ce5fea9e0d_0_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1" name="Shape 1351"/>
        <p:cNvGrpSpPr/>
        <p:nvPr/>
      </p:nvGrpSpPr>
      <p:grpSpPr>
        <a:xfrm>
          <a:off x="0" y="0"/>
          <a:ext cx="0" cy="0"/>
          <a:chOff x="0" y="0"/>
          <a:chExt cx="0" cy="0"/>
        </a:xfrm>
      </p:grpSpPr>
      <p:sp>
        <p:nvSpPr>
          <p:cNvPr id="1352" name="Google Shape;1352;g1ce5fea9e0d_0_33: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53" name="Google Shape;1353;g1ce5fea9e0d_0_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9" name="Shape 1359"/>
        <p:cNvGrpSpPr/>
        <p:nvPr/>
      </p:nvGrpSpPr>
      <p:grpSpPr>
        <a:xfrm>
          <a:off x="0" y="0"/>
          <a:ext cx="0" cy="0"/>
          <a:chOff x="0" y="0"/>
          <a:chExt cx="0" cy="0"/>
        </a:xfrm>
      </p:grpSpPr>
      <p:sp>
        <p:nvSpPr>
          <p:cNvPr id="1360" name="Google Shape;1360;g1ce5fea9e0d_0_42: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1" name="Google Shape;1361;g1ce5fea9e0d_0_4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7" name="Shape 1367"/>
        <p:cNvGrpSpPr/>
        <p:nvPr/>
      </p:nvGrpSpPr>
      <p:grpSpPr>
        <a:xfrm>
          <a:off x="0" y="0"/>
          <a:ext cx="0" cy="0"/>
          <a:chOff x="0" y="0"/>
          <a:chExt cx="0" cy="0"/>
        </a:xfrm>
      </p:grpSpPr>
      <p:sp>
        <p:nvSpPr>
          <p:cNvPr id="1368" name="Google Shape;1368;g1c5bc27dca8_1_776: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9" name="Google Shape;1369;g1c5bc27dca8_1_77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3" name="Shape 1373"/>
        <p:cNvGrpSpPr/>
        <p:nvPr/>
      </p:nvGrpSpPr>
      <p:grpSpPr>
        <a:xfrm>
          <a:off x="0" y="0"/>
          <a:ext cx="0" cy="0"/>
          <a:chOff x="0" y="0"/>
          <a:chExt cx="0" cy="0"/>
        </a:xfrm>
      </p:grpSpPr>
      <p:sp>
        <p:nvSpPr>
          <p:cNvPr id="1374" name="Google Shape;1374;g1c5bc27dca8_1_115: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75" name="Google Shape;1375;g1c5bc27dca8_1_1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0" name="Shape 1380"/>
        <p:cNvGrpSpPr/>
        <p:nvPr/>
      </p:nvGrpSpPr>
      <p:grpSpPr>
        <a:xfrm>
          <a:off x="0" y="0"/>
          <a:ext cx="0" cy="0"/>
          <a:chOff x="0" y="0"/>
          <a:chExt cx="0" cy="0"/>
        </a:xfrm>
      </p:grpSpPr>
      <p:sp>
        <p:nvSpPr>
          <p:cNvPr id="1381" name="Google Shape;1381;g1ce5fea9e0d_0_51: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82" name="Google Shape;1382;g1ce5fea9e0d_0_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0" name="Shape 1390"/>
        <p:cNvGrpSpPr/>
        <p:nvPr/>
      </p:nvGrpSpPr>
      <p:grpSpPr>
        <a:xfrm>
          <a:off x="0" y="0"/>
          <a:ext cx="0" cy="0"/>
          <a:chOff x="0" y="0"/>
          <a:chExt cx="0" cy="0"/>
        </a:xfrm>
      </p:grpSpPr>
      <p:sp>
        <p:nvSpPr>
          <p:cNvPr id="1391" name="Google Shape;1391;g147d0867b72_0_74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92" name="Google Shape;1392;g147d0867b72_0_74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5" name="Shape 1395"/>
        <p:cNvGrpSpPr/>
        <p:nvPr/>
      </p:nvGrpSpPr>
      <p:grpSpPr>
        <a:xfrm>
          <a:off x="0" y="0"/>
          <a:ext cx="0" cy="0"/>
          <a:chOff x="0" y="0"/>
          <a:chExt cx="0" cy="0"/>
        </a:xfrm>
      </p:grpSpPr>
      <p:sp>
        <p:nvSpPr>
          <p:cNvPr id="1396" name="Google Shape;1396;g1ce41771991_1_58: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97" name="Google Shape;1397;g1ce41771991_1_5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3" name="Shape 1403"/>
        <p:cNvGrpSpPr/>
        <p:nvPr/>
      </p:nvGrpSpPr>
      <p:grpSpPr>
        <a:xfrm>
          <a:off x="0" y="0"/>
          <a:ext cx="0" cy="0"/>
          <a:chOff x="0" y="0"/>
          <a:chExt cx="0" cy="0"/>
        </a:xfrm>
      </p:grpSpPr>
      <p:sp>
        <p:nvSpPr>
          <p:cNvPr id="1404" name="Google Shape;1404;g147d0867b72_0_774:notes"/>
          <p:cNvSpPr txBox="1"/>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05" name="Google Shape;1405;g147d0867b72_0_77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srcRect l="1" t="39928" r="32964"/>
          <a:stretch>
            <a:fillRect/>
          </a:stretch>
        </p:blipFill>
        <p:spPr>
          <a:xfrm>
            <a:off x="1714500" y="-1"/>
            <a:ext cx="10477500" cy="6496051"/>
          </a:xfrm>
          <a:prstGeom prst="rect">
            <a:avLst/>
          </a:prstGeom>
          <a:noFill/>
          <a:ln>
            <a:noFill/>
          </a:ln>
        </p:spPr>
      </p:pic>
      <p:sp>
        <p:nvSpPr>
          <p:cNvPr id="17" name="Google Shape;17;p2"/>
          <p:cNvSpPr txBox="1"/>
          <p:nvPr>
            <p:ph type="ctrTitle"/>
          </p:nvPr>
        </p:nvSpPr>
        <p:spPr>
          <a:xfrm>
            <a:off x="723900" y="3133664"/>
            <a:ext cx="5372100" cy="1296194"/>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type="dt" idx="10"/>
          </p:nvPr>
        </p:nvSpPr>
        <p:spPr>
          <a:xfrm>
            <a:off x="838200" y="5901897"/>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pic>
        <p:nvPicPr>
          <p:cNvPr id="21" name="Google Shape;21;p2" descr="Logo&#10;&#10;Description automatically generated"/>
          <p:cNvPicPr preferRelativeResize="0"/>
          <p:nvPr/>
        </p:nvPicPr>
        <p:blipFill rotWithShape="1">
          <a:blip r:embed="rId3"/>
          <a:srcRect/>
          <a:stretch>
            <a:fillRect/>
          </a:stretch>
        </p:blipFill>
        <p:spPr>
          <a:xfrm>
            <a:off x="10026684" y="646174"/>
            <a:ext cx="1430036" cy="15675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784225"/>
            <a:ext cx="10515600" cy="1325563"/>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5" name="Google Shape;25;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28" name="Google Shape;28;p3"/>
          <p:cNvSpPr/>
          <p:nvPr/>
        </p:nvSpPr>
        <p:spPr>
          <a:xfrm>
            <a:off x="838198" y="655794"/>
            <a:ext cx="10515599" cy="262616"/>
          </a:xfrm>
          <a:custGeom>
            <a:avLst/>
            <a:gdLst/>
            <a:ahLst/>
            <a:cxnLst/>
            <a:rect l="l" t="t" r="r" b="b"/>
            <a:pathLst>
              <a:path w="5329428" h="134683" extrusionOk="0">
                <a:moveTo>
                  <a:pt x="0" y="0"/>
                </a:moveTo>
                <a:lnTo>
                  <a:pt x="5152263" y="0"/>
                </a:lnTo>
                <a:lnTo>
                  <a:pt x="5329428" y="134684"/>
                </a:lnTo>
              </a:path>
            </a:pathLst>
          </a:custGeom>
          <a:noFill/>
          <a:ln w="9525" cap="flat" cmpd="sng">
            <a:solidFill>
              <a:srgbClr val="F36E2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29;p3"/>
          <p:cNvSpPr/>
          <p:nvPr/>
        </p:nvSpPr>
        <p:spPr>
          <a:xfrm>
            <a:off x="9637485" y="6476186"/>
            <a:ext cx="2554876" cy="379904"/>
          </a:xfrm>
          <a:custGeom>
            <a:avLst/>
            <a:gdLst/>
            <a:ahLst/>
            <a:cxnLst/>
            <a:rect l="l" t="t" r="r" b="b"/>
            <a:pathLst>
              <a:path w="2554876" h="379904" extrusionOk="0">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0;p3"/>
          <p:cNvSpPr/>
          <p:nvPr/>
        </p:nvSpPr>
        <p:spPr>
          <a:xfrm>
            <a:off x="0" y="6476186"/>
            <a:ext cx="9637485" cy="37990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1" name="Google Shape;31;p3"/>
          <p:cNvPicPr preferRelativeResize="0"/>
          <p:nvPr/>
        </p:nvPicPr>
        <p:blipFill rotWithShape="1">
          <a:blip r:embed="rId2"/>
          <a:srcRect/>
          <a:stretch>
            <a:fillRect/>
          </a:stretch>
        </p:blipFill>
        <p:spPr>
          <a:xfrm>
            <a:off x="10053634" y="5948363"/>
            <a:ext cx="1300163" cy="228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32" name="Shape 32"/>
        <p:cNvGrpSpPr/>
        <p:nvPr/>
      </p:nvGrpSpPr>
      <p:grpSpPr>
        <a:xfrm>
          <a:off x="0" y="0"/>
          <a:ext cx="0" cy="0"/>
          <a:chOff x="0" y="0"/>
          <a:chExt cx="0" cy="0"/>
        </a:xfrm>
      </p:grpSpPr>
      <p:sp>
        <p:nvSpPr>
          <p:cNvPr id="33" name="Google Shape;33;p4"/>
          <p:cNvSpPr txBox="1"/>
          <p:nvPr>
            <p:ph type="title"/>
          </p:nvPr>
        </p:nvSpPr>
        <p:spPr>
          <a:xfrm>
            <a:off x="838200" y="784225"/>
            <a:ext cx="10515600" cy="1325563"/>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38" name="Google Shape;38;p4"/>
          <p:cNvSpPr/>
          <p:nvPr/>
        </p:nvSpPr>
        <p:spPr>
          <a:xfrm>
            <a:off x="838198" y="655794"/>
            <a:ext cx="10515599" cy="262616"/>
          </a:xfrm>
          <a:custGeom>
            <a:avLst/>
            <a:gdLst/>
            <a:ahLst/>
            <a:cxnLst/>
            <a:rect l="l" t="t" r="r" b="b"/>
            <a:pathLst>
              <a:path w="5329428" h="134683" extrusionOk="0">
                <a:moveTo>
                  <a:pt x="0" y="0"/>
                </a:moveTo>
                <a:lnTo>
                  <a:pt x="5152263" y="0"/>
                </a:lnTo>
                <a:lnTo>
                  <a:pt x="5329428" y="134684"/>
                </a:lnTo>
              </a:path>
            </a:pathLst>
          </a:custGeom>
          <a:noFill/>
          <a:ln w="9525" cap="flat" cmpd="sng">
            <a:solidFill>
              <a:srgbClr val="F36E2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4"/>
          <p:cNvSpPr/>
          <p:nvPr/>
        </p:nvSpPr>
        <p:spPr>
          <a:xfrm>
            <a:off x="9637485" y="6476186"/>
            <a:ext cx="2554876" cy="379904"/>
          </a:xfrm>
          <a:custGeom>
            <a:avLst/>
            <a:gdLst/>
            <a:ahLst/>
            <a:cxnLst/>
            <a:rect l="l" t="t" r="r" b="b"/>
            <a:pathLst>
              <a:path w="2554876" h="379904" extrusionOk="0">
                <a:moveTo>
                  <a:pt x="2554877" y="0"/>
                </a:moveTo>
                <a:lnTo>
                  <a:pt x="2554877" y="379905"/>
                </a:lnTo>
                <a:lnTo>
                  <a:pt x="0" y="379905"/>
                </a:lnTo>
                <a:lnTo>
                  <a:pt x="0" y="0"/>
                </a:lnTo>
                <a:lnTo>
                  <a:pt x="1324801" y="0"/>
                </a:lnTo>
                <a:lnTo>
                  <a:pt x="1762523" y="308815"/>
                </a:lnTo>
                <a:lnTo>
                  <a:pt x="1762523" y="0"/>
                </a:lnTo>
                <a:lnTo>
                  <a:pt x="2554877"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4"/>
          <p:cNvSpPr/>
          <p:nvPr/>
        </p:nvSpPr>
        <p:spPr>
          <a:xfrm>
            <a:off x="0" y="6476186"/>
            <a:ext cx="9637485" cy="37990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 name="Google Shape;41;p4"/>
          <p:cNvPicPr preferRelativeResize="0"/>
          <p:nvPr/>
        </p:nvPicPr>
        <p:blipFill rotWithShape="1">
          <a:blip r:embed="rId2"/>
          <a:srcRect/>
          <a:stretch>
            <a:fillRect/>
          </a:stretch>
        </p:blipFill>
        <p:spPr>
          <a:xfrm>
            <a:off x="10053634" y="5948363"/>
            <a:ext cx="1300163" cy="228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42" name="Shape 42"/>
        <p:cNvGrpSpPr/>
        <p:nvPr/>
      </p:nvGrpSpPr>
      <p:grpSpPr>
        <a:xfrm>
          <a:off x="0" y="0"/>
          <a:ext cx="0" cy="0"/>
          <a:chOff x="0" y="0"/>
          <a:chExt cx="0" cy="0"/>
        </a:xfrm>
      </p:grpSpPr>
      <p:sp>
        <p:nvSpPr>
          <p:cNvPr id="43" name="Google Shape;43;p5"/>
          <p:cNvSpPr txBox="1"/>
          <p:nvPr>
            <p:ph type="ctrTitle"/>
          </p:nvPr>
        </p:nvSpPr>
        <p:spPr>
          <a:xfrm>
            <a:off x="5981700" y="2780903"/>
            <a:ext cx="5372100" cy="1296194"/>
          </a:xfrm>
          <a:prstGeom prst="rect">
            <a:avLst/>
          </a:prstGeom>
          <a:noFill/>
          <a:ln>
            <a:noFill/>
          </a:ln>
        </p:spPr>
        <p:txBody>
          <a:bodyPr spcFirstLastPara="1" wrap="square" lIns="91425" tIns="45700" rIns="91425" bIns="45700" anchor="b" anchorCtr="0">
            <a:noAutofit/>
          </a:bodyPr>
          <a:lstStyle>
            <a:lvl1pPr lvl="0" algn="r">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type="dt" idx="10"/>
          </p:nvPr>
        </p:nvSpPr>
        <p:spPr>
          <a:xfrm>
            <a:off x="8610600" y="5901897"/>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pic>
        <p:nvPicPr>
          <p:cNvPr id="47" name="Google Shape;47;p5"/>
          <p:cNvPicPr preferRelativeResize="0"/>
          <p:nvPr/>
        </p:nvPicPr>
        <p:blipFill rotWithShape="1">
          <a:blip r:embed="rId2"/>
          <a:srcRect l="59298" t="30195" r="24139" b="46699"/>
          <a:stretch>
            <a:fillRect/>
          </a:stretch>
        </p:blipFill>
        <p:spPr>
          <a:xfrm flipH="1">
            <a:off x="-3" y="-9525"/>
            <a:ext cx="7312075" cy="6867526"/>
          </a:xfrm>
          <a:prstGeom prst="rect">
            <a:avLst/>
          </a:prstGeom>
          <a:noFill/>
          <a:ln>
            <a:noFill/>
          </a:ln>
        </p:spPr>
      </p:pic>
      <p:pic>
        <p:nvPicPr>
          <p:cNvPr id="48" name="Google Shape;48;p5"/>
          <p:cNvPicPr preferRelativeResize="0"/>
          <p:nvPr/>
        </p:nvPicPr>
        <p:blipFill rotWithShape="1">
          <a:blip r:embed="rId3"/>
          <a:srcRect/>
          <a:stretch>
            <a:fillRect/>
          </a:stretch>
        </p:blipFill>
        <p:spPr>
          <a:xfrm>
            <a:off x="8813798" y="590978"/>
            <a:ext cx="2540002" cy="44659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49" name="Shape 49"/>
        <p:cNvGrpSpPr/>
        <p:nvPr/>
      </p:nvGrpSpPr>
      <p:grpSpPr>
        <a:xfrm>
          <a:off x="0" y="0"/>
          <a:ext cx="0" cy="0"/>
          <a:chOff x="0" y="0"/>
          <a:chExt cx="0" cy="0"/>
        </a:xfrm>
      </p:grpSpPr>
      <p:sp>
        <p:nvSpPr>
          <p:cNvPr id="50" name="Google Shape;50;p6"/>
          <p:cNvSpPr txBox="1"/>
          <p:nvPr>
            <p:ph type="title"/>
          </p:nvPr>
        </p:nvSpPr>
        <p:spPr>
          <a:xfrm>
            <a:off x="838200" y="784225"/>
            <a:ext cx="10515600" cy="1325563"/>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2" name="Google Shape;5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55" name="Google Shape;55;p6"/>
          <p:cNvSpPr/>
          <p:nvPr/>
        </p:nvSpPr>
        <p:spPr>
          <a:xfrm>
            <a:off x="9637485" y="6476186"/>
            <a:ext cx="2554876" cy="379904"/>
          </a:xfrm>
          <a:custGeom>
            <a:avLst/>
            <a:gdLst/>
            <a:ahLst/>
            <a:cxnLst/>
            <a:rect l="l" t="t" r="r" b="b"/>
            <a:pathLst>
              <a:path w="2554876" h="379904" extrusionOk="0">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 name="Google Shape;56;p6"/>
          <p:cNvSpPr/>
          <p:nvPr/>
        </p:nvSpPr>
        <p:spPr>
          <a:xfrm>
            <a:off x="0" y="6476186"/>
            <a:ext cx="9637485" cy="379904"/>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7" name="Google Shape;57;p6"/>
          <p:cNvPicPr preferRelativeResize="0"/>
          <p:nvPr/>
        </p:nvPicPr>
        <p:blipFill rotWithShape="1">
          <a:blip r:embed="rId2"/>
          <a:srcRect/>
          <a:stretch>
            <a:fillRect/>
          </a:stretch>
        </p:blipFill>
        <p:spPr>
          <a:xfrm>
            <a:off x="8813798" y="5788487"/>
            <a:ext cx="2540002" cy="446594"/>
          </a:xfrm>
          <a:prstGeom prst="rect">
            <a:avLst/>
          </a:prstGeom>
          <a:noFill/>
          <a:ln>
            <a:noFill/>
          </a:ln>
        </p:spPr>
      </p:pic>
      <p:pic>
        <p:nvPicPr>
          <p:cNvPr id="58" name="Google Shape;58;p6"/>
          <p:cNvPicPr preferRelativeResize="0"/>
          <p:nvPr/>
        </p:nvPicPr>
        <p:blipFill rotWithShape="1">
          <a:blip r:embed="rId3"/>
          <a:srcRect l="9574" t="38875" r="13719" b="55217"/>
          <a:stretch>
            <a:fillRect/>
          </a:stretch>
        </p:blipFill>
        <p:spPr>
          <a:xfrm>
            <a:off x="0" y="-1"/>
            <a:ext cx="12192000" cy="6496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7"/>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7"/>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62" name="Google Shape;62;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65" name="Shape 65"/>
        <p:cNvGrpSpPr/>
        <p:nvPr/>
      </p:nvGrpSpPr>
      <p:grpSpPr>
        <a:xfrm>
          <a:off x="0" y="0"/>
          <a:ext cx="0" cy="0"/>
          <a:chOff x="0" y="0"/>
          <a:chExt cx="0" cy="0"/>
        </a:xfrm>
      </p:grpSpPr>
      <p:sp>
        <p:nvSpPr>
          <p:cNvPr id="66" name="Google Shape;66;p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8" name="Google Shape;68;p8"/>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9" name="Google Shape;69;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75" name="Google Shape;75;p9"/>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6" name="Google Shape;76;p9"/>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77" name="Google Shape;77;p9"/>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8" name="Google Shape;78;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81" name="Shape 81"/>
        <p:cNvGrpSpPr/>
        <p:nvPr/>
      </p:nvGrpSpPr>
      <p:grpSpPr>
        <a:xfrm>
          <a:off x="0" y="0"/>
          <a:ext cx="0" cy="0"/>
          <a:chOff x="0" y="0"/>
          <a:chExt cx="0" cy="0"/>
        </a:xfrm>
      </p:grpSpPr>
      <p:sp>
        <p:nvSpPr>
          <p:cNvPr id="82" name="Google Shape;82;p10"/>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6" name="Shape 86"/>
        <p:cNvGrpSpPr/>
        <p:nvPr/>
      </p:nvGrpSpPr>
      <p:grpSpPr>
        <a:xfrm>
          <a:off x="0" y="0"/>
          <a:ext cx="0" cy="0"/>
          <a:chOff x="0" y="0"/>
          <a:chExt cx="0" cy="0"/>
        </a:xfrm>
      </p:grpSpPr>
      <p:sp>
        <p:nvSpPr>
          <p:cNvPr id="87" name="Google Shape;87;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0" name="Shape 90"/>
        <p:cNvGrpSpPr/>
        <p:nvPr/>
      </p:nvGrpSpPr>
      <p:grpSpPr>
        <a:xfrm>
          <a:off x="0" y="0"/>
          <a:ext cx="0" cy="0"/>
          <a:chOff x="0" y="0"/>
          <a:chExt cx="0" cy="0"/>
        </a:xfrm>
      </p:grpSpPr>
      <p:sp>
        <p:nvSpPr>
          <p:cNvPr id="91" name="Google Shape;91;p12"/>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2"/>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93" name="Google Shape;93;p12"/>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94" name="Google Shape;94;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97" name="Shape 97"/>
        <p:cNvGrpSpPr/>
        <p:nvPr/>
      </p:nvGrpSpPr>
      <p:grpSpPr>
        <a:xfrm>
          <a:off x="0" y="0"/>
          <a:ext cx="0" cy="0"/>
          <a:chOff x="0" y="0"/>
          <a:chExt cx="0" cy="0"/>
        </a:xfrm>
      </p:grpSpPr>
      <p:sp>
        <p:nvSpPr>
          <p:cNvPr id="98" name="Google Shape;98;p13"/>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3"/>
          <p:cNvSpPr/>
          <p:nvPr>
            <p:ph type="pic" idx="2"/>
          </p:nvPr>
        </p:nvSpPr>
        <p:spPr>
          <a:xfrm>
            <a:off x="5183188" y="987425"/>
            <a:ext cx="6172200" cy="4873625"/>
          </a:xfrm>
          <a:prstGeom prst="rect">
            <a:avLst/>
          </a:prstGeom>
          <a:noFill/>
          <a:ln>
            <a:noFill/>
          </a:ln>
        </p:spPr>
      </p:sp>
      <p:sp>
        <p:nvSpPr>
          <p:cNvPr id="100" name="Google Shape;100;p13"/>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1" name="Google Shape;101;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04" name="Shape 104"/>
        <p:cNvGrpSpPr/>
        <p:nvPr/>
      </p:nvGrpSpPr>
      <p:grpSpPr>
        <a:xfrm>
          <a:off x="0" y="0"/>
          <a:ext cx="0" cy="0"/>
          <a:chOff x="0" y="0"/>
          <a:chExt cx="0" cy="0"/>
        </a:xfrm>
      </p:grpSpPr>
      <p:sp>
        <p:nvSpPr>
          <p:cNvPr id="105" name="Google Shape;105;p14"/>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07" name="Google Shape;107;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0" name="Shape 110"/>
        <p:cNvGrpSpPr/>
        <p:nvPr/>
      </p:nvGrpSpPr>
      <p:grpSpPr>
        <a:xfrm>
          <a:off x="0" y="0"/>
          <a:ext cx="0" cy="0"/>
          <a:chOff x="0" y="0"/>
          <a:chExt cx="0" cy="0"/>
        </a:xfrm>
      </p:grpSpPr>
      <p:sp>
        <p:nvSpPr>
          <p:cNvPr id="111" name="Google Shape;111;p15"/>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13" name="Google Shape;113;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16" name="Shape 116"/>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matchingName="Title Slide 1">
  <p:cSld name="TITLE">
    <p:spTree>
      <p:nvGrpSpPr>
        <p:cNvPr id="117" name="Shape 117"/>
        <p:cNvGrpSpPr/>
        <p:nvPr/>
      </p:nvGrpSpPr>
      <p:grpSpPr>
        <a:xfrm>
          <a:off x="0" y="0"/>
          <a:ext cx="0" cy="0"/>
          <a:chOff x="0" y="0"/>
          <a:chExt cx="0" cy="0"/>
        </a:xfrm>
      </p:grpSpPr>
      <p:sp>
        <p:nvSpPr>
          <p:cNvPr id="118" name="Google Shape;118;p17"/>
          <p:cNvSpPr txBox="1"/>
          <p:nvPr>
            <p:ph type="ctrTitle"/>
          </p:nvPr>
        </p:nvSpPr>
        <p:spPr>
          <a:xfrm>
            <a:off x="914400" y="2130425"/>
            <a:ext cx="103632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9" name="Google Shape;119;p17"/>
          <p:cNvSpPr txBox="1"/>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20" name="Google Shape;120;p17"/>
          <p:cNvSpPr txBox="1"/>
          <p:nvPr>
            <p:ph type="dt" idx="10"/>
          </p:nvPr>
        </p:nvSpPr>
        <p:spPr>
          <a:xfrm>
            <a:off x="609600" y="6356350"/>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21" name="Google Shape;121;p17"/>
          <p:cNvSpPr txBox="1"/>
          <p:nvPr>
            <p:ph type="ftr" idx="11"/>
          </p:nvPr>
        </p:nvSpPr>
        <p:spPr>
          <a:xfrm>
            <a:off x="4165600" y="6356350"/>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22" name="Google Shape;122;p17"/>
          <p:cNvSpPr txBox="1"/>
          <p:nvPr>
            <p:ph type="sldNum" idx="12"/>
          </p:nvPr>
        </p:nvSpPr>
        <p:spPr>
          <a:xfrm>
            <a:off x="8737600" y="6356350"/>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9pPr>
          </a:lstStyle>
          <a:p/>
        </p:txBody>
      </p:sp>
      <p:sp>
        <p:nvSpPr>
          <p:cNvPr id="12" name="Google Shape;12;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23.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51.xml.rels><?xml version="1.0" encoding="UTF-8" standalone="yes"?>
<Relationships xmlns="http://schemas.openxmlformats.org/package/2006/relationships"><Relationship Id="rId7" Type="http://schemas.openxmlformats.org/officeDocument/2006/relationships/notesSlide" Target="../notesSlides/notesSlide51.xml"/><Relationship Id="rId6"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slideLayout" Target="../slideLayouts/slideLayout2.xml"/><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jpeg"/></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2.xml"/><Relationship Id="rId4" Type="http://schemas.openxmlformats.org/officeDocument/2006/relationships/image" Target="../media/image42.jpeg"/><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39.jpeg"/></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2.xml"/><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image" Target="../media/image43.jpeg"/></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2.xml"/><Relationship Id="rId4" Type="http://schemas.openxmlformats.org/officeDocument/2006/relationships/image" Target="../media/image35.jpeg"/><Relationship Id="rId3" Type="http://schemas.openxmlformats.org/officeDocument/2006/relationships/image" Target="../media/image8.png"/><Relationship Id="rId2" Type="http://schemas.openxmlformats.org/officeDocument/2006/relationships/image" Target="../media/image43.jpeg"/><Relationship Id="rId1" Type="http://schemas.openxmlformats.org/officeDocument/2006/relationships/image" Target="../media/image46.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image" Target="../media/image48.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51.png"/></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1.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80.xml.rels><?xml version="1.0" encoding="UTF-8" standalone="yes"?>
<Relationships xmlns="http://schemas.openxmlformats.org/package/2006/relationships"><Relationship Id="rId7" Type="http://schemas.openxmlformats.org/officeDocument/2006/relationships/notesSlide" Target="../notesSlides/notesSlide80.xml"/><Relationship Id="rId6"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6" Type="http://schemas.openxmlformats.org/officeDocument/2006/relationships/notesSlide" Target="../notesSlides/notesSlide85.xml"/><Relationship Id="rId5" Type="http://schemas.openxmlformats.org/officeDocument/2006/relationships/slideLayout" Target="../slideLayouts/slideLayout2.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hyperlink" Target="https://webinarcare.com/best-marketing-calendar-software/" TargetMode="External"/><Relationship Id="rId1" Type="http://schemas.openxmlformats.org/officeDocument/2006/relationships/hyperlink" Target="https://www.ventureharbour.com/marketing-calendar-software/" TargetMode="Externa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9.xml.rels><?xml version="1.0" encoding="UTF-8" standalone="yes"?>
<Relationships xmlns="http://schemas.openxmlformats.org/package/2006/relationships"><Relationship Id="rId5" Type="http://schemas.openxmlformats.org/officeDocument/2006/relationships/notesSlide" Target="../notesSlides/notesSlide89.xml"/><Relationship Id="rId4" Type="http://schemas.openxmlformats.org/officeDocument/2006/relationships/slideLayout" Target="../slideLayouts/slideLayout2.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8.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8.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8.png"/></Relationships>
</file>

<file path=ppt/slides/_rels/slide111.xml.rels><?xml version="1.0" encoding="UTF-8" standalone="yes"?>
<Relationships xmlns="http://schemas.openxmlformats.org/package/2006/relationships"><Relationship Id="rId5" Type="http://schemas.openxmlformats.org/officeDocument/2006/relationships/notesSlide" Target="../notesSlides/notesSlide111.xml"/><Relationship Id="rId4" Type="http://schemas.openxmlformats.org/officeDocument/2006/relationships/slideLayout" Target="../slideLayouts/slideLayout2.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8.png"/></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8.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hyperlink" Target="https://www.elasticpath.com/resources/events/nrf-2023" TargetMode="External"/></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129.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6" Type="http://schemas.openxmlformats.org/officeDocument/2006/relationships/notesSlide" Target="../notesSlides/notesSlide131.xml"/><Relationship Id="rId5" Type="http://schemas.openxmlformats.org/officeDocument/2006/relationships/slideLayout" Target="../slideLayouts/slideLayout2.xml"/><Relationship Id="rId4" Type="http://schemas.openxmlformats.org/officeDocument/2006/relationships/image" Target="../media/image76.png"/><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hyperlink" Target="https://www.accustore.com/nrf-big-show/" TargetMode="External"/></Relationships>
</file>

<file path=ppt/slides/_rels/slide132.xml.rels><?xml version="1.0" encoding="UTF-8" standalone="yes"?>
<Relationships xmlns="http://schemas.openxmlformats.org/package/2006/relationships"><Relationship Id="rId5" Type="http://schemas.openxmlformats.org/officeDocument/2006/relationships/notesSlide" Target="../notesSlides/notesSlide132.xml"/><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hyperlink" Target="https://www.elasticpath.com/resources/events/nrf-2023" TargetMode="Externa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137.xml"/><Relationship Id="rId3" Type="http://schemas.openxmlformats.org/officeDocument/2006/relationships/slideLayout" Target="../slideLayouts/slideLayout2.xml"/><Relationship Id="rId2" Type="http://schemas.openxmlformats.org/officeDocument/2006/relationships/image" Target="../media/image80.png"/><Relationship Id="rId1" Type="http://schemas.openxmlformats.org/officeDocument/2006/relationships/image" Target="../media/image79.png"/></Relationships>
</file>

<file path=ppt/slides/_rels/slide138.xml.rels><?xml version="1.0" encoding="UTF-8" standalone="yes"?>
<Relationships xmlns="http://schemas.openxmlformats.org/package/2006/relationships"><Relationship Id="rId4" Type="http://schemas.openxmlformats.org/officeDocument/2006/relationships/notesSlide" Target="../notesSlides/notesSlide138.xml"/><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139.xml.rels><?xml version="1.0" encoding="UTF-8" standalone="yes"?>
<Relationships xmlns="http://schemas.openxmlformats.org/package/2006/relationships"><Relationship Id="rId4" Type="http://schemas.openxmlformats.org/officeDocument/2006/relationships/notesSlide" Target="../notesSlides/notesSlide139.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5" Type="http://schemas.openxmlformats.org/officeDocument/2006/relationships/notesSlide" Target="../notesSlides/notesSlide142.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86.png"/><Relationship Id="rId1" Type="http://schemas.openxmlformats.org/officeDocument/2006/relationships/image" Target="../media/image85.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18"/>
          <p:cNvSpPr txBox="1"/>
          <p:nvPr>
            <p:ph type="ctrTitle"/>
          </p:nvPr>
        </p:nvSpPr>
        <p:spPr>
          <a:xfrm>
            <a:off x="723900" y="3044225"/>
            <a:ext cx="6402300" cy="12963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accent1"/>
              </a:buClr>
              <a:buSzPts val="5400"/>
              <a:buFont typeface="Calibri"/>
              <a:buNone/>
            </a:pPr>
            <a:r>
              <a:rPr lang="en-US" sz="5100">
                <a:solidFill>
                  <a:schemeClr val="accent2"/>
                </a:solidFill>
              </a:rPr>
              <a:t>Marketing</a:t>
            </a:r>
            <a:r>
              <a:rPr lang="en-US" sz="5100"/>
              <a:t> </a:t>
            </a:r>
            <a:r>
              <a:rPr lang="en-US" sz="5100">
                <a:solidFill>
                  <a:schemeClr val="accent2"/>
                </a:solidFill>
              </a:rPr>
              <a:t>Strategy</a:t>
            </a:r>
            <a:endParaRPr sz="5100">
              <a:solidFill>
                <a:schemeClr val="accent2"/>
              </a:solidFill>
            </a:endParaRPr>
          </a:p>
        </p:txBody>
      </p:sp>
      <p:sp>
        <p:nvSpPr>
          <p:cNvPr id="128" name="Google Shape;128;p18"/>
          <p:cNvSpPr txBox="1"/>
          <p:nvPr>
            <p:ph type="dt" idx="10"/>
          </p:nvPr>
        </p:nvSpPr>
        <p:spPr>
          <a:xfrm>
            <a:off x="838200" y="5901897"/>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000"/>
              <a:buFont typeface="Arial" panose="020B0704020202020204"/>
              <a:buNone/>
            </a:pPr>
            <a:r>
              <a:rPr lang="en-US"/>
              <a:t>01/05/2023</a:t>
            </a:r>
            <a:endParaRPr lang="en-US"/>
          </a:p>
        </p:txBody>
      </p:sp>
      <p:pic>
        <p:nvPicPr>
          <p:cNvPr id="129" name="Google Shape;129;p18"/>
          <p:cNvPicPr preferRelativeResize="0"/>
          <p:nvPr/>
        </p:nvPicPr>
        <p:blipFill>
          <a:blip r:embed="rId1"/>
          <a:stretch>
            <a:fillRect/>
          </a:stretch>
        </p:blipFill>
        <p:spPr>
          <a:xfrm>
            <a:off x="838200" y="4606863"/>
            <a:ext cx="3514725" cy="1028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pic>
        <p:nvPicPr>
          <p:cNvPr id="134" name="Google Shape;134;p19"/>
          <p:cNvPicPr preferRelativeResize="0"/>
          <p:nvPr/>
        </p:nvPicPr>
        <p:blipFill rotWithShape="1">
          <a:blip r:embed="rId1"/>
          <a:srcRect/>
          <a:stretch>
            <a:fillRect/>
          </a:stretch>
        </p:blipFill>
        <p:spPr>
          <a:xfrm>
            <a:off x="8265902" y="2623830"/>
            <a:ext cx="2825480" cy="2300990"/>
          </a:xfrm>
          <a:prstGeom prst="rect">
            <a:avLst/>
          </a:prstGeom>
          <a:noFill/>
          <a:ln>
            <a:noFill/>
          </a:ln>
        </p:spPr>
      </p:pic>
      <p:sp>
        <p:nvSpPr>
          <p:cNvPr id="135" name="Google Shape;135;p19"/>
          <p:cNvSpPr txBox="1"/>
          <p:nvPr>
            <p:ph type="title"/>
          </p:nvPr>
        </p:nvSpPr>
        <p:spPr>
          <a:xfrm>
            <a:off x="838200" y="7842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t>Agenda &amp; Purpose</a:t>
            </a:r>
            <a:endParaRPr lang="en-US"/>
          </a:p>
        </p:txBody>
      </p:sp>
      <p:sp>
        <p:nvSpPr>
          <p:cNvPr id="136" name="Google Shape;136;p19"/>
          <p:cNvSpPr txBox="1"/>
          <p:nvPr>
            <p:ph type="body" idx="1"/>
          </p:nvPr>
        </p:nvSpPr>
        <p:spPr>
          <a:xfrm>
            <a:off x="838200" y="1825625"/>
            <a:ext cx="8384400" cy="43512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Font typeface="Arial" panose="020B0704020202020204"/>
              <a:buNone/>
            </a:pPr>
            <a:r>
              <a:rPr lang="en-US" sz="2400"/>
              <a:t>Purpose</a:t>
            </a:r>
            <a:r>
              <a:rPr lang="en-US" sz="2400"/>
              <a:t>:</a:t>
            </a:r>
            <a:endParaRPr sz="2400"/>
          </a:p>
          <a:p>
            <a:pPr marL="800100" lvl="1" indent="-358775" algn="l" rtl="0">
              <a:lnSpc>
                <a:spcPct val="130000"/>
              </a:lnSpc>
              <a:spcBef>
                <a:spcPts val="1000"/>
              </a:spcBef>
              <a:spcAft>
                <a:spcPts val="0"/>
              </a:spcAft>
              <a:buClr>
                <a:schemeClr val="accent2"/>
              </a:buClr>
              <a:buSzPct val="100000"/>
              <a:buFont typeface="Noto Sans Symbols"/>
              <a:buChar char="✔"/>
            </a:pPr>
            <a:r>
              <a:rPr lang="en-US" sz="2000"/>
              <a:t>Present the strategy &amp; focus areas for CrossCap for the next year</a:t>
            </a:r>
            <a:endParaRPr sz="2000"/>
          </a:p>
          <a:p>
            <a:pPr marL="800100" lvl="1" indent="-358775" algn="l" rtl="0">
              <a:lnSpc>
                <a:spcPct val="130000"/>
              </a:lnSpc>
              <a:spcBef>
                <a:spcPts val="1000"/>
              </a:spcBef>
              <a:spcAft>
                <a:spcPts val="0"/>
              </a:spcAft>
              <a:buClr>
                <a:schemeClr val="accent2"/>
              </a:buClr>
              <a:buSzPct val="100000"/>
              <a:buChar char="✔"/>
            </a:pPr>
            <a:r>
              <a:rPr lang="en-US" sz="2000"/>
              <a:t>Review the “why” behind the recommendations</a:t>
            </a:r>
            <a:endParaRPr sz="2000"/>
          </a:p>
          <a:p>
            <a:pPr marL="0" lvl="0" indent="0" algn="l" rtl="0">
              <a:lnSpc>
                <a:spcPct val="90000"/>
              </a:lnSpc>
              <a:spcBef>
                <a:spcPts val="0"/>
              </a:spcBef>
              <a:spcAft>
                <a:spcPts val="0"/>
              </a:spcAft>
              <a:buClr>
                <a:schemeClr val="dk1"/>
              </a:buClr>
              <a:buSzPct val="100000"/>
              <a:buNone/>
            </a:pPr>
            <a:endParaRPr sz="2400"/>
          </a:p>
          <a:p>
            <a:pPr marL="0" lvl="0" indent="0" algn="l" rtl="0">
              <a:lnSpc>
                <a:spcPct val="90000"/>
              </a:lnSpc>
              <a:spcBef>
                <a:spcPts val="0"/>
              </a:spcBef>
              <a:spcAft>
                <a:spcPts val="0"/>
              </a:spcAft>
              <a:buClr>
                <a:schemeClr val="dk1"/>
              </a:buClr>
              <a:buSzPct val="100000"/>
              <a:buNone/>
            </a:pPr>
            <a:r>
              <a:rPr lang="en-US" sz="2400"/>
              <a:t>Agenda:</a:t>
            </a:r>
            <a:endParaRPr sz="2400"/>
          </a:p>
          <a:p>
            <a:pPr marL="800100" marR="0" lvl="1" indent="-358775" algn="l" rtl="0">
              <a:lnSpc>
                <a:spcPct val="130000"/>
              </a:lnSpc>
              <a:spcBef>
                <a:spcPts val="1000"/>
              </a:spcBef>
              <a:spcAft>
                <a:spcPts val="0"/>
              </a:spcAft>
              <a:buClr>
                <a:schemeClr val="accent2"/>
              </a:buClr>
              <a:buSzPct val="100000"/>
              <a:buChar char="✔"/>
            </a:pPr>
            <a:r>
              <a:rPr lang="en-US" sz="2000"/>
              <a:t>Marketing Goals Review</a:t>
            </a:r>
            <a:endParaRPr sz="2000"/>
          </a:p>
          <a:p>
            <a:pPr marL="685800" lvl="1" indent="-231775" algn="l" rtl="0">
              <a:lnSpc>
                <a:spcPct val="130000"/>
              </a:lnSpc>
              <a:spcBef>
                <a:spcPts val="1000"/>
              </a:spcBef>
              <a:spcAft>
                <a:spcPts val="0"/>
              </a:spcAft>
              <a:buClr>
                <a:schemeClr val="accent2"/>
              </a:buClr>
              <a:buSzPct val="100000"/>
              <a:buChar char="✔"/>
            </a:pPr>
            <a:r>
              <a:rPr lang="en-US" sz="2000"/>
              <a:t>  </a:t>
            </a:r>
            <a:r>
              <a:rPr lang="en-US" sz="2000"/>
              <a:t>Marketing Strategy Overview</a:t>
            </a:r>
            <a:endParaRPr sz="2000"/>
          </a:p>
          <a:p>
            <a:pPr marL="800100" marR="0" lvl="1" indent="-358775" algn="l" rtl="0">
              <a:lnSpc>
                <a:spcPct val="130000"/>
              </a:lnSpc>
              <a:spcBef>
                <a:spcPts val="1000"/>
              </a:spcBef>
              <a:spcAft>
                <a:spcPts val="0"/>
              </a:spcAft>
              <a:buClr>
                <a:schemeClr val="accent2"/>
              </a:buClr>
              <a:buSzPct val="100000"/>
              <a:buFont typeface="Noto Sans Symbols"/>
              <a:buChar char="✔"/>
            </a:pPr>
            <a:r>
              <a:rPr lang="en-US" sz="2000"/>
              <a:t>Marketing Strategy Detail </a:t>
            </a:r>
            <a:endParaRPr sz="2000"/>
          </a:p>
          <a:p>
            <a:pPr marL="800100" marR="0" lvl="1" indent="-358775" algn="l" rtl="0">
              <a:lnSpc>
                <a:spcPct val="130000"/>
              </a:lnSpc>
              <a:spcBef>
                <a:spcPts val="1000"/>
              </a:spcBef>
              <a:spcAft>
                <a:spcPts val="0"/>
              </a:spcAft>
              <a:buClr>
                <a:schemeClr val="accent2"/>
              </a:buClr>
              <a:buSzPct val="100000"/>
              <a:buFont typeface="Noto Sans Symbols"/>
              <a:buChar char="✔"/>
            </a:pPr>
            <a:r>
              <a:rPr lang="en-US" sz="2000"/>
              <a:t>Proposed Action Plan </a:t>
            </a:r>
            <a:endParaRPr sz="2000"/>
          </a:p>
          <a:p>
            <a:pPr marL="800100" marR="0" lvl="1" indent="-358775" algn="l" rtl="0">
              <a:lnSpc>
                <a:spcPct val="130000"/>
              </a:lnSpc>
              <a:spcBef>
                <a:spcPts val="1000"/>
              </a:spcBef>
              <a:spcAft>
                <a:spcPts val="0"/>
              </a:spcAft>
              <a:buClr>
                <a:schemeClr val="accent2"/>
              </a:buClr>
              <a:buSzPct val="100000"/>
              <a:buChar char="✔"/>
            </a:pPr>
            <a:r>
              <a:rPr lang="en-US" sz="2000"/>
              <a:t>Next Steps</a:t>
            </a:r>
            <a:endParaRPr sz="2000"/>
          </a:p>
          <a:p>
            <a:pPr marL="685800" marR="0" lvl="0" indent="0" algn="l" rtl="0">
              <a:lnSpc>
                <a:spcPct val="130000"/>
              </a:lnSpc>
              <a:spcBef>
                <a:spcPts val="1000"/>
              </a:spcBef>
              <a:spcAft>
                <a:spcPts val="0"/>
              </a:spcAft>
              <a:buNone/>
            </a:pP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4972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a:solidFill>
                  <a:srgbClr val="073763"/>
                </a:solidFill>
              </a:rPr>
              <a:t>Marketing Strategy - </a:t>
            </a:r>
            <a:r>
              <a:rPr lang="en-US" b="0" i="1">
                <a:solidFill>
                  <a:srgbClr val="073763"/>
                </a:solidFill>
                <a:latin typeface="Calibri"/>
                <a:ea typeface="Calibri"/>
                <a:cs typeface="Calibri"/>
                <a:sym typeface="Calibri"/>
              </a:rPr>
              <a:t>Stages</a:t>
            </a:r>
            <a:endParaRPr>
              <a:solidFill>
                <a:srgbClr val="073763"/>
              </a:solidFill>
            </a:endParaRPr>
          </a:p>
          <a:p>
            <a:pPr marL="0" lvl="0" indent="0" algn="l" rtl="0">
              <a:lnSpc>
                <a:spcPct val="90000"/>
              </a:lnSpc>
              <a:spcBef>
                <a:spcPts val="0"/>
              </a:spcBef>
              <a:spcAft>
                <a:spcPts val="0"/>
              </a:spcAft>
              <a:buClr>
                <a:schemeClr val="accent2"/>
              </a:buClr>
              <a:buSzPts val="4400"/>
              <a:buFont typeface="Calibri"/>
              <a:buNone/>
            </a:pPr>
            <a:endParaRPr sz="3400" b="0" i="1">
              <a:solidFill>
                <a:srgbClr val="073763"/>
              </a:solidFill>
              <a:latin typeface="Calibri"/>
              <a:ea typeface="Calibri"/>
              <a:cs typeface="Calibri"/>
              <a:sym typeface="Calibri"/>
            </a:endParaRPr>
          </a:p>
        </p:txBody>
      </p:sp>
      <p:pic>
        <p:nvPicPr>
          <p:cNvPr id="142" name="Google Shape;142;p20"/>
          <p:cNvPicPr preferRelativeResize="0"/>
          <p:nvPr/>
        </p:nvPicPr>
        <p:blipFill rotWithShape="1">
          <a:blip r:embed="rId1"/>
          <a:srcRect/>
          <a:stretch>
            <a:fillRect/>
          </a:stretch>
        </p:blipFill>
        <p:spPr>
          <a:xfrm>
            <a:off x="8076150" y="1741375"/>
            <a:ext cx="3493050" cy="4428999"/>
          </a:xfrm>
          <a:prstGeom prst="rect">
            <a:avLst/>
          </a:prstGeom>
          <a:noFill/>
          <a:ln>
            <a:noFill/>
          </a:ln>
        </p:spPr>
      </p:pic>
      <p:pic>
        <p:nvPicPr>
          <p:cNvPr id="143" name="Google Shape;143;p20"/>
          <p:cNvPicPr preferRelativeResize="0"/>
          <p:nvPr/>
        </p:nvPicPr>
        <p:blipFill rotWithShape="1">
          <a:blip r:embed="rId2"/>
          <a:srcRect/>
          <a:stretch>
            <a:fillRect/>
          </a:stretch>
        </p:blipFill>
        <p:spPr>
          <a:xfrm>
            <a:off x="534725" y="1748875"/>
            <a:ext cx="3335975" cy="4413975"/>
          </a:xfrm>
          <a:prstGeom prst="rect">
            <a:avLst/>
          </a:prstGeom>
          <a:noFill/>
          <a:ln>
            <a:noFill/>
          </a:ln>
        </p:spPr>
      </p:pic>
      <p:pic>
        <p:nvPicPr>
          <p:cNvPr id="144" name="Google Shape;144;p20"/>
          <p:cNvPicPr preferRelativeResize="0"/>
          <p:nvPr/>
        </p:nvPicPr>
        <p:blipFill rotWithShape="1">
          <a:blip r:embed="rId3"/>
          <a:srcRect/>
          <a:stretch>
            <a:fillRect/>
          </a:stretch>
        </p:blipFill>
        <p:spPr>
          <a:xfrm>
            <a:off x="4226900" y="1748875"/>
            <a:ext cx="3493050" cy="4428999"/>
          </a:xfrm>
          <a:prstGeom prst="rect">
            <a:avLst/>
          </a:prstGeom>
          <a:noFill/>
          <a:ln>
            <a:noFill/>
          </a:ln>
        </p:spPr>
      </p:pic>
      <p:sp>
        <p:nvSpPr>
          <p:cNvPr id="145" name="Google Shape;145;p20"/>
          <p:cNvSpPr txBox="1"/>
          <p:nvPr/>
        </p:nvSpPr>
        <p:spPr>
          <a:xfrm>
            <a:off x="4460163" y="1871575"/>
            <a:ext cx="3114000" cy="498480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None/>
            </a:pPr>
            <a:r>
              <a:rPr lang="en-US" sz="1700" b="1">
                <a:solidFill>
                  <a:srgbClr val="434343"/>
                </a:solidFill>
                <a:latin typeface="Calibri"/>
                <a:ea typeface="Calibri"/>
                <a:cs typeface="Calibri"/>
                <a:sym typeface="Calibri"/>
              </a:rPr>
              <a:t>2. Marketing Foundation Implementation:</a:t>
            </a:r>
            <a:br>
              <a:rPr lang="en-US" sz="400" b="1">
                <a:solidFill>
                  <a:srgbClr val="434343"/>
                </a:solidFill>
                <a:latin typeface="Calibri"/>
                <a:ea typeface="Calibri"/>
                <a:cs typeface="Calibri"/>
                <a:sym typeface="Calibri"/>
              </a:rPr>
            </a:br>
            <a:br>
              <a:rPr lang="en-US" sz="400" b="1">
                <a:solidFill>
                  <a:srgbClr val="434343"/>
                </a:solidFill>
                <a:latin typeface="Calibri"/>
                <a:ea typeface="Calibri"/>
                <a:cs typeface="Calibri"/>
                <a:sym typeface="Calibri"/>
              </a:rPr>
            </a:br>
            <a:r>
              <a:rPr lang="en-US" sz="1500">
                <a:solidFill>
                  <a:srgbClr val="434343"/>
                </a:solidFill>
                <a:latin typeface="Calibri"/>
                <a:ea typeface="Calibri"/>
                <a:cs typeface="Calibri"/>
                <a:sym typeface="Calibri"/>
              </a:rPr>
              <a:t>Based on the Marketing Strategy, make key foundational changes to:</a:t>
            </a:r>
            <a:endParaRPr sz="1500">
              <a:solidFill>
                <a:srgbClr val="434343"/>
              </a:solidFill>
              <a:latin typeface="Calibri"/>
              <a:ea typeface="Calibri"/>
              <a:cs typeface="Calibri"/>
              <a:sym typeface="Calibri"/>
            </a:endParaRPr>
          </a:p>
          <a:p>
            <a:pPr marL="285750" marR="0" lvl="0" indent="-2667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Messaging, branding, positioning across all assets (website, social, print, etc.) </a:t>
            </a:r>
            <a:endParaRPr sz="1500">
              <a:solidFill>
                <a:srgbClr val="434343"/>
              </a:solidFill>
              <a:latin typeface="Calibri"/>
              <a:ea typeface="Calibri"/>
              <a:cs typeface="Calibri"/>
              <a:sym typeface="Calibri"/>
            </a:endParaRPr>
          </a:p>
          <a:p>
            <a:pPr marL="285750" marR="0" lvl="0" indent="-2667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Content &amp; structure changes to website &amp; all assets (create new marketing materials, etc.)</a:t>
            </a:r>
            <a:endParaRPr sz="1500">
              <a:solidFill>
                <a:srgbClr val="434343"/>
              </a:solidFill>
              <a:latin typeface="Calibri"/>
              <a:ea typeface="Calibri"/>
              <a:cs typeface="Calibri"/>
              <a:sym typeface="Calibri"/>
            </a:endParaRPr>
          </a:p>
          <a:p>
            <a:pPr marL="285750" marR="0" lvl="0" indent="-273050" algn="l" rtl="0">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Set-up any lead nurturing/marketing funnels &amp; conversion packages</a:t>
            </a: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endParaRPr sz="400">
              <a:solidFill>
                <a:srgbClr val="434343"/>
              </a:solidFill>
              <a:latin typeface="Calibri"/>
              <a:ea typeface="Calibri"/>
              <a:cs typeface="Calibri"/>
              <a:sym typeface="Calibri"/>
            </a:endParaRPr>
          </a:p>
          <a:p>
            <a:pPr marL="0" lvl="0" indent="0" algn="l" rtl="0">
              <a:spcBef>
                <a:spcPts val="0"/>
              </a:spcBef>
              <a:spcAft>
                <a:spcPts val="0"/>
              </a:spcAft>
              <a:buNone/>
            </a:pPr>
            <a:r>
              <a:rPr lang="en-US" sz="1000" i="1">
                <a:solidFill>
                  <a:srgbClr val="434343"/>
                </a:solidFill>
                <a:latin typeface="Calibri"/>
                <a:ea typeface="Calibri"/>
                <a:cs typeface="Calibri"/>
                <a:sym typeface="Calibri"/>
              </a:rPr>
              <a:t>Essential prior to marketing outreach. All marketing drives back to this foundation. Skipping this step risks conversions, wastes time &amp; money.</a:t>
            </a:r>
            <a:endParaRPr sz="1000" i="1">
              <a:solidFill>
                <a:srgbClr val="434343"/>
              </a:solidFill>
              <a:latin typeface="Calibri"/>
              <a:ea typeface="Calibri"/>
              <a:cs typeface="Calibri"/>
              <a:sym typeface="Calibri"/>
            </a:endParaRPr>
          </a:p>
          <a:p>
            <a:pPr marL="0" lvl="0" indent="0" algn="l" rtl="0">
              <a:spcBef>
                <a:spcPts val="0"/>
              </a:spcBef>
              <a:spcAft>
                <a:spcPts val="0"/>
              </a:spcAft>
              <a:buNone/>
            </a:pPr>
            <a:endParaRPr sz="1000" i="1">
              <a:solidFill>
                <a:srgbClr val="434343"/>
              </a:solidFill>
              <a:latin typeface="Calibri"/>
              <a:ea typeface="Calibri"/>
              <a:cs typeface="Calibri"/>
              <a:sym typeface="Calibri"/>
            </a:endParaRPr>
          </a:p>
          <a:p>
            <a:pPr marL="0" lvl="0" indent="0" algn="l" rtl="0">
              <a:spcBef>
                <a:spcPts val="0"/>
              </a:spcBef>
              <a:spcAft>
                <a:spcPts val="0"/>
              </a:spcAft>
              <a:buNone/>
            </a:pPr>
            <a:r>
              <a:rPr lang="en-US" sz="1000" i="1">
                <a:solidFill>
                  <a:srgbClr val="434343"/>
                </a:solidFill>
                <a:latin typeface="Calibri"/>
                <a:ea typeface="Calibri"/>
                <a:cs typeface="Calibri"/>
                <a:sym typeface="Calibri"/>
              </a:rPr>
              <a:t>KPIs based initially on activity completed, ongoing based on increased lead captures &amp; conversions </a:t>
            </a:r>
            <a:endParaRPr sz="10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46" name="Google Shape;146;p20"/>
          <p:cNvSpPr txBox="1"/>
          <p:nvPr/>
        </p:nvSpPr>
        <p:spPr>
          <a:xfrm>
            <a:off x="771350" y="1915875"/>
            <a:ext cx="2975100" cy="45408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1. Marketing Strategy:</a:t>
            </a:r>
            <a:endParaRPr sz="1700" b="1">
              <a:solidFill>
                <a:srgbClr val="434343"/>
              </a:solidFill>
              <a:latin typeface="Calibri"/>
              <a:ea typeface="Calibri"/>
              <a:cs typeface="Calibri"/>
              <a:sym typeface="Calibri"/>
            </a:endParaRPr>
          </a:p>
          <a:p>
            <a:pPr marL="0" marR="0" lvl="0" indent="0" algn="l" rtl="0">
              <a:lnSpc>
                <a:spcPct val="100000"/>
              </a:lnSpc>
              <a:spcBef>
                <a:spcPts val="0"/>
              </a:spcBef>
              <a:spcAft>
                <a:spcPts val="0"/>
              </a:spcAft>
              <a:buNone/>
            </a:pPr>
            <a:r>
              <a:rPr lang="en-US" sz="1500">
                <a:solidFill>
                  <a:srgbClr val="434343"/>
                </a:solidFill>
                <a:latin typeface="Calibri"/>
                <a:ea typeface="Calibri"/>
                <a:cs typeface="Calibri"/>
                <a:sym typeface="Calibri"/>
              </a:rPr>
              <a:t>Outlines the overall marketing direction for the company &amp; products based on client insights, competitor reviews &amp; research, including:</a:t>
            </a:r>
            <a:endParaRPr sz="1700" b="1">
              <a:solidFill>
                <a:srgbClr val="434343"/>
              </a:solidFill>
              <a:latin typeface="Calibri"/>
              <a:ea typeface="Calibri"/>
              <a:cs typeface="Calibri"/>
              <a:sym typeface="Calibri"/>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Client personas and customer journey</a:t>
            </a:r>
            <a:endParaRPr sz="1500">
              <a:solidFill>
                <a:srgbClr val="434343"/>
              </a:solidFill>
              <a:latin typeface="Calibri"/>
              <a:ea typeface="Calibri"/>
              <a:cs typeface="Calibri"/>
              <a:sym typeface="Calibri"/>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Foundational changes or additions (branding, positioning, content, website, funnels, etc.)</a:t>
            </a:r>
            <a:endParaRPr sz="1500">
              <a:solidFill>
                <a:srgbClr val="434343"/>
              </a:solidFill>
              <a:latin typeface="Calibri"/>
              <a:ea typeface="Calibri"/>
              <a:cs typeface="Calibri"/>
              <a:sym typeface="Calibri"/>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Recommended marketing activities (lead generation, awareness, customer retention)</a:t>
            </a: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47" name="Google Shape;147;p20"/>
          <p:cNvSpPr txBox="1"/>
          <p:nvPr/>
        </p:nvSpPr>
        <p:spPr>
          <a:xfrm>
            <a:off x="8364200" y="1915875"/>
            <a:ext cx="3114000" cy="483090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None/>
            </a:pPr>
            <a:r>
              <a:rPr lang="en-US" sz="1700" b="1">
                <a:solidFill>
                  <a:srgbClr val="434343"/>
                </a:solidFill>
                <a:latin typeface="Calibri"/>
                <a:ea typeface="Calibri"/>
                <a:cs typeface="Calibri"/>
                <a:sym typeface="Calibri"/>
              </a:rPr>
              <a:t>3. Marketing Activity Execution:</a:t>
            </a:r>
            <a:br>
              <a:rPr lang="en-US" sz="400" b="1">
                <a:solidFill>
                  <a:srgbClr val="434343"/>
                </a:solidFill>
                <a:latin typeface="Calibri"/>
                <a:ea typeface="Calibri"/>
                <a:cs typeface="Calibri"/>
                <a:sym typeface="Calibri"/>
              </a:rPr>
            </a:br>
            <a:br>
              <a:rPr lang="en-US" sz="400" b="1">
                <a:solidFill>
                  <a:srgbClr val="434343"/>
                </a:solidFill>
                <a:latin typeface="Calibri"/>
                <a:ea typeface="Calibri"/>
                <a:cs typeface="Calibri"/>
                <a:sym typeface="Calibri"/>
              </a:rPr>
            </a:br>
            <a:r>
              <a:rPr lang="en-US" sz="1500">
                <a:solidFill>
                  <a:srgbClr val="434343"/>
                </a:solidFill>
                <a:latin typeface="Calibri"/>
                <a:ea typeface="Calibri"/>
                <a:cs typeface="Calibri"/>
                <a:sym typeface="Calibri"/>
              </a:rPr>
              <a:t>Marketing activities to generate leads &amp; awareness (push &amp; pull). All drive back to the Foundation set-up:</a:t>
            </a:r>
            <a:endParaRPr sz="1500">
              <a:solidFill>
                <a:srgbClr val="434343"/>
              </a:solidFill>
              <a:latin typeface="Calibri"/>
              <a:ea typeface="Calibri"/>
              <a:cs typeface="Calibri"/>
              <a:sym typeface="Calibri"/>
            </a:endParaRPr>
          </a:p>
          <a:p>
            <a:pPr marL="285750" marR="0" lvl="0" indent="-20955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Lead generation activities, including advertising, direct marketing, events, association marketing, SEO</a:t>
            </a:r>
            <a:endParaRPr sz="1500">
              <a:solidFill>
                <a:srgbClr val="434343"/>
              </a:solidFill>
              <a:latin typeface="Calibri"/>
              <a:ea typeface="Calibri"/>
              <a:cs typeface="Calibri"/>
              <a:sym typeface="Calibri"/>
            </a:endParaRPr>
          </a:p>
          <a:p>
            <a:pPr marL="285750" marR="0" lvl="0" indent="-20955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Awareness activities, including brand advertising, events, media relations, online listings, social media, content marketing</a:t>
            </a:r>
            <a:endParaRPr sz="1500">
              <a:solidFill>
                <a:srgbClr val="434343"/>
              </a:solidFill>
              <a:latin typeface="Calibri"/>
              <a:ea typeface="Calibri"/>
              <a:cs typeface="Calibri"/>
              <a:sym typeface="Calibri"/>
            </a:endParaRPr>
          </a:p>
          <a:p>
            <a:pPr marL="285750" marR="0" lvl="0" indent="-215900" algn="l" rtl="0">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Relationship building &amp; direct sales</a:t>
            </a: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br>
              <a:rPr lang="en-US" sz="400">
                <a:solidFill>
                  <a:srgbClr val="434343"/>
                </a:solidFill>
                <a:latin typeface="Calibri"/>
                <a:ea typeface="Calibri"/>
                <a:cs typeface="Calibri"/>
                <a:sym typeface="Calibri"/>
              </a:rPr>
            </a:br>
            <a:endParaRPr sz="400">
              <a:solidFill>
                <a:srgbClr val="434343"/>
              </a:solidFill>
              <a:latin typeface="Calibri"/>
              <a:ea typeface="Calibri"/>
              <a:cs typeface="Calibri"/>
              <a:sym typeface="Calibri"/>
            </a:endParaRPr>
          </a:p>
          <a:p>
            <a:pPr marL="0" lvl="0" indent="0" algn="l" rtl="0">
              <a:spcBef>
                <a:spcPts val="0"/>
              </a:spcBef>
              <a:spcAft>
                <a:spcPts val="0"/>
              </a:spcAft>
              <a:buNone/>
            </a:pPr>
            <a:r>
              <a:rPr lang="en-US" sz="1300" i="1">
                <a:solidFill>
                  <a:srgbClr val="434343"/>
                </a:solidFill>
                <a:latin typeface="Calibri"/>
                <a:ea typeface="Calibri"/>
                <a:cs typeface="Calibri"/>
                <a:sym typeface="Calibri"/>
              </a:rPr>
              <a:t>KPIs for lead generation based on clicks &amp; conversions, KPIs for awareness measured through new mentions, increased social followers, surveys.</a:t>
            </a:r>
            <a:endParaRPr sz="13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528000" y="2483525"/>
            <a:ext cx="10515600" cy="132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4400"/>
              <a:buFont typeface="Calibri"/>
              <a:buNone/>
            </a:pPr>
            <a:r>
              <a:rPr lang="en-US"/>
              <a:t>Marketing Strategy </a:t>
            </a:r>
            <a:endParaRPr lang="en-US"/>
          </a:p>
          <a:p>
            <a:pPr marL="0" lvl="0" indent="0" algn="ctr" rtl="0">
              <a:lnSpc>
                <a:spcPct val="90000"/>
              </a:lnSpc>
              <a:spcBef>
                <a:spcPts val="0"/>
              </a:spcBef>
              <a:spcAft>
                <a:spcPts val="0"/>
              </a:spcAft>
              <a:buClr>
                <a:schemeClr val="accent2"/>
              </a:buClr>
              <a:buSzPts val="4400"/>
              <a:buFont typeface="Calibri"/>
              <a:buNone/>
            </a:pPr>
            <a:r>
              <a:rPr lang="en-US"/>
              <a:t>Goals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838200" y="784225"/>
            <a:ext cx="11117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Convert more leads by updating messaging, positioning and branding</a:t>
            </a:r>
            <a:endParaRPr sz="3800">
              <a:latin typeface="Calibri"/>
              <a:ea typeface="Calibri"/>
              <a:cs typeface="Calibri"/>
              <a:sym typeface="Calibri"/>
            </a:endParaRPr>
          </a:p>
        </p:txBody>
      </p:sp>
      <p:sp>
        <p:nvSpPr>
          <p:cNvPr id="158" name="Google Shape;158;p22"/>
          <p:cNvSpPr txBox="1"/>
          <p:nvPr>
            <p:ph type="body" idx="1"/>
          </p:nvPr>
        </p:nvSpPr>
        <p:spPr>
          <a:xfrm>
            <a:off x="622525" y="2207250"/>
            <a:ext cx="10400400" cy="4126500"/>
          </a:xfrm>
          <a:prstGeom prst="rect">
            <a:avLst/>
          </a:prstGeom>
          <a:noFill/>
          <a:ln>
            <a:noFill/>
          </a:ln>
        </p:spPr>
        <p:txBody>
          <a:bodyPr spcFirstLastPara="1" wrap="square" lIns="91425" tIns="45700" rIns="91425" bIns="45700" anchor="t" anchorCtr="0">
            <a:noAutofit/>
          </a:bodyPr>
          <a:lstStyle/>
          <a:p>
            <a:pPr marL="742950" marR="0" lvl="1" indent="-292100" algn="l" rtl="0">
              <a:lnSpc>
                <a:spcPct val="115000"/>
              </a:lnSpc>
              <a:spcBef>
                <a:spcPts val="1000"/>
              </a:spcBef>
              <a:spcAft>
                <a:spcPts val="0"/>
              </a:spcAft>
              <a:buClr>
                <a:schemeClr val="accent2"/>
              </a:buClr>
              <a:buSzPts val="1900"/>
              <a:buChar char="✔"/>
            </a:pPr>
            <a:r>
              <a:rPr lang="en-US" sz="1900" b="1"/>
              <a:t>Challenge:</a:t>
            </a:r>
            <a:r>
              <a:rPr lang="en-US" sz="1900" b="1">
                <a:solidFill>
                  <a:srgbClr val="F36E25"/>
                </a:solidFill>
              </a:rPr>
              <a:t> </a:t>
            </a:r>
            <a:r>
              <a:rPr lang="en-US" sz="1900"/>
              <a:t>Prospects who land on the website or social media pages, or view any marketing outreach may not be converting to leads or demo requests because the current messaging &amp; branding:</a:t>
            </a:r>
            <a:endParaRPr sz="1900"/>
          </a:p>
          <a:p>
            <a:pPr marL="1143000" marR="0" lvl="2" indent="-234950" algn="l" rtl="0">
              <a:lnSpc>
                <a:spcPct val="115000"/>
              </a:lnSpc>
              <a:spcBef>
                <a:spcPts val="1000"/>
              </a:spcBef>
              <a:spcAft>
                <a:spcPts val="0"/>
              </a:spcAft>
              <a:buClr>
                <a:schemeClr val="accent2"/>
              </a:buClr>
              <a:buSzPts val="1900"/>
              <a:buChar char="•"/>
            </a:pPr>
            <a:r>
              <a:rPr lang="en-US" sz="1900"/>
              <a:t>Does not immediately position CrossCap’s products as enterprise level</a:t>
            </a:r>
            <a:endParaRPr sz="1900"/>
          </a:p>
          <a:p>
            <a:pPr marL="1143000" marR="0" lvl="2" indent="-234950" algn="l" rtl="0">
              <a:lnSpc>
                <a:spcPct val="115000"/>
              </a:lnSpc>
              <a:spcBef>
                <a:spcPts val="1000"/>
              </a:spcBef>
              <a:spcAft>
                <a:spcPts val="0"/>
              </a:spcAft>
              <a:buClr>
                <a:schemeClr val="accent2"/>
              </a:buClr>
              <a:buSzPts val="1900"/>
              <a:buChar char="•"/>
            </a:pPr>
            <a:r>
              <a:rPr lang="en-US" sz="1900"/>
              <a:t>May actually indicate CrossCap is for smaller organizations or solopreneurs</a:t>
            </a:r>
            <a:endParaRPr sz="1900"/>
          </a:p>
          <a:p>
            <a:pPr marL="685800" lvl="1" indent="-234950" algn="l" rtl="0">
              <a:lnSpc>
                <a:spcPct val="130000"/>
              </a:lnSpc>
              <a:spcBef>
                <a:spcPts val="1000"/>
              </a:spcBef>
              <a:spcAft>
                <a:spcPts val="0"/>
              </a:spcAft>
              <a:buClr>
                <a:schemeClr val="accent2"/>
              </a:buClr>
              <a:buSzPts val="1900"/>
              <a:buChar char="✔"/>
            </a:pPr>
            <a:r>
              <a:rPr lang="en-US" sz="1900" b="1"/>
              <a:t>Goal: </a:t>
            </a:r>
            <a:r>
              <a:rPr lang="en-US" sz="1900"/>
              <a:t>Clearly indicate to enterprise level prospects that they are in the right place when they land on the CrossCap website or view CrossCap anywhere online or in person/Position the company as the enterprise choice and invaluable software for the CMO/their team</a:t>
            </a:r>
            <a:endParaRPr sz="1900">
              <a:solidFill>
                <a:srgbClr val="F36E25"/>
              </a:solidFill>
            </a:endParaRPr>
          </a:p>
          <a:p>
            <a:pPr marL="685800" lvl="1" indent="-234950" algn="l" rtl="0">
              <a:lnSpc>
                <a:spcPct val="115000"/>
              </a:lnSpc>
              <a:spcBef>
                <a:spcPts val="1000"/>
              </a:spcBef>
              <a:spcAft>
                <a:spcPts val="0"/>
              </a:spcAft>
              <a:buClr>
                <a:schemeClr val="accent2"/>
              </a:buClr>
              <a:buSzPts val="1900"/>
              <a:buChar char="✔"/>
            </a:pPr>
            <a:r>
              <a:rPr lang="en-US" sz="1900" b="1"/>
              <a:t>Action Steps: </a:t>
            </a:r>
            <a:r>
              <a:rPr lang="en-US" sz="1900"/>
              <a:t>New messaging guide, updated messaging, branding and photos on the website and in key online and foundational marketing assets. </a:t>
            </a:r>
            <a:endParaRPr sz="1900"/>
          </a:p>
        </p:txBody>
      </p:sp>
      <p:sp>
        <p:nvSpPr>
          <p:cNvPr id="159" name="Google Shape;159;p2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a:t>
            </a:r>
            <a:r>
              <a:rPr lang="en-US" sz="1900" b="0" i="1">
                <a:solidFill>
                  <a:schemeClr val="accent5"/>
                </a:solidFill>
                <a:latin typeface="Calibri"/>
                <a:ea typeface="Calibri"/>
                <a:cs typeface="Calibri"/>
                <a:sym typeface="Calibri"/>
              </a:rPr>
              <a:t>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838200" y="784225"/>
            <a:ext cx="11117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Convert more leads by clarifying CrossCap products &amp; product hierarchy</a:t>
            </a:r>
            <a:endParaRPr sz="3800">
              <a:latin typeface="Calibri"/>
              <a:ea typeface="Calibri"/>
              <a:cs typeface="Calibri"/>
              <a:sym typeface="Calibri"/>
            </a:endParaRPr>
          </a:p>
        </p:txBody>
      </p:sp>
      <p:sp>
        <p:nvSpPr>
          <p:cNvPr id="165" name="Google Shape;165;p23"/>
          <p:cNvSpPr txBox="1"/>
          <p:nvPr>
            <p:ph type="body" idx="1"/>
          </p:nvPr>
        </p:nvSpPr>
        <p:spPr>
          <a:xfrm>
            <a:off x="605275" y="2167750"/>
            <a:ext cx="10400400" cy="4126500"/>
          </a:xfrm>
          <a:prstGeom prst="rect">
            <a:avLst/>
          </a:prstGeom>
          <a:noFill/>
          <a:ln>
            <a:noFill/>
          </a:ln>
        </p:spPr>
        <p:txBody>
          <a:bodyPr spcFirstLastPara="1" wrap="square" lIns="91425" tIns="45700" rIns="91425" bIns="45700" anchor="t" anchorCtr="0">
            <a:noAutofit/>
          </a:bodyPr>
          <a:lstStyle/>
          <a:p>
            <a:pPr marL="685800" marR="0" lvl="1" indent="-234950" algn="l" rtl="0">
              <a:lnSpc>
                <a:spcPct val="115000"/>
              </a:lnSpc>
              <a:spcBef>
                <a:spcPts val="1000"/>
              </a:spcBef>
              <a:spcAft>
                <a:spcPts val="0"/>
              </a:spcAft>
              <a:buClr>
                <a:schemeClr val="accent2"/>
              </a:buClr>
              <a:buSzPts val="1900"/>
              <a:buChar char="✔"/>
            </a:pPr>
            <a:r>
              <a:rPr lang="en-US" sz="1900" b="1"/>
              <a:t>Challenge:</a:t>
            </a:r>
            <a:r>
              <a:rPr lang="en-US" sz="1900" b="1">
                <a:solidFill>
                  <a:srgbClr val="F36E25"/>
                </a:solidFill>
              </a:rPr>
              <a:t> </a:t>
            </a:r>
            <a:r>
              <a:rPr lang="en-US" sz="1900"/>
              <a:t>When landing on the website, prospects may not be able to quickly understand which products are for them; may not be directed to the products we want them to focus on</a:t>
            </a:r>
            <a:endParaRPr sz="1900"/>
          </a:p>
          <a:p>
            <a:pPr marL="685800" lvl="1" indent="-234950" algn="l" rtl="0">
              <a:lnSpc>
                <a:spcPct val="130000"/>
              </a:lnSpc>
              <a:spcBef>
                <a:spcPts val="1000"/>
              </a:spcBef>
              <a:spcAft>
                <a:spcPts val="0"/>
              </a:spcAft>
              <a:buClr>
                <a:schemeClr val="accent2"/>
              </a:buClr>
              <a:buSzPts val="1900"/>
              <a:buChar char="✔"/>
            </a:pPr>
            <a:r>
              <a:rPr lang="en-US" sz="1900" b="1"/>
              <a:t>Goal: </a:t>
            </a:r>
            <a:r>
              <a:rPr lang="en-US" sz="1900"/>
              <a:t>Make it clear that Marketing Calendar and Distro are the two main products, and clearly define them and direct ideal prospects to the one that’s right for them.</a:t>
            </a:r>
            <a:endParaRPr sz="1900">
              <a:solidFill>
                <a:srgbClr val="F36E25"/>
              </a:solidFill>
            </a:endParaRPr>
          </a:p>
          <a:p>
            <a:pPr marL="685800" lvl="1" indent="-234950" algn="l" rtl="0">
              <a:lnSpc>
                <a:spcPct val="115000"/>
              </a:lnSpc>
              <a:spcBef>
                <a:spcPts val="1000"/>
              </a:spcBef>
              <a:spcAft>
                <a:spcPts val="0"/>
              </a:spcAft>
              <a:buClr>
                <a:schemeClr val="accent2"/>
              </a:buClr>
              <a:buSzPts val="1900"/>
              <a:buChar char="✔"/>
            </a:pPr>
            <a:r>
              <a:rPr lang="en-US" sz="1900" b="1"/>
              <a:t>Action Steps: </a:t>
            </a:r>
            <a:endParaRPr sz="1900" b="1"/>
          </a:p>
          <a:p>
            <a:pPr marL="1143000" lvl="2" indent="-234950" algn="l" rtl="0">
              <a:lnSpc>
                <a:spcPct val="115000"/>
              </a:lnSpc>
              <a:spcBef>
                <a:spcPts val="1000"/>
              </a:spcBef>
              <a:spcAft>
                <a:spcPts val="0"/>
              </a:spcAft>
              <a:buSzPts val="1900"/>
              <a:buChar char="•"/>
            </a:pPr>
            <a:r>
              <a:rPr lang="en-US" sz="1900"/>
              <a:t>Update product flow and positioning on the website</a:t>
            </a:r>
            <a:endParaRPr sz="1900"/>
          </a:p>
        </p:txBody>
      </p:sp>
      <p:sp>
        <p:nvSpPr>
          <p:cNvPr id="166" name="Google Shape;166;p2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838200" y="784225"/>
            <a:ext cx="107079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Convert more website traffic into marketing qualified leads	</a:t>
            </a:r>
            <a:endParaRPr sz="3800">
              <a:latin typeface="Calibri"/>
              <a:ea typeface="Calibri"/>
              <a:cs typeface="Calibri"/>
              <a:sym typeface="Calibri"/>
            </a:endParaRPr>
          </a:p>
        </p:txBody>
      </p:sp>
      <p:sp>
        <p:nvSpPr>
          <p:cNvPr id="172" name="Google Shape;172;p24"/>
          <p:cNvSpPr txBox="1"/>
          <p:nvPr>
            <p:ph type="body" idx="1"/>
          </p:nvPr>
        </p:nvSpPr>
        <p:spPr>
          <a:xfrm>
            <a:off x="653175" y="2191700"/>
            <a:ext cx="10400400" cy="4126500"/>
          </a:xfrm>
          <a:prstGeom prst="rect">
            <a:avLst/>
          </a:prstGeom>
          <a:noFill/>
          <a:ln>
            <a:noFill/>
          </a:ln>
        </p:spPr>
        <p:txBody>
          <a:bodyPr spcFirstLastPara="1" wrap="square" lIns="91425" tIns="45700" rIns="91425" bIns="45700" anchor="t" anchorCtr="0">
            <a:noAutofit/>
          </a:bodyPr>
          <a:lstStyle/>
          <a:p>
            <a:pPr marL="685800" lvl="1" indent="-234950" algn="l" rtl="0">
              <a:lnSpc>
                <a:spcPct val="115000"/>
              </a:lnSpc>
              <a:spcBef>
                <a:spcPts val="1000"/>
              </a:spcBef>
              <a:spcAft>
                <a:spcPts val="0"/>
              </a:spcAft>
              <a:buClr>
                <a:schemeClr val="accent2"/>
              </a:buClr>
              <a:buSzPts val="1900"/>
              <a:buChar char="✔"/>
            </a:pPr>
            <a:r>
              <a:rPr lang="en-US" sz="1900" b="1"/>
              <a:t>Challenge:</a:t>
            </a:r>
            <a:r>
              <a:rPr lang="en-US" sz="1900" b="1">
                <a:solidFill>
                  <a:schemeClr val="accent1"/>
                </a:solidFill>
              </a:rPr>
              <a:t> </a:t>
            </a:r>
            <a:r>
              <a:rPr lang="en-US" sz="1900"/>
              <a:t>There is no immediately obvious and clear way to capture initial leads on the website for prospects who are not yet ready to book a demo. </a:t>
            </a:r>
            <a:endParaRPr sz="1900"/>
          </a:p>
          <a:p>
            <a:pPr marL="685800" lvl="1" indent="-234950" algn="l" rtl="0">
              <a:lnSpc>
                <a:spcPct val="130000"/>
              </a:lnSpc>
              <a:spcBef>
                <a:spcPts val="1000"/>
              </a:spcBef>
              <a:spcAft>
                <a:spcPts val="0"/>
              </a:spcAft>
              <a:buClr>
                <a:schemeClr val="accent2"/>
              </a:buClr>
              <a:buSzPts val="1900"/>
              <a:buChar char="✔"/>
            </a:pPr>
            <a:r>
              <a:rPr lang="en-US" sz="1900" b="1"/>
              <a:t>Goal: </a:t>
            </a:r>
            <a:r>
              <a:rPr lang="en-US" sz="1900"/>
              <a:t>Get more website visitors to take an initial action to learn more and get on the email list (leading into the funnel) </a:t>
            </a:r>
            <a:endParaRPr sz="1900">
              <a:solidFill>
                <a:schemeClr val="accent1"/>
              </a:solidFill>
            </a:endParaRPr>
          </a:p>
          <a:p>
            <a:pPr marL="685800" lvl="1" indent="-234950" algn="l" rtl="0">
              <a:lnSpc>
                <a:spcPct val="115000"/>
              </a:lnSpc>
              <a:spcBef>
                <a:spcPts val="1000"/>
              </a:spcBef>
              <a:spcAft>
                <a:spcPts val="0"/>
              </a:spcAft>
              <a:buClr>
                <a:schemeClr val="accent2"/>
              </a:buClr>
              <a:buSzPts val="1900"/>
              <a:buChar char="✔"/>
            </a:pPr>
            <a:r>
              <a:rPr lang="en-US" sz="1900" b="1"/>
              <a:t>Action Steps: </a:t>
            </a:r>
            <a:r>
              <a:rPr lang="en-US" sz="1900"/>
              <a:t>Add clear lower funnel calls-to-action on the home page and main product pages.</a:t>
            </a:r>
            <a:endParaRPr sz="1900" b="1"/>
          </a:p>
        </p:txBody>
      </p:sp>
      <p:sp>
        <p:nvSpPr>
          <p:cNvPr id="173" name="Google Shape;173;p2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website, core content &amp; funnels</a:t>
            </a:r>
            <a:endParaRPr sz="1900" b="0" i="1">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838200" y="784225"/>
            <a:ext cx="10310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Convert more website traffic to sales qualified leads (demo requests)</a:t>
            </a:r>
            <a:endParaRPr sz="3800">
              <a:latin typeface="Calibri"/>
              <a:ea typeface="Calibri"/>
              <a:cs typeface="Calibri"/>
              <a:sym typeface="Calibri"/>
            </a:endParaRPr>
          </a:p>
        </p:txBody>
      </p:sp>
      <p:sp>
        <p:nvSpPr>
          <p:cNvPr id="179" name="Google Shape;179;p25"/>
          <p:cNvSpPr txBox="1"/>
          <p:nvPr>
            <p:ph type="body" idx="1"/>
          </p:nvPr>
        </p:nvSpPr>
        <p:spPr>
          <a:xfrm>
            <a:off x="605275" y="2472550"/>
            <a:ext cx="10400400" cy="4126500"/>
          </a:xfrm>
          <a:prstGeom prst="rect">
            <a:avLst/>
          </a:prstGeom>
          <a:noFill/>
          <a:ln>
            <a:noFill/>
          </a:ln>
        </p:spPr>
        <p:txBody>
          <a:bodyPr spcFirstLastPara="1" wrap="square" lIns="91425" tIns="45700" rIns="91425" bIns="45700" anchor="t" anchorCtr="0">
            <a:noAutofit/>
          </a:bodyPr>
          <a:lstStyle/>
          <a:p>
            <a:pPr marL="685800" lvl="1" indent="-234950" algn="l" rtl="0">
              <a:lnSpc>
                <a:spcPct val="115000"/>
              </a:lnSpc>
              <a:spcBef>
                <a:spcPts val="1000"/>
              </a:spcBef>
              <a:spcAft>
                <a:spcPts val="0"/>
              </a:spcAft>
              <a:buClr>
                <a:schemeClr val="accent2"/>
              </a:buClr>
              <a:buSzPts val="1900"/>
              <a:buChar char="✔"/>
            </a:pPr>
            <a:r>
              <a:rPr lang="en-US" sz="1900" b="1"/>
              <a:t>Challenge:</a:t>
            </a:r>
            <a:r>
              <a:rPr lang="en-US" sz="1900" b="1">
                <a:solidFill>
                  <a:schemeClr val="accent1"/>
                </a:solidFill>
              </a:rPr>
              <a:t> </a:t>
            </a:r>
            <a:r>
              <a:rPr lang="en-US" sz="1900"/>
              <a:t>There is no clear book-a-demo call to action on the home page or main product pages, and limited information on the book-a-demo pop-up.</a:t>
            </a:r>
            <a:endParaRPr sz="1900"/>
          </a:p>
          <a:p>
            <a:pPr marL="685800" lvl="1" indent="-234950" algn="l" rtl="0">
              <a:lnSpc>
                <a:spcPct val="130000"/>
              </a:lnSpc>
              <a:spcBef>
                <a:spcPts val="1000"/>
              </a:spcBef>
              <a:spcAft>
                <a:spcPts val="0"/>
              </a:spcAft>
              <a:buClr>
                <a:schemeClr val="accent2"/>
              </a:buClr>
              <a:buSzPts val="1900"/>
              <a:buChar char="✔"/>
            </a:pPr>
            <a:r>
              <a:rPr lang="en-US" sz="1900" b="1"/>
              <a:t>Goal: </a:t>
            </a:r>
            <a:r>
              <a:rPr lang="en-US" sz="1900"/>
              <a:t>Get more website traffic to book demos from the website.</a:t>
            </a:r>
            <a:endParaRPr sz="1900">
              <a:solidFill>
                <a:schemeClr val="accent1"/>
              </a:solidFill>
            </a:endParaRPr>
          </a:p>
          <a:p>
            <a:pPr marL="685800" lvl="1" indent="-234950" algn="l" rtl="0">
              <a:lnSpc>
                <a:spcPct val="115000"/>
              </a:lnSpc>
              <a:spcBef>
                <a:spcPts val="1000"/>
              </a:spcBef>
              <a:spcAft>
                <a:spcPts val="0"/>
              </a:spcAft>
              <a:buClr>
                <a:schemeClr val="accent2"/>
              </a:buClr>
              <a:buSzPts val="1900"/>
              <a:buChar char="✔"/>
            </a:pPr>
            <a:r>
              <a:rPr lang="en-US" sz="1900" b="1"/>
              <a:t>Action Steps: </a:t>
            </a:r>
            <a:r>
              <a:rPr lang="en-US" sz="1900"/>
              <a:t>Add a more obvious book-a-demo CTA on the main product pages and home page, create a robust book-a-demo page</a:t>
            </a:r>
            <a:endParaRPr sz="1900" b="1"/>
          </a:p>
        </p:txBody>
      </p:sp>
      <p:sp>
        <p:nvSpPr>
          <p:cNvPr id="180" name="Google Shape;180;p2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website, core content &amp; funnels</a:t>
            </a:r>
            <a:endParaRPr sz="1900" b="0" i="1">
              <a:solidFill>
                <a:schemeClr val="accent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838200" y="784225"/>
            <a:ext cx="10310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Convert more marketing qualified leads to sales qualified leads</a:t>
            </a:r>
            <a:endParaRPr sz="3800">
              <a:latin typeface="Calibri"/>
              <a:ea typeface="Calibri"/>
              <a:cs typeface="Calibri"/>
              <a:sym typeface="Calibri"/>
            </a:endParaRPr>
          </a:p>
        </p:txBody>
      </p:sp>
      <p:sp>
        <p:nvSpPr>
          <p:cNvPr id="186" name="Google Shape;186;p26"/>
          <p:cNvSpPr txBox="1"/>
          <p:nvPr>
            <p:ph type="body" idx="1"/>
          </p:nvPr>
        </p:nvSpPr>
        <p:spPr>
          <a:xfrm>
            <a:off x="629225" y="2245000"/>
            <a:ext cx="10400400" cy="4126500"/>
          </a:xfrm>
          <a:prstGeom prst="rect">
            <a:avLst/>
          </a:prstGeom>
          <a:noFill/>
          <a:ln>
            <a:noFill/>
          </a:ln>
        </p:spPr>
        <p:txBody>
          <a:bodyPr spcFirstLastPara="1" wrap="square" lIns="91425" tIns="45700" rIns="91425" bIns="45700" anchor="t" anchorCtr="0">
            <a:noAutofit/>
          </a:bodyPr>
          <a:lstStyle/>
          <a:p>
            <a:pPr marL="685800" lvl="1" indent="-234950" algn="l" rtl="0">
              <a:lnSpc>
                <a:spcPct val="115000"/>
              </a:lnSpc>
              <a:spcBef>
                <a:spcPts val="1000"/>
              </a:spcBef>
              <a:spcAft>
                <a:spcPts val="0"/>
              </a:spcAft>
              <a:buClr>
                <a:schemeClr val="accent2"/>
              </a:buClr>
              <a:buSzPts val="1900"/>
              <a:buChar char="✔"/>
            </a:pPr>
            <a:r>
              <a:rPr lang="en-US" sz="1900" b="1"/>
              <a:t>Challenge:</a:t>
            </a:r>
            <a:r>
              <a:rPr lang="en-US" sz="1900" b="1">
                <a:solidFill>
                  <a:schemeClr val="accent1"/>
                </a:solidFill>
              </a:rPr>
              <a:t> </a:t>
            </a:r>
            <a:r>
              <a:rPr lang="en-US" sz="1900"/>
              <a:t>There is currently no process for moving initial marketing qualified leads (fill out a website form to download an ebook or similar) to a sales qualified lead (requests a demo)</a:t>
            </a:r>
            <a:endParaRPr sz="1900"/>
          </a:p>
          <a:p>
            <a:pPr marL="685800" lvl="1" indent="-234950" algn="l" rtl="0">
              <a:lnSpc>
                <a:spcPct val="130000"/>
              </a:lnSpc>
              <a:spcBef>
                <a:spcPts val="1000"/>
              </a:spcBef>
              <a:spcAft>
                <a:spcPts val="0"/>
              </a:spcAft>
              <a:buClr>
                <a:schemeClr val="accent2"/>
              </a:buClr>
              <a:buSzPts val="1900"/>
              <a:buChar char="✔"/>
            </a:pPr>
            <a:r>
              <a:rPr lang="en-US" sz="1900" b="1"/>
              <a:t>Goal: </a:t>
            </a:r>
            <a:r>
              <a:rPr lang="en-US" sz="1900"/>
              <a:t>Convert more marketing qualified leads to sales qualified leads</a:t>
            </a:r>
            <a:endParaRPr sz="1900">
              <a:solidFill>
                <a:schemeClr val="accent1"/>
              </a:solidFill>
            </a:endParaRPr>
          </a:p>
          <a:p>
            <a:pPr marL="685800" lvl="1" indent="-234950" algn="l" rtl="0">
              <a:lnSpc>
                <a:spcPct val="115000"/>
              </a:lnSpc>
              <a:spcBef>
                <a:spcPts val="1000"/>
              </a:spcBef>
              <a:spcAft>
                <a:spcPts val="0"/>
              </a:spcAft>
              <a:buClr>
                <a:schemeClr val="accent2"/>
              </a:buClr>
              <a:buSzPts val="1900"/>
              <a:buChar char="✔"/>
            </a:pPr>
            <a:r>
              <a:rPr lang="en-US" sz="1900" b="1"/>
              <a:t>Action Steps: </a:t>
            </a:r>
            <a:endParaRPr sz="1900" b="1"/>
          </a:p>
          <a:p>
            <a:pPr marL="1143000" lvl="2" indent="-234950" algn="l" rtl="0">
              <a:lnSpc>
                <a:spcPct val="115000"/>
              </a:lnSpc>
              <a:spcBef>
                <a:spcPts val="1000"/>
              </a:spcBef>
              <a:spcAft>
                <a:spcPts val="0"/>
              </a:spcAft>
              <a:buSzPts val="1900"/>
              <a:buChar char="•"/>
            </a:pPr>
            <a:r>
              <a:rPr lang="en-US" sz="1900"/>
              <a:t>Create new lead nurture sequences for both product lines </a:t>
            </a:r>
            <a:endParaRPr sz="1900"/>
          </a:p>
          <a:p>
            <a:pPr marL="1143000" lvl="2" indent="-234950" algn="l" rtl="0">
              <a:lnSpc>
                <a:spcPct val="115000"/>
              </a:lnSpc>
              <a:spcBef>
                <a:spcPts val="1000"/>
              </a:spcBef>
              <a:spcAft>
                <a:spcPts val="0"/>
              </a:spcAft>
              <a:buSzPts val="1900"/>
              <a:buChar char="•"/>
            </a:pPr>
            <a:r>
              <a:rPr lang="en-US" sz="1900"/>
              <a:t>Update the website navigation, flow and content to reflect the ideal customer journey</a:t>
            </a:r>
            <a:endParaRPr sz="1900"/>
          </a:p>
          <a:p>
            <a:pPr marL="1143000" lvl="2" indent="-234950" algn="l" rtl="0">
              <a:lnSpc>
                <a:spcPct val="115000"/>
              </a:lnSpc>
              <a:spcBef>
                <a:spcPts val="1000"/>
              </a:spcBef>
              <a:spcAft>
                <a:spcPts val="0"/>
              </a:spcAft>
              <a:buSzPts val="1900"/>
              <a:buChar char="•"/>
            </a:pPr>
            <a:r>
              <a:rPr lang="en-US" sz="1900"/>
              <a:t>Create a B2B marketing kit for both product lines</a:t>
            </a:r>
            <a:endParaRPr sz="1900"/>
          </a:p>
          <a:p>
            <a:pPr marL="1143000" lvl="2" indent="-234950" algn="l" rtl="0">
              <a:lnSpc>
                <a:spcPct val="115000"/>
              </a:lnSpc>
              <a:spcBef>
                <a:spcPts val="1000"/>
              </a:spcBef>
              <a:spcAft>
                <a:spcPts val="0"/>
              </a:spcAft>
              <a:buSzPts val="1900"/>
              <a:buChar char="•"/>
            </a:pPr>
            <a:r>
              <a:rPr lang="en-US" sz="1900"/>
              <a:t>Create procurement/sourcing materials</a:t>
            </a:r>
            <a:endParaRPr sz="1900"/>
          </a:p>
        </p:txBody>
      </p:sp>
      <p:sp>
        <p:nvSpPr>
          <p:cNvPr id="187" name="Google Shape;187;p2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website, core content &amp; funnels</a:t>
            </a:r>
            <a:endParaRPr sz="1900" b="0" i="1">
              <a:solidFill>
                <a:schemeClr val="accent5"/>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a:t>
            </a:r>
            <a:r>
              <a:rPr lang="en-US" sz="3800"/>
              <a:t>: </a:t>
            </a:r>
            <a:r>
              <a:rPr lang="en-US" sz="3800" b="0">
                <a:latin typeface="Calibri"/>
                <a:ea typeface="Calibri"/>
                <a:cs typeface="Calibri"/>
                <a:sym typeface="Calibri"/>
              </a:rPr>
              <a:t>Increase awareness of CrossCap </a:t>
            </a:r>
            <a:endParaRPr sz="3800" b="0">
              <a:latin typeface="Calibri"/>
              <a:ea typeface="Calibri"/>
              <a:cs typeface="Calibri"/>
              <a:sym typeface="Calibri"/>
            </a:endParaRPr>
          </a:p>
        </p:txBody>
      </p:sp>
      <p:sp>
        <p:nvSpPr>
          <p:cNvPr id="193" name="Google Shape;193;p27"/>
          <p:cNvSpPr txBox="1"/>
          <p:nvPr>
            <p:ph type="body" idx="1"/>
          </p:nvPr>
        </p:nvSpPr>
        <p:spPr>
          <a:xfrm>
            <a:off x="838200" y="1640675"/>
            <a:ext cx="10194300" cy="4233600"/>
          </a:xfrm>
          <a:prstGeom prst="rect">
            <a:avLst/>
          </a:prstGeom>
          <a:noFill/>
          <a:ln>
            <a:noFill/>
          </a:ln>
        </p:spPr>
        <p:txBody>
          <a:bodyPr spcFirstLastPara="1" wrap="square" lIns="91425" tIns="45700" rIns="91425" bIns="45700" anchor="t" anchorCtr="0">
            <a:normAutofit/>
          </a:bodyPr>
          <a:lstStyle/>
          <a:p>
            <a:pPr marL="800100" marR="0" lvl="1" indent="-387350" algn="l" rtl="0">
              <a:lnSpc>
                <a:spcPct val="130000"/>
              </a:lnSpc>
              <a:spcBef>
                <a:spcPts val="1000"/>
              </a:spcBef>
              <a:spcAft>
                <a:spcPts val="0"/>
              </a:spcAft>
              <a:buClr>
                <a:schemeClr val="accent2"/>
              </a:buClr>
              <a:buSzPts val="2300"/>
              <a:buChar char="✔"/>
            </a:pPr>
            <a:r>
              <a:rPr lang="en-US" sz="2000" b="1"/>
              <a:t>Challenge:</a:t>
            </a:r>
            <a:r>
              <a:rPr lang="en-US" sz="2000"/>
              <a:t> There is a general lack of awareness of CrossCap and their products with ideal clients for both Marketing Calendar &amp; Distro - including personas in procurement, marketing operations, senior leadership, and CMOs</a:t>
            </a:r>
            <a:endParaRPr sz="2000"/>
          </a:p>
          <a:p>
            <a:pPr marL="800100" marR="0" lvl="1" indent="-368300" algn="l" rtl="0">
              <a:lnSpc>
                <a:spcPct val="130000"/>
              </a:lnSpc>
              <a:spcBef>
                <a:spcPts val="1000"/>
              </a:spcBef>
              <a:spcAft>
                <a:spcPts val="0"/>
              </a:spcAft>
              <a:buClr>
                <a:schemeClr val="accent2"/>
              </a:buClr>
              <a:buSzPts val="2000"/>
              <a:buChar char="✔"/>
            </a:pPr>
            <a:r>
              <a:rPr lang="en-US" sz="2000" b="1"/>
              <a:t>Goals:</a:t>
            </a:r>
            <a:r>
              <a:rPr lang="en-US" sz="2000"/>
              <a:t> Increase awareness of CrossCap and their main products with all personas. </a:t>
            </a:r>
            <a:endParaRPr sz="2000">
              <a:solidFill>
                <a:schemeClr val="accent4"/>
              </a:solidFill>
            </a:endParaRPr>
          </a:p>
          <a:p>
            <a:pPr marL="800100" marR="0" lvl="1" indent="-361950" algn="l" rtl="0">
              <a:lnSpc>
                <a:spcPct val="130000"/>
              </a:lnSpc>
              <a:spcBef>
                <a:spcPts val="1000"/>
              </a:spcBef>
              <a:spcAft>
                <a:spcPts val="0"/>
              </a:spcAft>
              <a:buClr>
                <a:schemeClr val="accent2"/>
              </a:buClr>
              <a:buSzPts val="1900"/>
              <a:buChar char="✔"/>
            </a:pPr>
            <a:r>
              <a:rPr lang="en-US" sz="2000" b="1"/>
              <a:t>Action Steps:</a:t>
            </a:r>
            <a:r>
              <a:rPr lang="en-US" sz="2000"/>
              <a:t> </a:t>
            </a:r>
            <a:endParaRPr sz="2000"/>
          </a:p>
          <a:p>
            <a:pPr marL="1143000" lvl="2" indent="-247650" algn="l" rtl="0">
              <a:lnSpc>
                <a:spcPct val="115000"/>
              </a:lnSpc>
              <a:spcBef>
                <a:spcPts val="0"/>
              </a:spcBef>
              <a:spcAft>
                <a:spcPts val="0"/>
              </a:spcAft>
              <a:buClr>
                <a:srgbClr val="434343"/>
              </a:buClr>
              <a:buSzPts val="2100"/>
              <a:buFont typeface="Calibri"/>
              <a:buChar char="•"/>
            </a:pPr>
            <a:r>
              <a:rPr lang="en-US" sz="2100">
                <a:solidFill>
                  <a:srgbClr val="434343"/>
                </a:solidFill>
              </a:rPr>
              <a:t>Media Relations</a:t>
            </a:r>
            <a:endParaRPr sz="2100">
              <a:solidFill>
                <a:srgbClr val="434343"/>
              </a:solidFill>
            </a:endParaRPr>
          </a:p>
          <a:p>
            <a:pPr marL="1143000" lvl="2" indent="-247650" algn="l" rtl="0">
              <a:lnSpc>
                <a:spcPct val="115000"/>
              </a:lnSpc>
              <a:spcBef>
                <a:spcPts val="0"/>
              </a:spcBef>
              <a:spcAft>
                <a:spcPts val="0"/>
              </a:spcAft>
              <a:buClr>
                <a:srgbClr val="434343"/>
              </a:buClr>
              <a:buSzPts val="2100"/>
              <a:buFont typeface="Calibri"/>
              <a:buChar char="•"/>
            </a:pPr>
            <a:r>
              <a:rPr lang="en-US" sz="2100">
                <a:solidFill>
                  <a:srgbClr val="434343"/>
                </a:solidFill>
              </a:rPr>
              <a:t>Analyst Relations</a:t>
            </a:r>
            <a:endParaRPr sz="2100">
              <a:solidFill>
                <a:srgbClr val="434343"/>
              </a:solidFill>
            </a:endParaRPr>
          </a:p>
          <a:p>
            <a:pPr marL="1143000" lvl="2" indent="-247650" algn="l" rtl="0">
              <a:lnSpc>
                <a:spcPct val="115000"/>
              </a:lnSpc>
              <a:spcBef>
                <a:spcPts val="0"/>
              </a:spcBef>
              <a:spcAft>
                <a:spcPts val="0"/>
              </a:spcAft>
              <a:buClr>
                <a:srgbClr val="434343"/>
              </a:buClr>
              <a:buSzPts val="2100"/>
              <a:buFont typeface="Calibri"/>
              <a:buChar char="•"/>
            </a:pPr>
            <a:r>
              <a:rPr lang="en-US" sz="2100">
                <a:solidFill>
                  <a:srgbClr val="434343"/>
                </a:solidFill>
              </a:rPr>
              <a:t>Influencer Relations</a:t>
            </a:r>
            <a:endParaRPr sz="2100">
              <a:solidFill>
                <a:srgbClr val="434343"/>
              </a:solidFill>
            </a:endParaRPr>
          </a:p>
          <a:p>
            <a:pPr marL="1143000" lvl="2" indent="-247650" algn="l" rtl="0">
              <a:lnSpc>
                <a:spcPct val="115000"/>
              </a:lnSpc>
              <a:spcBef>
                <a:spcPts val="0"/>
              </a:spcBef>
              <a:spcAft>
                <a:spcPts val="0"/>
              </a:spcAft>
              <a:buClr>
                <a:srgbClr val="434343"/>
              </a:buClr>
              <a:buSzPts val="2100"/>
              <a:buFont typeface="Calibri"/>
              <a:buChar char="•"/>
            </a:pPr>
            <a:r>
              <a:rPr lang="en-US" sz="2100">
                <a:solidFill>
                  <a:srgbClr val="434343"/>
                </a:solidFill>
              </a:rPr>
              <a:t>Sourcing team supplier lists</a:t>
            </a:r>
            <a:endParaRPr sz="2100">
              <a:solidFill>
                <a:srgbClr val="434343"/>
              </a:solidFill>
            </a:endParaRPr>
          </a:p>
          <a:p>
            <a:pPr marL="0" lvl="0" indent="0" algn="l" rtl="0">
              <a:lnSpc>
                <a:spcPct val="115000"/>
              </a:lnSpc>
              <a:spcBef>
                <a:spcPts val="0"/>
              </a:spcBef>
              <a:spcAft>
                <a:spcPts val="0"/>
              </a:spcAft>
              <a:buNone/>
            </a:pPr>
            <a:r>
              <a:rPr lang="en-US" sz="2100">
                <a:solidFill>
                  <a:srgbClr val="434343"/>
                </a:solidFill>
              </a:rPr>
              <a:t>		</a:t>
            </a:r>
            <a:r>
              <a:rPr lang="en-US" sz="2100" i="1">
                <a:solidFill>
                  <a:srgbClr val="434343"/>
                </a:solidFill>
              </a:rPr>
              <a:t>*also lead generation activities</a:t>
            </a:r>
            <a:endParaRPr sz="2100" i="1">
              <a:solidFill>
                <a:srgbClr val="434343"/>
              </a:solidFill>
            </a:endParaRPr>
          </a:p>
        </p:txBody>
      </p:sp>
      <p:sp>
        <p:nvSpPr>
          <p:cNvPr id="194" name="Google Shape;194;p2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awareness</a:t>
            </a:r>
            <a:endParaRPr sz="1900" b="0" i="1">
              <a:solidFill>
                <a:schemeClr val="accent5"/>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Increase new visitor website traffic </a:t>
            </a:r>
            <a:endParaRPr sz="3800" b="0">
              <a:latin typeface="Calibri"/>
              <a:ea typeface="Calibri"/>
              <a:cs typeface="Calibri"/>
              <a:sym typeface="Calibri"/>
            </a:endParaRPr>
          </a:p>
        </p:txBody>
      </p:sp>
      <p:sp>
        <p:nvSpPr>
          <p:cNvPr id="200" name="Google Shape;200;p28"/>
          <p:cNvSpPr txBox="1"/>
          <p:nvPr>
            <p:ph type="body" idx="1"/>
          </p:nvPr>
        </p:nvSpPr>
        <p:spPr>
          <a:xfrm>
            <a:off x="600000" y="1638300"/>
            <a:ext cx="10685700" cy="4176900"/>
          </a:xfrm>
          <a:prstGeom prst="rect">
            <a:avLst/>
          </a:prstGeom>
          <a:noFill/>
          <a:ln>
            <a:noFill/>
          </a:ln>
        </p:spPr>
        <p:txBody>
          <a:bodyPr spcFirstLastPara="1" wrap="square" lIns="91425" tIns="45700" rIns="91425" bIns="45700" anchor="t" anchorCtr="0">
            <a:normAutofit/>
          </a:bodyPr>
          <a:lstStyle/>
          <a:p>
            <a:pPr marL="800100" marR="0" lvl="1" indent="-387350" algn="l" rtl="0">
              <a:lnSpc>
                <a:spcPct val="115000"/>
              </a:lnSpc>
              <a:spcBef>
                <a:spcPts val="1000"/>
              </a:spcBef>
              <a:spcAft>
                <a:spcPts val="0"/>
              </a:spcAft>
              <a:buClr>
                <a:schemeClr val="accent2"/>
              </a:buClr>
              <a:buSzPts val="2300"/>
              <a:buChar char="✔"/>
            </a:pPr>
            <a:r>
              <a:rPr lang="en-US" sz="2000" b="1"/>
              <a:t>Challenge:</a:t>
            </a:r>
            <a:r>
              <a:rPr lang="en-US" sz="2000"/>
              <a:t> CrossCap is currently averaging  18.36 non-direct visitors per day (15.2 organic visitors per day, 2.76 referral visitors per day, and .4 social media referrals per day).</a:t>
            </a:r>
            <a:endParaRPr sz="2000"/>
          </a:p>
          <a:p>
            <a:pPr marL="800100" marR="0" lvl="1" indent="-368300" algn="l" rtl="0">
              <a:lnSpc>
                <a:spcPct val="130000"/>
              </a:lnSpc>
              <a:spcBef>
                <a:spcPts val="1000"/>
              </a:spcBef>
              <a:spcAft>
                <a:spcPts val="0"/>
              </a:spcAft>
              <a:buClr>
                <a:schemeClr val="accent2"/>
              </a:buClr>
              <a:buSzPts val="2000"/>
              <a:buChar char="✔"/>
            </a:pPr>
            <a:r>
              <a:rPr lang="en-US" sz="2000" b="1"/>
              <a:t>Goals:</a:t>
            </a:r>
            <a:r>
              <a:rPr lang="en-US" sz="2000"/>
              <a:t> Get more ideal client traffic to the CrossCap website </a:t>
            </a:r>
            <a:endParaRPr sz="2000"/>
          </a:p>
          <a:p>
            <a:pPr marL="800100" marR="0" lvl="1" indent="-361950" algn="l" rtl="0">
              <a:lnSpc>
                <a:spcPct val="130000"/>
              </a:lnSpc>
              <a:spcBef>
                <a:spcPts val="1000"/>
              </a:spcBef>
              <a:spcAft>
                <a:spcPts val="0"/>
              </a:spcAft>
              <a:buClr>
                <a:schemeClr val="accent2"/>
              </a:buClr>
              <a:buSzPts val="1900"/>
              <a:buChar char="✔"/>
            </a:pPr>
            <a:r>
              <a:rPr lang="en-US" sz="2000" b="1"/>
              <a:t>Action Steps:</a:t>
            </a:r>
            <a:r>
              <a:rPr lang="en-US" sz="2000"/>
              <a:t> </a:t>
            </a:r>
            <a:endParaRPr sz="2000"/>
          </a:p>
          <a:p>
            <a:pPr marL="1143000" lvl="2" indent="-234950" algn="l" rtl="0">
              <a:lnSpc>
                <a:spcPct val="130000"/>
              </a:lnSpc>
              <a:spcBef>
                <a:spcPts val="1000"/>
              </a:spcBef>
              <a:spcAft>
                <a:spcPts val="0"/>
              </a:spcAft>
              <a:buClr>
                <a:schemeClr val="accent2"/>
              </a:buClr>
              <a:buSzPts val="1900"/>
              <a:buChar char="•"/>
            </a:pPr>
            <a:r>
              <a:rPr lang="en-US"/>
              <a:t>Increase inbound marketing traffic to the website through SEO, hub pages, content marketing, Google Ads and social ads</a:t>
            </a:r>
            <a:endParaRPr lang="en-US"/>
          </a:p>
          <a:p>
            <a:pPr marL="1143000" marR="0" lvl="2" indent="-234950" algn="l" rtl="0">
              <a:lnSpc>
                <a:spcPct val="130000"/>
              </a:lnSpc>
              <a:spcBef>
                <a:spcPts val="1000"/>
              </a:spcBef>
              <a:spcAft>
                <a:spcPts val="0"/>
              </a:spcAft>
              <a:buClr>
                <a:schemeClr val="accent2"/>
              </a:buClr>
              <a:buSzPts val="1900"/>
              <a:buChar char="•"/>
            </a:pPr>
            <a:r>
              <a:rPr lang="en-US"/>
              <a:t>Increase the number of sites referring traffic back to the CrossCap website, including software review sites</a:t>
            </a:r>
            <a:endParaRPr lang="en-US"/>
          </a:p>
          <a:p>
            <a:pPr marL="1600200" marR="0" lvl="3" indent="-228600" algn="l" rtl="0">
              <a:lnSpc>
                <a:spcPct val="130000"/>
              </a:lnSpc>
              <a:spcBef>
                <a:spcPts val="1000"/>
              </a:spcBef>
              <a:spcAft>
                <a:spcPts val="0"/>
              </a:spcAft>
              <a:buSzPts val="1800"/>
              <a:buChar char="•"/>
            </a:pPr>
            <a:r>
              <a:rPr lang="en-US"/>
              <a:t>Encourage more customers to leave reviews</a:t>
            </a:r>
            <a:endParaRPr lang="en-US"/>
          </a:p>
        </p:txBody>
      </p:sp>
      <p:sp>
        <p:nvSpPr>
          <p:cNvPr id="201" name="Google Shape;201;p2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lead generation (inbound)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Goal: </a:t>
            </a:r>
            <a:r>
              <a:rPr lang="en-US" sz="3800" b="0">
                <a:latin typeface="Calibri"/>
                <a:ea typeface="Calibri"/>
                <a:cs typeface="Calibri"/>
                <a:sym typeface="Calibri"/>
              </a:rPr>
              <a:t>Increase leads through targeted campaigns</a:t>
            </a:r>
            <a:endParaRPr sz="3800" b="0">
              <a:latin typeface="Calibri"/>
              <a:ea typeface="Calibri"/>
              <a:cs typeface="Calibri"/>
              <a:sym typeface="Calibri"/>
            </a:endParaRPr>
          </a:p>
        </p:txBody>
      </p:sp>
      <p:sp>
        <p:nvSpPr>
          <p:cNvPr id="207" name="Google Shape;207;p29"/>
          <p:cNvSpPr txBox="1"/>
          <p:nvPr>
            <p:ph type="body" idx="1"/>
          </p:nvPr>
        </p:nvSpPr>
        <p:spPr>
          <a:xfrm>
            <a:off x="668100" y="1943100"/>
            <a:ext cx="10685700" cy="3700800"/>
          </a:xfrm>
          <a:prstGeom prst="rect">
            <a:avLst/>
          </a:prstGeom>
          <a:noFill/>
          <a:ln>
            <a:noFill/>
          </a:ln>
        </p:spPr>
        <p:txBody>
          <a:bodyPr spcFirstLastPara="1" wrap="square" lIns="91425" tIns="45700" rIns="91425" bIns="45700" anchor="t" anchorCtr="0">
            <a:normAutofit/>
          </a:bodyPr>
          <a:lstStyle/>
          <a:p>
            <a:pPr marL="800100" marR="0" lvl="1" indent="-387350" algn="l" rtl="0">
              <a:lnSpc>
                <a:spcPct val="115000"/>
              </a:lnSpc>
              <a:spcBef>
                <a:spcPts val="1000"/>
              </a:spcBef>
              <a:spcAft>
                <a:spcPts val="0"/>
              </a:spcAft>
              <a:buClr>
                <a:schemeClr val="accent2"/>
              </a:buClr>
              <a:buSzPts val="2300"/>
              <a:buChar char="✔"/>
            </a:pPr>
            <a:r>
              <a:rPr lang="en-US" sz="2000" b="1"/>
              <a:t>Challenge:</a:t>
            </a:r>
            <a:r>
              <a:rPr lang="en-US" sz="2000"/>
              <a:t> Mosts of CrossCaps leads are currently generated through direct sales efforts, some SEO website traffic, and some referrals. More marketing qualified leads are required.</a:t>
            </a:r>
            <a:endParaRPr sz="2000"/>
          </a:p>
          <a:p>
            <a:pPr marL="800100" marR="0" lvl="1" indent="-368300" algn="l" rtl="0">
              <a:lnSpc>
                <a:spcPct val="130000"/>
              </a:lnSpc>
              <a:spcBef>
                <a:spcPts val="1000"/>
              </a:spcBef>
              <a:spcAft>
                <a:spcPts val="0"/>
              </a:spcAft>
              <a:buClr>
                <a:schemeClr val="accent2"/>
              </a:buClr>
              <a:buSzPts val="2000"/>
              <a:buChar char="✔"/>
            </a:pPr>
            <a:r>
              <a:rPr lang="en-US" sz="2000" b="1"/>
              <a:t>Goals:</a:t>
            </a:r>
            <a:r>
              <a:rPr lang="en-US" sz="2000"/>
              <a:t> </a:t>
            </a:r>
            <a:r>
              <a:rPr lang="en-US" sz="2000"/>
              <a:t>Generate</a:t>
            </a:r>
            <a:r>
              <a:rPr lang="en-US" sz="2000"/>
              <a:t> more marketing qualified leads through targeted campaigns</a:t>
            </a:r>
            <a:endParaRPr sz="2000"/>
          </a:p>
          <a:p>
            <a:pPr marL="800100" marR="0" lvl="1" indent="-361950" algn="l" rtl="0">
              <a:lnSpc>
                <a:spcPct val="130000"/>
              </a:lnSpc>
              <a:spcBef>
                <a:spcPts val="1000"/>
              </a:spcBef>
              <a:spcAft>
                <a:spcPts val="0"/>
              </a:spcAft>
              <a:buClr>
                <a:schemeClr val="accent2"/>
              </a:buClr>
              <a:buSzPts val="1900"/>
              <a:buChar char="✔"/>
            </a:pPr>
            <a:r>
              <a:rPr lang="en-US" sz="2000" b="1"/>
              <a:t>Action Steps:</a:t>
            </a:r>
            <a:r>
              <a:rPr lang="en-US" sz="2000"/>
              <a:t> </a:t>
            </a:r>
            <a:endParaRPr sz="2000"/>
          </a:p>
          <a:p>
            <a:pPr marL="1143000" marR="0" lvl="2" indent="-241300" algn="l" rtl="0">
              <a:lnSpc>
                <a:spcPct val="130000"/>
              </a:lnSpc>
              <a:spcBef>
                <a:spcPts val="1000"/>
              </a:spcBef>
              <a:spcAft>
                <a:spcPts val="0"/>
              </a:spcAft>
              <a:buSzPts val="2000"/>
              <a:buChar char="•"/>
            </a:pPr>
            <a:r>
              <a:rPr lang="en-US"/>
              <a:t>Direct response social &amp; search advertising (LinkedIn, Facebook/Instagram/Google)</a:t>
            </a:r>
            <a:endParaRPr lang="en-US"/>
          </a:p>
          <a:p>
            <a:pPr marL="1143000" marR="0" lvl="2" indent="-228600" algn="l" rtl="0">
              <a:lnSpc>
                <a:spcPct val="130000"/>
              </a:lnSpc>
              <a:spcBef>
                <a:spcPts val="1000"/>
              </a:spcBef>
              <a:spcAft>
                <a:spcPts val="0"/>
              </a:spcAft>
              <a:buSzPts val="1800"/>
              <a:buChar char="•"/>
            </a:pPr>
            <a:r>
              <a:rPr lang="en-US"/>
              <a:t>Direct response association/event marketing</a:t>
            </a:r>
            <a:endParaRPr lang="en-US"/>
          </a:p>
          <a:p>
            <a:pPr marL="1143000" marR="0" lvl="2" indent="-228600" algn="l" rtl="0">
              <a:lnSpc>
                <a:spcPct val="130000"/>
              </a:lnSpc>
              <a:spcBef>
                <a:spcPts val="1000"/>
              </a:spcBef>
              <a:spcAft>
                <a:spcPts val="0"/>
              </a:spcAft>
              <a:buSzPts val="1800"/>
              <a:buChar char="•"/>
            </a:pPr>
            <a:r>
              <a:rPr lang="en-US"/>
              <a:t>Direct account marketing-sales campaign</a:t>
            </a:r>
            <a:endParaRPr lang="en-US"/>
          </a:p>
        </p:txBody>
      </p:sp>
      <p:sp>
        <p:nvSpPr>
          <p:cNvPr id="208" name="Google Shape;208;p2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lead generation (outbound)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2" name="Shape 212"/>
        <p:cNvGrpSpPr/>
        <p:nvPr/>
      </p:nvGrpSpPr>
      <p:grpSpPr>
        <a:xfrm>
          <a:off x="0" y="0"/>
          <a:ext cx="0" cy="0"/>
          <a:chOff x="0" y="0"/>
          <a:chExt cx="0" cy="0"/>
        </a:xfrm>
      </p:grpSpPr>
      <p:sp>
        <p:nvSpPr>
          <p:cNvPr id="213" name="Google Shape;213;p30"/>
          <p:cNvSpPr txBox="1"/>
          <p:nvPr>
            <p:ph type="title"/>
          </p:nvPr>
        </p:nvSpPr>
        <p:spPr>
          <a:xfrm>
            <a:off x="528000" y="2483525"/>
            <a:ext cx="10515600" cy="1325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accent2"/>
              </a:buClr>
              <a:buSzPts val="4400"/>
              <a:buFont typeface="Calibri"/>
              <a:buNone/>
            </a:pPr>
            <a:r>
              <a:rPr lang="en-US"/>
              <a:t>Marketing Strategy </a:t>
            </a:r>
            <a:endParaRPr lang="en-US"/>
          </a:p>
          <a:p>
            <a:pPr marL="0" lvl="0" indent="0" algn="ctr" rtl="0">
              <a:lnSpc>
                <a:spcPct val="90000"/>
              </a:lnSpc>
              <a:spcBef>
                <a:spcPts val="0"/>
              </a:spcBef>
              <a:spcAft>
                <a:spcPts val="0"/>
              </a:spcAft>
              <a:buClr>
                <a:schemeClr val="accent2"/>
              </a:buClr>
              <a:buSzPts val="4400"/>
              <a:buFont typeface="Calibri"/>
              <a:buNone/>
            </a:pPr>
            <a:r>
              <a:rPr lang="en-US"/>
              <a:t>Overview</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solidFill>
                  <a:srgbClr val="073763"/>
                </a:solidFill>
              </a:rPr>
              <a:t>Marketing Strategy Overview </a:t>
            </a:r>
            <a:r>
              <a:rPr lang="en-US" sz="3600" b="0" i="1">
                <a:solidFill>
                  <a:srgbClr val="073763"/>
                </a:solidFill>
                <a:latin typeface="Calibri"/>
                <a:ea typeface="Calibri"/>
                <a:cs typeface="Calibri"/>
                <a:sym typeface="Calibri"/>
              </a:rPr>
              <a:t>Customer Journey </a:t>
            </a:r>
            <a:endParaRPr sz="3600">
              <a:solidFill>
                <a:srgbClr val="073763"/>
              </a:solidFill>
            </a:endParaRPr>
          </a:p>
        </p:txBody>
      </p:sp>
      <p:pic>
        <p:nvPicPr>
          <p:cNvPr id="219" name="Google Shape;219;p31"/>
          <p:cNvPicPr preferRelativeResize="0"/>
          <p:nvPr/>
        </p:nvPicPr>
        <p:blipFill>
          <a:blip r:embed="rId1"/>
          <a:stretch>
            <a:fillRect/>
          </a:stretch>
        </p:blipFill>
        <p:spPr>
          <a:xfrm>
            <a:off x="3889900" y="1629200"/>
            <a:ext cx="3502345" cy="44432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sp>
        <p:nvSpPr>
          <p:cNvPr id="224" name="Google Shape;224;p32"/>
          <p:cNvSpPr txBox="1"/>
          <p:nvPr>
            <p:ph type="title"/>
          </p:nvPr>
        </p:nvSpPr>
        <p:spPr>
          <a:xfrm>
            <a:off x="450625" y="8153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4200">
                <a:solidFill>
                  <a:srgbClr val="073763"/>
                </a:solidFill>
              </a:rPr>
              <a:t>Marketing Hourglass </a:t>
            </a:r>
            <a:r>
              <a:rPr lang="en-US" sz="4200" b="0">
                <a:solidFill>
                  <a:srgbClr val="073763"/>
                </a:solidFill>
                <a:latin typeface="Calibri"/>
                <a:ea typeface="Calibri"/>
                <a:cs typeface="Calibri"/>
                <a:sym typeface="Calibri"/>
              </a:rPr>
              <a:t>Review</a:t>
            </a:r>
            <a:endParaRPr sz="4200" b="0" i="1">
              <a:solidFill>
                <a:srgbClr val="073763"/>
              </a:solidFill>
              <a:latin typeface="Calibri"/>
              <a:ea typeface="Calibri"/>
              <a:cs typeface="Calibri"/>
              <a:sym typeface="Calibri"/>
            </a:endParaRPr>
          </a:p>
        </p:txBody>
      </p:sp>
      <p:pic>
        <p:nvPicPr>
          <p:cNvPr id="225" name="Google Shape;225;p32"/>
          <p:cNvPicPr preferRelativeResize="0"/>
          <p:nvPr/>
        </p:nvPicPr>
        <p:blipFill rotWithShape="1">
          <a:blip r:embed="rId1"/>
          <a:srcRect l="-339000" t="22380" r="339000" b="-22380"/>
          <a:stretch>
            <a:fillRect/>
          </a:stretch>
        </p:blipFill>
        <p:spPr>
          <a:xfrm>
            <a:off x="450625" y="2409997"/>
            <a:ext cx="2553250" cy="3239201"/>
          </a:xfrm>
          <a:prstGeom prst="rect">
            <a:avLst/>
          </a:prstGeom>
          <a:noFill/>
          <a:ln>
            <a:noFill/>
          </a:ln>
        </p:spPr>
      </p:pic>
      <p:graphicFrame>
        <p:nvGraphicFramePr>
          <p:cNvPr id="226" name="Google Shape;226;p32"/>
          <p:cNvGraphicFramePr/>
          <p:nvPr/>
        </p:nvGraphicFramePr>
        <p:xfrm>
          <a:off x="708863" y="1850788"/>
          <a:ext cx="10543925" cy="3000000"/>
        </p:xfrm>
        <a:graphic>
          <a:graphicData uri="http://schemas.openxmlformats.org/drawingml/2006/table">
            <a:tbl>
              <a:tblPr>
                <a:noFill/>
                <a:tableStyleId>{72414FFC-F9EC-43E0-91B3-72DFC5CB316E}</a:tableStyleId>
              </a:tblPr>
              <a:tblGrid>
                <a:gridCol w="1506275"/>
                <a:gridCol w="1506275"/>
                <a:gridCol w="1506275"/>
                <a:gridCol w="1506275"/>
                <a:gridCol w="1506275"/>
                <a:gridCol w="1506275"/>
                <a:gridCol w="1506275"/>
              </a:tblGrid>
              <a:tr h="396200">
                <a:tc>
                  <a:txBody>
                    <a:bodyPr/>
                    <a:lstStyle/>
                    <a:p>
                      <a:pPr marL="0" lvl="0" indent="0" algn="l" rtl="0">
                        <a:spcBef>
                          <a:spcPts val="0"/>
                        </a:spcBef>
                        <a:spcAft>
                          <a:spcPts val="0"/>
                        </a:spcAft>
                        <a:buNone/>
                      </a:pPr>
                      <a:r>
                        <a:rPr lang="en-US" b="1"/>
                        <a:t>Know</a:t>
                      </a:r>
                      <a:endParaRPr b="1"/>
                    </a:p>
                  </a:txBody>
                  <a:tcPr marL="91425" marR="91425" marT="91425" marB="91425">
                    <a:solidFill>
                      <a:srgbClr val="AFDFE4"/>
                    </a:solidFill>
                  </a:tcPr>
                </a:tc>
                <a:tc>
                  <a:txBody>
                    <a:bodyPr/>
                    <a:lstStyle/>
                    <a:p>
                      <a:pPr marL="0" lvl="0" indent="0" algn="l" rtl="0">
                        <a:spcBef>
                          <a:spcPts val="0"/>
                        </a:spcBef>
                        <a:spcAft>
                          <a:spcPts val="0"/>
                        </a:spcAft>
                        <a:buNone/>
                      </a:pPr>
                      <a:r>
                        <a:rPr lang="en-US" b="1"/>
                        <a:t>Like</a:t>
                      </a:r>
                      <a:endParaRPr b="1"/>
                    </a:p>
                  </a:txBody>
                  <a:tcPr marL="91425" marR="91425" marT="91425" marB="91425">
                    <a:solidFill>
                      <a:srgbClr val="AFDFE4"/>
                    </a:solidFill>
                  </a:tcPr>
                </a:tc>
                <a:tc>
                  <a:txBody>
                    <a:bodyPr/>
                    <a:lstStyle/>
                    <a:p>
                      <a:pPr marL="0" lvl="0" indent="0" algn="l" rtl="0">
                        <a:spcBef>
                          <a:spcPts val="0"/>
                        </a:spcBef>
                        <a:spcAft>
                          <a:spcPts val="0"/>
                        </a:spcAft>
                        <a:buNone/>
                      </a:pPr>
                      <a:r>
                        <a:rPr lang="en-US" b="1"/>
                        <a:t>Trust</a:t>
                      </a:r>
                      <a:endParaRPr b="1"/>
                    </a:p>
                  </a:txBody>
                  <a:tcPr marL="91425" marR="91425" marT="91425" marB="91425">
                    <a:solidFill>
                      <a:srgbClr val="AFDFE4"/>
                    </a:solidFill>
                  </a:tcPr>
                </a:tc>
                <a:tc>
                  <a:txBody>
                    <a:bodyPr/>
                    <a:lstStyle/>
                    <a:p>
                      <a:pPr marL="0" lvl="0" indent="0" algn="l" rtl="0">
                        <a:spcBef>
                          <a:spcPts val="0"/>
                        </a:spcBef>
                        <a:spcAft>
                          <a:spcPts val="0"/>
                        </a:spcAft>
                        <a:buNone/>
                      </a:pPr>
                      <a:r>
                        <a:rPr lang="en-US" b="1"/>
                        <a:t>Try</a:t>
                      </a:r>
                      <a:endParaRPr b="1"/>
                    </a:p>
                  </a:txBody>
                  <a:tcPr marL="91425" marR="91425" marT="91425" marB="91425">
                    <a:solidFill>
                      <a:srgbClr val="AFDFE4"/>
                    </a:solidFill>
                  </a:tcPr>
                </a:tc>
                <a:tc>
                  <a:txBody>
                    <a:bodyPr/>
                    <a:lstStyle/>
                    <a:p>
                      <a:pPr marL="0" lvl="0" indent="0" algn="l" rtl="0">
                        <a:spcBef>
                          <a:spcPts val="0"/>
                        </a:spcBef>
                        <a:spcAft>
                          <a:spcPts val="0"/>
                        </a:spcAft>
                        <a:buNone/>
                      </a:pPr>
                      <a:r>
                        <a:rPr lang="en-US" b="1"/>
                        <a:t>Buy</a:t>
                      </a:r>
                      <a:endParaRPr b="1"/>
                    </a:p>
                  </a:txBody>
                  <a:tcPr marL="91425" marR="91425" marT="91425" marB="91425">
                    <a:solidFill>
                      <a:srgbClr val="AFDFE4"/>
                    </a:solidFill>
                  </a:tcPr>
                </a:tc>
                <a:tc>
                  <a:txBody>
                    <a:bodyPr/>
                    <a:lstStyle/>
                    <a:p>
                      <a:pPr marL="0" lvl="0" indent="0" algn="l" rtl="0">
                        <a:spcBef>
                          <a:spcPts val="0"/>
                        </a:spcBef>
                        <a:spcAft>
                          <a:spcPts val="0"/>
                        </a:spcAft>
                        <a:buNone/>
                      </a:pPr>
                      <a:r>
                        <a:rPr lang="en-US" b="1"/>
                        <a:t>Repeat</a:t>
                      </a:r>
                      <a:endParaRPr b="1"/>
                    </a:p>
                  </a:txBody>
                  <a:tcPr marL="91425" marR="91425" marT="91425" marB="91425">
                    <a:solidFill>
                      <a:srgbClr val="AFDFE4"/>
                    </a:solidFill>
                  </a:tcPr>
                </a:tc>
                <a:tc>
                  <a:txBody>
                    <a:bodyPr/>
                    <a:lstStyle/>
                    <a:p>
                      <a:pPr marL="0" lvl="0" indent="0" algn="l" rtl="0">
                        <a:spcBef>
                          <a:spcPts val="0"/>
                        </a:spcBef>
                        <a:spcAft>
                          <a:spcPts val="0"/>
                        </a:spcAft>
                        <a:buNone/>
                      </a:pPr>
                      <a:r>
                        <a:rPr lang="en-US" b="1"/>
                        <a:t>Refer</a:t>
                      </a:r>
                      <a:endParaRPr b="1"/>
                    </a:p>
                  </a:txBody>
                  <a:tcPr marL="91425" marR="91425" marT="91425" marB="91425">
                    <a:solidFill>
                      <a:srgbClr val="AFDFE4"/>
                    </a:solidFill>
                  </a:tcPr>
                </a:tc>
              </a:tr>
              <a:tr h="1421525">
                <a:tc>
                  <a:txBody>
                    <a:bodyPr/>
                    <a:lstStyle/>
                    <a:p>
                      <a:pPr marL="0" lvl="0" indent="0" algn="l" rtl="0">
                        <a:spcBef>
                          <a:spcPts val="0"/>
                        </a:spcBef>
                        <a:spcAft>
                          <a:spcPts val="0"/>
                        </a:spcAft>
                        <a:buNone/>
                      </a:pPr>
                      <a:r>
                        <a:rPr lang="en-US" sz="1300">
                          <a:latin typeface="Calibri"/>
                          <a:ea typeface="Calibri"/>
                          <a:cs typeface="Calibri"/>
                          <a:sym typeface="Calibri"/>
                        </a:rPr>
                        <a:t>All awareness, lead generation, SEO,  and outreach activities</a:t>
                      </a:r>
                      <a:endParaRPr sz="13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Messaging, positioning, branding, people, mission, videos</a:t>
                      </a:r>
                      <a:endParaRPr sz="13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Case studies, testimonials, examples, results, people, credentials, customer list, review sites</a:t>
                      </a:r>
                      <a:endParaRPr sz="13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Videos, video demos, PDFs, eBooks, white papers, speaking, workshops, live demo</a:t>
                      </a:r>
                      <a:endParaRPr sz="13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Live demo, sales process, implementation, training</a:t>
                      </a:r>
                      <a:endParaRPr sz="13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Client retention, up-sells, repeat buys, engagement</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a:latin typeface="Calibri"/>
                          <a:ea typeface="Calibri"/>
                          <a:cs typeface="Calibri"/>
                          <a:sym typeface="Calibri"/>
                        </a:rPr>
                        <a:t>Ongoing customer care &amp; support</a:t>
                      </a:r>
                      <a:endParaRPr sz="13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Great experience, get what they expected, referral program</a:t>
                      </a:r>
                      <a:endParaRPr sz="1300">
                        <a:latin typeface="Calibri"/>
                        <a:ea typeface="Calibri"/>
                        <a:cs typeface="Calibri"/>
                        <a:sym typeface="Calibri"/>
                      </a:endParaRPr>
                    </a:p>
                  </a:txBody>
                  <a:tcPr marL="91425" marR="91425" marT="91425" marB="91425"/>
                </a:tc>
              </a:tr>
              <a:tr h="396200">
                <a:tc>
                  <a:txBody>
                    <a:bodyPr/>
                    <a:lstStyle/>
                    <a:p>
                      <a:pPr marL="0" lvl="0" indent="0" algn="l" rtl="0">
                        <a:spcBef>
                          <a:spcPts val="0"/>
                        </a:spcBef>
                        <a:spcAft>
                          <a:spcPts val="0"/>
                        </a:spcAft>
                        <a:buNone/>
                      </a:pPr>
                      <a:r>
                        <a:rPr lang="en-US" sz="1300">
                          <a:latin typeface="Calibri"/>
                          <a:ea typeface="Calibri"/>
                          <a:cs typeface="Calibri"/>
                          <a:sym typeface="Calibri"/>
                        </a:rPr>
                        <a:t>Currently only direct outreach - lack of awareness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Biggest gap - Big opportunity</a:t>
                      </a:r>
                      <a:endParaRPr sz="1300" i="1">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Messaging &amp; positioning gap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Another big opportunity</a:t>
                      </a:r>
                      <a:endParaRPr sz="1300" i="1">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Customer logos on website, some testimonials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Need more here - case studies, reviews, review site listings</a:t>
                      </a:r>
                      <a:endParaRPr sz="1300" i="1">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Currently have some PDfs and live demos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Opportunity to do more, in a strategic way</a:t>
                      </a:r>
                      <a:endParaRPr sz="1300" i="1">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Currently doing this well</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Client interviews suggest some areas for improvement on implementation</a:t>
                      </a:r>
                      <a:endParaRPr sz="1300" i="1">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Currently doing this well</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Client interviews suggest issues with some accounts. Make sure clients are aware of all relevant products</a:t>
                      </a:r>
                      <a:endParaRPr sz="1300" i="1">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300">
                          <a:latin typeface="Calibri"/>
                          <a:ea typeface="Calibri"/>
                          <a:cs typeface="Calibri"/>
                          <a:sym typeface="Calibri"/>
                        </a:rPr>
                        <a:t>Currently providing a great experience to most clients</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US" sz="1300" i="1">
                          <a:latin typeface="Calibri"/>
                          <a:ea typeface="Calibri"/>
                          <a:cs typeface="Calibri"/>
                          <a:sym typeface="Calibri"/>
                        </a:rPr>
                        <a:t>Opportunity to do more strategic referrals</a:t>
                      </a:r>
                      <a:endParaRPr sz="1300" i="1">
                        <a:latin typeface="Calibri"/>
                        <a:ea typeface="Calibri"/>
                        <a:cs typeface="Calibri"/>
                        <a:sym typeface="Calibri"/>
                      </a:endParaRPr>
                    </a:p>
                  </a:txBody>
                  <a:tcPr marL="91425" marR="91425" marT="91425" marB="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solidFill>
                  <a:srgbClr val="073763"/>
                </a:solidFill>
              </a:rPr>
              <a:t>Marketing Strategy - </a:t>
            </a:r>
            <a:r>
              <a:rPr lang="en-US" b="0" i="1">
                <a:solidFill>
                  <a:srgbClr val="073763"/>
                </a:solidFill>
                <a:latin typeface="Calibri"/>
                <a:ea typeface="Calibri"/>
                <a:cs typeface="Calibri"/>
                <a:sym typeface="Calibri"/>
              </a:rPr>
              <a:t>Overview Summary</a:t>
            </a:r>
            <a:endParaRPr>
              <a:solidFill>
                <a:srgbClr val="073763"/>
              </a:solidFill>
            </a:endParaRPr>
          </a:p>
        </p:txBody>
      </p:sp>
      <p:sp>
        <p:nvSpPr>
          <p:cNvPr id="232" name="Google Shape;232;p33"/>
          <p:cNvSpPr txBox="1"/>
          <p:nvPr>
            <p:ph type="body" idx="1"/>
          </p:nvPr>
        </p:nvSpPr>
        <p:spPr>
          <a:xfrm>
            <a:off x="199225" y="1673225"/>
            <a:ext cx="3918300" cy="4563300"/>
          </a:xfrm>
          <a:prstGeom prst="rect">
            <a:avLst/>
          </a:prstGeom>
          <a:noFill/>
          <a:ln>
            <a:noFill/>
          </a:ln>
        </p:spPr>
        <p:txBody>
          <a:bodyPr spcFirstLastPara="1" wrap="square" lIns="91425" tIns="45700" rIns="91425" bIns="45700" anchor="t" anchorCtr="0">
            <a:noAutofit/>
          </a:bodyPr>
          <a:lstStyle/>
          <a:p>
            <a:pPr marL="457200" lvl="0" indent="0" algn="l" rtl="0">
              <a:lnSpc>
                <a:spcPct val="100000"/>
              </a:lnSpc>
              <a:spcBef>
                <a:spcPts val="1000"/>
              </a:spcBef>
              <a:spcAft>
                <a:spcPts val="0"/>
              </a:spcAft>
              <a:buNone/>
            </a:pPr>
            <a:r>
              <a:rPr lang="en-US" sz="1400" b="1">
                <a:solidFill>
                  <a:schemeClr val="accent2"/>
                </a:solidFill>
              </a:rPr>
              <a:t>1. Marketing Foundation: Messaging &amp; Positioning:</a:t>
            </a:r>
            <a:endParaRPr sz="1400" b="1">
              <a:solidFill>
                <a:schemeClr val="accent2"/>
              </a:solidFill>
            </a:endParaRPr>
          </a:p>
          <a:p>
            <a:pPr marL="685800" lvl="1" indent="-200025" algn="l" rtl="0">
              <a:lnSpc>
                <a:spcPct val="100000"/>
              </a:lnSpc>
              <a:spcBef>
                <a:spcPts val="1000"/>
              </a:spcBef>
              <a:spcAft>
                <a:spcPts val="0"/>
              </a:spcAft>
              <a:buClr>
                <a:schemeClr val="accent2"/>
              </a:buClr>
              <a:buSzPts val="1350"/>
              <a:buFont typeface="Noto Sans Symbols"/>
              <a:buChar char="✔"/>
            </a:pPr>
            <a:r>
              <a:rPr lang="en-US" sz="1350"/>
              <a:t>Define the personas for the Marketing Calendar &amp; Distro product lines</a:t>
            </a:r>
            <a:endParaRPr sz="1350"/>
          </a:p>
          <a:p>
            <a:pPr marL="685800" lvl="1" indent="-200025" algn="l" rtl="0">
              <a:lnSpc>
                <a:spcPct val="100000"/>
              </a:lnSpc>
              <a:spcBef>
                <a:spcPts val="1000"/>
              </a:spcBef>
              <a:spcAft>
                <a:spcPts val="0"/>
              </a:spcAft>
              <a:buClr>
                <a:schemeClr val="accent2"/>
              </a:buClr>
              <a:buSzPts val="1350"/>
              <a:buFont typeface="Noto Sans Symbols"/>
              <a:buChar char="✔"/>
            </a:pPr>
            <a:r>
              <a:rPr lang="en-US" sz="1350"/>
              <a:t>Outline the customer journey for each product line</a:t>
            </a:r>
            <a:endParaRPr sz="1350"/>
          </a:p>
          <a:p>
            <a:pPr marL="685800" lvl="1" indent="-200025" algn="l" rtl="0">
              <a:lnSpc>
                <a:spcPct val="100000"/>
              </a:lnSpc>
              <a:spcBef>
                <a:spcPts val="1000"/>
              </a:spcBef>
              <a:spcAft>
                <a:spcPts val="0"/>
              </a:spcAft>
              <a:buClr>
                <a:schemeClr val="accent2"/>
              </a:buClr>
              <a:buSzPts val="1350"/>
              <a:buFont typeface="Noto Sans Symbols"/>
              <a:buChar char="✔"/>
            </a:pPr>
            <a:r>
              <a:rPr lang="en-US" sz="1350"/>
              <a:t>Adjust messaging, images &amp; branding to better target a larger corporate enterprise audience</a:t>
            </a:r>
            <a:endParaRPr sz="1350"/>
          </a:p>
          <a:p>
            <a:pPr marL="685800" lvl="1" indent="-200025" algn="l" rtl="0">
              <a:lnSpc>
                <a:spcPct val="100000"/>
              </a:lnSpc>
              <a:spcBef>
                <a:spcPts val="1000"/>
              </a:spcBef>
              <a:spcAft>
                <a:spcPts val="0"/>
              </a:spcAft>
              <a:buClr>
                <a:schemeClr val="accent2"/>
              </a:buClr>
              <a:buSzPts val="1350"/>
              <a:buFont typeface="Noto Sans Symbols"/>
              <a:buChar char="✔"/>
            </a:pPr>
            <a:r>
              <a:rPr lang="en-US" sz="1350"/>
              <a:t>Update product positioning to highlight Marketing Calendar &amp; Distro as the main product lines &amp; adjust naming to reflect an enterprise level product</a:t>
            </a:r>
            <a:endParaRPr sz="1350"/>
          </a:p>
          <a:p>
            <a:pPr marL="685800" lvl="1" indent="-200025" algn="l" rtl="0">
              <a:lnSpc>
                <a:spcPct val="100000"/>
              </a:lnSpc>
              <a:spcBef>
                <a:spcPts val="1000"/>
              </a:spcBef>
              <a:spcAft>
                <a:spcPts val="0"/>
              </a:spcAft>
              <a:buClr>
                <a:schemeClr val="accent2"/>
              </a:buClr>
              <a:buSzPts val="1350"/>
              <a:buFont typeface="Noto Sans Symbols"/>
              <a:buChar char="✔"/>
            </a:pPr>
            <a:r>
              <a:rPr lang="en-US" sz="1350"/>
              <a:t>Update existing website, social media &amp; all online assets to match new branding, corporate/product positioning &amp; messaging</a:t>
            </a:r>
            <a:endParaRPr sz="1350"/>
          </a:p>
          <a:p>
            <a:pPr marL="0" lvl="0" indent="0" algn="l" rtl="0">
              <a:lnSpc>
                <a:spcPct val="100000"/>
              </a:lnSpc>
              <a:spcBef>
                <a:spcPts val="1000"/>
              </a:spcBef>
              <a:spcAft>
                <a:spcPts val="0"/>
              </a:spcAft>
              <a:buNone/>
            </a:pPr>
            <a:endParaRPr sz="1350"/>
          </a:p>
          <a:p>
            <a:pPr marL="685800" lvl="0" indent="0" algn="l" rtl="0">
              <a:lnSpc>
                <a:spcPct val="100000"/>
              </a:lnSpc>
              <a:spcBef>
                <a:spcPts val="1000"/>
              </a:spcBef>
              <a:spcAft>
                <a:spcPts val="0"/>
              </a:spcAft>
              <a:buNone/>
            </a:pPr>
            <a:endParaRPr sz="1350"/>
          </a:p>
          <a:p>
            <a:pPr marL="1143000" lvl="0" indent="0" algn="l" rtl="0">
              <a:lnSpc>
                <a:spcPct val="100000"/>
              </a:lnSpc>
              <a:spcBef>
                <a:spcPts val="0"/>
              </a:spcBef>
              <a:spcAft>
                <a:spcPts val="0"/>
              </a:spcAft>
              <a:buNone/>
            </a:pPr>
            <a:endParaRPr sz="1900"/>
          </a:p>
        </p:txBody>
      </p:sp>
      <p:sp>
        <p:nvSpPr>
          <p:cNvPr id="233" name="Google Shape;233;p33"/>
          <p:cNvSpPr txBox="1"/>
          <p:nvPr>
            <p:ph type="body" idx="1"/>
          </p:nvPr>
        </p:nvSpPr>
        <p:spPr>
          <a:xfrm>
            <a:off x="4363075" y="1631525"/>
            <a:ext cx="3359400" cy="4681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350" b="1">
                <a:solidFill>
                  <a:schemeClr val="accent2"/>
                </a:solidFill>
              </a:rPr>
              <a:t>2. Marketing Foundation: Website, Core Content, &amp; Funnels:</a:t>
            </a:r>
            <a:endParaRPr sz="1350" b="1">
              <a:solidFill>
                <a:schemeClr val="accent2"/>
              </a:solidFill>
            </a:endParaRPr>
          </a:p>
          <a:p>
            <a:pPr marL="342900" lvl="1" indent="-200025" algn="l" rtl="0">
              <a:lnSpc>
                <a:spcPct val="100000"/>
              </a:lnSpc>
              <a:spcBef>
                <a:spcPts val="1000"/>
              </a:spcBef>
              <a:spcAft>
                <a:spcPts val="0"/>
              </a:spcAft>
              <a:buClr>
                <a:schemeClr val="accent2"/>
              </a:buClr>
              <a:buSzPts val="1350"/>
              <a:buFont typeface="Noto Sans Symbols"/>
              <a:buChar char="✔"/>
            </a:pPr>
            <a:r>
              <a:rPr lang="en-US" sz="1350"/>
              <a:t>Recommend a new website flow and navigation to move ideal clients to the right product lines for them &amp; match the customer journey</a:t>
            </a:r>
            <a:endParaRPr sz="1350"/>
          </a:p>
          <a:p>
            <a:pPr marL="342900" marR="0" lvl="1" indent="-200025" algn="l" rtl="0">
              <a:lnSpc>
                <a:spcPct val="100000"/>
              </a:lnSpc>
              <a:spcBef>
                <a:spcPts val="1000"/>
              </a:spcBef>
              <a:spcAft>
                <a:spcPts val="0"/>
              </a:spcAft>
              <a:buClr>
                <a:schemeClr val="accent2"/>
              </a:buClr>
              <a:buSzPts val="1350"/>
              <a:buFont typeface="Noto Sans Symbols"/>
              <a:buChar char="✔"/>
            </a:pPr>
            <a:r>
              <a:rPr lang="en-US" sz="1350"/>
              <a:t>Create a content marketing calendar &amp; begin regular content creation </a:t>
            </a:r>
            <a:endParaRPr sz="1350"/>
          </a:p>
          <a:p>
            <a:pPr marL="342900" marR="0" lvl="1" indent="-200025" algn="l" rtl="0">
              <a:lnSpc>
                <a:spcPct val="100000"/>
              </a:lnSpc>
              <a:spcBef>
                <a:spcPts val="1000"/>
              </a:spcBef>
              <a:spcAft>
                <a:spcPts val="0"/>
              </a:spcAft>
              <a:buClr>
                <a:schemeClr val="accent2"/>
              </a:buClr>
              <a:buSzPts val="1350"/>
              <a:buFont typeface="Noto Sans Symbols"/>
              <a:buChar char="✔"/>
            </a:pPr>
            <a:r>
              <a:rPr lang="en-US" sz="1350"/>
              <a:t>Conduct keyword research, update website for SEO, and create HubPages</a:t>
            </a:r>
            <a:endParaRPr sz="1350">
              <a:solidFill>
                <a:srgbClr val="0000FF"/>
              </a:solidFill>
            </a:endParaRPr>
          </a:p>
          <a:p>
            <a:pPr marL="342900" lvl="1" indent="-200025" algn="l" rtl="0">
              <a:lnSpc>
                <a:spcPct val="100000"/>
              </a:lnSpc>
              <a:spcBef>
                <a:spcPts val="1000"/>
              </a:spcBef>
              <a:spcAft>
                <a:spcPts val="0"/>
              </a:spcAft>
              <a:buClr>
                <a:schemeClr val="accent2"/>
              </a:buClr>
              <a:buSzPts val="1350"/>
              <a:buFont typeface="Noto Sans Symbols"/>
              <a:buChar char="✔"/>
            </a:pPr>
            <a:r>
              <a:rPr lang="en-US" sz="1350"/>
              <a:t>Create new marketing funnels for Marketing Calendar &amp; Distro </a:t>
            </a:r>
            <a:endParaRPr sz="1350"/>
          </a:p>
          <a:p>
            <a:pPr marL="342900" lvl="1" indent="-200025" algn="l" rtl="0">
              <a:lnSpc>
                <a:spcPct val="100000"/>
              </a:lnSpc>
              <a:spcBef>
                <a:spcPts val="1000"/>
              </a:spcBef>
              <a:spcAft>
                <a:spcPts val="0"/>
              </a:spcAft>
              <a:buClr>
                <a:schemeClr val="accent2"/>
              </a:buClr>
              <a:buSzPts val="1350"/>
              <a:buFont typeface="Noto Sans Symbols"/>
              <a:buChar char="✔"/>
            </a:pPr>
            <a:r>
              <a:rPr lang="en-US" sz="1350"/>
              <a:t>Create B2B marketing kits for Marketing Calendar &amp; Distro</a:t>
            </a:r>
            <a:endParaRPr sz="1350"/>
          </a:p>
          <a:p>
            <a:pPr marL="342900" lvl="1" indent="-200025" algn="l" rtl="0">
              <a:lnSpc>
                <a:spcPct val="100000"/>
              </a:lnSpc>
              <a:spcBef>
                <a:spcPts val="1000"/>
              </a:spcBef>
              <a:spcAft>
                <a:spcPts val="0"/>
              </a:spcAft>
              <a:buClr>
                <a:schemeClr val="accent2"/>
              </a:buClr>
              <a:buSzPts val="1350"/>
              <a:buFont typeface="Noto Sans Symbols"/>
              <a:buChar char="✔"/>
            </a:pPr>
            <a:r>
              <a:rPr lang="en-US" sz="1350"/>
              <a:t>Create materials for Sourcing/IT</a:t>
            </a:r>
            <a:endParaRPr sz="1350"/>
          </a:p>
          <a:p>
            <a:pPr marL="0" lvl="0" indent="0" algn="l" rtl="0">
              <a:lnSpc>
                <a:spcPct val="100000"/>
              </a:lnSpc>
              <a:spcBef>
                <a:spcPts val="1000"/>
              </a:spcBef>
              <a:spcAft>
                <a:spcPts val="0"/>
              </a:spcAft>
              <a:buNone/>
            </a:pPr>
            <a:endParaRPr sz="1300" b="1">
              <a:solidFill>
                <a:schemeClr val="accent2"/>
              </a:solidFill>
            </a:endParaRPr>
          </a:p>
          <a:p>
            <a:pPr marL="514350" lvl="2" indent="-200025" algn="l" rtl="0">
              <a:lnSpc>
                <a:spcPct val="100000"/>
              </a:lnSpc>
              <a:spcBef>
                <a:spcPts val="1000"/>
              </a:spcBef>
              <a:spcAft>
                <a:spcPts val="0"/>
              </a:spcAft>
              <a:buClr>
                <a:schemeClr val="accent2"/>
              </a:buClr>
              <a:buSzPts val="1350"/>
              <a:buFont typeface="Noto Sans Symbols"/>
              <a:buChar char="•"/>
            </a:pPr>
            <a:endParaRPr sz="1350"/>
          </a:p>
        </p:txBody>
      </p:sp>
      <p:sp>
        <p:nvSpPr>
          <p:cNvPr id="234" name="Google Shape;234;p33"/>
          <p:cNvSpPr txBox="1"/>
          <p:nvPr/>
        </p:nvSpPr>
        <p:spPr>
          <a:xfrm>
            <a:off x="7437375" y="1581800"/>
            <a:ext cx="4289700" cy="5548800"/>
          </a:xfrm>
          <a:prstGeom prst="rect">
            <a:avLst/>
          </a:prstGeom>
          <a:noFill/>
          <a:ln>
            <a:noFill/>
          </a:ln>
        </p:spPr>
        <p:txBody>
          <a:bodyPr spcFirstLastPara="1" wrap="square" lIns="91425" tIns="91425" rIns="91425" bIns="91425" anchor="t" anchorCtr="0">
            <a:spAutoFit/>
          </a:bodyPr>
          <a:lstStyle/>
          <a:p>
            <a:pPr marL="514350" lvl="0" indent="0" algn="l" rtl="0">
              <a:lnSpc>
                <a:spcPct val="115000"/>
              </a:lnSpc>
              <a:spcBef>
                <a:spcPts val="1000"/>
              </a:spcBef>
              <a:spcAft>
                <a:spcPts val="0"/>
              </a:spcAft>
              <a:buClr>
                <a:schemeClr val="dk1"/>
              </a:buClr>
              <a:buSzPts val="1100"/>
              <a:buFont typeface="Arial" panose="020B0704020202020204"/>
              <a:buNone/>
            </a:pPr>
            <a:r>
              <a:rPr lang="en-US" sz="1450" b="1">
                <a:solidFill>
                  <a:schemeClr val="accent2"/>
                </a:solidFill>
                <a:latin typeface="Calibri"/>
                <a:ea typeface="Calibri"/>
                <a:cs typeface="Calibri"/>
                <a:sym typeface="Calibri"/>
              </a:rPr>
              <a:t>3. Marketing Awareness:</a:t>
            </a:r>
            <a:endParaRPr sz="1350">
              <a:solidFill>
                <a:schemeClr val="dk1"/>
              </a:solidFill>
              <a:latin typeface="Calibri"/>
              <a:ea typeface="Calibri"/>
              <a:cs typeface="Calibri"/>
              <a:sym typeface="Calibri"/>
            </a:endParaRPr>
          </a:p>
          <a:p>
            <a:pPr marL="800100" lvl="1" indent="-200025" algn="l" rtl="0">
              <a:spcBef>
                <a:spcPts val="100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Get on sourcing team preferred supplier lists</a:t>
            </a:r>
            <a:endParaRPr sz="1350">
              <a:solidFill>
                <a:schemeClr val="dk1"/>
              </a:solidFill>
              <a:latin typeface="Calibri"/>
              <a:ea typeface="Calibri"/>
              <a:cs typeface="Calibri"/>
              <a:sym typeface="Calibri"/>
            </a:endParaRPr>
          </a:p>
          <a:p>
            <a:pPr marL="800100" lvl="1" indent="-200025" algn="l" rtl="0">
              <a:spcBef>
                <a:spcPts val="100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Media/analyst/influencer relations - identify key media &amp; influencers and pitch </a:t>
            </a:r>
            <a:endParaRPr sz="1450" b="1">
              <a:solidFill>
                <a:schemeClr val="accent2"/>
              </a:solidFill>
              <a:latin typeface="Calibri"/>
              <a:ea typeface="Calibri"/>
              <a:cs typeface="Calibri"/>
              <a:sym typeface="Calibri"/>
            </a:endParaRPr>
          </a:p>
          <a:p>
            <a:pPr marL="0" lvl="0" indent="457200" algn="l" rtl="0">
              <a:spcBef>
                <a:spcPts val="1000"/>
              </a:spcBef>
              <a:spcAft>
                <a:spcPts val="0"/>
              </a:spcAft>
              <a:buClr>
                <a:schemeClr val="dk1"/>
              </a:buClr>
              <a:buSzPts val="1100"/>
              <a:buFont typeface="Arial" panose="020B0704020202020204"/>
              <a:buNone/>
            </a:pPr>
            <a:r>
              <a:rPr lang="en-US" sz="1450" b="1">
                <a:solidFill>
                  <a:schemeClr val="accent2"/>
                </a:solidFill>
                <a:latin typeface="Calibri"/>
                <a:ea typeface="Calibri"/>
                <a:cs typeface="Calibri"/>
                <a:sym typeface="Calibri"/>
              </a:rPr>
              <a:t>4. Marketing Lead Generation (inbound):</a:t>
            </a:r>
            <a:endParaRPr sz="1350">
              <a:solidFill>
                <a:schemeClr val="dk1"/>
              </a:solidFill>
              <a:latin typeface="Calibri"/>
              <a:ea typeface="Calibri"/>
              <a:cs typeface="Calibri"/>
              <a:sym typeface="Calibri"/>
            </a:endParaRPr>
          </a:p>
          <a:p>
            <a:pPr marL="742950" marR="0" lvl="1" indent="-200025" algn="l" rtl="0">
              <a:lnSpc>
                <a:spcPct val="115000"/>
              </a:lnSpc>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Update online review sites, claim new listings:</a:t>
            </a:r>
            <a:endParaRPr sz="1350">
              <a:solidFill>
                <a:schemeClr val="dk1"/>
              </a:solidFill>
              <a:latin typeface="Calibri"/>
              <a:ea typeface="Calibri"/>
              <a:cs typeface="Calibri"/>
              <a:sym typeface="Calibri"/>
            </a:endParaRPr>
          </a:p>
          <a:p>
            <a:pPr marL="971550" marR="0" lvl="2" indent="-200025" algn="l" rtl="0">
              <a:lnSpc>
                <a:spcPct val="115000"/>
              </a:lnSpc>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Campaign to get clients to add reviews</a:t>
            </a:r>
            <a:endParaRPr sz="1350">
              <a:solidFill>
                <a:schemeClr val="dk1"/>
              </a:solidFill>
              <a:latin typeface="Calibri"/>
              <a:ea typeface="Calibri"/>
              <a:cs typeface="Calibri"/>
              <a:sym typeface="Calibri"/>
            </a:endParaRPr>
          </a:p>
          <a:p>
            <a:pPr marL="742950" marR="0" lvl="1" indent="-200025" algn="l" rtl="0">
              <a:lnSpc>
                <a:spcPct val="115000"/>
              </a:lnSpc>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Increase content sharing on social:</a:t>
            </a:r>
            <a:endParaRPr sz="1350">
              <a:solidFill>
                <a:schemeClr val="dk1"/>
              </a:solidFill>
              <a:latin typeface="Calibri"/>
              <a:ea typeface="Calibri"/>
              <a:cs typeface="Calibri"/>
              <a:sym typeface="Calibri"/>
            </a:endParaRPr>
          </a:p>
          <a:p>
            <a:pPr marL="914400" marR="0" lvl="2" indent="-200025" algn="l" rtl="0">
              <a:lnSpc>
                <a:spcPct val="115000"/>
              </a:lnSpc>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SME blog posts, consider YouTube video series &amp; whitepapers - LinkedIn focus (articles, etc.)</a:t>
            </a:r>
            <a:endParaRPr sz="1450" b="1">
              <a:solidFill>
                <a:schemeClr val="accent2"/>
              </a:solidFill>
              <a:latin typeface="Calibri"/>
              <a:ea typeface="Calibri"/>
              <a:cs typeface="Calibri"/>
              <a:sym typeface="Calibri"/>
            </a:endParaRPr>
          </a:p>
          <a:p>
            <a:pPr marL="0" lvl="0" indent="457200" algn="l" rtl="0">
              <a:lnSpc>
                <a:spcPct val="115000"/>
              </a:lnSpc>
              <a:spcBef>
                <a:spcPts val="1000"/>
              </a:spcBef>
              <a:spcAft>
                <a:spcPts val="0"/>
              </a:spcAft>
              <a:buNone/>
            </a:pPr>
            <a:r>
              <a:rPr lang="en-US" sz="1450" b="1">
                <a:solidFill>
                  <a:schemeClr val="accent2"/>
                </a:solidFill>
                <a:latin typeface="Calibri"/>
                <a:ea typeface="Calibri"/>
                <a:cs typeface="Calibri"/>
                <a:sym typeface="Calibri"/>
              </a:rPr>
              <a:t>5. Marketing Lead Generation (outbound):</a:t>
            </a:r>
            <a:endParaRPr sz="1450" b="1">
              <a:solidFill>
                <a:schemeClr val="accent2"/>
              </a:solidFill>
              <a:latin typeface="Calibri"/>
              <a:ea typeface="Calibri"/>
              <a:cs typeface="Calibri"/>
              <a:sym typeface="Calibri"/>
            </a:endParaRPr>
          </a:p>
          <a:p>
            <a:pPr marL="742950" lvl="1" indent="-200025" algn="l" rtl="0">
              <a:lnSpc>
                <a:spcPct val="115000"/>
              </a:lnSpc>
              <a:spcBef>
                <a:spcPts val="0"/>
              </a:spcBef>
              <a:spcAft>
                <a:spcPts val="0"/>
              </a:spcAft>
              <a:buClr>
                <a:schemeClr val="accent2"/>
              </a:buClr>
              <a:buSzPts val="1350"/>
              <a:buFont typeface="Noto Sans Symbols"/>
              <a:buChar char="✔"/>
            </a:pPr>
            <a:r>
              <a:rPr lang="en-US" sz="1250">
                <a:solidFill>
                  <a:schemeClr val="dk1"/>
                </a:solidFill>
                <a:latin typeface="Calibri"/>
                <a:ea typeface="Calibri"/>
                <a:cs typeface="Calibri"/>
                <a:sym typeface="Calibri"/>
              </a:rPr>
              <a:t>Search &amp; Social Advertising</a:t>
            </a:r>
            <a:endParaRPr sz="1350">
              <a:solidFill>
                <a:schemeClr val="dk1"/>
              </a:solidFill>
              <a:latin typeface="Calibri"/>
              <a:ea typeface="Calibri"/>
              <a:cs typeface="Calibri"/>
              <a:sym typeface="Calibri"/>
            </a:endParaRPr>
          </a:p>
          <a:p>
            <a:pPr marL="742950" lvl="1" indent="-200025" algn="l" rtl="0">
              <a:lnSpc>
                <a:spcPct val="115000"/>
              </a:lnSpc>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Events &amp; associations: Partner, attend, advertise, sponsor - lead back into funnels.</a:t>
            </a:r>
            <a:endParaRPr sz="1350">
              <a:solidFill>
                <a:schemeClr val="dk1"/>
              </a:solidFill>
              <a:latin typeface="Calibri"/>
              <a:ea typeface="Calibri"/>
              <a:cs typeface="Calibri"/>
              <a:sym typeface="Calibri"/>
            </a:endParaRPr>
          </a:p>
          <a:p>
            <a:pPr marL="742950" lvl="1" indent="-200025" algn="l" rtl="0">
              <a:lnSpc>
                <a:spcPct val="115000"/>
              </a:lnSpc>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Direct account targeting: Marketing-sales campaign</a:t>
            </a:r>
            <a:endParaRPr sz="1350">
              <a:solidFill>
                <a:schemeClr val="dk1"/>
              </a:solidFill>
              <a:latin typeface="Calibri"/>
              <a:ea typeface="Calibri"/>
              <a:cs typeface="Calibri"/>
              <a:sym typeface="Calibri"/>
            </a:endParaRPr>
          </a:p>
          <a:p>
            <a:pPr marL="685800" lvl="0" indent="0" algn="l" rtl="0">
              <a:lnSpc>
                <a:spcPct val="115000"/>
              </a:lnSpc>
              <a:spcBef>
                <a:spcPts val="0"/>
              </a:spcBef>
              <a:spcAft>
                <a:spcPts val="0"/>
              </a:spcAft>
              <a:buNone/>
            </a:pPr>
            <a:endParaRPr sz="1350">
              <a:solidFill>
                <a:schemeClr val="dk1"/>
              </a:solidFill>
              <a:latin typeface="Calibri"/>
              <a:ea typeface="Calibri"/>
              <a:cs typeface="Calibri"/>
              <a:sym typeface="Calibri"/>
            </a:endParaRPr>
          </a:p>
          <a:p>
            <a:pPr marL="685800" lvl="0" indent="0" algn="l" rtl="0">
              <a:spcBef>
                <a:spcPts val="0"/>
              </a:spcBef>
              <a:spcAft>
                <a:spcPts val="0"/>
              </a:spcAft>
              <a:buNone/>
            </a:pPr>
            <a:endParaRPr sz="1350">
              <a:solidFill>
                <a:schemeClr val="dk1"/>
              </a:solidFill>
              <a:latin typeface="Calibri"/>
              <a:ea typeface="Calibri"/>
              <a:cs typeface="Calibri"/>
              <a:sym typeface="Calibri"/>
            </a:endParaRPr>
          </a:p>
          <a:p>
            <a:pPr marL="228600" lvl="0" indent="0" algn="l" rtl="0">
              <a:spcBef>
                <a:spcPts val="0"/>
              </a:spcBef>
              <a:spcAft>
                <a:spcPts val="0"/>
              </a:spcAft>
              <a:buNone/>
            </a:pPr>
            <a:endParaRPr sz="1350">
              <a:solidFill>
                <a:schemeClr val="dk1"/>
              </a:solidFill>
              <a:latin typeface="Calibri"/>
              <a:ea typeface="Calibri"/>
              <a:cs typeface="Calibri"/>
              <a:sym typeface="Calibri"/>
            </a:endParaRPr>
          </a:p>
          <a:p>
            <a:pPr marL="685800" lvl="0" indent="0" algn="l" rtl="0">
              <a:spcBef>
                <a:spcPts val="0"/>
              </a:spcBef>
              <a:spcAft>
                <a:spcPts val="0"/>
              </a:spcAft>
              <a:buNone/>
            </a:pPr>
            <a:endParaRPr sz="1350">
              <a:solidFill>
                <a:schemeClr val="dk1"/>
              </a:solidFill>
              <a:latin typeface="Calibri"/>
              <a:ea typeface="Calibri"/>
              <a:cs typeface="Calibri"/>
              <a:sym typeface="Calibri"/>
            </a:endParaRPr>
          </a:p>
        </p:txBody>
      </p:sp>
      <p:cxnSp>
        <p:nvCxnSpPr>
          <p:cNvPr id="235" name="Google Shape;235;p33"/>
          <p:cNvCxnSpPr/>
          <p:nvPr/>
        </p:nvCxnSpPr>
        <p:spPr>
          <a:xfrm>
            <a:off x="4209400" y="1658000"/>
            <a:ext cx="13200" cy="4624500"/>
          </a:xfrm>
          <a:prstGeom prst="straightConnector1">
            <a:avLst/>
          </a:prstGeom>
          <a:noFill/>
          <a:ln w="9525" cap="flat" cmpd="sng">
            <a:solidFill>
              <a:srgbClr val="AFDFE4"/>
            </a:solidFill>
            <a:prstDash val="solid"/>
            <a:round/>
            <a:headEnd type="none" w="med" len="med"/>
            <a:tailEnd type="none" w="med" len="med"/>
          </a:ln>
        </p:spPr>
      </p:cxnSp>
      <p:cxnSp>
        <p:nvCxnSpPr>
          <p:cNvPr id="236" name="Google Shape;236;p33"/>
          <p:cNvCxnSpPr/>
          <p:nvPr/>
        </p:nvCxnSpPr>
        <p:spPr>
          <a:xfrm>
            <a:off x="7808450" y="1688975"/>
            <a:ext cx="13200" cy="4624500"/>
          </a:xfrm>
          <a:prstGeom prst="straightConnector1">
            <a:avLst/>
          </a:prstGeom>
          <a:noFill/>
          <a:ln w="9525" cap="flat" cmpd="sng">
            <a:solidFill>
              <a:srgbClr val="AFDFE4"/>
            </a:solidFill>
            <a:prstDash val="solid"/>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n-US">
                <a:solidFill>
                  <a:schemeClr val="dk1"/>
                </a:solidFill>
              </a:rPr>
              <a:t>Marketing Strategy </a:t>
            </a:r>
            <a:r>
              <a:rPr lang="en-US" b="0" i="1">
                <a:solidFill>
                  <a:schemeClr val="dk1"/>
                </a:solidFill>
                <a:latin typeface="Calibri"/>
                <a:ea typeface="Calibri"/>
                <a:cs typeface="Calibri"/>
                <a:sym typeface="Calibri"/>
              </a:rPr>
              <a:t>Overview</a:t>
            </a:r>
            <a:endParaRPr b="0" i="1">
              <a:solidFill>
                <a:schemeClr val="dk1"/>
              </a:solidFill>
              <a:latin typeface="Calibri"/>
              <a:ea typeface="Calibri"/>
              <a:cs typeface="Calibri"/>
              <a:sym typeface="Calibri"/>
            </a:endParaRPr>
          </a:p>
        </p:txBody>
      </p:sp>
      <p:sp>
        <p:nvSpPr>
          <p:cNvPr id="242" name="Google Shape;242;p34"/>
          <p:cNvSpPr/>
          <p:nvPr/>
        </p:nvSpPr>
        <p:spPr>
          <a:xfrm>
            <a:off x="2694475" y="1943100"/>
            <a:ext cx="2159400" cy="1049700"/>
          </a:xfrm>
          <a:prstGeom prst="snip1Rect">
            <a:avLst>
              <a:gd name="adj" fmla="val 16667"/>
            </a:avLst>
          </a:prstGeom>
          <a:solidFill>
            <a:schemeClr val="accent3"/>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500" b="1">
                <a:solidFill>
                  <a:schemeClr val="accent5"/>
                </a:solidFill>
                <a:latin typeface="Calibri"/>
                <a:ea typeface="Calibri"/>
                <a:cs typeface="Calibri"/>
                <a:sym typeface="Calibri"/>
              </a:rPr>
              <a:t>Awareness Campaigns:</a:t>
            </a:r>
            <a:endParaRPr sz="1500" b="1">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a:solidFill>
                  <a:schemeClr val="accent5"/>
                </a:solidFill>
                <a:latin typeface="Calibri"/>
                <a:ea typeface="Calibri"/>
                <a:cs typeface="Calibri"/>
                <a:sym typeface="Calibri"/>
              </a:rPr>
              <a:t>Media/Influencer/Analyst Relations</a:t>
            </a:r>
            <a:endParaRPr>
              <a:solidFill>
                <a:schemeClr val="accent5"/>
              </a:solidFill>
              <a:latin typeface="Calibri"/>
              <a:ea typeface="Calibri"/>
              <a:cs typeface="Calibri"/>
              <a:sym typeface="Calibri"/>
            </a:endParaRPr>
          </a:p>
        </p:txBody>
      </p:sp>
      <p:sp>
        <p:nvSpPr>
          <p:cNvPr id="243" name="Google Shape;243;p34"/>
          <p:cNvSpPr/>
          <p:nvPr/>
        </p:nvSpPr>
        <p:spPr>
          <a:xfrm>
            <a:off x="10041900" y="4037000"/>
            <a:ext cx="1452000" cy="447900"/>
          </a:xfrm>
          <a:prstGeom prst="snip1Rect">
            <a:avLst>
              <a:gd name="adj" fmla="val 16667"/>
            </a:avLst>
          </a:prstGeom>
          <a:solidFill>
            <a:schemeClr val="accent3"/>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500" b="1">
                <a:solidFill>
                  <a:schemeClr val="accent5"/>
                </a:solidFill>
                <a:latin typeface="Calibri"/>
                <a:ea typeface="Calibri"/>
                <a:cs typeface="Calibri"/>
                <a:sym typeface="Calibri"/>
              </a:rPr>
              <a:t>Newsletter</a:t>
            </a:r>
            <a:endParaRPr sz="1500"/>
          </a:p>
        </p:txBody>
      </p:sp>
      <p:sp>
        <p:nvSpPr>
          <p:cNvPr id="244" name="Google Shape;244;p34"/>
          <p:cNvSpPr/>
          <p:nvPr/>
        </p:nvSpPr>
        <p:spPr>
          <a:xfrm>
            <a:off x="5300725" y="2549000"/>
            <a:ext cx="2039015" cy="2776958"/>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b="1">
                <a:solidFill>
                  <a:schemeClr val="accent5"/>
                </a:solidFill>
                <a:latin typeface="Calibri"/>
                <a:ea typeface="Calibri"/>
                <a:cs typeface="Calibri"/>
                <a:sym typeface="Calibri"/>
              </a:rPr>
              <a:t>New Persona Lead Nurture Funnels</a:t>
            </a:r>
            <a:br>
              <a:rPr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&gt; Marketing Calendar</a:t>
            </a:r>
            <a:endParaRPr sz="1600">
              <a:solidFill>
                <a:schemeClr val="accent5"/>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a:solidFill>
                  <a:schemeClr val="accent5"/>
                </a:solidFill>
                <a:latin typeface="Calibri"/>
                <a:ea typeface="Calibri"/>
                <a:cs typeface="Calibri"/>
                <a:sym typeface="Calibri"/>
              </a:rPr>
              <a:t> </a:t>
            </a:r>
            <a:endParaRPr sz="1600">
              <a:solidFill>
                <a:schemeClr val="accent5"/>
              </a:solidFill>
              <a:latin typeface="Calibri"/>
              <a:ea typeface="Calibri"/>
              <a:cs typeface="Calibri"/>
              <a:sym typeface="Calibri"/>
            </a:endParaRPr>
          </a:p>
          <a:p>
            <a:pPr marL="0" marR="0" lvl="0" indent="0" algn="l" rtl="0">
              <a:lnSpc>
                <a:spcPct val="100000"/>
              </a:lnSpc>
              <a:spcBef>
                <a:spcPts val="0"/>
              </a:spcBef>
              <a:spcAft>
                <a:spcPts val="0"/>
              </a:spcAft>
              <a:buNone/>
            </a:pPr>
            <a:r>
              <a:rPr lang="en-US" sz="1600">
                <a:solidFill>
                  <a:schemeClr val="accent5"/>
                </a:solidFill>
                <a:latin typeface="Calibri"/>
                <a:ea typeface="Calibri"/>
                <a:cs typeface="Calibri"/>
                <a:sym typeface="Calibri"/>
              </a:rPr>
              <a:t>&gt; Distro </a:t>
            </a:r>
            <a:endParaRPr sz="1600">
              <a:solidFill>
                <a:schemeClr val="accent5"/>
              </a:solidFill>
              <a:latin typeface="Calibri"/>
              <a:ea typeface="Calibri"/>
              <a:cs typeface="Calibri"/>
              <a:sym typeface="Calibri"/>
            </a:endParaRPr>
          </a:p>
        </p:txBody>
      </p:sp>
      <p:pic>
        <p:nvPicPr>
          <p:cNvPr id="245" name="Google Shape;245;p34"/>
          <p:cNvPicPr preferRelativeResize="0"/>
          <p:nvPr/>
        </p:nvPicPr>
        <p:blipFill rotWithShape="1">
          <a:blip r:embed="rId1"/>
          <a:srcRect/>
          <a:stretch>
            <a:fillRect/>
          </a:stretch>
        </p:blipFill>
        <p:spPr>
          <a:xfrm>
            <a:off x="4983450" y="3604539"/>
            <a:ext cx="221894" cy="308722"/>
          </a:xfrm>
          <a:prstGeom prst="rect">
            <a:avLst/>
          </a:prstGeom>
          <a:noFill/>
          <a:ln>
            <a:noFill/>
          </a:ln>
        </p:spPr>
      </p:pic>
      <p:pic>
        <p:nvPicPr>
          <p:cNvPr id="246" name="Google Shape;246;p34"/>
          <p:cNvPicPr preferRelativeResize="0"/>
          <p:nvPr/>
        </p:nvPicPr>
        <p:blipFill rotWithShape="1">
          <a:blip r:embed="rId1"/>
          <a:srcRect/>
          <a:stretch>
            <a:fillRect/>
          </a:stretch>
        </p:blipFill>
        <p:spPr>
          <a:xfrm>
            <a:off x="7491025" y="3604531"/>
            <a:ext cx="221894" cy="308722"/>
          </a:xfrm>
          <a:prstGeom prst="rect">
            <a:avLst/>
          </a:prstGeom>
          <a:noFill/>
          <a:ln>
            <a:noFill/>
          </a:ln>
        </p:spPr>
      </p:pic>
      <p:sp>
        <p:nvSpPr>
          <p:cNvPr id="247" name="Google Shape;247;p34"/>
          <p:cNvSpPr/>
          <p:nvPr/>
        </p:nvSpPr>
        <p:spPr>
          <a:xfrm>
            <a:off x="2694475" y="3165450"/>
            <a:ext cx="2159400" cy="1325400"/>
          </a:xfrm>
          <a:prstGeom prst="snip1Rect">
            <a:avLst>
              <a:gd name="adj" fmla="val 16667"/>
            </a:avLst>
          </a:prstGeom>
          <a:solidFill>
            <a:schemeClr val="accent3"/>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500" b="1">
                <a:solidFill>
                  <a:schemeClr val="accent5"/>
                </a:solidFill>
                <a:latin typeface="Calibri"/>
                <a:ea typeface="Calibri"/>
                <a:cs typeface="Calibri"/>
                <a:sym typeface="Calibri"/>
              </a:rPr>
              <a:t>Lead Generation (inbound)</a:t>
            </a:r>
            <a:endParaRPr sz="1500" b="1">
              <a:solidFill>
                <a:schemeClr val="accent5"/>
              </a:solidFill>
              <a:latin typeface="Calibri"/>
              <a:ea typeface="Calibri"/>
              <a:cs typeface="Calibri"/>
              <a:sym typeface="Calibri"/>
            </a:endParaRPr>
          </a:p>
          <a:p>
            <a:pPr marL="0" lvl="0" indent="0" algn="ctr" rtl="0">
              <a:lnSpc>
                <a:spcPct val="105000"/>
              </a:lnSpc>
              <a:spcBef>
                <a:spcPts val="0"/>
              </a:spcBef>
              <a:spcAft>
                <a:spcPts val="0"/>
              </a:spcAft>
              <a:buNone/>
            </a:pPr>
            <a:r>
              <a:rPr lang="en-US">
                <a:solidFill>
                  <a:schemeClr val="accent5"/>
                </a:solidFill>
                <a:latin typeface="Calibri"/>
                <a:ea typeface="Calibri"/>
                <a:cs typeface="Calibri"/>
                <a:sym typeface="Calibri"/>
              </a:rPr>
              <a:t>Content Marketing </a:t>
            </a:r>
            <a:endParaRPr>
              <a:solidFill>
                <a:schemeClr val="accent5"/>
              </a:solidFill>
              <a:latin typeface="Calibri"/>
              <a:ea typeface="Calibri"/>
              <a:cs typeface="Calibri"/>
              <a:sym typeface="Calibri"/>
            </a:endParaRPr>
          </a:p>
          <a:p>
            <a:pPr marL="0" lvl="0" indent="0" algn="ctr" rtl="0">
              <a:lnSpc>
                <a:spcPct val="105000"/>
              </a:lnSpc>
              <a:spcBef>
                <a:spcPts val="0"/>
              </a:spcBef>
              <a:spcAft>
                <a:spcPts val="0"/>
              </a:spcAft>
              <a:buNone/>
            </a:pPr>
            <a:r>
              <a:rPr lang="en-US">
                <a:solidFill>
                  <a:schemeClr val="accent5"/>
                </a:solidFill>
                <a:latin typeface="Calibri"/>
                <a:ea typeface="Calibri"/>
                <a:cs typeface="Calibri"/>
                <a:sym typeface="Calibri"/>
              </a:rPr>
              <a:t>SEO/Hub Pages</a:t>
            </a:r>
            <a:endParaRPr>
              <a:solidFill>
                <a:schemeClr val="accent5"/>
              </a:solidFill>
              <a:latin typeface="Calibri"/>
              <a:ea typeface="Calibri"/>
              <a:cs typeface="Calibri"/>
              <a:sym typeface="Calibri"/>
            </a:endParaRPr>
          </a:p>
          <a:p>
            <a:pPr marL="0" lvl="0" indent="0" algn="ctr" rtl="0">
              <a:lnSpc>
                <a:spcPct val="105000"/>
              </a:lnSpc>
              <a:spcBef>
                <a:spcPts val="0"/>
              </a:spcBef>
              <a:spcAft>
                <a:spcPts val="0"/>
              </a:spcAft>
              <a:buNone/>
            </a:pPr>
            <a:r>
              <a:rPr lang="en-US">
                <a:solidFill>
                  <a:schemeClr val="accent5"/>
                </a:solidFill>
                <a:latin typeface="Calibri"/>
                <a:ea typeface="Calibri"/>
                <a:cs typeface="Calibri"/>
                <a:sym typeface="Calibri"/>
              </a:rPr>
              <a:t>Online Listings/Review Sites</a:t>
            </a:r>
            <a:endParaRPr sz="15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endParaRPr sz="1500">
              <a:solidFill>
                <a:schemeClr val="accent5"/>
              </a:solidFill>
              <a:latin typeface="Calibri"/>
              <a:ea typeface="Calibri"/>
              <a:cs typeface="Calibri"/>
              <a:sym typeface="Calibri"/>
            </a:endParaRPr>
          </a:p>
        </p:txBody>
      </p:sp>
      <p:sp>
        <p:nvSpPr>
          <p:cNvPr id="248" name="Google Shape;248;p34"/>
          <p:cNvSpPr/>
          <p:nvPr/>
        </p:nvSpPr>
        <p:spPr>
          <a:xfrm>
            <a:off x="2728675" y="4684925"/>
            <a:ext cx="2159400" cy="1325700"/>
          </a:xfrm>
          <a:prstGeom prst="snip1Rect">
            <a:avLst>
              <a:gd name="adj" fmla="val 16667"/>
            </a:avLst>
          </a:prstGeom>
          <a:solidFill>
            <a:schemeClr val="accent3"/>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500" b="1">
                <a:solidFill>
                  <a:schemeClr val="accent5"/>
                </a:solidFill>
                <a:latin typeface="Calibri"/>
                <a:ea typeface="Calibri"/>
                <a:cs typeface="Calibri"/>
                <a:sym typeface="Calibri"/>
              </a:rPr>
              <a:t>Lead Generation (outbound)</a:t>
            </a:r>
            <a:endParaRPr sz="1500" b="1">
              <a:solidFill>
                <a:schemeClr val="accent5"/>
              </a:solidFill>
              <a:latin typeface="Calibri"/>
              <a:ea typeface="Calibri"/>
              <a:cs typeface="Calibri"/>
              <a:sym typeface="Calibri"/>
            </a:endParaRPr>
          </a:p>
          <a:p>
            <a:pPr marL="0" lvl="0" indent="0" algn="ctr" rtl="0">
              <a:lnSpc>
                <a:spcPct val="105000"/>
              </a:lnSpc>
              <a:spcBef>
                <a:spcPts val="0"/>
              </a:spcBef>
              <a:spcAft>
                <a:spcPts val="0"/>
              </a:spcAft>
              <a:buClr>
                <a:schemeClr val="dk1"/>
              </a:buClr>
              <a:buFont typeface="Arial" panose="020B0704020202020204"/>
              <a:buNone/>
            </a:pPr>
            <a:r>
              <a:rPr lang="en-US">
                <a:solidFill>
                  <a:schemeClr val="accent5"/>
                </a:solidFill>
                <a:latin typeface="Calibri"/>
                <a:ea typeface="Calibri"/>
                <a:cs typeface="Calibri"/>
                <a:sym typeface="Calibri"/>
              </a:rPr>
              <a:t>Social/Google Ads</a:t>
            </a:r>
            <a:endParaRPr>
              <a:solidFill>
                <a:schemeClr val="accent5"/>
              </a:solidFill>
              <a:latin typeface="Calibri"/>
              <a:ea typeface="Calibri"/>
              <a:cs typeface="Calibri"/>
              <a:sym typeface="Calibri"/>
            </a:endParaRPr>
          </a:p>
          <a:p>
            <a:pPr marL="0" lvl="0" indent="0" algn="ctr" rtl="0">
              <a:lnSpc>
                <a:spcPct val="105000"/>
              </a:lnSpc>
              <a:spcBef>
                <a:spcPts val="0"/>
              </a:spcBef>
              <a:spcAft>
                <a:spcPts val="0"/>
              </a:spcAft>
              <a:buNone/>
            </a:pPr>
            <a:r>
              <a:rPr lang="en-US">
                <a:solidFill>
                  <a:schemeClr val="accent5"/>
                </a:solidFill>
                <a:latin typeface="Calibri"/>
                <a:ea typeface="Calibri"/>
                <a:cs typeface="Calibri"/>
                <a:sym typeface="Calibri"/>
              </a:rPr>
              <a:t>   Events/Associations</a:t>
            </a:r>
            <a:endParaRPr>
              <a:solidFill>
                <a:schemeClr val="accent5"/>
              </a:solidFill>
              <a:latin typeface="Calibri"/>
              <a:ea typeface="Calibri"/>
              <a:cs typeface="Calibri"/>
              <a:sym typeface="Calibri"/>
            </a:endParaRPr>
          </a:p>
          <a:p>
            <a:pPr marL="0" lvl="0" indent="0" algn="ctr" rtl="0">
              <a:lnSpc>
                <a:spcPct val="105000"/>
              </a:lnSpc>
              <a:spcBef>
                <a:spcPts val="0"/>
              </a:spcBef>
              <a:spcAft>
                <a:spcPts val="0"/>
              </a:spcAft>
              <a:buClr>
                <a:schemeClr val="dk1"/>
              </a:buClr>
              <a:buFont typeface="Arial" panose="020B0704020202020204"/>
              <a:buNone/>
            </a:pPr>
            <a:r>
              <a:rPr lang="en-US">
                <a:solidFill>
                  <a:schemeClr val="accent5"/>
                </a:solidFill>
                <a:latin typeface="Calibri"/>
                <a:ea typeface="Calibri"/>
                <a:cs typeface="Calibri"/>
                <a:sym typeface="Calibri"/>
              </a:rPr>
              <a:t>Account Based Campaigns</a:t>
            </a:r>
            <a:endParaRPr>
              <a:solidFill>
                <a:schemeClr val="accent5"/>
              </a:solidFill>
              <a:latin typeface="Calibri"/>
              <a:ea typeface="Calibri"/>
              <a:cs typeface="Calibri"/>
              <a:sym typeface="Calibri"/>
            </a:endParaRPr>
          </a:p>
        </p:txBody>
      </p:sp>
      <p:sp>
        <p:nvSpPr>
          <p:cNvPr id="249" name="Google Shape;249;p34"/>
          <p:cNvSpPr/>
          <p:nvPr/>
        </p:nvSpPr>
        <p:spPr>
          <a:xfrm>
            <a:off x="7766300" y="2602950"/>
            <a:ext cx="1841100" cy="2723100"/>
          </a:xfrm>
          <a:prstGeom prst="snip1Rect">
            <a:avLst>
              <a:gd name="adj" fmla="val 16667"/>
            </a:avLst>
          </a:prstGeom>
          <a:solidFill>
            <a:srgbClr val="AFDFE4"/>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600" b="1">
                <a:solidFill>
                  <a:schemeClr val="accent5"/>
                </a:solidFill>
                <a:latin typeface="Calibri"/>
                <a:ea typeface="Calibri"/>
                <a:cs typeface="Calibri"/>
                <a:sym typeface="Calibri"/>
              </a:rPr>
              <a:t>Lead Nurture Sequence</a:t>
            </a:r>
            <a:endParaRPr sz="1600" b="1">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600">
                <a:solidFill>
                  <a:schemeClr val="accent5"/>
                </a:solidFill>
                <a:latin typeface="Calibri"/>
                <a:ea typeface="Calibri"/>
                <a:cs typeface="Calibri"/>
                <a:sym typeface="Calibri"/>
              </a:rPr>
              <a:t>for each persona</a:t>
            </a:r>
            <a:endParaRPr sz="1600">
              <a:solidFill>
                <a:schemeClr val="accent5"/>
              </a:solidFill>
              <a:latin typeface="Calibri"/>
              <a:ea typeface="Calibri"/>
              <a:cs typeface="Calibri"/>
              <a:sym typeface="Calibri"/>
            </a:endParaRPr>
          </a:p>
        </p:txBody>
      </p:sp>
      <p:pic>
        <p:nvPicPr>
          <p:cNvPr id="250" name="Google Shape;250;p34"/>
          <p:cNvPicPr preferRelativeResize="0"/>
          <p:nvPr/>
        </p:nvPicPr>
        <p:blipFill rotWithShape="1">
          <a:blip r:embed="rId1"/>
          <a:srcRect/>
          <a:stretch>
            <a:fillRect/>
          </a:stretch>
        </p:blipFill>
        <p:spPr>
          <a:xfrm>
            <a:off x="9715625" y="3597593"/>
            <a:ext cx="221894" cy="308722"/>
          </a:xfrm>
          <a:prstGeom prst="rect">
            <a:avLst/>
          </a:prstGeom>
          <a:noFill/>
          <a:ln>
            <a:noFill/>
          </a:ln>
        </p:spPr>
      </p:pic>
      <p:sp>
        <p:nvSpPr>
          <p:cNvPr id="251" name="Google Shape;251;p34"/>
          <p:cNvSpPr/>
          <p:nvPr/>
        </p:nvSpPr>
        <p:spPr>
          <a:xfrm>
            <a:off x="10032900" y="2169200"/>
            <a:ext cx="1451930" cy="56279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500" b="1">
                <a:solidFill>
                  <a:schemeClr val="accent5"/>
                </a:solidFill>
                <a:latin typeface="Calibri"/>
                <a:ea typeface="Calibri"/>
                <a:cs typeface="Calibri"/>
                <a:sym typeface="Calibri"/>
              </a:rPr>
              <a:t>Watch Demo </a:t>
            </a:r>
            <a:r>
              <a:rPr lang="en-US" sz="1500" b="1">
                <a:solidFill>
                  <a:schemeClr val="accent5"/>
                </a:solidFill>
                <a:latin typeface="Calibri"/>
                <a:ea typeface="Calibri"/>
                <a:cs typeface="Calibri"/>
                <a:sym typeface="Calibri"/>
              </a:rPr>
              <a:t>Video</a:t>
            </a:r>
            <a:endParaRPr sz="1500"/>
          </a:p>
        </p:txBody>
      </p:sp>
      <p:pic>
        <p:nvPicPr>
          <p:cNvPr id="252" name="Google Shape;252;p34"/>
          <p:cNvPicPr preferRelativeResize="0"/>
          <p:nvPr/>
        </p:nvPicPr>
        <p:blipFill rotWithShape="1">
          <a:blip r:embed="rId1"/>
          <a:srcRect/>
          <a:stretch>
            <a:fillRect/>
          </a:stretch>
        </p:blipFill>
        <p:spPr>
          <a:xfrm rot="5400000">
            <a:off x="10643214" y="3688087"/>
            <a:ext cx="197825" cy="275250"/>
          </a:xfrm>
          <a:prstGeom prst="rect">
            <a:avLst/>
          </a:prstGeom>
          <a:noFill/>
          <a:ln>
            <a:noFill/>
          </a:ln>
        </p:spPr>
      </p:pic>
      <p:sp>
        <p:nvSpPr>
          <p:cNvPr id="253" name="Google Shape;253;p34"/>
          <p:cNvSpPr/>
          <p:nvPr/>
        </p:nvSpPr>
        <p:spPr>
          <a:xfrm>
            <a:off x="10041900" y="4849225"/>
            <a:ext cx="1452000" cy="562800"/>
          </a:xfrm>
          <a:prstGeom prst="snip1Rect">
            <a:avLst>
              <a:gd name="adj" fmla="val 16667"/>
            </a:avLst>
          </a:prstGeom>
          <a:solidFill>
            <a:schemeClr val="accent3"/>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500" b="1">
                <a:solidFill>
                  <a:schemeClr val="accent5"/>
                </a:solidFill>
                <a:latin typeface="Calibri"/>
                <a:ea typeface="Calibri"/>
                <a:cs typeface="Calibri"/>
                <a:sym typeface="Calibri"/>
              </a:rPr>
              <a:t>Re-Engagement</a:t>
            </a:r>
            <a:endParaRPr sz="900"/>
          </a:p>
        </p:txBody>
      </p:sp>
      <p:sp>
        <p:nvSpPr>
          <p:cNvPr id="254" name="Google Shape;254;p34"/>
          <p:cNvSpPr/>
          <p:nvPr/>
        </p:nvSpPr>
        <p:spPr>
          <a:xfrm>
            <a:off x="10041938" y="3110162"/>
            <a:ext cx="1451930" cy="56279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500" b="1">
                <a:solidFill>
                  <a:schemeClr val="accent5"/>
                </a:solidFill>
                <a:latin typeface="Calibri"/>
                <a:ea typeface="Calibri"/>
                <a:cs typeface="Calibri"/>
                <a:sym typeface="Calibri"/>
              </a:rPr>
              <a:t>Book a Demo</a:t>
            </a:r>
            <a:endParaRPr sz="1500"/>
          </a:p>
        </p:txBody>
      </p:sp>
      <p:pic>
        <p:nvPicPr>
          <p:cNvPr id="255" name="Google Shape;255;p34"/>
          <p:cNvPicPr preferRelativeResize="0"/>
          <p:nvPr/>
        </p:nvPicPr>
        <p:blipFill rotWithShape="1">
          <a:blip r:embed="rId1"/>
          <a:srcRect/>
          <a:stretch>
            <a:fillRect/>
          </a:stretch>
        </p:blipFill>
        <p:spPr>
          <a:xfrm rot="5400000">
            <a:off x="10641314" y="2811412"/>
            <a:ext cx="188125" cy="261750"/>
          </a:xfrm>
          <a:prstGeom prst="rect">
            <a:avLst/>
          </a:prstGeom>
          <a:noFill/>
          <a:ln>
            <a:noFill/>
          </a:ln>
        </p:spPr>
      </p:pic>
      <p:sp>
        <p:nvSpPr>
          <p:cNvPr id="256" name="Google Shape;256;p34"/>
          <p:cNvSpPr/>
          <p:nvPr/>
        </p:nvSpPr>
        <p:spPr>
          <a:xfrm>
            <a:off x="461050" y="1962225"/>
            <a:ext cx="1704440" cy="405065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600" b="1">
                <a:solidFill>
                  <a:schemeClr val="accent5"/>
                </a:solidFill>
                <a:latin typeface="Calibri"/>
                <a:ea typeface="Calibri"/>
                <a:cs typeface="Calibri"/>
                <a:sym typeface="Calibri"/>
              </a:rPr>
              <a:t>Marketing Foundation</a:t>
            </a:r>
            <a:endParaRPr sz="1600" b="1">
              <a:solidFill>
                <a:schemeClr val="accent5"/>
              </a:solidFill>
              <a:latin typeface="Calibri"/>
              <a:ea typeface="Calibri"/>
              <a:cs typeface="Calibri"/>
              <a:sym typeface="Calibri"/>
            </a:endParaRPr>
          </a:p>
          <a:p>
            <a:pPr marL="0" marR="0" lvl="0" indent="0" algn="ctr" rtl="0">
              <a:lnSpc>
                <a:spcPct val="100000"/>
              </a:lnSpc>
              <a:spcBef>
                <a:spcPts val="0"/>
              </a:spcBef>
              <a:spcAft>
                <a:spcPts val="0"/>
              </a:spcAft>
              <a:buNone/>
            </a:pPr>
            <a:endParaRPr sz="1600" b="1">
              <a:solidFill>
                <a:schemeClr val="accent5"/>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600">
                <a:solidFill>
                  <a:schemeClr val="accent5"/>
                </a:solidFill>
                <a:latin typeface="Calibri"/>
                <a:ea typeface="Calibri"/>
                <a:cs typeface="Calibri"/>
                <a:sym typeface="Calibri"/>
              </a:rPr>
              <a:t>Enterprise Level </a:t>
            </a:r>
            <a:endParaRPr sz="1600">
              <a:solidFill>
                <a:schemeClr val="accent5"/>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600">
                <a:solidFill>
                  <a:schemeClr val="accent5"/>
                </a:solidFill>
                <a:latin typeface="Calibri"/>
                <a:ea typeface="Calibri"/>
                <a:cs typeface="Calibri"/>
                <a:sym typeface="Calibri"/>
              </a:rPr>
              <a:t>Messaging &amp; Branding</a:t>
            </a:r>
            <a:br>
              <a:rPr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Website &amp; Online Assets</a:t>
            </a:r>
            <a:endParaRPr sz="1600">
              <a:solidFill>
                <a:schemeClr val="accent5"/>
              </a:solidFill>
              <a:latin typeface="Calibri"/>
              <a:ea typeface="Calibri"/>
              <a:cs typeface="Calibri"/>
              <a:sym typeface="Calibri"/>
            </a:endParaRPr>
          </a:p>
          <a:p>
            <a:pPr marL="0" marR="0" lvl="0" indent="0" algn="ctr" rtl="0">
              <a:lnSpc>
                <a:spcPct val="100000"/>
              </a:lnSpc>
              <a:spcBef>
                <a:spcPts val="0"/>
              </a:spcBef>
              <a:spcAft>
                <a:spcPts val="0"/>
              </a:spcAft>
              <a:buNone/>
            </a:pPr>
            <a:endParaRPr sz="1600">
              <a:solidFill>
                <a:schemeClr val="accent5"/>
              </a:solidFill>
              <a:latin typeface="Calibri"/>
              <a:ea typeface="Calibri"/>
              <a:cs typeface="Calibri"/>
              <a:sym typeface="Calibri"/>
            </a:endParaRPr>
          </a:p>
          <a:p>
            <a:pPr marL="0" marR="0" lvl="0" indent="0" algn="ctr" rtl="0">
              <a:lnSpc>
                <a:spcPct val="100000"/>
              </a:lnSpc>
              <a:spcBef>
                <a:spcPts val="0"/>
              </a:spcBef>
              <a:spcAft>
                <a:spcPts val="0"/>
              </a:spcAft>
              <a:buNone/>
            </a:pPr>
            <a:r>
              <a:rPr lang="en-US" sz="1600">
                <a:solidFill>
                  <a:schemeClr val="accent5"/>
                </a:solidFill>
                <a:latin typeface="Calibri"/>
                <a:ea typeface="Calibri"/>
                <a:cs typeface="Calibri"/>
                <a:sym typeface="Calibri"/>
              </a:rPr>
              <a:t>Personas</a:t>
            </a:r>
            <a:br>
              <a:rPr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Foundation Content</a:t>
            </a:r>
            <a:endParaRPr sz="1600">
              <a:solidFill>
                <a:schemeClr val="accent5"/>
              </a:solidFill>
              <a:latin typeface="Calibri"/>
              <a:ea typeface="Calibri"/>
              <a:cs typeface="Calibri"/>
              <a:sym typeface="Calibri"/>
            </a:endParaRPr>
          </a:p>
          <a:p>
            <a:pPr marL="0" marR="0" lvl="0" indent="0" algn="ctr" rtl="0">
              <a:lnSpc>
                <a:spcPct val="100000"/>
              </a:lnSpc>
              <a:spcBef>
                <a:spcPts val="0"/>
              </a:spcBef>
              <a:spcAft>
                <a:spcPts val="0"/>
              </a:spcAft>
              <a:buNone/>
            </a:pPr>
            <a:endParaRPr sz="1600"/>
          </a:p>
        </p:txBody>
      </p:sp>
      <p:pic>
        <p:nvPicPr>
          <p:cNvPr id="257" name="Google Shape;257;p34"/>
          <p:cNvPicPr preferRelativeResize="0"/>
          <p:nvPr/>
        </p:nvPicPr>
        <p:blipFill rotWithShape="1">
          <a:blip r:embed="rId1"/>
          <a:srcRect/>
          <a:stretch>
            <a:fillRect/>
          </a:stretch>
        </p:blipFill>
        <p:spPr>
          <a:xfrm rot="5400000">
            <a:off x="10673839" y="4536187"/>
            <a:ext cx="188125" cy="261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35"/>
          <p:cNvSpPr txBox="1"/>
          <p:nvPr>
            <p:ph type="title"/>
          </p:nvPr>
        </p:nvSpPr>
        <p:spPr>
          <a:xfrm>
            <a:off x="680400" y="200600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480060" algn="ctr" rtl="0">
              <a:lnSpc>
                <a:spcPct val="90000"/>
              </a:lnSpc>
              <a:spcBef>
                <a:spcPts val="0"/>
              </a:spcBef>
              <a:spcAft>
                <a:spcPts val="0"/>
              </a:spcAft>
              <a:buClr>
                <a:schemeClr val="accent5"/>
              </a:buClr>
              <a:buSzPct val="100000"/>
              <a:buAutoNum type="arabicPeriod"/>
            </a:pPr>
            <a:br>
              <a:rPr lang="en-US">
                <a:solidFill>
                  <a:schemeClr val="accent5"/>
                </a:solidFill>
              </a:rPr>
            </a:br>
            <a:r>
              <a:rPr lang="en-US">
                <a:solidFill>
                  <a:schemeClr val="accent5"/>
                </a:solidFill>
              </a:rPr>
              <a:t>Marketing Foundation</a:t>
            </a:r>
            <a:endParaRPr>
              <a:solidFill>
                <a:schemeClr val="accent5"/>
              </a:solidFill>
            </a:endParaRPr>
          </a:p>
          <a:p>
            <a:pPr marL="0" lvl="0" indent="0" algn="ctr" rtl="0">
              <a:lnSpc>
                <a:spcPct val="90000"/>
              </a:lnSpc>
              <a:spcBef>
                <a:spcPts val="0"/>
              </a:spcBef>
              <a:spcAft>
                <a:spcPts val="0"/>
              </a:spcAft>
              <a:buClr>
                <a:schemeClr val="accent2"/>
              </a:buClr>
              <a:buSzPct val="100000"/>
              <a:buFont typeface="Calibri"/>
              <a:buNone/>
            </a:pPr>
            <a:r>
              <a:rPr lang="en-US">
                <a:solidFill>
                  <a:schemeClr val="accent5"/>
                </a:solidFill>
              </a:rPr>
              <a:t>Actions</a:t>
            </a:r>
            <a:endParaRPr>
              <a:solidFill>
                <a:schemeClr val="accent5"/>
              </a:solidFill>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842700" y="763900"/>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Marketing Foundation </a:t>
            </a:r>
            <a:r>
              <a:rPr lang="en-US" sz="3800" b="0" i="1">
                <a:solidFill>
                  <a:schemeClr val="accent5"/>
                </a:solidFill>
                <a:latin typeface="Calibri"/>
                <a:ea typeface="Calibri"/>
                <a:cs typeface="Calibri"/>
                <a:sym typeface="Calibri"/>
              </a:rPr>
              <a:t>Goals</a:t>
            </a:r>
            <a:endParaRPr sz="3800" b="0" i="1">
              <a:solidFill>
                <a:schemeClr val="accent5"/>
              </a:solidFill>
              <a:latin typeface="Calibri"/>
              <a:ea typeface="Calibri"/>
              <a:cs typeface="Calibri"/>
              <a:sym typeface="Calibri"/>
            </a:endParaRPr>
          </a:p>
        </p:txBody>
      </p:sp>
      <p:sp>
        <p:nvSpPr>
          <p:cNvPr id="268" name="Google Shape;268;p36"/>
          <p:cNvSpPr txBox="1"/>
          <p:nvPr>
            <p:ph type="body" idx="1"/>
          </p:nvPr>
        </p:nvSpPr>
        <p:spPr>
          <a:xfrm>
            <a:off x="574025" y="1612650"/>
            <a:ext cx="7386600" cy="4630200"/>
          </a:xfrm>
          <a:prstGeom prst="rect">
            <a:avLst/>
          </a:prstGeom>
          <a:noFill/>
          <a:ln>
            <a:noFill/>
          </a:ln>
        </p:spPr>
        <p:txBody>
          <a:bodyPr spcFirstLastPara="1" wrap="square" lIns="91425" tIns="45700" rIns="91425" bIns="45700" anchor="t" anchorCtr="0">
            <a:noAutofit/>
          </a:bodyPr>
          <a:lstStyle/>
          <a:p>
            <a:pPr marL="685800" marR="0" lvl="1" indent="-241300" algn="l" rtl="0">
              <a:lnSpc>
                <a:spcPct val="115000"/>
              </a:lnSpc>
              <a:spcBef>
                <a:spcPts val="1000"/>
              </a:spcBef>
              <a:spcAft>
                <a:spcPts val="0"/>
              </a:spcAft>
              <a:buClr>
                <a:schemeClr val="accent2"/>
              </a:buClr>
              <a:buSzPts val="2000"/>
              <a:buChar char="✔"/>
            </a:pPr>
            <a:r>
              <a:rPr lang="en-US" sz="2000"/>
              <a:t>Convert more prospects to marketing qualified leads by:</a:t>
            </a:r>
            <a:endParaRPr sz="2000"/>
          </a:p>
          <a:p>
            <a:pPr marL="1143000" marR="0" lvl="2" indent="-241300" algn="l" rtl="0">
              <a:lnSpc>
                <a:spcPct val="115000"/>
              </a:lnSpc>
              <a:spcBef>
                <a:spcPts val="1000"/>
              </a:spcBef>
              <a:spcAft>
                <a:spcPts val="0"/>
              </a:spcAft>
              <a:buClr>
                <a:schemeClr val="accent2"/>
              </a:buClr>
              <a:buSzPts val="2000"/>
              <a:buChar char="•"/>
            </a:pPr>
            <a:r>
              <a:rPr lang="en-US"/>
              <a:t>U</a:t>
            </a:r>
            <a:r>
              <a:rPr lang="en-US" sz="2000"/>
              <a:t>pdating messaging, positioning &amp; branding</a:t>
            </a:r>
            <a:endParaRPr sz="2000"/>
          </a:p>
          <a:p>
            <a:pPr marL="1143000" marR="0" lvl="2" indent="-241300" algn="l" rtl="0">
              <a:lnSpc>
                <a:spcPct val="115000"/>
              </a:lnSpc>
              <a:spcBef>
                <a:spcPts val="1000"/>
              </a:spcBef>
              <a:spcAft>
                <a:spcPts val="0"/>
              </a:spcAft>
              <a:buClr>
                <a:schemeClr val="accent2"/>
              </a:buClr>
              <a:buSzPts val="2000"/>
              <a:buChar char="•"/>
            </a:pPr>
            <a:r>
              <a:rPr lang="en-US" sz="2000"/>
              <a:t>Clarifying CrossCap products and product hierarchy</a:t>
            </a:r>
            <a:endParaRPr sz="2050"/>
          </a:p>
          <a:p>
            <a:pPr marL="800100" marR="0" lvl="1" indent="-368300" algn="l" rtl="0">
              <a:lnSpc>
                <a:spcPct val="115000"/>
              </a:lnSpc>
              <a:spcBef>
                <a:spcPts val="1000"/>
              </a:spcBef>
              <a:spcAft>
                <a:spcPts val="0"/>
              </a:spcAft>
              <a:buClr>
                <a:schemeClr val="accent2"/>
              </a:buClr>
              <a:buSzPts val="2000"/>
              <a:buChar char="✔"/>
            </a:pPr>
            <a:r>
              <a:rPr lang="en-US" sz="2000"/>
              <a:t>Convert more website traffic into marketing qualified leads and sales qualified leads</a:t>
            </a:r>
            <a:endParaRPr sz="2000"/>
          </a:p>
          <a:p>
            <a:pPr marL="800100" marR="0" lvl="1" indent="-368300" algn="l" rtl="0">
              <a:lnSpc>
                <a:spcPct val="115000"/>
              </a:lnSpc>
              <a:spcBef>
                <a:spcPts val="1000"/>
              </a:spcBef>
              <a:spcAft>
                <a:spcPts val="0"/>
              </a:spcAft>
              <a:buClr>
                <a:schemeClr val="accent2"/>
              </a:buClr>
              <a:buSzPts val="2000"/>
              <a:buChar char="✔"/>
            </a:pPr>
            <a:r>
              <a:rPr lang="en-US" sz="2000"/>
              <a:t>Convert more marketing qualified leads to sales qualified leads</a:t>
            </a:r>
            <a:endParaRPr sz="2050"/>
          </a:p>
          <a:p>
            <a:pPr marL="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269" name="Google Shape;269;p36"/>
          <p:cNvPicPr preferRelativeResize="0"/>
          <p:nvPr/>
        </p:nvPicPr>
        <p:blipFill rotWithShape="1">
          <a:blip r:embed="rId1"/>
          <a:srcRect/>
          <a:stretch>
            <a:fillRect/>
          </a:stretch>
        </p:blipFill>
        <p:spPr>
          <a:xfrm>
            <a:off x="8232075" y="1612650"/>
            <a:ext cx="3271025" cy="3945999"/>
          </a:xfrm>
          <a:prstGeom prst="rect">
            <a:avLst/>
          </a:prstGeom>
          <a:noFill/>
          <a:ln>
            <a:noFill/>
          </a:ln>
        </p:spPr>
      </p:pic>
      <p:sp>
        <p:nvSpPr>
          <p:cNvPr id="270" name="Google Shape;270;p36"/>
          <p:cNvSpPr txBox="1"/>
          <p:nvPr/>
        </p:nvSpPr>
        <p:spPr>
          <a:xfrm>
            <a:off x="8472975" y="2002200"/>
            <a:ext cx="2814900" cy="27474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Action Steps:</a:t>
            </a:r>
            <a:endParaRPr sz="1800">
              <a:solidFill>
                <a:srgbClr val="434343"/>
              </a:solidFill>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Personas &amp; Customer Journey</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Messaging/Positioning/Branding</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Website flow</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New Marketing Funnels</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B2B Marketing Kits</a:t>
            </a:r>
            <a:endParaRPr sz="1500">
              <a:solidFill>
                <a:srgbClr val="434343"/>
              </a:solidFill>
              <a:latin typeface="Calibri"/>
              <a:ea typeface="Calibri"/>
              <a:cs typeface="Calibri"/>
              <a:sym typeface="Calibri"/>
            </a:endParaRPr>
          </a:p>
          <a:p>
            <a:pPr marL="457200" marR="0" lvl="0" indent="0" algn="l" rtl="0">
              <a:lnSpc>
                <a:spcPct val="115000"/>
              </a:lnSpc>
              <a:spcBef>
                <a:spcPts val="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74" name="Shape 274"/>
        <p:cNvGrpSpPr/>
        <p:nvPr/>
      </p:nvGrpSpPr>
      <p:grpSpPr>
        <a:xfrm>
          <a:off x="0" y="0"/>
          <a:ext cx="0" cy="0"/>
          <a:chOff x="0" y="0"/>
          <a:chExt cx="0" cy="0"/>
        </a:xfrm>
      </p:grpSpPr>
      <p:sp>
        <p:nvSpPr>
          <p:cNvPr id="275" name="Google Shape;275;p37"/>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1: marketing foundation</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1: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Personas &amp; Customer Journey</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276" name="Google Shape;276;p3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a:t>
            </a:r>
            <a:endParaRPr sz="1900" b="0" i="1">
              <a:solidFill>
                <a:schemeClr val="accent5"/>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80" name="Shape 280"/>
        <p:cNvGrpSpPr/>
        <p:nvPr/>
      </p:nvGrpSpPr>
      <p:grpSpPr>
        <a:xfrm>
          <a:off x="0" y="0"/>
          <a:ext cx="0" cy="0"/>
          <a:chOff x="0" y="0"/>
          <a:chExt cx="0" cy="0"/>
        </a:xfrm>
      </p:grpSpPr>
      <p:sp>
        <p:nvSpPr>
          <p:cNvPr id="281" name="Google Shape;281;p38"/>
          <p:cNvSpPr txBox="1"/>
          <p:nvPr>
            <p:ph type="title"/>
          </p:nvPr>
        </p:nvSpPr>
        <p:spPr>
          <a:xfrm>
            <a:off x="862300"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Personas</a:t>
            </a:r>
            <a:endParaRPr sz="3800">
              <a:solidFill>
                <a:schemeClr val="accent5"/>
              </a:solidFill>
              <a:latin typeface="Calibri"/>
              <a:ea typeface="Calibri"/>
              <a:cs typeface="Calibri"/>
              <a:sym typeface="Calibri"/>
            </a:endParaRPr>
          </a:p>
        </p:txBody>
      </p:sp>
      <p:sp>
        <p:nvSpPr>
          <p:cNvPr id="282" name="Google Shape;282;p38"/>
          <p:cNvSpPr txBox="1"/>
          <p:nvPr>
            <p:ph type="body" idx="1"/>
          </p:nvPr>
        </p:nvSpPr>
        <p:spPr>
          <a:xfrm>
            <a:off x="862300" y="1612650"/>
            <a:ext cx="7098300" cy="463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t>Create detailed personas for the Marketing Calendar and Distro Products:</a:t>
            </a:r>
            <a:br>
              <a:rPr lang="en-US" sz="2000" b="1"/>
            </a:br>
            <a:endParaRPr sz="2000" b="1"/>
          </a:p>
          <a:p>
            <a:pPr marL="685800" marR="0" lvl="1" indent="-241300" algn="l" rtl="0">
              <a:lnSpc>
                <a:spcPct val="115000"/>
              </a:lnSpc>
              <a:spcBef>
                <a:spcPts val="0"/>
              </a:spcBef>
              <a:spcAft>
                <a:spcPts val="0"/>
              </a:spcAft>
              <a:buClr>
                <a:schemeClr val="accent2"/>
              </a:buClr>
              <a:buSzPts val="2000"/>
              <a:buChar char="✔"/>
            </a:pPr>
            <a:r>
              <a:rPr lang="en-US" sz="2000"/>
              <a:t>Marketing Calendar:</a:t>
            </a:r>
            <a:endParaRPr sz="2000"/>
          </a:p>
          <a:p>
            <a:pPr marL="1143000" marR="0" lvl="2" indent="-241300" algn="l" rtl="0">
              <a:lnSpc>
                <a:spcPct val="115000"/>
              </a:lnSpc>
              <a:spcBef>
                <a:spcPts val="0"/>
              </a:spcBef>
              <a:spcAft>
                <a:spcPts val="0"/>
              </a:spcAft>
              <a:buSzPts val="2000"/>
              <a:buChar char="•"/>
            </a:pPr>
            <a:r>
              <a:rPr lang="en-US"/>
              <a:t>Marketing Operations Manager </a:t>
            </a:r>
            <a:endParaRPr lang="en-US"/>
          </a:p>
          <a:p>
            <a:pPr marL="1143000" marR="0" lvl="2" indent="-228600" algn="l" rtl="0">
              <a:lnSpc>
                <a:spcPct val="115000"/>
              </a:lnSpc>
              <a:spcBef>
                <a:spcPts val="0"/>
              </a:spcBef>
              <a:spcAft>
                <a:spcPts val="0"/>
              </a:spcAft>
              <a:buSzPts val="1800"/>
              <a:buChar char="•"/>
            </a:pPr>
            <a:r>
              <a:rPr lang="en-US"/>
              <a:t>VP of Marketing/Director of Marketing </a:t>
            </a:r>
            <a:r>
              <a:rPr lang="en-US" i="1"/>
              <a:t>(primary)</a:t>
            </a:r>
            <a:endParaRPr i="1"/>
          </a:p>
          <a:p>
            <a:pPr marL="1143000" marR="0" lvl="2" indent="-228600" algn="l" rtl="0">
              <a:lnSpc>
                <a:spcPct val="115000"/>
              </a:lnSpc>
              <a:spcBef>
                <a:spcPts val="0"/>
              </a:spcBef>
              <a:spcAft>
                <a:spcPts val="0"/>
              </a:spcAft>
              <a:buSzPts val="1800"/>
              <a:buChar char="•"/>
            </a:pPr>
            <a:r>
              <a:rPr lang="en-US"/>
              <a:t>CMO </a:t>
            </a:r>
            <a:endParaRPr lang="en-US"/>
          </a:p>
          <a:p>
            <a:pPr marL="1143000" marR="0" lvl="2" indent="-228600" algn="l" rtl="0">
              <a:lnSpc>
                <a:spcPct val="115000"/>
              </a:lnSpc>
              <a:spcBef>
                <a:spcPts val="0"/>
              </a:spcBef>
              <a:spcAft>
                <a:spcPts val="0"/>
              </a:spcAft>
              <a:buSzPts val="1800"/>
              <a:buChar char="•"/>
            </a:pPr>
            <a:r>
              <a:rPr lang="en-US"/>
              <a:t>Sourcing</a:t>
            </a:r>
            <a:endParaRPr lang="en-US"/>
          </a:p>
          <a:p>
            <a:pPr marL="685800" marR="0" lvl="1" indent="-241300" algn="l" rtl="0">
              <a:lnSpc>
                <a:spcPct val="115000"/>
              </a:lnSpc>
              <a:spcBef>
                <a:spcPts val="0"/>
              </a:spcBef>
              <a:spcAft>
                <a:spcPts val="0"/>
              </a:spcAft>
              <a:buClr>
                <a:schemeClr val="accent2"/>
              </a:buClr>
              <a:buSzPts val="2000"/>
              <a:buChar char="✔"/>
            </a:pPr>
            <a:r>
              <a:rPr lang="en-US" sz="2000"/>
              <a:t>Distro:</a:t>
            </a:r>
            <a:endParaRPr sz="2050"/>
          </a:p>
          <a:p>
            <a:pPr marL="1143000" lvl="2" indent="-241300" algn="l" rtl="0">
              <a:lnSpc>
                <a:spcPct val="115000"/>
              </a:lnSpc>
              <a:spcBef>
                <a:spcPts val="0"/>
              </a:spcBef>
              <a:spcAft>
                <a:spcPts val="0"/>
              </a:spcAft>
              <a:buSzPts val="2000"/>
              <a:buChar char="•"/>
            </a:pPr>
            <a:r>
              <a:rPr lang="en-US"/>
              <a:t>Marketing Operations Manager</a:t>
            </a:r>
            <a:endParaRPr lang="en-US"/>
          </a:p>
          <a:p>
            <a:pPr marL="1143000" lvl="2" indent="-228600" algn="l" rtl="0">
              <a:lnSpc>
                <a:spcPct val="115000"/>
              </a:lnSpc>
              <a:spcBef>
                <a:spcPts val="0"/>
              </a:spcBef>
              <a:spcAft>
                <a:spcPts val="0"/>
              </a:spcAft>
              <a:buSzPts val="1800"/>
              <a:buChar char="•"/>
            </a:pPr>
            <a:r>
              <a:rPr lang="en-US"/>
              <a:t>VP of Marketing/Director of Marketing </a:t>
            </a:r>
            <a:r>
              <a:rPr lang="en-US" i="1"/>
              <a:t>(primary)</a:t>
            </a:r>
            <a:endParaRPr i="1"/>
          </a:p>
          <a:p>
            <a:pPr marL="1143000" lvl="2" indent="-228600" algn="l" rtl="0">
              <a:lnSpc>
                <a:spcPct val="115000"/>
              </a:lnSpc>
              <a:spcBef>
                <a:spcPts val="0"/>
              </a:spcBef>
              <a:spcAft>
                <a:spcPts val="0"/>
              </a:spcAft>
              <a:buSzPts val="1800"/>
              <a:buChar char="•"/>
            </a:pPr>
            <a:r>
              <a:rPr lang="en-US"/>
              <a:t>CMO</a:t>
            </a:r>
            <a:endParaRPr lang="en-US"/>
          </a:p>
          <a:p>
            <a:pPr marL="1143000" lvl="2" indent="-228600" algn="l" rtl="0">
              <a:lnSpc>
                <a:spcPct val="115000"/>
              </a:lnSpc>
              <a:spcBef>
                <a:spcPts val="0"/>
              </a:spcBef>
              <a:spcAft>
                <a:spcPts val="0"/>
              </a:spcAft>
              <a:buSzPts val="1800"/>
              <a:buChar char="•"/>
            </a:pPr>
            <a:r>
              <a:rPr lang="en-US"/>
              <a:t>Sourcing</a:t>
            </a:r>
            <a:endParaRPr lang="en-US"/>
          </a:p>
          <a:p>
            <a:pPr marL="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283" name="Google Shape;283;p38"/>
          <p:cNvPicPr preferRelativeResize="0"/>
          <p:nvPr/>
        </p:nvPicPr>
        <p:blipFill rotWithShape="1">
          <a:blip r:embed="rId1"/>
          <a:srcRect/>
          <a:stretch>
            <a:fillRect/>
          </a:stretch>
        </p:blipFill>
        <p:spPr>
          <a:xfrm>
            <a:off x="8293050" y="1792300"/>
            <a:ext cx="3271025" cy="3945999"/>
          </a:xfrm>
          <a:prstGeom prst="rect">
            <a:avLst/>
          </a:prstGeom>
          <a:noFill/>
          <a:ln>
            <a:noFill/>
          </a:ln>
        </p:spPr>
      </p:pic>
      <p:sp>
        <p:nvSpPr>
          <p:cNvPr id="284" name="Google Shape;284;p38"/>
          <p:cNvSpPr txBox="1"/>
          <p:nvPr/>
        </p:nvSpPr>
        <p:spPr>
          <a:xfrm>
            <a:off x="8625375" y="2002200"/>
            <a:ext cx="2657700" cy="32103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Insights:</a:t>
            </a:r>
            <a:endParaRPr sz="1800">
              <a:solidFill>
                <a:srgbClr val="434343"/>
              </a:solidFill>
            </a:endParaRPr>
          </a:p>
          <a:p>
            <a:pPr marL="285750" marR="0" lvl="0" indent="-311150" algn="l" rtl="0">
              <a:lnSpc>
                <a:spcPct val="143000"/>
              </a:lnSpc>
              <a:spcBef>
                <a:spcPts val="60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Clear marketing personas will support the creation of messaging, marketing materials, and targeting options. </a:t>
            </a:r>
            <a:endParaRPr sz="18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285" name="Google Shape;285;p3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a:t>
            </a:r>
            <a:r>
              <a:rPr lang="en-US" sz="1900" b="0" i="1">
                <a:solidFill>
                  <a:schemeClr val="accent5"/>
                </a:solidFill>
                <a:latin typeface="Calibri"/>
                <a:ea typeface="Calibri"/>
                <a:cs typeface="Calibri"/>
                <a:sym typeface="Calibri"/>
              </a:rPr>
              <a:t>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765125" y="784225"/>
            <a:ext cx="10792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Marketing Calendar Personas</a:t>
            </a:r>
            <a:endParaRPr sz="3800" b="0" i="1">
              <a:solidFill>
                <a:srgbClr val="073763"/>
              </a:solidFill>
              <a:latin typeface="Calibri"/>
              <a:ea typeface="Calibri"/>
              <a:cs typeface="Calibri"/>
              <a:sym typeface="Calibri"/>
            </a:endParaRPr>
          </a:p>
        </p:txBody>
      </p:sp>
      <p:sp>
        <p:nvSpPr>
          <p:cNvPr id="291" name="Google Shape;291;p39"/>
          <p:cNvSpPr/>
          <p:nvPr/>
        </p:nvSpPr>
        <p:spPr>
          <a:xfrm>
            <a:off x="2600800" y="1991025"/>
            <a:ext cx="5264825" cy="390995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2000" b="1">
                <a:solidFill>
                  <a:schemeClr val="accent5"/>
                </a:solidFill>
                <a:latin typeface="Calibri"/>
                <a:ea typeface="Calibri"/>
                <a:cs typeface="Calibri"/>
                <a:sym typeface="Calibri"/>
              </a:rPr>
            </a:br>
            <a:r>
              <a:rPr lang="en-US" sz="2000" b="1">
                <a:solidFill>
                  <a:schemeClr val="accent5"/>
                </a:solidFill>
                <a:latin typeface="Calibri"/>
                <a:ea typeface="Calibri"/>
                <a:cs typeface="Calibri"/>
                <a:sym typeface="Calibri"/>
              </a:rPr>
              <a:t>Ideal Target Organization</a:t>
            </a:r>
            <a:br>
              <a:rPr lang="en-US" sz="900">
                <a:solidFill>
                  <a:schemeClr val="accent5"/>
                </a:solidFill>
                <a:latin typeface="Calibri"/>
                <a:ea typeface="Calibri"/>
                <a:cs typeface="Calibri"/>
                <a:sym typeface="Calibri"/>
              </a:rPr>
            </a:b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Enterprise level company (ideally $1B revenue plus)</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Complex marketing organization</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Multiple locations, branches or divisions</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Has a head office with a corporate marketing department along with multiple independent marketing teams underneath</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Head office has a need to know what’s going on across the organization, manages the plan company wide, manages the budget, reports on results, monitors regional marketing activities, or manages resources. </a:t>
            </a:r>
            <a:endParaRPr sz="1700">
              <a:solidFill>
                <a:schemeClr val="accent5"/>
              </a:solidFill>
              <a:latin typeface="Calibri"/>
              <a:ea typeface="Calibri"/>
              <a:cs typeface="Calibri"/>
              <a:sym typeface="Calibri"/>
            </a:endParaRPr>
          </a:p>
          <a:p>
            <a:pPr marL="457200" lvl="0" indent="0" algn="l" rtl="0">
              <a:spcBef>
                <a:spcPts val="0"/>
              </a:spcBef>
              <a:spcAft>
                <a:spcPts val="0"/>
              </a:spcAft>
              <a:buNone/>
            </a:pPr>
            <a:endParaRPr sz="1700">
              <a:solidFill>
                <a:schemeClr val="accent5"/>
              </a:solidFill>
              <a:latin typeface="Calibri"/>
              <a:ea typeface="Calibri"/>
              <a:cs typeface="Calibri"/>
              <a:sym typeface="Calibri"/>
            </a:endParaRPr>
          </a:p>
        </p:txBody>
      </p:sp>
      <p:sp>
        <p:nvSpPr>
          <p:cNvPr id="292" name="Google Shape;292;p3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871575" y="806950"/>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4000">
                <a:solidFill>
                  <a:srgbClr val="073763"/>
                </a:solidFill>
              </a:rPr>
              <a:t>Example: </a:t>
            </a:r>
            <a:r>
              <a:rPr lang="en-US" sz="4000" b="0" i="1">
                <a:solidFill>
                  <a:srgbClr val="073763"/>
                </a:solidFill>
                <a:latin typeface="Calibri"/>
                <a:ea typeface="Calibri"/>
                <a:cs typeface="Calibri"/>
                <a:sym typeface="Calibri"/>
              </a:rPr>
              <a:t>Marketing Calendar Personas</a:t>
            </a:r>
            <a:endParaRPr sz="4000" b="0" i="1">
              <a:solidFill>
                <a:srgbClr val="073763"/>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sz="4000">
              <a:solidFill>
                <a:srgbClr val="073763"/>
              </a:solidFill>
            </a:endParaRPr>
          </a:p>
        </p:txBody>
      </p:sp>
      <p:sp>
        <p:nvSpPr>
          <p:cNvPr id="298" name="Google Shape;298;p40"/>
          <p:cNvSpPr txBox="1"/>
          <p:nvPr>
            <p:ph type="body" idx="1"/>
          </p:nvPr>
        </p:nvSpPr>
        <p:spPr>
          <a:xfrm>
            <a:off x="1153650" y="1681650"/>
            <a:ext cx="6741300" cy="67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650" b="1"/>
              <a:t>Personas - Marketing Calendar:</a:t>
            </a:r>
            <a:endParaRPr sz="1650" b="1"/>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sp>
        <p:nvSpPr>
          <p:cNvPr id="299" name="Google Shape;299;p40"/>
          <p:cNvSpPr/>
          <p:nvPr/>
        </p:nvSpPr>
        <p:spPr>
          <a:xfrm>
            <a:off x="5769775" y="4978300"/>
            <a:ext cx="13824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IT</a:t>
            </a:r>
            <a:endParaRPr b="1"/>
          </a:p>
        </p:txBody>
      </p:sp>
      <p:sp>
        <p:nvSpPr>
          <p:cNvPr id="300" name="Google Shape;300;p40"/>
          <p:cNvSpPr/>
          <p:nvPr/>
        </p:nvSpPr>
        <p:spPr>
          <a:xfrm>
            <a:off x="1338800" y="5054500"/>
            <a:ext cx="15240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Marketing Operations</a:t>
            </a:r>
            <a:endParaRPr b="1"/>
          </a:p>
        </p:txBody>
      </p:sp>
      <p:sp>
        <p:nvSpPr>
          <p:cNvPr id="301" name="Google Shape;301;p40"/>
          <p:cNvSpPr/>
          <p:nvPr/>
        </p:nvSpPr>
        <p:spPr>
          <a:xfrm>
            <a:off x="1364900" y="2285050"/>
            <a:ext cx="14718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CMO</a:t>
            </a:r>
            <a:endParaRPr b="1"/>
          </a:p>
        </p:txBody>
      </p:sp>
      <p:sp>
        <p:nvSpPr>
          <p:cNvPr id="302" name="Google Shape;302;p40"/>
          <p:cNvSpPr/>
          <p:nvPr/>
        </p:nvSpPr>
        <p:spPr>
          <a:xfrm>
            <a:off x="1338800" y="3631663"/>
            <a:ext cx="15240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VP/ Director of</a:t>
            </a:r>
            <a:endParaRPr b="1"/>
          </a:p>
          <a:p>
            <a:pPr marL="0" lvl="0" indent="0" algn="ctr" rtl="0">
              <a:spcBef>
                <a:spcPts val="0"/>
              </a:spcBef>
              <a:spcAft>
                <a:spcPts val="0"/>
              </a:spcAft>
              <a:buNone/>
            </a:pPr>
            <a:r>
              <a:rPr lang="en-US" b="1"/>
              <a:t>Marketing</a:t>
            </a:r>
            <a:endParaRPr b="1"/>
          </a:p>
        </p:txBody>
      </p:sp>
      <p:sp>
        <p:nvSpPr>
          <p:cNvPr id="303" name="Google Shape;303;p40"/>
          <p:cNvSpPr/>
          <p:nvPr/>
        </p:nvSpPr>
        <p:spPr>
          <a:xfrm>
            <a:off x="5769763" y="3631675"/>
            <a:ext cx="13824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Sourcing/ Procurement</a:t>
            </a:r>
            <a:endParaRPr b="1"/>
          </a:p>
        </p:txBody>
      </p:sp>
      <p:cxnSp>
        <p:nvCxnSpPr>
          <p:cNvPr id="304" name="Google Shape;304;p40"/>
          <p:cNvCxnSpPr/>
          <p:nvPr/>
        </p:nvCxnSpPr>
        <p:spPr>
          <a:xfrm rot="10800000" flipH="1">
            <a:off x="2100500" y="3200313"/>
            <a:ext cx="600" cy="387600"/>
          </a:xfrm>
          <a:prstGeom prst="straightConnector1">
            <a:avLst/>
          </a:prstGeom>
          <a:noFill/>
          <a:ln w="9525" cap="flat" cmpd="sng">
            <a:solidFill>
              <a:schemeClr val="dk2"/>
            </a:solidFill>
            <a:prstDash val="solid"/>
            <a:round/>
            <a:headEnd type="none" w="med" len="med"/>
            <a:tailEnd type="triangle" w="med" len="med"/>
          </a:ln>
        </p:spPr>
      </p:cxnSp>
      <p:sp>
        <p:nvSpPr>
          <p:cNvPr id="305" name="Google Shape;305;p40"/>
          <p:cNvSpPr/>
          <p:nvPr/>
        </p:nvSpPr>
        <p:spPr>
          <a:xfrm rot="10800000">
            <a:off x="2982500" y="3838075"/>
            <a:ext cx="307500" cy="16683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40"/>
          <p:cNvSpPr txBox="1"/>
          <p:nvPr/>
        </p:nvSpPr>
        <p:spPr>
          <a:xfrm>
            <a:off x="3476550" y="3943750"/>
            <a:ext cx="16272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Search</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Recommend</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Evaluate</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Initial approval Communicate with Sourcing</a:t>
            </a:r>
            <a:endParaRPr>
              <a:latin typeface="Calibri"/>
              <a:ea typeface="Calibri"/>
              <a:cs typeface="Calibri"/>
              <a:sym typeface="Calibri"/>
            </a:endParaRPr>
          </a:p>
        </p:txBody>
      </p:sp>
      <p:sp>
        <p:nvSpPr>
          <p:cNvPr id="307" name="Google Shape;307;p40"/>
          <p:cNvSpPr/>
          <p:nvPr/>
        </p:nvSpPr>
        <p:spPr>
          <a:xfrm>
            <a:off x="5316625" y="3893050"/>
            <a:ext cx="307500" cy="16683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40"/>
          <p:cNvSpPr txBox="1"/>
          <p:nvPr/>
        </p:nvSpPr>
        <p:spPr>
          <a:xfrm>
            <a:off x="3102250" y="2305150"/>
            <a:ext cx="214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Final budget approval</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 involved in evaluation or search</a:t>
            </a:r>
            <a:endParaRPr>
              <a:latin typeface="Calibri"/>
              <a:ea typeface="Calibri"/>
              <a:cs typeface="Calibri"/>
              <a:sym typeface="Calibri"/>
            </a:endParaRPr>
          </a:p>
        </p:txBody>
      </p:sp>
      <p:cxnSp>
        <p:nvCxnSpPr>
          <p:cNvPr id="309" name="Google Shape;309;p40"/>
          <p:cNvCxnSpPr/>
          <p:nvPr/>
        </p:nvCxnSpPr>
        <p:spPr>
          <a:xfrm rot="10800000" flipH="1">
            <a:off x="1704800" y="4546925"/>
            <a:ext cx="600" cy="387600"/>
          </a:xfrm>
          <a:prstGeom prst="straightConnector1">
            <a:avLst/>
          </a:prstGeom>
          <a:noFill/>
          <a:ln w="9525" cap="flat" cmpd="sng">
            <a:solidFill>
              <a:schemeClr val="dk2"/>
            </a:solidFill>
            <a:prstDash val="solid"/>
            <a:round/>
            <a:headEnd type="none" w="med" len="med"/>
            <a:tailEnd type="triangle" w="med" len="med"/>
          </a:ln>
        </p:spPr>
      </p:cxnSp>
      <p:cxnSp>
        <p:nvCxnSpPr>
          <p:cNvPr id="310" name="Google Shape;310;p40"/>
          <p:cNvCxnSpPr/>
          <p:nvPr/>
        </p:nvCxnSpPr>
        <p:spPr>
          <a:xfrm>
            <a:off x="2337350" y="4601538"/>
            <a:ext cx="13200" cy="430800"/>
          </a:xfrm>
          <a:prstGeom prst="straightConnector1">
            <a:avLst/>
          </a:prstGeom>
          <a:noFill/>
          <a:ln w="9525" cap="flat" cmpd="sng">
            <a:solidFill>
              <a:schemeClr val="dk2"/>
            </a:solidFill>
            <a:prstDash val="solid"/>
            <a:round/>
            <a:headEnd type="none" w="med" len="med"/>
            <a:tailEnd type="triangle" w="med" len="med"/>
          </a:ln>
        </p:spPr>
      </p:cxnSp>
      <p:sp>
        <p:nvSpPr>
          <p:cNvPr id="311" name="Google Shape;311;p40"/>
          <p:cNvSpPr txBox="1"/>
          <p:nvPr/>
        </p:nvSpPr>
        <p:spPr>
          <a:xfrm>
            <a:off x="7447263" y="3544063"/>
            <a:ext cx="21477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Sourcing may initiate search or start with Marketing Ops recommendation</a:t>
            </a:r>
            <a:endParaRPr>
              <a:latin typeface="Calibri"/>
              <a:ea typeface="Calibri"/>
              <a:cs typeface="Calibri"/>
              <a:sym typeface="Calibri"/>
            </a:endParaRPr>
          </a:p>
        </p:txBody>
      </p:sp>
      <p:sp>
        <p:nvSpPr>
          <p:cNvPr id="312" name="Google Shape;312;p40"/>
          <p:cNvSpPr txBox="1"/>
          <p:nvPr/>
        </p:nvSpPr>
        <p:spPr>
          <a:xfrm>
            <a:off x="7447263" y="4934513"/>
            <a:ext cx="214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IT involved to evaluate/confirm data security</a:t>
            </a:r>
            <a:endParaRPr>
              <a:latin typeface="Calibri"/>
              <a:ea typeface="Calibri"/>
              <a:cs typeface="Calibri"/>
              <a:sym typeface="Calibri"/>
            </a:endParaRPr>
          </a:p>
        </p:txBody>
      </p:sp>
      <p:sp>
        <p:nvSpPr>
          <p:cNvPr id="313" name="Google Shape;313;p4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17" name="Shape 317"/>
        <p:cNvGrpSpPr/>
        <p:nvPr/>
      </p:nvGrpSpPr>
      <p:grpSpPr>
        <a:xfrm>
          <a:off x="0" y="0"/>
          <a:ext cx="0" cy="0"/>
          <a:chOff x="0" y="0"/>
          <a:chExt cx="0" cy="0"/>
        </a:xfrm>
      </p:grpSpPr>
      <p:sp>
        <p:nvSpPr>
          <p:cNvPr id="318" name="Google Shape;318;p41"/>
          <p:cNvSpPr txBox="1"/>
          <p:nvPr>
            <p:ph type="title"/>
          </p:nvPr>
        </p:nvSpPr>
        <p:spPr>
          <a:xfrm>
            <a:off x="765125" y="784225"/>
            <a:ext cx="10792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Marketing Calendar Personas</a:t>
            </a:r>
            <a:endParaRPr sz="3800" b="0" i="1">
              <a:solidFill>
                <a:srgbClr val="073763"/>
              </a:solidFill>
              <a:latin typeface="Calibri"/>
              <a:ea typeface="Calibri"/>
              <a:cs typeface="Calibri"/>
              <a:sym typeface="Calibri"/>
            </a:endParaRPr>
          </a:p>
        </p:txBody>
      </p:sp>
      <p:sp>
        <p:nvSpPr>
          <p:cNvPr id="319" name="Google Shape;319;p41"/>
          <p:cNvSpPr/>
          <p:nvPr/>
        </p:nvSpPr>
        <p:spPr>
          <a:xfrm>
            <a:off x="898225" y="1760650"/>
            <a:ext cx="4526235"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1: Marketing Operations Manager</a:t>
            </a:r>
            <a:endParaRPr sz="1700">
              <a:solidFill>
                <a:schemeClr val="accent5"/>
              </a:solidFill>
              <a:latin typeface="Calibri"/>
              <a:ea typeface="Calibri"/>
              <a:cs typeface="Calibri"/>
              <a:sym typeface="Calibri"/>
            </a:endParaRPr>
          </a:p>
          <a:p>
            <a:pPr marL="0" marR="0" lvl="0" indent="0" algn="ctr" rtl="0">
              <a:spcBef>
                <a:spcPts val="0"/>
              </a:spcBef>
              <a:spcAft>
                <a:spcPts val="0"/>
              </a:spcAft>
              <a:buNone/>
            </a:pP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Main user of the product at head office or oversees the person/team using the product</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Highly </a:t>
            </a:r>
            <a:r>
              <a:rPr lang="en-US" sz="1700">
                <a:solidFill>
                  <a:schemeClr val="accent5"/>
                </a:solidFill>
                <a:latin typeface="Calibri"/>
                <a:ea typeface="Calibri"/>
                <a:cs typeface="Calibri"/>
                <a:sym typeface="Calibri"/>
              </a:rPr>
              <a:t>influential</a:t>
            </a:r>
            <a:r>
              <a:rPr lang="en-US" sz="1700">
                <a:solidFill>
                  <a:schemeClr val="accent5"/>
                </a:solidFill>
                <a:latin typeface="Calibri"/>
                <a:ea typeface="Calibri"/>
                <a:cs typeface="Calibri"/>
                <a:sym typeface="Calibri"/>
              </a:rPr>
              <a:t> in recommending and influencing the buying decision</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VP of Marketing relies on this </a:t>
            </a:r>
            <a:r>
              <a:rPr lang="en-US" sz="1700">
                <a:solidFill>
                  <a:schemeClr val="accent5"/>
                </a:solidFill>
                <a:latin typeface="Calibri"/>
                <a:ea typeface="Calibri"/>
                <a:cs typeface="Calibri"/>
                <a:sym typeface="Calibri"/>
              </a:rPr>
              <a:t>position</a:t>
            </a:r>
            <a:r>
              <a:rPr lang="en-US" sz="1700">
                <a:solidFill>
                  <a:schemeClr val="accent5"/>
                </a:solidFill>
                <a:latin typeface="Calibri"/>
                <a:ea typeface="Calibri"/>
                <a:cs typeface="Calibri"/>
                <a:sym typeface="Calibri"/>
              </a:rPr>
              <a:t> for advice on product effectiveness</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Title could be Marketing Operations Manager, Marketing Operations Specialist, Assistant to the CMO</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Could be younger and tech savvy</a:t>
            </a:r>
            <a:endParaRPr sz="1700">
              <a:solidFill>
                <a:schemeClr val="accent5"/>
              </a:solidFill>
              <a:latin typeface="Calibri"/>
              <a:ea typeface="Calibri"/>
              <a:cs typeface="Calibri"/>
              <a:sym typeface="Calibri"/>
            </a:endParaRPr>
          </a:p>
        </p:txBody>
      </p:sp>
      <p:sp>
        <p:nvSpPr>
          <p:cNvPr id="320" name="Google Shape;320;p41"/>
          <p:cNvSpPr/>
          <p:nvPr/>
        </p:nvSpPr>
        <p:spPr>
          <a:xfrm>
            <a:off x="5904375" y="1760650"/>
            <a:ext cx="4854497"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2: Director of Marketing </a:t>
            </a:r>
            <a:br>
              <a:rPr lang="en-US" sz="2000" b="1">
                <a:solidFill>
                  <a:schemeClr val="accent5"/>
                </a:solidFill>
                <a:latin typeface="Calibri"/>
                <a:ea typeface="Calibri"/>
                <a:cs typeface="Calibri"/>
                <a:sym typeface="Calibri"/>
              </a:rPr>
            </a:br>
            <a:r>
              <a:rPr lang="en-US" sz="2000" b="1">
                <a:solidFill>
                  <a:schemeClr val="accent5"/>
                </a:solidFill>
                <a:latin typeface="Calibri"/>
                <a:ea typeface="Calibri"/>
                <a:cs typeface="Calibri"/>
                <a:sym typeface="Calibri"/>
              </a:rPr>
              <a:t>or VP of Marketing</a:t>
            </a:r>
            <a:endParaRPr sz="1100">
              <a:solidFill>
                <a:schemeClr val="accent5"/>
              </a:solidFill>
              <a:latin typeface="Calibri"/>
              <a:ea typeface="Calibri"/>
              <a:cs typeface="Calibri"/>
              <a:sym typeface="Calibri"/>
            </a:endParaRPr>
          </a:p>
          <a:p>
            <a:pPr marL="0" lvl="0" indent="0" algn="ctr" rtl="0">
              <a:spcBef>
                <a:spcPts val="0"/>
              </a:spcBef>
              <a:spcAft>
                <a:spcPts val="0"/>
              </a:spcAft>
              <a:buNone/>
            </a:pP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Title could be Director of Marketing, VP of Marketing, Marketing Manager</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Reports to the CMO or highest marketing position</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Main decision maker</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Directly manages the person or team responsible for the product</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Responsible for head office or corporate marketing - and dissemination of corporate marketing to regions, branches or locations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Responsible for monitoring KPIs, results reporting</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Directly aware of the pain/issues of the marketing operations persona</a:t>
            </a:r>
            <a:endParaRPr sz="1600">
              <a:solidFill>
                <a:schemeClr val="accent5"/>
              </a:solidFill>
              <a:latin typeface="Calibri"/>
              <a:ea typeface="Calibri"/>
              <a:cs typeface="Calibri"/>
              <a:sym typeface="Calibri"/>
            </a:endParaRPr>
          </a:p>
        </p:txBody>
      </p:sp>
      <p:sp>
        <p:nvSpPr>
          <p:cNvPr id="321" name="Google Shape;321;p4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765125" y="784225"/>
            <a:ext cx="10792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Marketing Calendar Personas</a:t>
            </a:r>
            <a:endParaRPr sz="3800" b="0" i="1">
              <a:solidFill>
                <a:srgbClr val="073763"/>
              </a:solidFill>
              <a:latin typeface="Calibri"/>
              <a:ea typeface="Calibri"/>
              <a:cs typeface="Calibri"/>
              <a:sym typeface="Calibri"/>
            </a:endParaRPr>
          </a:p>
        </p:txBody>
      </p:sp>
      <p:sp>
        <p:nvSpPr>
          <p:cNvPr id="327" name="Google Shape;327;p42"/>
          <p:cNvSpPr/>
          <p:nvPr/>
        </p:nvSpPr>
        <p:spPr>
          <a:xfrm>
            <a:off x="898225" y="1760650"/>
            <a:ext cx="4526235"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3: CMO</a:t>
            </a:r>
            <a:endParaRPr sz="1700">
              <a:solidFill>
                <a:schemeClr val="accent5"/>
              </a:solidFill>
              <a:latin typeface="Calibri"/>
              <a:ea typeface="Calibri"/>
              <a:cs typeface="Calibri"/>
              <a:sym typeface="Calibri"/>
            </a:endParaRPr>
          </a:p>
          <a:p>
            <a:pPr marL="0" marR="0" lvl="0" indent="0" algn="ctr" rtl="0">
              <a:spcBef>
                <a:spcPts val="0"/>
              </a:spcBef>
              <a:spcAft>
                <a:spcPts val="0"/>
              </a:spcAft>
              <a:buNone/>
            </a:pP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Highest marketing </a:t>
            </a:r>
            <a:r>
              <a:rPr lang="en-US" sz="1700">
                <a:solidFill>
                  <a:schemeClr val="accent5"/>
                </a:solidFill>
                <a:latin typeface="Calibri"/>
                <a:ea typeface="Calibri"/>
                <a:cs typeface="Calibri"/>
                <a:sym typeface="Calibri"/>
              </a:rPr>
              <a:t>position</a:t>
            </a:r>
            <a:r>
              <a:rPr lang="en-US" sz="1700">
                <a:solidFill>
                  <a:schemeClr val="accent5"/>
                </a:solidFill>
                <a:latin typeface="Calibri"/>
                <a:ea typeface="Calibri"/>
                <a:cs typeface="Calibri"/>
                <a:sym typeface="Calibri"/>
              </a:rPr>
              <a:t> in the organization</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Title could be CMO or VP of Marketing</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Ultimate final buying decision maker</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Signs off on budget, but relies on recommendation of VP and Marketing Operations </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Does not use the product </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Is aware the product exists </a:t>
            </a:r>
            <a:endParaRPr sz="1700">
              <a:solidFill>
                <a:schemeClr val="accent5"/>
              </a:solidFill>
              <a:latin typeface="Calibri"/>
              <a:ea typeface="Calibri"/>
              <a:cs typeface="Calibri"/>
              <a:sym typeface="Calibri"/>
            </a:endParaRPr>
          </a:p>
          <a:p>
            <a:pPr marL="0" lvl="0" indent="0" algn="l" rtl="0">
              <a:spcBef>
                <a:spcPts val="0"/>
              </a:spcBef>
              <a:spcAft>
                <a:spcPts val="0"/>
              </a:spcAft>
              <a:buNone/>
            </a:pPr>
            <a:endParaRPr sz="1700">
              <a:solidFill>
                <a:schemeClr val="accent5"/>
              </a:solidFill>
              <a:latin typeface="Calibri"/>
              <a:ea typeface="Calibri"/>
              <a:cs typeface="Calibri"/>
              <a:sym typeface="Calibri"/>
            </a:endParaRPr>
          </a:p>
          <a:p>
            <a:pPr marL="457200" lvl="0" indent="0" algn="l" rtl="0">
              <a:spcBef>
                <a:spcPts val="0"/>
              </a:spcBef>
              <a:spcAft>
                <a:spcPts val="0"/>
              </a:spcAft>
              <a:buNone/>
            </a:pPr>
            <a:endParaRPr sz="1700">
              <a:solidFill>
                <a:schemeClr val="accent5"/>
              </a:solidFill>
              <a:latin typeface="Calibri"/>
              <a:ea typeface="Calibri"/>
              <a:cs typeface="Calibri"/>
              <a:sym typeface="Calibri"/>
            </a:endParaRPr>
          </a:p>
        </p:txBody>
      </p:sp>
      <p:sp>
        <p:nvSpPr>
          <p:cNvPr id="328" name="Google Shape;328;p42"/>
          <p:cNvSpPr/>
          <p:nvPr/>
        </p:nvSpPr>
        <p:spPr>
          <a:xfrm>
            <a:off x="5879600" y="1760650"/>
            <a:ext cx="4526235"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4: Sourcing/Procurement Manager/IT</a:t>
            </a:r>
            <a:endParaRPr sz="1100">
              <a:solidFill>
                <a:schemeClr val="accent5"/>
              </a:solidFill>
              <a:latin typeface="Calibri"/>
              <a:ea typeface="Calibri"/>
              <a:cs typeface="Calibri"/>
              <a:sym typeface="Calibri"/>
            </a:endParaRPr>
          </a:p>
          <a:p>
            <a:pPr marL="0" lvl="0" indent="0" algn="ctr" rtl="0">
              <a:spcBef>
                <a:spcPts val="0"/>
              </a:spcBef>
              <a:spcAft>
                <a:spcPts val="0"/>
              </a:spcAft>
              <a:buNone/>
            </a:pP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Responsible for </a:t>
            </a:r>
            <a:r>
              <a:rPr lang="en-US" sz="1600">
                <a:solidFill>
                  <a:schemeClr val="accent5"/>
                </a:solidFill>
                <a:latin typeface="Calibri"/>
                <a:ea typeface="Calibri"/>
                <a:cs typeface="Calibri"/>
                <a:sym typeface="Calibri"/>
              </a:rPr>
              <a:t>keeping</a:t>
            </a:r>
            <a:r>
              <a:rPr lang="en-US" sz="1600">
                <a:solidFill>
                  <a:schemeClr val="accent5"/>
                </a:solidFill>
                <a:latin typeface="Calibri"/>
                <a:ea typeface="Calibri"/>
                <a:cs typeface="Calibri"/>
                <a:sym typeface="Calibri"/>
              </a:rPr>
              <a:t> a list of approved vendors; identifying and approving vendors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Receives requests from divisions to find and recommend software solutions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Receives requests from divisions to evaluate software they’ve selected or to check for other options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Concerned about finding the right option for the organization, meeting technology and security standards, integrating </a:t>
            </a:r>
            <a:r>
              <a:rPr lang="en-US" sz="1600">
                <a:solidFill>
                  <a:schemeClr val="accent5"/>
                </a:solidFill>
                <a:latin typeface="Calibri"/>
                <a:ea typeface="Calibri"/>
                <a:cs typeface="Calibri"/>
                <a:sym typeface="Calibri"/>
              </a:rPr>
              <a:t>with existing systems</a:t>
            </a:r>
            <a:endParaRPr sz="1600">
              <a:solidFill>
                <a:schemeClr val="accent5"/>
              </a:solidFill>
              <a:latin typeface="Calibri"/>
              <a:ea typeface="Calibri"/>
              <a:cs typeface="Calibri"/>
              <a:sym typeface="Calibri"/>
            </a:endParaRPr>
          </a:p>
        </p:txBody>
      </p:sp>
      <p:sp>
        <p:nvSpPr>
          <p:cNvPr id="329" name="Google Shape;329;p4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33" name="Shape 333"/>
        <p:cNvGrpSpPr/>
        <p:nvPr/>
      </p:nvGrpSpPr>
      <p:grpSpPr>
        <a:xfrm>
          <a:off x="0" y="0"/>
          <a:ext cx="0" cy="0"/>
          <a:chOff x="0" y="0"/>
          <a:chExt cx="0" cy="0"/>
        </a:xfrm>
      </p:grpSpPr>
      <p:sp>
        <p:nvSpPr>
          <p:cNvPr id="334" name="Google Shape;334;p43"/>
          <p:cNvSpPr txBox="1"/>
          <p:nvPr>
            <p:ph type="title"/>
          </p:nvPr>
        </p:nvSpPr>
        <p:spPr>
          <a:xfrm>
            <a:off x="765125" y="784225"/>
            <a:ext cx="10792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Distro</a:t>
            </a:r>
            <a:r>
              <a:rPr lang="en-US" sz="3800" b="0" i="1">
                <a:solidFill>
                  <a:srgbClr val="073763"/>
                </a:solidFill>
                <a:latin typeface="Calibri"/>
                <a:ea typeface="Calibri"/>
                <a:cs typeface="Calibri"/>
                <a:sym typeface="Calibri"/>
              </a:rPr>
              <a:t> Personas</a:t>
            </a:r>
            <a:endParaRPr sz="3800" b="0" i="1">
              <a:solidFill>
                <a:srgbClr val="073763"/>
              </a:solidFill>
              <a:latin typeface="Calibri"/>
              <a:ea typeface="Calibri"/>
              <a:cs typeface="Calibri"/>
              <a:sym typeface="Calibri"/>
            </a:endParaRPr>
          </a:p>
        </p:txBody>
      </p:sp>
      <p:sp>
        <p:nvSpPr>
          <p:cNvPr id="335" name="Google Shape;335;p43"/>
          <p:cNvSpPr/>
          <p:nvPr/>
        </p:nvSpPr>
        <p:spPr>
          <a:xfrm>
            <a:off x="2600800" y="1712624"/>
            <a:ext cx="5264825" cy="4191356"/>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Ideal Target Organization</a:t>
            </a:r>
            <a:br>
              <a:rPr lang="en-US" sz="900">
                <a:solidFill>
                  <a:schemeClr val="accent5"/>
                </a:solidFill>
                <a:latin typeface="Calibri"/>
                <a:ea typeface="Calibri"/>
                <a:cs typeface="Calibri"/>
                <a:sym typeface="Calibri"/>
              </a:rPr>
            </a:b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Enterprise level company (ideally $1B revenue plus)</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Has multiple customer-facing locations that require in-store signage</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Primarily retail, could also be financial services, hospitality, or similar</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Complex marketing organization</a:t>
            </a:r>
            <a:endParaRPr sz="1700">
              <a:solidFill>
                <a:schemeClr val="accent5"/>
              </a:solidFill>
              <a:latin typeface="Calibri"/>
              <a:ea typeface="Calibri"/>
              <a:cs typeface="Calibri"/>
              <a:sym typeface="Calibri"/>
            </a:endParaRPr>
          </a:p>
          <a:p>
            <a:pPr marL="457200" marR="0" lvl="0" indent="-336550" algn="l" rtl="0">
              <a:lnSpc>
                <a:spcPct val="115000"/>
              </a:lnSpc>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Has a head office with a corporate marketing operations department ultimately responsible for signage changes organization wide</a:t>
            </a:r>
            <a:endParaRPr sz="1700">
              <a:solidFill>
                <a:schemeClr val="accent5"/>
              </a:solidFill>
              <a:latin typeface="Calibri"/>
              <a:ea typeface="Calibri"/>
              <a:cs typeface="Calibri"/>
              <a:sym typeface="Calibri"/>
            </a:endParaRPr>
          </a:p>
          <a:p>
            <a:pPr marL="0" marR="0" lvl="0" indent="0" algn="l" rtl="0">
              <a:lnSpc>
                <a:spcPct val="115000"/>
              </a:lnSpc>
              <a:spcBef>
                <a:spcPts val="0"/>
              </a:spcBef>
              <a:spcAft>
                <a:spcPts val="0"/>
              </a:spcAft>
              <a:buNone/>
            </a:pPr>
            <a:endParaRPr sz="1700">
              <a:solidFill>
                <a:schemeClr val="accent5"/>
              </a:solidFill>
              <a:latin typeface="Calibri"/>
              <a:ea typeface="Calibri"/>
              <a:cs typeface="Calibri"/>
              <a:sym typeface="Calibri"/>
            </a:endParaRPr>
          </a:p>
          <a:p>
            <a:pPr marL="457200" lvl="0" indent="0" algn="l" rtl="0">
              <a:spcBef>
                <a:spcPts val="0"/>
              </a:spcBef>
              <a:spcAft>
                <a:spcPts val="0"/>
              </a:spcAft>
              <a:buNone/>
            </a:pPr>
            <a:endParaRPr sz="1700">
              <a:solidFill>
                <a:schemeClr val="accent5"/>
              </a:solidFill>
              <a:latin typeface="Calibri"/>
              <a:ea typeface="Calibri"/>
              <a:cs typeface="Calibri"/>
              <a:sym typeface="Calibri"/>
            </a:endParaRPr>
          </a:p>
        </p:txBody>
      </p:sp>
      <p:sp>
        <p:nvSpPr>
          <p:cNvPr id="336" name="Google Shape;336;p4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871575" y="806950"/>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Distro Personas</a:t>
            </a:r>
            <a:endParaRPr sz="3800" b="0" i="1">
              <a:solidFill>
                <a:srgbClr val="073763"/>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sz="4000">
              <a:solidFill>
                <a:srgbClr val="073763"/>
              </a:solidFill>
            </a:endParaRPr>
          </a:p>
        </p:txBody>
      </p:sp>
      <p:sp>
        <p:nvSpPr>
          <p:cNvPr id="342" name="Google Shape;342;p44"/>
          <p:cNvSpPr txBox="1"/>
          <p:nvPr>
            <p:ph type="body" idx="1"/>
          </p:nvPr>
        </p:nvSpPr>
        <p:spPr>
          <a:xfrm>
            <a:off x="1077450" y="1681650"/>
            <a:ext cx="6741300" cy="67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650" b="1"/>
              <a:t>Personas - Distro:</a:t>
            </a:r>
            <a:endParaRPr sz="1650" b="1"/>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sp>
        <p:nvSpPr>
          <p:cNvPr id="343" name="Google Shape;343;p44"/>
          <p:cNvSpPr/>
          <p:nvPr/>
        </p:nvSpPr>
        <p:spPr>
          <a:xfrm>
            <a:off x="7645350" y="4953588"/>
            <a:ext cx="13824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IT</a:t>
            </a:r>
            <a:endParaRPr b="1"/>
          </a:p>
        </p:txBody>
      </p:sp>
      <p:sp>
        <p:nvSpPr>
          <p:cNvPr id="344" name="Google Shape;344;p44"/>
          <p:cNvSpPr/>
          <p:nvPr/>
        </p:nvSpPr>
        <p:spPr>
          <a:xfrm>
            <a:off x="1262600" y="5054500"/>
            <a:ext cx="15240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Marketing Operations</a:t>
            </a:r>
            <a:endParaRPr b="1"/>
          </a:p>
        </p:txBody>
      </p:sp>
      <p:sp>
        <p:nvSpPr>
          <p:cNvPr id="345" name="Google Shape;345;p44"/>
          <p:cNvSpPr/>
          <p:nvPr/>
        </p:nvSpPr>
        <p:spPr>
          <a:xfrm>
            <a:off x="1288700" y="2285050"/>
            <a:ext cx="14718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CMO</a:t>
            </a:r>
            <a:endParaRPr b="1"/>
          </a:p>
        </p:txBody>
      </p:sp>
      <p:sp>
        <p:nvSpPr>
          <p:cNvPr id="346" name="Google Shape;346;p44"/>
          <p:cNvSpPr/>
          <p:nvPr/>
        </p:nvSpPr>
        <p:spPr>
          <a:xfrm>
            <a:off x="1262600" y="3631663"/>
            <a:ext cx="15240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VP/ Director of</a:t>
            </a:r>
            <a:endParaRPr b="1"/>
          </a:p>
          <a:p>
            <a:pPr marL="0" lvl="0" indent="0" algn="ctr" rtl="0">
              <a:spcBef>
                <a:spcPts val="0"/>
              </a:spcBef>
              <a:spcAft>
                <a:spcPts val="0"/>
              </a:spcAft>
              <a:buNone/>
            </a:pPr>
            <a:r>
              <a:rPr lang="en-US" b="1"/>
              <a:t>Marketing</a:t>
            </a:r>
            <a:endParaRPr b="1"/>
          </a:p>
        </p:txBody>
      </p:sp>
      <p:sp>
        <p:nvSpPr>
          <p:cNvPr id="347" name="Google Shape;347;p44"/>
          <p:cNvSpPr/>
          <p:nvPr/>
        </p:nvSpPr>
        <p:spPr>
          <a:xfrm>
            <a:off x="7645338" y="3606963"/>
            <a:ext cx="13824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Sourcing/ Procurement</a:t>
            </a:r>
            <a:endParaRPr b="1"/>
          </a:p>
        </p:txBody>
      </p:sp>
      <p:cxnSp>
        <p:nvCxnSpPr>
          <p:cNvPr id="348" name="Google Shape;348;p44"/>
          <p:cNvCxnSpPr/>
          <p:nvPr/>
        </p:nvCxnSpPr>
        <p:spPr>
          <a:xfrm rot="10800000" flipH="1">
            <a:off x="2024300" y="3200313"/>
            <a:ext cx="600" cy="387600"/>
          </a:xfrm>
          <a:prstGeom prst="straightConnector1">
            <a:avLst/>
          </a:prstGeom>
          <a:noFill/>
          <a:ln w="9525" cap="flat" cmpd="sng">
            <a:solidFill>
              <a:schemeClr val="dk2"/>
            </a:solidFill>
            <a:prstDash val="solid"/>
            <a:round/>
            <a:headEnd type="none" w="med" len="med"/>
            <a:tailEnd type="triangle" w="med" len="med"/>
          </a:ln>
        </p:spPr>
      </p:cxnSp>
      <p:sp>
        <p:nvSpPr>
          <p:cNvPr id="349" name="Google Shape;349;p44"/>
          <p:cNvSpPr/>
          <p:nvPr/>
        </p:nvSpPr>
        <p:spPr>
          <a:xfrm rot="10800000">
            <a:off x="4783250" y="3910913"/>
            <a:ext cx="307500" cy="16683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44"/>
          <p:cNvSpPr txBox="1"/>
          <p:nvPr/>
        </p:nvSpPr>
        <p:spPr>
          <a:xfrm>
            <a:off x="5277300" y="4168988"/>
            <a:ext cx="16272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Search</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Recommend</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Evaluate</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Initial approval Communicate with Sourcing</a:t>
            </a:r>
            <a:endParaRPr>
              <a:latin typeface="Calibri"/>
              <a:ea typeface="Calibri"/>
              <a:cs typeface="Calibri"/>
              <a:sym typeface="Calibri"/>
            </a:endParaRPr>
          </a:p>
        </p:txBody>
      </p:sp>
      <p:sp>
        <p:nvSpPr>
          <p:cNvPr id="351" name="Google Shape;351;p44"/>
          <p:cNvSpPr/>
          <p:nvPr/>
        </p:nvSpPr>
        <p:spPr>
          <a:xfrm>
            <a:off x="7192200" y="3868338"/>
            <a:ext cx="307500" cy="16683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44"/>
          <p:cNvSpPr txBox="1"/>
          <p:nvPr/>
        </p:nvSpPr>
        <p:spPr>
          <a:xfrm>
            <a:off x="4763975" y="2305150"/>
            <a:ext cx="214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Final budget approval</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 involved in evaluation or search</a:t>
            </a:r>
            <a:endParaRPr>
              <a:latin typeface="Calibri"/>
              <a:ea typeface="Calibri"/>
              <a:cs typeface="Calibri"/>
              <a:sym typeface="Calibri"/>
            </a:endParaRPr>
          </a:p>
        </p:txBody>
      </p:sp>
      <p:cxnSp>
        <p:nvCxnSpPr>
          <p:cNvPr id="353" name="Google Shape;353;p44"/>
          <p:cNvCxnSpPr/>
          <p:nvPr/>
        </p:nvCxnSpPr>
        <p:spPr>
          <a:xfrm rot="10800000" flipH="1">
            <a:off x="1628600" y="4546925"/>
            <a:ext cx="600" cy="387600"/>
          </a:xfrm>
          <a:prstGeom prst="straightConnector1">
            <a:avLst/>
          </a:prstGeom>
          <a:noFill/>
          <a:ln w="9525" cap="flat" cmpd="sng">
            <a:solidFill>
              <a:schemeClr val="dk2"/>
            </a:solidFill>
            <a:prstDash val="solid"/>
            <a:round/>
            <a:headEnd type="none" w="med" len="med"/>
            <a:tailEnd type="triangle" w="med" len="med"/>
          </a:ln>
        </p:spPr>
      </p:cxnSp>
      <p:sp>
        <p:nvSpPr>
          <p:cNvPr id="354" name="Google Shape;354;p44"/>
          <p:cNvSpPr txBox="1"/>
          <p:nvPr/>
        </p:nvSpPr>
        <p:spPr>
          <a:xfrm>
            <a:off x="9322838" y="3519350"/>
            <a:ext cx="21477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Sourcing may initiate search or start with Marketing Ops recommendation</a:t>
            </a:r>
            <a:endParaRPr>
              <a:latin typeface="Calibri"/>
              <a:ea typeface="Calibri"/>
              <a:cs typeface="Calibri"/>
              <a:sym typeface="Calibri"/>
            </a:endParaRPr>
          </a:p>
        </p:txBody>
      </p:sp>
      <p:sp>
        <p:nvSpPr>
          <p:cNvPr id="355" name="Google Shape;355;p44"/>
          <p:cNvSpPr txBox="1"/>
          <p:nvPr/>
        </p:nvSpPr>
        <p:spPr>
          <a:xfrm>
            <a:off x="9322838" y="4909800"/>
            <a:ext cx="214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IT involved to evaluate/confirm data security</a:t>
            </a:r>
            <a:endParaRPr>
              <a:latin typeface="Calibri"/>
              <a:ea typeface="Calibri"/>
              <a:cs typeface="Calibri"/>
              <a:sym typeface="Calibri"/>
            </a:endParaRPr>
          </a:p>
        </p:txBody>
      </p:sp>
      <p:sp>
        <p:nvSpPr>
          <p:cNvPr id="356" name="Google Shape;356;p44"/>
          <p:cNvSpPr/>
          <p:nvPr/>
        </p:nvSpPr>
        <p:spPr>
          <a:xfrm>
            <a:off x="2991850" y="2285050"/>
            <a:ext cx="14718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CCM</a:t>
            </a:r>
            <a:endParaRPr b="1"/>
          </a:p>
        </p:txBody>
      </p:sp>
      <p:sp>
        <p:nvSpPr>
          <p:cNvPr id="357" name="Google Shape;357;p44"/>
          <p:cNvSpPr/>
          <p:nvPr/>
        </p:nvSpPr>
        <p:spPr>
          <a:xfrm>
            <a:off x="2991850" y="5092613"/>
            <a:ext cx="15240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Merchandising Operations</a:t>
            </a:r>
            <a:endParaRPr b="1"/>
          </a:p>
        </p:txBody>
      </p:sp>
      <p:sp>
        <p:nvSpPr>
          <p:cNvPr id="358" name="Google Shape;358;p44"/>
          <p:cNvSpPr/>
          <p:nvPr/>
        </p:nvSpPr>
        <p:spPr>
          <a:xfrm>
            <a:off x="2991850" y="3669775"/>
            <a:ext cx="1524000" cy="871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t>VP/ Director of</a:t>
            </a:r>
            <a:endParaRPr b="1"/>
          </a:p>
          <a:p>
            <a:pPr marL="0" lvl="0" indent="0" algn="ctr" rtl="0">
              <a:spcBef>
                <a:spcPts val="0"/>
              </a:spcBef>
              <a:spcAft>
                <a:spcPts val="0"/>
              </a:spcAft>
              <a:buNone/>
            </a:pPr>
            <a:r>
              <a:rPr lang="en-US" b="1"/>
              <a:t>Merchandising</a:t>
            </a:r>
            <a:endParaRPr b="1"/>
          </a:p>
        </p:txBody>
      </p:sp>
      <p:cxnSp>
        <p:nvCxnSpPr>
          <p:cNvPr id="359" name="Google Shape;359;p44"/>
          <p:cNvCxnSpPr/>
          <p:nvPr/>
        </p:nvCxnSpPr>
        <p:spPr>
          <a:xfrm rot="10800000" flipH="1">
            <a:off x="3357850" y="4585038"/>
            <a:ext cx="600" cy="387600"/>
          </a:xfrm>
          <a:prstGeom prst="straightConnector1">
            <a:avLst/>
          </a:prstGeom>
          <a:noFill/>
          <a:ln w="9525" cap="flat" cmpd="sng">
            <a:solidFill>
              <a:schemeClr val="dk2"/>
            </a:solidFill>
            <a:prstDash val="solid"/>
            <a:round/>
            <a:headEnd type="none" w="med" len="med"/>
            <a:tailEnd type="triangle" w="med" len="med"/>
          </a:ln>
        </p:spPr>
      </p:cxnSp>
      <p:cxnSp>
        <p:nvCxnSpPr>
          <p:cNvPr id="360" name="Google Shape;360;p44"/>
          <p:cNvCxnSpPr/>
          <p:nvPr/>
        </p:nvCxnSpPr>
        <p:spPr>
          <a:xfrm>
            <a:off x="2251225" y="4591638"/>
            <a:ext cx="0" cy="374400"/>
          </a:xfrm>
          <a:prstGeom prst="straightConnector1">
            <a:avLst/>
          </a:prstGeom>
          <a:noFill/>
          <a:ln w="9525" cap="flat" cmpd="sng">
            <a:solidFill>
              <a:schemeClr val="dk2"/>
            </a:solidFill>
            <a:prstDash val="solid"/>
            <a:round/>
            <a:headEnd type="none" w="med" len="med"/>
            <a:tailEnd type="triangle" w="med" len="med"/>
          </a:ln>
        </p:spPr>
      </p:cxnSp>
      <p:cxnSp>
        <p:nvCxnSpPr>
          <p:cNvPr id="361" name="Google Shape;361;p44"/>
          <p:cNvCxnSpPr/>
          <p:nvPr/>
        </p:nvCxnSpPr>
        <p:spPr>
          <a:xfrm>
            <a:off x="3887525" y="4629738"/>
            <a:ext cx="0" cy="374400"/>
          </a:xfrm>
          <a:prstGeom prst="straightConnector1">
            <a:avLst/>
          </a:prstGeom>
          <a:noFill/>
          <a:ln w="9525" cap="flat" cmpd="sng">
            <a:solidFill>
              <a:schemeClr val="dk2"/>
            </a:solidFill>
            <a:prstDash val="solid"/>
            <a:round/>
            <a:headEnd type="none" w="med" len="med"/>
            <a:tailEnd type="triangle" w="med" len="med"/>
          </a:ln>
        </p:spPr>
      </p:cxnSp>
      <p:cxnSp>
        <p:nvCxnSpPr>
          <p:cNvPr id="362" name="Google Shape;362;p44"/>
          <p:cNvCxnSpPr/>
          <p:nvPr/>
        </p:nvCxnSpPr>
        <p:spPr>
          <a:xfrm rot="10800000" flipH="1">
            <a:off x="3727450" y="3232738"/>
            <a:ext cx="600" cy="387600"/>
          </a:xfrm>
          <a:prstGeom prst="straightConnector1">
            <a:avLst/>
          </a:prstGeom>
          <a:noFill/>
          <a:ln w="9525" cap="flat" cmpd="sng">
            <a:solidFill>
              <a:schemeClr val="dk2"/>
            </a:solidFill>
            <a:prstDash val="solid"/>
            <a:round/>
            <a:headEnd type="none" w="med" len="med"/>
            <a:tailEnd type="triangle" w="med" len="med"/>
          </a:ln>
        </p:spPr>
      </p:cxnSp>
      <p:sp>
        <p:nvSpPr>
          <p:cNvPr id="363" name="Google Shape;363;p4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67" name="Shape 367"/>
        <p:cNvGrpSpPr/>
        <p:nvPr/>
      </p:nvGrpSpPr>
      <p:grpSpPr>
        <a:xfrm>
          <a:off x="0" y="0"/>
          <a:ext cx="0" cy="0"/>
          <a:chOff x="0" y="0"/>
          <a:chExt cx="0" cy="0"/>
        </a:xfrm>
      </p:grpSpPr>
      <p:sp>
        <p:nvSpPr>
          <p:cNvPr id="368" name="Google Shape;368;p45"/>
          <p:cNvSpPr txBox="1"/>
          <p:nvPr>
            <p:ph type="title"/>
          </p:nvPr>
        </p:nvSpPr>
        <p:spPr>
          <a:xfrm>
            <a:off x="765125" y="784225"/>
            <a:ext cx="10792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4000">
                <a:solidFill>
                  <a:srgbClr val="073763"/>
                </a:solidFill>
              </a:rPr>
              <a:t>: </a:t>
            </a:r>
            <a:r>
              <a:rPr lang="en-US" sz="4000" b="0" i="1">
                <a:solidFill>
                  <a:srgbClr val="073763"/>
                </a:solidFill>
                <a:latin typeface="Calibri"/>
                <a:ea typeface="Calibri"/>
                <a:cs typeface="Calibri"/>
                <a:sym typeface="Calibri"/>
              </a:rPr>
              <a:t>Distro</a:t>
            </a:r>
            <a:r>
              <a:rPr lang="en-US" sz="4000" b="0" i="1">
                <a:solidFill>
                  <a:srgbClr val="073763"/>
                </a:solidFill>
                <a:latin typeface="Calibri"/>
                <a:ea typeface="Calibri"/>
                <a:cs typeface="Calibri"/>
                <a:sym typeface="Calibri"/>
              </a:rPr>
              <a:t> Personas</a:t>
            </a:r>
            <a:endParaRPr sz="4000" b="0" i="1">
              <a:solidFill>
                <a:srgbClr val="073763"/>
              </a:solidFill>
              <a:latin typeface="Calibri"/>
              <a:ea typeface="Calibri"/>
              <a:cs typeface="Calibri"/>
              <a:sym typeface="Calibri"/>
            </a:endParaRPr>
          </a:p>
        </p:txBody>
      </p:sp>
      <p:sp>
        <p:nvSpPr>
          <p:cNvPr id="369" name="Google Shape;369;p45"/>
          <p:cNvSpPr/>
          <p:nvPr/>
        </p:nvSpPr>
        <p:spPr>
          <a:xfrm>
            <a:off x="898225" y="1760650"/>
            <a:ext cx="4526235"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1: Marketing Operations Manager</a:t>
            </a:r>
            <a:endParaRPr sz="1700">
              <a:solidFill>
                <a:schemeClr val="accent5"/>
              </a:solidFill>
              <a:latin typeface="Calibri"/>
              <a:ea typeface="Calibri"/>
              <a:cs typeface="Calibri"/>
              <a:sym typeface="Calibri"/>
            </a:endParaRPr>
          </a:p>
          <a:p>
            <a:pPr marL="0" marR="0" lvl="0" indent="0" algn="ctr" rtl="0">
              <a:spcBef>
                <a:spcPts val="0"/>
              </a:spcBef>
              <a:spcAft>
                <a:spcPts val="0"/>
              </a:spcAft>
              <a:buNone/>
            </a:pP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Main user of the product at head office or manages a regional area - or oversees the person/team using the product</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Highly influential in recommending and influencing the buying decision</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VP of Marketing relies on this position for advice on product effectiveness</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Title could be Marketing Operations Manager, Marketing Operations Specialist, Merchandising Manager</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Experiences the most pain</a:t>
            </a:r>
            <a:endParaRPr sz="1700">
              <a:solidFill>
                <a:schemeClr val="accent5"/>
              </a:solidFill>
              <a:latin typeface="Calibri"/>
              <a:ea typeface="Calibri"/>
              <a:cs typeface="Calibri"/>
              <a:sym typeface="Calibri"/>
            </a:endParaRPr>
          </a:p>
        </p:txBody>
      </p:sp>
      <p:sp>
        <p:nvSpPr>
          <p:cNvPr id="370" name="Google Shape;370;p45"/>
          <p:cNvSpPr/>
          <p:nvPr/>
        </p:nvSpPr>
        <p:spPr>
          <a:xfrm>
            <a:off x="5904375" y="1760650"/>
            <a:ext cx="4854497"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2: Director of Marketing </a:t>
            </a:r>
            <a:br>
              <a:rPr lang="en-US" sz="2000" b="1">
                <a:solidFill>
                  <a:schemeClr val="accent5"/>
                </a:solidFill>
                <a:latin typeface="Calibri"/>
                <a:ea typeface="Calibri"/>
                <a:cs typeface="Calibri"/>
                <a:sym typeface="Calibri"/>
              </a:rPr>
            </a:br>
            <a:r>
              <a:rPr lang="en-US" sz="2000" b="1">
                <a:solidFill>
                  <a:schemeClr val="accent5"/>
                </a:solidFill>
                <a:latin typeface="Calibri"/>
                <a:ea typeface="Calibri"/>
                <a:cs typeface="Calibri"/>
                <a:sym typeface="Calibri"/>
              </a:rPr>
              <a:t>or VP of Marketing</a:t>
            </a:r>
            <a:endParaRPr sz="1100">
              <a:solidFill>
                <a:schemeClr val="accent5"/>
              </a:solidFill>
              <a:latin typeface="Calibri"/>
              <a:ea typeface="Calibri"/>
              <a:cs typeface="Calibri"/>
              <a:sym typeface="Calibri"/>
            </a:endParaRPr>
          </a:p>
          <a:p>
            <a:pPr marL="0" lvl="0" indent="0" algn="ctr" rtl="0">
              <a:spcBef>
                <a:spcPts val="0"/>
              </a:spcBef>
              <a:spcAft>
                <a:spcPts val="0"/>
              </a:spcAft>
              <a:buNone/>
            </a:pP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Title could be Director of Marketing, VP of Marketing Operations, Marketing Manager or VP of Merchandising</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Reports to the CMO or highest marketing position</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Main decision maker</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Directly manages the person or team responsible for the product</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Ultimately responsible in store signage delivery/any mistakes or problems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Responsible for monitoring KPIs, results reporting</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Directly aware of the pain/issues of the  marketing operations persona</a:t>
            </a:r>
            <a:endParaRPr sz="1600">
              <a:solidFill>
                <a:schemeClr val="accent5"/>
              </a:solidFill>
              <a:latin typeface="Calibri"/>
              <a:ea typeface="Calibri"/>
              <a:cs typeface="Calibri"/>
              <a:sym typeface="Calibri"/>
            </a:endParaRPr>
          </a:p>
        </p:txBody>
      </p:sp>
      <p:sp>
        <p:nvSpPr>
          <p:cNvPr id="371" name="Google Shape;371;p4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75" name="Shape 375"/>
        <p:cNvGrpSpPr/>
        <p:nvPr/>
      </p:nvGrpSpPr>
      <p:grpSpPr>
        <a:xfrm>
          <a:off x="0" y="0"/>
          <a:ext cx="0" cy="0"/>
          <a:chOff x="0" y="0"/>
          <a:chExt cx="0" cy="0"/>
        </a:xfrm>
      </p:grpSpPr>
      <p:sp>
        <p:nvSpPr>
          <p:cNvPr id="376" name="Google Shape;376;p46"/>
          <p:cNvSpPr txBox="1"/>
          <p:nvPr>
            <p:ph type="title"/>
          </p:nvPr>
        </p:nvSpPr>
        <p:spPr>
          <a:xfrm>
            <a:off x="765125" y="784225"/>
            <a:ext cx="10792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Distro</a:t>
            </a:r>
            <a:r>
              <a:rPr lang="en-US" sz="3800" b="0" i="1">
                <a:solidFill>
                  <a:srgbClr val="073763"/>
                </a:solidFill>
                <a:latin typeface="Calibri"/>
                <a:ea typeface="Calibri"/>
                <a:cs typeface="Calibri"/>
                <a:sym typeface="Calibri"/>
              </a:rPr>
              <a:t> Personas</a:t>
            </a:r>
            <a:endParaRPr sz="3800" b="0" i="1">
              <a:solidFill>
                <a:srgbClr val="073763"/>
              </a:solidFill>
              <a:latin typeface="Calibri"/>
              <a:ea typeface="Calibri"/>
              <a:cs typeface="Calibri"/>
              <a:sym typeface="Calibri"/>
            </a:endParaRPr>
          </a:p>
        </p:txBody>
      </p:sp>
      <p:sp>
        <p:nvSpPr>
          <p:cNvPr id="377" name="Google Shape;377;p46"/>
          <p:cNvSpPr/>
          <p:nvPr/>
        </p:nvSpPr>
        <p:spPr>
          <a:xfrm>
            <a:off x="898225" y="1760650"/>
            <a:ext cx="4526235"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3: CMO</a:t>
            </a:r>
            <a:endParaRPr sz="1700">
              <a:solidFill>
                <a:schemeClr val="accent5"/>
              </a:solidFill>
              <a:latin typeface="Calibri"/>
              <a:ea typeface="Calibri"/>
              <a:cs typeface="Calibri"/>
              <a:sym typeface="Calibri"/>
            </a:endParaRPr>
          </a:p>
          <a:p>
            <a:pPr marL="0" marR="0" lvl="0" indent="0" algn="ctr" rtl="0">
              <a:spcBef>
                <a:spcPts val="0"/>
              </a:spcBef>
              <a:spcAft>
                <a:spcPts val="0"/>
              </a:spcAft>
              <a:buNone/>
            </a:pP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Highest marketing position in the organization</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Title could be CMO or VP of Marketing</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Ultimate final buying decision maker</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Signs off on budget, but relies on recommendation of VP and Marketing Operations </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Does not use the product </a:t>
            </a:r>
            <a:endParaRPr sz="1700">
              <a:solidFill>
                <a:schemeClr val="accent5"/>
              </a:solidFill>
              <a:latin typeface="Calibri"/>
              <a:ea typeface="Calibri"/>
              <a:cs typeface="Calibri"/>
              <a:sym typeface="Calibri"/>
            </a:endParaRPr>
          </a:p>
          <a:p>
            <a:pPr marL="457200" lvl="0" indent="-336550" algn="l" rtl="0">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Is aware the product exists </a:t>
            </a:r>
            <a:endParaRPr sz="1700">
              <a:solidFill>
                <a:schemeClr val="accent5"/>
              </a:solidFill>
              <a:latin typeface="Calibri"/>
              <a:ea typeface="Calibri"/>
              <a:cs typeface="Calibri"/>
              <a:sym typeface="Calibri"/>
            </a:endParaRPr>
          </a:p>
          <a:p>
            <a:pPr marL="0" lvl="0" indent="0" algn="l" rtl="0">
              <a:spcBef>
                <a:spcPts val="0"/>
              </a:spcBef>
              <a:spcAft>
                <a:spcPts val="0"/>
              </a:spcAft>
              <a:buNone/>
            </a:pPr>
            <a:endParaRPr sz="1700">
              <a:solidFill>
                <a:schemeClr val="accent5"/>
              </a:solidFill>
              <a:latin typeface="Calibri"/>
              <a:ea typeface="Calibri"/>
              <a:cs typeface="Calibri"/>
              <a:sym typeface="Calibri"/>
            </a:endParaRPr>
          </a:p>
          <a:p>
            <a:pPr marL="457200" lvl="0" indent="0" algn="l" rtl="0">
              <a:spcBef>
                <a:spcPts val="0"/>
              </a:spcBef>
              <a:spcAft>
                <a:spcPts val="0"/>
              </a:spcAft>
              <a:buNone/>
            </a:pPr>
            <a:endParaRPr sz="1700">
              <a:solidFill>
                <a:schemeClr val="accent5"/>
              </a:solidFill>
              <a:latin typeface="Calibri"/>
              <a:ea typeface="Calibri"/>
              <a:cs typeface="Calibri"/>
              <a:sym typeface="Calibri"/>
            </a:endParaRPr>
          </a:p>
        </p:txBody>
      </p:sp>
      <p:sp>
        <p:nvSpPr>
          <p:cNvPr id="378" name="Google Shape;378;p46"/>
          <p:cNvSpPr/>
          <p:nvPr/>
        </p:nvSpPr>
        <p:spPr>
          <a:xfrm>
            <a:off x="5904375" y="1760650"/>
            <a:ext cx="4526235" cy="440610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accent5"/>
                </a:solidFill>
                <a:latin typeface="Calibri"/>
                <a:ea typeface="Calibri"/>
                <a:cs typeface="Calibri"/>
                <a:sym typeface="Calibri"/>
              </a:rPr>
              <a:t>Persona 4: Sourcing/Procurement Manager/IT</a:t>
            </a:r>
            <a:endParaRPr sz="1100">
              <a:solidFill>
                <a:schemeClr val="accent5"/>
              </a:solidFill>
              <a:latin typeface="Calibri"/>
              <a:ea typeface="Calibri"/>
              <a:cs typeface="Calibri"/>
              <a:sym typeface="Calibri"/>
            </a:endParaRPr>
          </a:p>
          <a:p>
            <a:pPr marL="0" lvl="0" indent="0" algn="ctr" rtl="0">
              <a:spcBef>
                <a:spcPts val="0"/>
              </a:spcBef>
              <a:spcAft>
                <a:spcPts val="0"/>
              </a:spcAft>
              <a:buNone/>
            </a:pP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Responsible for keeping a list of approved vendors; identifying and approving vendors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Receives requests from divisions to find and recommend software solutions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Receives requests from divisions to evaluate software they’ve selected or to check for other options</a:t>
            </a:r>
            <a:endParaRPr sz="1600">
              <a:solidFill>
                <a:schemeClr val="accent5"/>
              </a:solidFill>
              <a:latin typeface="Calibri"/>
              <a:ea typeface="Calibri"/>
              <a:cs typeface="Calibri"/>
              <a:sym typeface="Calibri"/>
            </a:endParaRPr>
          </a:p>
          <a:p>
            <a:pPr marL="457200" lvl="0" indent="-330200" algn="l" rtl="0">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Concerned about finding the right option for the organization, meeting technology and security standards, integrating with existing systems</a:t>
            </a:r>
            <a:endParaRPr sz="1600">
              <a:solidFill>
                <a:schemeClr val="accent5"/>
              </a:solidFill>
              <a:latin typeface="Calibri"/>
              <a:ea typeface="Calibri"/>
              <a:cs typeface="Calibri"/>
              <a:sym typeface="Calibri"/>
            </a:endParaRPr>
          </a:p>
        </p:txBody>
      </p:sp>
      <p:sp>
        <p:nvSpPr>
          <p:cNvPr id="379" name="Google Shape;379;p4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personas</a:t>
            </a:r>
            <a:endParaRPr sz="1900" b="0" i="1">
              <a:solidFill>
                <a:schemeClr val="accent5"/>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47"/>
          <p:cNvSpPr txBox="1"/>
          <p:nvPr>
            <p:ph type="title"/>
          </p:nvPr>
        </p:nvSpPr>
        <p:spPr>
          <a:xfrm>
            <a:off x="755425" y="8153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Customer Journey Example:</a:t>
            </a:r>
            <a:r>
              <a:rPr lang="en-US" sz="3800">
                <a:solidFill>
                  <a:srgbClr val="073763"/>
                </a:solidFill>
              </a:rPr>
              <a:t> </a:t>
            </a:r>
            <a:r>
              <a:rPr lang="en-US" sz="3800" b="0" i="1">
                <a:solidFill>
                  <a:srgbClr val="073763"/>
                </a:solidFill>
                <a:latin typeface="Calibri"/>
                <a:ea typeface="Calibri"/>
                <a:cs typeface="Calibri"/>
                <a:sym typeface="Calibri"/>
              </a:rPr>
              <a:t>Marketing Calendar</a:t>
            </a:r>
            <a:endParaRPr sz="3800" b="0" i="1">
              <a:solidFill>
                <a:srgbClr val="073763"/>
              </a:solidFill>
              <a:latin typeface="Calibri"/>
              <a:ea typeface="Calibri"/>
              <a:cs typeface="Calibri"/>
              <a:sym typeface="Calibri"/>
            </a:endParaRPr>
          </a:p>
        </p:txBody>
      </p:sp>
      <p:pic>
        <p:nvPicPr>
          <p:cNvPr id="385" name="Google Shape;385;p47"/>
          <p:cNvPicPr preferRelativeResize="0"/>
          <p:nvPr/>
        </p:nvPicPr>
        <p:blipFill rotWithShape="1">
          <a:blip r:embed="rId1"/>
          <a:srcRect l="-339000" t="22380" r="339000" b="-22380"/>
          <a:stretch>
            <a:fillRect/>
          </a:stretch>
        </p:blipFill>
        <p:spPr>
          <a:xfrm>
            <a:off x="450625" y="2409997"/>
            <a:ext cx="2553250" cy="3239201"/>
          </a:xfrm>
          <a:prstGeom prst="rect">
            <a:avLst/>
          </a:prstGeom>
          <a:noFill/>
          <a:ln>
            <a:noFill/>
          </a:ln>
        </p:spPr>
      </p:pic>
      <p:sp>
        <p:nvSpPr>
          <p:cNvPr id="386" name="Google Shape;386;p47"/>
          <p:cNvSpPr/>
          <p:nvPr/>
        </p:nvSpPr>
        <p:spPr>
          <a:xfrm>
            <a:off x="9906000" y="5960800"/>
            <a:ext cx="1769700" cy="29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aphicFrame>
        <p:nvGraphicFramePr>
          <p:cNvPr id="387" name="Google Shape;387;p47"/>
          <p:cNvGraphicFramePr/>
          <p:nvPr/>
        </p:nvGraphicFramePr>
        <p:xfrm>
          <a:off x="519200" y="1637013"/>
          <a:ext cx="11532825" cy="4785150"/>
        </p:xfrm>
        <a:graphic>
          <a:graphicData uri="http://schemas.openxmlformats.org/drawingml/2006/table">
            <a:tbl>
              <a:tblPr>
                <a:noFill/>
                <a:tableStyleId>{72414FFC-F9EC-43E0-91B3-72DFC5CB316E}</a:tableStyleId>
              </a:tblPr>
              <a:tblGrid>
                <a:gridCol w="1022900"/>
                <a:gridCol w="2272175"/>
                <a:gridCol w="1647550"/>
                <a:gridCol w="1647550"/>
                <a:gridCol w="1647550"/>
                <a:gridCol w="1647550"/>
                <a:gridCol w="1647550"/>
              </a:tblGrid>
              <a:tr h="350500">
                <a:tc>
                  <a:txBody>
                    <a:bodyPr/>
                    <a:lstStyle/>
                    <a:p>
                      <a:pPr marL="0" lvl="0" indent="0" algn="ctr" rtl="0">
                        <a:spcBef>
                          <a:spcPts val="0"/>
                        </a:spcBef>
                        <a:spcAft>
                          <a:spcPts val="0"/>
                        </a:spcAft>
                        <a:buNone/>
                      </a:pPr>
                      <a:endParaRPr sz="1100"/>
                    </a:p>
                  </a:txBody>
                  <a:tcPr marL="91425" marR="91425" marT="91425" marB="91425">
                    <a:solidFill>
                      <a:schemeClr val="lt1"/>
                    </a:solidFill>
                  </a:tcPr>
                </a:tc>
                <a:tc gridSpan="2">
                  <a:txBody>
                    <a:bodyPr/>
                    <a:lstStyle/>
                    <a:p>
                      <a:pPr marL="0" lvl="0" indent="0" algn="ctr" rtl="0">
                        <a:spcBef>
                          <a:spcPts val="0"/>
                        </a:spcBef>
                        <a:spcAft>
                          <a:spcPts val="0"/>
                        </a:spcAft>
                        <a:buNone/>
                      </a:pPr>
                      <a:r>
                        <a:rPr lang="en-US" sz="900"/>
                        <a:t>Awareness</a:t>
                      </a:r>
                      <a:endParaRPr sz="900"/>
                    </a:p>
                  </a:txBody>
                  <a:tcPr marL="91425" marR="91425" marT="91425" marB="91425">
                    <a:solidFill>
                      <a:srgbClr val="EFEFEF"/>
                    </a:solidFill>
                  </a:tcPr>
                </a:tc>
                <a:tc hMerge="1">
                  <a:tcPr/>
                </a:tc>
                <a:tc gridSpan="2">
                  <a:txBody>
                    <a:bodyPr/>
                    <a:lstStyle/>
                    <a:p>
                      <a:pPr marL="0" lvl="0" indent="0" algn="ctr" rtl="0">
                        <a:spcBef>
                          <a:spcPts val="0"/>
                        </a:spcBef>
                        <a:spcAft>
                          <a:spcPts val="0"/>
                        </a:spcAft>
                        <a:buNone/>
                      </a:pPr>
                      <a:r>
                        <a:rPr lang="en-US" sz="900"/>
                        <a:t>Consideration</a:t>
                      </a:r>
                      <a:endParaRPr sz="900"/>
                    </a:p>
                  </a:txBody>
                  <a:tcPr marL="91425" marR="91425" marT="91425" marB="91425">
                    <a:solidFill>
                      <a:srgbClr val="EFEFEF"/>
                    </a:solidFill>
                  </a:tcPr>
                </a:tc>
                <a:tc hMerge="1">
                  <a:tcPr/>
                </a:tc>
                <a:tc gridSpan="2">
                  <a:txBody>
                    <a:bodyPr/>
                    <a:lstStyle/>
                    <a:p>
                      <a:pPr marL="0" lvl="0" indent="0" algn="ctr" rtl="0">
                        <a:spcBef>
                          <a:spcPts val="0"/>
                        </a:spcBef>
                        <a:spcAft>
                          <a:spcPts val="0"/>
                        </a:spcAft>
                        <a:buNone/>
                      </a:pPr>
                      <a:r>
                        <a:rPr lang="en-US" sz="900"/>
                        <a:t>Decision</a:t>
                      </a:r>
                      <a:endParaRPr sz="900"/>
                    </a:p>
                  </a:txBody>
                  <a:tcPr marL="91425" marR="91425" marT="91425" marB="91425">
                    <a:solidFill>
                      <a:srgbClr val="EFEFEF"/>
                    </a:solidFill>
                  </a:tcPr>
                </a:tc>
                <a:tc hMerge="1">
                  <a:tcPr/>
                </a:tc>
              </a:tr>
              <a:tr h="320000">
                <a:tc rowSpan="2">
                  <a:txBody>
                    <a:bodyPr/>
                    <a:lstStyle/>
                    <a:p>
                      <a:pPr marL="0" lvl="0" indent="0" algn="ctr" rtl="0">
                        <a:spcBef>
                          <a:spcPts val="0"/>
                        </a:spcBef>
                        <a:spcAft>
                          <a:spcPts val="0"/>
                        </a:spcAft>
                        <a:buNone/>
                      </a:pPr>
                      <a:endParaRPr sz="1100"/>
                    </a:p>
                  </a:txBody>
                  <a:tcPr marL="91425" marR="91425" marT="91425" marB="91425">
                    <a:solidFill>
                      <a:schemeClr val="lt1"/>
                    </a:solidFill>
                  </a:tcPr>
                </a:tc>
                <a:tc>
                  <a:txBody>
                    <a:bodyPr/>
                    <a:lstStyle/>
                    <a:p>
                      <a:pPr marL="0" lvl="0" indent="0" algn="ctr" rtl="0">
                        <a:spcBef>
                          <a:spcPts val="0"/>
                        </a:spcBef>
                        <a:spcAft>
                          <a:spcPts val="0"/>
                        </a:spcAft>
                        <a:buNone/>
                      </a:pPr>
                      <a:r>
                        <a:rPr lang="en-US" sz="900"/>
                        <a:t>Awareness</a:t>
                      </a:r>
                      <a:endParaRPr sz="900"/>
                    </a:p>
                  </a:txBody>
                  <a:tcPr marL="91425" marR="91425" marT="91425" marB="91425">
                    <a:solidFill>
                      <a:srgbClr val="EFEFEF"/>
                    </a:solidFill>
                  </a:tcPr>
                </a:tc>
                <a:tc>
                  <a:txBody>
                    <a:bodyPr/>
                    <a:lstStyle/>
                    <a:p>
                      <a:pPr marL="0" lvl="0" indent="0" algn="ctr" rtl="0">
                        <a:spcBef>
                          <a:spcPts val="0"/>
                        </a:spcBef>
                        <a:spcAft>
                          <a:spcPts val="0"/>
                        </a:spcAft>
                        <a:buNone/>
                      </a:pPr>
                      <a:r>
                        <a:rPr lang="en-US" sz="900"/>
                        <a:t>Lead Generation</a:t>
                      </a:r>
                      <a:endParaRPr sz="900"/>
                    </a:p>
                  </a:txBody>
                  <a:tcPr marL="91425" marR="91425" marT="91425" marB="91425">
                    <a:solidFill>
                      <a:srgbClr val="EFEFEF"/>
                    </a:solidFill>
                  </a:tcPr>
                </a:tc>
                <a:tc gridSpan="3">
                  <a:txBody>
                    <a:bodyPr/>
                    <a:lstStyle/>
                    <a:p>
                      <a:pPr marL="0" lvl="0" indent="0" algn="ctr" rtl="0">
                        <a:spcBef>
                          <a:spcPts val="0"/>
                        </a:spcBef>
                        <a:spcAft>
                          <a:spcPts val="0"/>
                        </a:spcAft>
                        <a:buNone/>
                      </a:pPr>
                      <a:r>
                        <a:rPr lang="en-US" sz="900"/>
                        <a:t>Lead Conversion</a:t>
                      </a:r>
                      <a:endParaRPr sz="900"/>
                    </a:p>
                  </a:txBody>
                  <a:tcPr marL="91425" marR="91425" marT="91425" marB="91425">
                    <a:solidFill>
                      <a:srgbClr val="EFEFEF"/>
                    </a:solidFill>
                  </a:tcPr>
                </a:tc>
                <a:tc hMerge="1">
                  <a:tcPr/>
                </a:tc>
                <a:tc hMerge="1">
                  <a:tcPr/>
                </a:tc>
                <a:tc>
                  <a:txBody>
                    <a:bodyPr/>
                    <a:lstStyle/>
                    <a:p>
                      <a:pPr marL="0" lvl="0" indent="0" algn="ctr" rtl="0">
                        <a:spcBef>
                          <a:spcPts val="0"/>
                        </a:spcBef>
                        <a:spcAft>
                          <a:spcPts val="0"/>
                        </a:spcAft>
                        <a:buNone/>
                      </a:pPr>
                      <a:r>
                        <a:rPr lang="en-US" sz="900"/>
                        <a:t>Sales</a:t>
                      </a:r>
                      <a:endParaRPr sz="900"/>
                    </a:p>
                  </a:txBody>
                  <a:tcPr marL="91425" marR="91425" marT="91425" marB="91425">
                    <a:solidFill>
                      <a:srgbClr val="EFEFEF"/>
                    </a:solidFill>
                  </a:tcPr>
                </a:tc>
              </a:tr>
              <a:tr h="365725">
                <a:tc vMerge="1">
                  <a:tcPr/>
                </a:tc>
                <a:tc>
                  <a:txBody>
                    <a:bodyPr/>
                    <a:lstStyle/>
                    <a:p>
                      <a:pPr marL="0" lvl="0" indent="0" algn="l" rtl="0">
                        <a:spcBef>
                          <a:spcPts val="0"/>
                        </a:spcBef>
                        <a:spcAft>
                          <a:spcPts val="0"/>
                        </a:spcAft>
                        <a:buNone/>
                      </a:pPr>
                      <a:r>
                        <a:rPr lang="en-US" sz="1200" b="1"/>
                        <a:t>Pre-Know</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Know</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Like</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Trust</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Try</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Buy</a:t>
                      </a:r>
                      <a:endParaRPr sz="1200" b="1"/>
                    </a:p>
                  </a:txBody>
                  <a:tcPr marL="91425" marR="91425" marT="91425" marB="91425">
                    <a:solidFill>
                      <a:srgbClr val="AFDFE4"/>
                    </a:solidFill>
                  </a:tcPr>
                </a:tc>
              </a:tr>
              <a:tr h="1188700">
                <a:tc>
                  <a:txBody>
                    <a:bodyPr/>
                    <a:lstStyle/>
                    <a:p>
                      <a:pPr marL="0" lvl="0" indent="0" algn="l" rtl="0">
                        <a:spcBef>
                          <a:spcPts val="0"/>
                        </a:spcBef>
                        <a:spcAft>
                          <a:spcPts val="0"/>
                        </a:spcAft>
                        <a:buNone/>
                      </a:pPr>
                      <a:r>
                        <a:rPr lang="en-US" sz="1200">
                          <a:latin typeface="Calibri"/>
                          <a:ea typeface="Calibri"/>
                          <a:cs typeface="Calibri"/>
                          <a:sym typeface="Calibri"/>
                        </a:rPr>
                        <a:t>Doing (Marketing Operations/ VP Persona)</a:t>
                      </a:r>
                      <a:endParaRPr sz="1200">
                        <a:latin typeface="Calibri"/>
                        <a:ea typeface="Calibri"/>
                        <a:cs typeface="Calibri"/>
                        <a:sym typeface="Calibri"/>
                      </a:endParaRPr>
                    </a:p>
                  </a:txBody>
                  <a:tcPr marL="91425" marR="91425" marT="91425" marB="91425">
                    <a:solidFill>
                      <a:schemeClr val="lt2"/>
                    </a:solidFill>
                  </a:tcPr>
                </a:tc>
                <a:tc>
                  <a:txBody>
                    <a:bodyPr/>
                    <a:lstStyle/>
                    <a:p>
                      <a:pPr marL="0" lvl="0" indent="0" algn="l" rtl="0">
                        <a:spcBef>
                          <a:spcPts val="0"/>
                        </a:spcBef>
                        <a:spcAft>
                          <a:spcPts val="0"/>
                        </a:spcAft>
                        <a:buNone/>
                      </a:pPr>
                      <a:r>
                        <a:rPr lang="en-US" sz="1100">
                          <a:latin typeface="Calibri"/>
                          <a:ea typeface="Calibri"/>
                          <a:cs typeface="Calibri"/>
                          <a:sym typeface="Calibri"/>
                        </a:rPr>
                        <a:t>Using Excel or PM software to manage marketing planning &amp; calendars - Don’t know that Enterprise Marketing Calendars exist or what they are</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Aware that Enterprise Marketing Calendars/CrossCap’s products exist</a:t>
                      </a:r>
                      <a:endParaRPr sz="1100">
                        <a:latin typeface="Calibri"/>
                        <a:ea typeface="Calibri"/>
                        <a:cs typeface="Calibri"/>
                        <a:sym typeface="Calibri"/>
                      </a:endParaRPr>
                    </a:p>
                    <a:p>
                      <a:pPr marL="0" lvl="0" indent="0" algn="l" rtl="0">
                        <a:spcBef>
                          <a:spcPts val="0"/>
                        </a:spcBef>
                        <a:spcAft>
                          <a:spcPts val="0"/>
                        </a:spcAft>
                        <a:buNone/>
                      </a:pP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Researching CrossCap’s Marketing Calendar, figuring out what it is and what it does, exploring other options</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Clr>
                          <a:schemeClr val="dk1"/>
                        </a:buClr>
                        <a:buSzPts val="1100"/>
                        <a:buFont typeface="Arial" panose="020B0704020202020204"/>
                        <a:buNone/>
                      </a:pPr>
                      <a:r>
                        <a:rPr lang="en-US" sz="1100">
                          <a:latin typeface="Calibri"/>
                          <a:ea typeface="Calibri"/>
                          <a:cs typeface="Calibri"/>
                          <a:sym typeface="Calibri"/>
                        </a:rPr>
                        <a:t>Researching whether CrossCap’s marketing calendar will work for them - bring in other people and sourcing/IT</a:t>
                      </a:r>
                      <a:endParaRPr sz="1000"/>
                    </a:p>
                  </a:txBody>
                  <a:tcPr marL="91425" marR="91425" marT="91425" marB="91425"/>
                </a:tc>
                <a:tc>
                  <a:txBody>
                    <a:bodyPr/>
                    <a:lstStyle/>
                    <a:p>
                      <a:pPr marL="0" lvl="0" indent="0" algn="l" rtl="0">
                        <a:spcBef>
                          <a:spcPts val="0"/>
                        </a:spcBef>
                        <a:spcAft>
                          <a:spcPts val="0"/>
                        </a:spcAft>
                        <a:buClr>
                          <a:schemeClr val="dk1"/>
                        </a:buClr>
                        <a:buSzPts val="1100"/>
                        <a:buFont typeface="Arial" panose="020B0704020202020204"/>
                        <a:buNone/>
                      </a:pPr>
                      <a:r>
                        <a:rPr lang="en-US" sz="1100">
                          <a:latin typeface="Calibri"/>
                          <a:ea typeface="Calibri"/>
                          <a:cs typeface="Calibri"/>
                          <a:sym typeface="Calibri"/>
                        </a:rPr>
                        <a:t>Trying out CrossCap to decide if it will work for their organization - may be demo-ing other products - IT &amp; Sourcing is evaluating</a:t>
                      </a:r>
                      <a:endParaRPr sz="1000"/>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Creating a statement of work/needs requirement, RFP, determining budget, getting real costs</a:t>
                      </a:r>
                      <a:endParaRPr sz="1100">
                        <a:latin typeface="Calibri"/>
                        <a:ea typeface="Calibri"/>
                        <a:cs typeface="Calibri"/>
                        <a:sym typeface="Calibri"/>
                      </a:endParaRPr>
                    </a:p>
                  </a:txBody>
                  <a:tcPr marL="91425" marR="91425" marT="91425" marB="91425"/>
                </a:tc>
              </a:tr>
              <a:tr h="1706825">
                <a:tc>
                  <a:txBody>
                    <a:bodyPr/>
                    <a:lstStyle/>
                    <a:p>
                      <a:pPr marL="0" lvl="0" indent="0" algn="l" rtl="0">
                        <a:spcBef>
                          <a:spcPts val="0"/>
                        </a:spcBef>
                        <a:spcAft>
                          <a:spcPts val="0"/>
                        </a:spcAft>
                        <a:buNone/>
                      </a:pPr>
                      <a:r>
                        <a:rPr lang="en-US" sz="1200">
                          <a:latin typeface="Calibri"/>
                          <a:ea typeface="Calibri"/>
                          <a:cs typeface="Calibri"/>
                          <a:sym typeface="Calibri"/>
                        </a:rPr>
                        <a:t>CrossCap Information Needed</a:t>
                      </a:r>
                      <a:endParaRPr sz="1200">
                        <a:latin typeface="Calibri"/>
                        <a:ea typeface="Calibri"/>
                        <a:cs typeface="Calibri"/>
                        <a:sym typeface="Calibri"/>
                      </a:endParaRPr>
                    </a:p>
                  </a:txBody>
                  <a:tcPr marL="91425" marR="91425" marT="91425" marB="91425">
                    <a:solidFill>
                      <a:schemeClr val="lt2"/>
                    </a:solidFill>
                  </a:tcPr>
                </a:tc>
                <a:tc>
                  <a:txBody>
                    <a:bodyPr/>
                    <a:lstStyle/>
                    <a:p>
                      <a:pPr marL="0" lvl="0" indent="0" algn="l" rtl="0">
                        <a:spcBef>
                          <a:spcPts val="0"/>
                        </a:spcBef>
                        <a:spcAft>
                          <a:spcPts val="0"/>
                        </a:spcAft>
                        <a:buNone/>
                      </a:pPr>
                      <a:r>
                        <a:rPr lang="en-US" sz="1100">
                          <a:latin typeface="Calibri"/>
                          <a:ea typeface="Calibri"/>
                          <a:cs typeface="Calibri"/>
                          <a:sym typeface="Calibri"/>
                        </a:rPr>
                        <a:t>Need to know what they don’t know: </a:t>
                      </a:r>
                      <a:br>
                        <a:rPr lang="en-US" sz="1100">
                          <a:latin typeface="Calibri"/>
                          <a:ea typeface="Calibri"/>
                          <a:cs typeface="Calibri"/>
                          <a:sym typeface="Calibri"/>
                        </a:rPr>
                      </a:br>
                      <a:r>
                        <a:rPr lang="en-US" sz="1100">
                          <a:latin typeface="Calibri"/>
                          <a:ea typeface="Calibri"/>
                          <a:cs typeface="Calibri"/>
                          <a:sym typeface="Calibri"/>
                        </a:rPr>
                        <a:t>&gt; There’s a better way - Using Excel is risky &amp; inefficient</a:t>
                      </a:r>
                      <a:endParaRPr sz="1100">
                        <a:latin typeface="Calibri"/>
                        <a:ea typeface="Calibri"/>
                        <a:cs typeface="Calibri"/>
                        <a:sym typeface="Calibri"/>
                      </a:endParaRPr>
                    </a:p>
                    <a:p>
                      <a:pPr marL="0" lvl="0" indent="0" algn="l" rtl="0">
                        <a:spcBef>
                          <a:spcPts val="0"/>
                        </a:spcBef>
                        <a:spcAft>
                          <a:spcPts val="0"/>
                        </a:spcAft>
                        <a:buNone/>
                      </a:pPr>
                      <a:r>
                        <a:rPr lang="en-US" sz="1100">
                          <a:latin typeface="Calibri"/>
                          <a:ea typeface="Calibri"/>
                          <a:cs typeface="Calibri"/>
                          <a:sym typeface="Calibri"/>
                        </a:rPr>
                        <a:t>&gt; Enterprise marketing calendars exist &amp; enterprises need them -They are different from other calendars - What a marketing calendar can do that you don’t know</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the details of what an Enterprise Marketing Calendar is, how it’s better/ different from Excel/ PM calendars, the problems it can solve - and what this can do for their marketing (benefits)</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that CrossCap works with other companies like them - enterprise level - how implementation and support are, what the experience is like. </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that other companies like them have had great </a:t>
                      </a:r>
                      <a:r>
                        <a:rPr lang="en-US" sz="1100">
                          <a:latin typeface="Calibri"/>
                          <a:ea typeface="Calibri"/>
                          <a:cs typeface="Calibri"/>
                          <a:sym typeface="Calibri"/>
                        </a:rPr>
                        <a:t>experience</a:t>
                      </a:r>
                      <a:r>
                        <a:rPr lang="en-US" sz="1100">
                          <a:latin typeface="Calibri"/>
                          <a:ea typeface="Calibri"/>
                          <a:cs typeface="Calibri"/>
                          <a:sym typeface="Calibri"/>
                        </a:rPr>
                        <a:t> with CrossCap - that CrossCap has delivered on what it promised</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that CrossCap will work for them and and their unique marketing processes - or that CrossCap can make it work. Need to get a feel for what it would be like to work with CrossCap</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make sure that what CrossCap is proposing will get through their gatekeepers so they can purchase.</a:t>
                      </a:r>
                      <a:endParaRPr sz="1100">
                        <a:latin typeface="Calibri"/>
                        <a:ea typeface="Calibri"/>
                        <a:cs typeface="Calibri"/>
                        <a:sym typeface="Calibri"/>
                      </a:endParaRPr>
                    </a:p>
                  </a:txBody>
                  <a:tcPr marL="91425" marR="91425" marT="91425" marB="91425"/>
                </a:tc>
              </a:tr>
              <a:tr h="853400">
                <a:tc>
                  <a:txBody>
                    <a:bodyPr/>
                    <a:lstStyle/>
                    <a:p>
                      <a:pPr marL="0" lvl="0" indent="0" algn="l" rtl="0">
                        <a:spcBef>
                          <a:spcPts val="0"/>
                        </a:spcBef>
                        <a:spcAft>
                          <a:spcPts val="0"/>
                        </a:spcAft>
                        <a:buNone/>
                      </a:pPr>
                      <a:r>
                        <a:rPr lang="en-US" sz="1200">
                          <a:latin typeface="Calibri"/>
                          <a:ea typeface="Calibri"/>
                          <a:cs typeface="Calibri"/>
                          <a:sym typeface="Calibri"/>
                        </a:rPr>
                        <a:t>Specific Materials</a:t>
                      </a:r>
                      <a:endParaRPr sz="1200">
                        <a:latin typeface="Calibri"/>
                        <a:ea typeface="Calibri"/>
                        <a:cs typeface="Calibri"/>
                        <a:sym typeface="Calibri"/>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en-US" sz="1100">
                          <a:latin typeface="Calibri"/>
                          <a:ea typeface="Calibri"/>
                          <a:cs typeface="Calibri"/>
                          <a:sym typeface="Calibri"/>
                        </a:rPr>
                        <a:t>Blog posts, Social Media, eBooks, Whitepapers, Videos</a:t>
                      </a:r>
                      <a:endParaRPr sz="1100">
                        <a:latin typeface="Calibri"/>
                        <a:ea typeface="Calibri"/>
                        <a:cs typeface="Calibri"/>
                        <a:sym typeface="Calibri"/>
                      </a:endParaRPr>
                    </a:p>
                  </a:txBody>
                  <a:tcPr marL="91425" marR="91425" marT="91425" marB="91425"/>
                </a:tc>
                <a:tc hMerge="1">
                  <a:tcPr/>
                </a:tc>
                <a:tc gridSpan="2">
                  <a:txBody>
                    <a:bodyPr/>
                    <a:lstStyle/>
                    <a:p>
                      <a:pPr marL="0" lvl="0" indent="0" algn="l" rtl="0">
                        <a:spcBef>
                          <a:spcPts val="0"/>
                        </a:spcBef>
                        <a:spcAft>
                          <a:spcPts val="0"/>
                        </a:spcAft>
                        <a:buNone/>
                      </a:pPr>
                      <a:r>
                        <a:rPr lang="en-US" sz="1100">
                          <a:solidFill>
                            <a:schemeClr val="dk1"/>
                          </a:solidFill>
                          <a:latin typeface="Calibri"/>
                          <a:ea typeface="Calibri"/>
                          <a:cs typeface="Calibri"/>
                          <a:sym typeface="Calibri"/>
                        </a:rPr>
                        <a:t>Email Nurture, Product brochure, Reports, Product Comparison Guides, Service &amp; Implementation Sheets, Case Studies, Testimonials, Personality &amp; Brand</a:t>
                      </a:r>
                      <a:endParaRPr sz="1100">
                        <a:latin typeface="Calibri"/>
                        <a:ea typeface="Calibri"/>
                        <a:cs typeface="Calibri"/>
                        <a:sym typeface="Calibri"/>
                      </a:endParaRPr>
                    </a:p>
                  </a:txBody>
                  <a:tcPr marL="91425" marR="91425" marT="91425" marB="91425"/>
                </a:tc>
                <a:tc hMerge="1">
                  <a:tcPr/>
                </a:tc>
                <a:tc gridSpan="2">
                  <a:txBody>
                    <a:bodyPr/>
                    <a:lstStyle/>
                    <a:p>
                      <a:pPr marL="0" lvl="0" indent="0" algn="l" rtl="0">
                        <a:spcBef>
                          <a:spcPts val="0"/>
                        </a:spcBef>
                        <a:spcAft>
                          <a:spcPts val="0"/>
                        </a:spcAft>
                        <a:buNone/>
                      </a:pPr>
                      <a:r>
                        <a:rPr lang="en-US" sz="1100">
                          <a:latin typeface="Calibri"/>
                          <a:ea typeface="Calibri"/>
                          <a:cs typeface="Calibri"/>
                          <a:sym typeface="Calibri"/>
                        </a:rPr>
                        <a:t>Video demos, Data sheets, Technical specs, support &amp; implementation information, </a:t>
                      </a:r>
                      <a:r>
                        <a:rPr lang="en-US" sz="1100">
                          <a:latin typeface="Calibri"/>
                          <a:ea typeface="Calibri"/>
                          <a:cs typeface="Calibri"/>
                          <a:sym typeface="Calibri"/>
                        </a:rPr>
                        <a:t>Analyst</a:t>
                      </a:r>
                      <a:r>
                        <a:rPr lang="en-US" sz="1100">
                          <a:latin typeface="Calibri"/>
                          <a:ea typeface="Calibri"/>
                          <a:cs typeface="Calibri"/>
                          <a:sym typeface="Calibri"/>
                        </a:rPr>
                        <a:t> reports, FAQ, Consultations, Pricing info, Proposal</a:t>
                      </a:r>
                      <a:endParaRPr sz="1100">
                        <a:latin typeface="Calibri"/>
                        <a:ea typeface="Calibri"/>
                        <a:cs typeface="Calibri"/>
                        <a:sym typeface="Calibri"/>
                      </a:endParaRPr>
                    </a:p>
                  </a:txBody>
                  <a:tcPr marL="91425" marR="91425" marT="91425" marB="91425"/>
                </a:tc>
                <a:tc hMerge="1">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91" name="Shape 391"/>
        <p:cNvGrpSpPr/>
        <p:nvPr/>
      </p:nvGrpSpPr>
      <p:grpSpPr>
        <a:xfrm>
          <a:off x="0" y="0"/>
          <a:ext cx="0" cy="0"/>
          <a:chOff x="0" y="0"/>
          <a:chExt cx="0" cy="0"/>
        </a:xfrm>
      </p:grpSpPr>
      <p:sp>
        <p:nvSpPr>
          <p:cNvPr id="392" name="Google Shape;392;p48"/>
          <p:cNvSpPr txBox="1"/>
          <p:nvPr>
            <p:ph type="title"/>
          </p:nvPr>
        </p:nvSpPr>
        <p:spPr>
          <a:xfrm>
            <a:off x="755425" y="8153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Customer Journey Example: </a:t>
            </a:r>
            <a:r>
              <a:rPr lang="en-US" sz="3800" b="0" i="1">
                <a:solidFill>
                  <a:srgbClr val="073763"/>
                </a:solidFill>
                <a:latin typeface="Calibri"/>
                <a:ea typeface="Calibri"/>
                <a:cs typeface="Calibri"/>
                <a:sym typeface="Calibri"/>
              </a:rPr>
              <a:t>Distro</a:t>
            </a:r>
            <a:endParaRPr sz="3800" b="0" i="1">
              <a:solidFill>
                <a:srgbClr val="073763"/>
              </a:solidFill>
              <a:latin typeface="Calibri"/>
              <a:ea typeface="Calibri"/>
              <a:cs typeface="Calibri"/>
              <a:sym typeface="Calibri"/>
            </a:endParaRPr>
          </a:p>
        </p:txBody>
      </p:sp>
      <p:pic>
        <p:nvPicPr>
          <p:cNvPr id="393" name="Google Shape;393;p48"/>
          <p:cNvPicPr preferRelativeResize="0"/>
          <p:nvPr/>
        </p:nvPicPr>
        <p:blipFill rotWithShape="1">
          <a:blip r:embed="rId1"/>
          <a:srcRect l="-339000" t="22380" r="339000" b="-22380"/>
          <a:stretch>
            <a:fillRect/>
          </a:stretch>
        </p:blipFill>
        <p:spPr>
          <a:xfrm>
            <a:off x="450625" y="2409997"/>
            <a:ext cx="2553250" cy="3239201"/>
          </a:xfrm>
          <a:prstGeom prst="rect">
            <a:avLst/>
          </a:prstGeom>
          <a:noFill/>
          <a:ln>
            <a:noFill/>
          </a:ln>
        </p:spPr>
      </p:pic>
      <p:graphicFrame>
        <p:nvGraphicFramePr>
          <p:cNvPr id="394" name="Google Shape;394;p48"/>
          <p:cNvGraphicFramePr/>
          <p:nvPr/>
        </p:nvGraphicFramePr>
        <p:xfrm>
          <a:off x="328663" y="1607388"/>
          <a:ext cx="11532825" cy="4785150"/>
        </p:xfrm>
        <a:graphic>
          <a:graphicData uri="http://schemas.openxmlformats.org/drawingml/2006/table">
            <a:tbl>
              <a:tblPr>
                <a:noFill/>
                <a:tableStyleId>{72414FFC-F9EC-43E0-91B3-72DFC5CB316E}</a:tableStyleId>
              </a:tblPr>
              <a:tblGrid>
                <a:gridCol w="1022900"/>
                <a:gridCol w="2272175"/>
                <a:gridCol w="1647550"/>
                <a:gridCol w="1647550"/>
                <a:gridCol w="1647550"/>
                <a:gridCol w="1647550"/>
                <a:gridCol w="1647550"/>
              </a:tblGrid>
              <a:tr h="350500">
                <a:tc>
                  <a:txBody>
                    <a:bodyPr/>
                    <a:lstStyle/>
                    <a:p>
                      <a:pPr marL="0" lvl="0" indent="0" algn="ctr" rtl="0">
                        <a:spcBef>
                          <a:spcPts val="0"/>
                        </a:spcBef>
                        <a:spcAft>
                          <a:spcPts val="0"/>
                        </a:spcAft>
                        <a:buNone/>
                      </a:pPr>
                      <a:endParaRPr sz="1100"/>
                    </a:p>
                  </a:txBody>
                  <a:tcPr marL="91425" marR="91425" marT="91425" marB="91425">
                    <a:solidFill>
                      <a:schemeClr val="lt1"/>
                    </a:solidFill>
                  </a:tcPr>
                </a:tc>
                <a:tc gridSpan="2">
                  <a:txBody>
                    <a:bodyPr/>
                    <a:lstStyle/>
                    <a:p>
                      <a:pPr marL="0" lvl="0" indent="0" algn="ctr" rtl="0">
                        <a:spcBef>
                          <a:spcPts val="0"/>
                        </a:spcBef>
                        <a:spcAft>
                          <a:spcPts val="0"/>
                        </a:spcAft>
                        <a:buNone/>
                      </a:pPr>
                      <a:r>
                        <a:rPr lang="en-US" sz="900"/>
                        <a:t>Awareness</a:t>
                      </a:r>
                      <a:endParaRPr sz="900"/>
                    </a:p>
                  </a:txBody>
                  <a:tcPr marL="91425" marR="91425" marT="91425" marB="91425">
                    <a:solidFill>
                      <a:srgbClr val="EFEFEF"/>
                    </a:solidFill>
                  </a:tcPr>
                </a:tc>
                <a:tc hMerge="1">
                  <a:tcPr/>
                </a:tc>
                <a:tc gridSpan="2">
                  <a:txBody>
                    <a:bodyPr/>
                    <a:lstStyle/>
                    <a:p>
                      <a:pPr marL="0" lvl="0" indent="0" algn="ctr" rtl="0">
                        <a:spcBef>
                          <a:spcPts val="0"/>
                        </a:spcBef>
                        <a:spcAft>
                          <a:spcPts val="0"/>
                        </a:spcAft>
                        <a:buNone/>
                      </a:pPr>
                      <a:r>
                        <a:rPr lang="en-US" sz="900"/>
                        <a:t>Consideration</a:t>
                      </a:r>
                      <a:endParaRPr sz="900"/>
                    </a:p>
                  </a:txBody>
                  <a:tcPr marL="91425" marR="91425" marT="91425" marB="91425">
                    <a:solidFill>
                      <a:srgbClr val="EFEFEF"/>
                    </a:solidFill>
                  </a:tcPr>
                </a:tc>
                <a:tc hMerge="1">
                  <a:tcPr/>
                </a:tc>
                <a:tc gridSpan="2">
                  <a:txBody>
                    <a:bodyPr/>
                    <a:lstStyle/>
                    <a:p>
                      <a:pPr marL="0" lvl="0" indent="0" algn="ctr" rtl="0">
                        <a:spcBef>
                          <a:spcPts val="0"/>
                        </a:spcBef>
                        <a:spcAft>
                          <a:spcPts val="0"/>
                        </a:spcAft>
                        <a:buNone/>
                      </a:pPr>
                      <a:r>
                        <a:rPr lang="en-US" sz="900"/>
                        <a:t>Decision</a:t>
                      </a:r>
                      <a:endParaRPr sz="900"/>
                    </a:p>
                  </a:txBody>
                  <a:tcPr marL="91425" marR="91425" marT="91425" marB="91425">
                    <a:solidFill>
                      <a:srgbClr val="EFEFEF"/>
                    </a:solidFill>
                  </a:tcPr>
                </a:tc>
                <a:tc hMerge="1">
                  <a:tcPr/>
                </a:tc>
              </a:tr>
              <a:tr h="320000">
                <a:tc rowSpan="2">
                  <a:txBody>
                    <a:bodyPr/>
                    <a:lstStyle/>
                    <a:p>
                      <a:pPr marL="0" lvl="0" indent="0" algn="ctr" rtl="0">
                        <a:spcBef>
                          <a:spcPts val="0"/>
                        </a:spcBef>
                        <a:spcAft>
                          <a:spcPts val="0"/>
                        </a:spcAft>
                        <a:buNone/>
                      </a:pPr>
                      <a:endParaRPr sz="1100"/>
                    </a:p>
                  </a:txBody>
                  <a:tcPr marL="91425" marR="91425" marT="91425" marB="91425">
                    <a:solidFill>
                      <a:schemeClr val="lt1"/>
                    </a:solidFill>
                  </a:tcPr>
                </a:tc>
                <a:tc>
                  <a:txBody>
                    <a:bodyPr/>
                    <a:lstStyle/>
                    <a:p>
                      <a:pPr marL="0" lvl="0" indent="0" algn="ctr" rtl="0">
                        <a:spcBef>
                          <a:spcPts val="0"/>
                        </a:spcBef>
                        <a:spcAft>
                          <a:spcPts val="0"/>
                        </a:spcAft>
                        <a:buNone/>
                      </a:pPr>
                      <a:r>
                        <a:rPr lang="en-US" sz="900"/>
                        <a:t>Awareness</a:t>
                      </a:r>
                      <a:endParaRPr sz="900"/>
                    </a:p>
                  </a:txBody>
                  <a:tcPr marL="91425" marR="91425" marT="91425" marB="91425">
                    <a:solidFill>
                      <a:srgbClr val="EFEFEF"/>
                    </a:solidFill>
                  </a:tcPr>
                </a:tc>
                <a:tc>
                  <a:txBody>
                    <a:bodyPr/>
                    <a:lstStyle/>
                    <a:p>
                      <a:pPr marL="0" lvl="0" indent="0" algn="ctr" rtl="0">
                        <a:spcBef>
                          <a:spcPts val="0"/>
                        </a:spcBef>
                        <a:spcAft>
                          <a:spcPts val="0"/>
                        </a:spcAft>
                        <a:buNone/>
                      </a:pPr>
                      <a:r>
                        <a:rPr lang="en-US" sz="900"/>
                        <a:t>Lead Generation</a:t>
                      </a:r>
                      <a:endParaRPr sz="900"/>
                    </a:p>
                  </a:txBody>
                  <a:tcPr marL="91425" marR="91425" marT="91425" marB="91425">
                    <a:solidFill>
                      <a:srgbClr val="EFEFEF"/>
                    </a:solidFill>
                  </a:tcPr>
                </a:tc>
                <a:tc gridSpan="3">
                  <a:txBody>
                    <a:bodyPr/>
                    <a:lstStyle/>
                    <a:p>
                      <a:pPr marL="0" lvl="0" indent="0" algn="ctr" rtl="0">
                        <a:spcBef>
                          <a:spcPts val="0"/>
                        </a:spcBef>
                        <a:spcAft>
                          <a:spcPts val="0"/>
                        </a:spcAft>
                        <a:buNone/>
                      </a:pPr>
                      <a:r>
                        <a:rPr lang="en-US" sz="900"/>
                        <a:t>Lead Conversion</a:t>
                      </a:r>
                      <a:endParaRPr sz="900"/>
                    </a:p>
                  </a:txBody>
                  <a:tcPr marL="91425" marR="91425" marT="91425" marB="91425">
                    <a:solidFill>
                      <a:srgbClr val="EFEFEF"/>
                    </a:solidFill>
                  </a:tcPr>
                </a:tc>
                <a:tc hMerge="1">
                  <a:tcPr/>
                </a:tc>
                <a:tc hMerge="1">
                  <a:tcPr/>
                </a:tc>
                <a:tc>
                  <a:txBody>
                    <a:bodyPr/>
                    <a:lstStyle/>
                    <a:p>
                      <a:pPr marL="0" lvl="0" indent="0" algn="ctr" rtl="0">
                        <a:spcBef>
                          <a:spcPts val="0"/>
                        </a:spcBef>
                        <a:spcAft>
                          <a:spcPts val="0"/>
                        </a:spcAft>
                        <a:buNone/>
                      </a:pPr>
                      <a:r>
                        <a:rPr lang="en-US" sz="900"/>
                        <a:t>Sales</a:t>
                      </a:r>
                      <a:endParaRPr sz="900"/>
                    </a:p>
                  </a:txBody>
                  <a:tcPr marL="91425" marR="91425" marT="91425" marB="91425">
                    <a:solidFill>
                      <a:srgbClr val="EFEFEF"/>
                    </a:solidFill>
                  </a:tcPr>
                </a:tc>
              </a:tr>
              <a:tr h="365725">
                <a:tc vMerge="1">
                  <a:tcPr/>
                </a:tc>
                <a:tc>
                  <a:txBody>
                    <a:bodyPr/>
                    <a:lstStyle/>
                    <a:p>
                      <a:pPr marL="0" lvl="0" indent="0" algn="l" rtl="0">
                        <a:spcBef>
                          <a:spcPts val="0"/>
                        </a:spcBef>
                        <a:spcAft>
                          <a:spcPts val="0"/>
                        </a:spcAft>
                        <a:buNone/>
                      </a:pPr>
                      <a:r>
                        <a:rPr lang="en-US" sz="1200" b="1"/>
                        <a:t>Pre-Know</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Know</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Like</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Trust</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Try</a:t>
                      </a:r>
                      <a:endParaRPr sz="1200" b="1"/>
                    </a:p>
                  </a:txBody>
                  <a:tcPr marL="91425" marR="91425" marT="91425" marB="91425">
                    <a:solidFill>
                      <a:srgbClr val="AFDFE4"/>
                    </a:solidFill>
                  </a:tcPr>
                </a:tc>
                <a:tc>
                  <a:txBody>
                    <a:bodyPr/>
                    <a:lstStyle/>
                    <a:p>
                      <a:pPr marL="0" lvl="0" indent="0" algn="l" rtl="0">
                        <a:spcBef>
                          <a:spcPts val="0"/>
                        </a:spcBef>
                        <a:spcAft>
                          <a:spcPts val="0"/>
                        </a:spcAft>
                        <a:buNone/>
                      </a:pPr>
                      <a:r>
                        <a:rPr lang="en-US" sz="1200" b="1"/>
                        <a:t>Buy</a:t>
                      </a:r>
                      <a:endParaRPr sz="1200" b="1"/>
                    </a:p>
                  </a:txBody>
                  <a:tcPr marL="91425" marR="91425" marT="91425" marB="91425">
                    <a:solidFill>
                      <a:srgbClr val="AFDFE4"/>
                    </a:solidFill>
                  </a:tcPr>
                </a:tc>
              </a:tr>
              <a:tr h="1188700">
                <a:tc>
                  <a:txBody>
                    <a:bodyPr/>
                    <a:lstStyle/>
                    <a:p>
                      <a:pPr marL="0" lvl="0" indent="0" algn="l" rtl="0">
                        <a:spcBef>
                          <a:spcPts val="0"/>
                        </a:spcBef>
                        <a:spcAft>
                          <a:spcPts val="0"/>
                        </a:spcAft>
                        <a:buNone/>
                      </a:pPr>
                      <a:r>
                        <a:rPr lang="en-US" sz="1200">
                          <a:latin typeface="Calibri"/>
                          <a:ea typeface="Calibri"/>
                          <a:cs typeface="Calibri"/>
                          <a:sym typeface="Calibri"/>
                        </a:rPr>
                        <a:t>Doing (Marketing Operations/ VP Persona)</a:t>
                      </a:r>
                      <a:endParaRPr sz="1200">
                        <a:latin typeface="Calibri"/>
                        <a:ea typeface="Calibri"/>
                        <a:cs typeface="Calibri"/>
                        <a:sym typeface="Calibri"/>
                      </a:endParaRPr>
                    </a:p>
                  </a:txBody>
                  <a:tcPr marL="91425" marR="91425" marT="91425" marB="91425">
                    <a:solidFill>
                      <a:schemeClr val="lt2"/>
                    </a:solidFill>
                  </a:tcPr>
                </a:tc>
                <a:tc>
                  <a:txBody>
                    <a:bodyPr/>
                    <a:lstStyle/>
                    <a:p>
                      <a:pPr marL="0" lvl="0" indent="0" algn="l" rtl="0">
                        <a:spcBef>
                          <a:spcPts val="0"/>
                        </a:spcBef>
                        <a:spcAft>
                          <a:spcPts val="0"/>
                        </a:spcAft>
                        <a:buNone/>
                      </a:pPr>
                      <a:r>
                        <a:rPr lang="en-US" sz="1100">
                          <a:latin typeface="Calibri"/>
                          <a:ea typeface="Calibri"/>
                          <a:cs typeface="Calibri"/>
                          <a:sym typeface="Calibri"/>
                        </a:rPr>
                        <a:t>Using Excel or PM software to manage store profiling - aware that other solutions exist - but not a good one - usually through their printer or graphics firm</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Aware that Distro and similar products exist</a:t>
                      </a:r>
                      <a:endParaRPr sz="1100">
                        <a:latin typeface="Calibri"/>
                        <a:ea typeface="Calibri"/>
                        <a:cs typeface="Calibri"/>
                        <a:sym typeface="Calibri"/>
                      </a:endParaRPr>
                    </a:p>
                    <a:p>
                      <a:pPr marL="0" lvl="0" indent="0" algn="l" rtl="0">
                        <a:spcBef>
                          <a:spcPts val="0"/>
                        </a:spcBef>
                        <a:spcAft>
                          <a:spcPts val="0"/>
                        </a:spcAft>
                        <a:buNone/>
                      </a:pP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Researching CrossCap’s Distro, figuring out what it is and what it does, exploring other options</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Clr>
                          <a:schemeClr val="dk1"/>
                        </a:buClr>
                        <a:buSzPts val="1100"/>
                        <a:buFont typeface="Arial" panose="020B0704020202020204"/>
                        <a:buNone/>
                      </a:pPr>
                      <a:r>
                        <a:rPr lang="en-US" sz="1100">
                          <a:latin typeface="Calibri"/>
                          <a:ea typeface="Calibri"/>
                          <a:cs typeface="Calibri"/>
                          <a:sym typeface="Calibri"/>
                        </a:rPr>
                        <a:t>Researching whether CrossCap’s Distro will work for them - bring in other people and sourcing/IT</a:t>
                      </a:r>
                      <a:endParaRPr sz="1000"/>
                    </a:p>
                  </a:txBody>
                  <a:tcPr marL="91425" marR="91425" marT="91425" marB="91425"/>
                </a:tc>
                <a:tc>
                  <a:txBody>
                    <a:bodyPr/>
                    <a:lstStyle/>
                    <a:p>
                      <a:pPr marL="0" lvl="0" indent="0" algn="l" rtl="0">
                        <a:spcBef>
                          <a:spcPts val="0"/>
                        </a:spcBef>
                        <a:spcAft>
                          <a:spcPts val="0"/>
                        </a:spcAft>
                        <a:buClr>
                          <a:schemeClr val="dk1"/>
                        </a:buClr>
                        <a:buSzPts val="1100"/>
                        <a:buFont typeface="Arial" panose="020B0704020202020204"/>
                        <a:buNone/>
                      </a:pPr>
                      <a:r>
                        <a:rPr lang="en-US" sz="1100">
                          <a:latin typeface="Calibri"/>
                          <a:ea typeface="Calibri"/>
                          <a:cs typeface="Calibri"/>
                          <a:sym typeface="Calibri"/>
                        </a:rPr>
                        <a:t>Trying out CrossCap to decide if it will work for their organization - may be demo-ing other products - IT &amp; Sourcing is evaluating</a:t>
                      </a:r>
                      <a:endParaRPr sz="1000"/>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Creating a statement of work/needs requirement, RFP, determining budget, getting real costs</a:t>
                      </a:r>
                      <a:endParaRPr sz="1100">
                        <a:latin typeface="Calibri"/>
                        <a:ea typeface="Calibri"/>
                        <a:cs typeface="Calibri"/>
                        <a:sym typeface="Calibri"/>
                      </a:endParaRPr>
                    </a:p>
                  </a:txBody>
                  <a:tcPr marL="91425" marR="91425" marT="91425" marB="91425"/>
                </a:tc>
              </a:tr>
              <a:tr h="1706825">
                <a:tc>
                  <a:txBody>
                    <a:bodyPr/>
                    <a:lstStyle/>
                    <a:p>
                      <a:pPr marL="0" lvl="0" indent="0" algn="l" rtl="0">
                        <a:spcBef>
                          <a:spcPts val="0"/>
                        </a:spcBef>
                        <a:spcAft>
                          <a:spcPts val="0"/>
                        </a:spcAft>
                        <a:buNone/>
                      </a:pPr>
                      <a:r>
                        <a:rPr lang="en-US" sz="1200">
                          <a:latin typeface="Calibri"/>
                          <a:ea typeface="Calibri"/>
                          <a:cs typeface="Calibri"/>
                          <a:sym typeface="Calibri"/>
                        </a:rPr>
                        <a:t>CrossCap Information Needed</a:t>
                      </a:r>
                      <a:endParaRPr sz="1200">
                        <a:latin typeface="Calibri"/>
                        <a:ea typeface="Calibri"/>
                        <a:cs typeface="Calibri"/>
                        <a:sym typeface="Calibri"/>
                      </a:endParaRPr>
                    </a:p>
                  </a:txBody>
                  <a:tcPr marL="91425" marR="91425" marT="91425" marB="91425">
                    <a:solidFill>
                      <a:schemeClr val="lt2"/>
                    </a:solidFill>
                  </a:tcPr>
                </a:tc>
                <a:tc>
                  <a:txBody>
                    <a:bodyPr/>
                    <a:lstStyle/>
                    <a:p>
                      <a:pPr marL="0" lvl="0" indent="0" algn="l" rtl="0">
                        <a:spcBef>
                          <a:spcPts val="0"/>
                        </a:spcBef>
                        <a:spcAft>
                          <a:spcPts val="0"/>
                        </a:spcAft>
                        <a:buNone/>
                      </a:pPr>
                      <a:r>
                        <a:rPr lang="en-US" sz="1100">
                          <a:latin typeface="Calibri"/>
                          <a:ea typeface="Calibri"/>
                          <a:cs typeface="Calibri"/>
                          <a:sym typeface="Calibri"/>
                        </a:rPr>
                        <a:t>Need to know what they don’t know: </a:t>
                      </a:r>
                      <a:br>
                        <a:rPr lang="en-US" sz="1100">
                          <a:latin typeface="Calibri"/>
                          <a:ea typeface="Calibri"/>
                          <a:cs typeface="Calibri"/>
                          <a:sym typeface="Calibri"/>
                        </a:rPr>
                      </a:br>
                      <a:r>
                        <a:rPr lang="en-US" sz="1100">
                          <a:latin typeface="Calibri"/>
                          <a:ea typeface="Calibri"/>
                          <a:cs typeface="Calibri"/>
                          <a:sym typeface="Calibri"/>
                        </a:rPr>
                        <a:t>&gt; There’s a better way - Using Excel is risky &amp; inefficient</a:t>
                      </a:r>
                      <a:endParaRPr sz="1100">
                        <a:latin typeface="Calibri"/>
                        <a:ea typeface="Calibri"/>
                        <a:cs typeface="Calibri"/>
                        <a:sym typeface="Calibri"/>
                      </a:endParaRPr>
                    </a:p>
                    <a:p>
                      <a:pPr marL="0" lvl="0" indent="0" algn="l" rtl="0">
                        <a:spcBef>
                          <a:spcPts val="0"/>
                        </a:spcBef>
                        <a:spcAft>
                          <a:spcPts val="0"/>
                        </a:spcAft>
                        <a:buNone/>
                      </a:pPr>
                      <a:r>
                        <a:rPr lang="en-US" sz="1100">
                          <a:latin typeface="Calibri"/>
                          <a:ea typeface="Calibri"/>
                          <a:cs typeface="Calibri"/>
                          <a:sym typeface="Calibri"/>
                        </a:rPr>
                        <a:t>&gt; Store profiling software exists &amp; retailer need it - Different from what printers offer</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the details of what an Store Profiling software is, how it’s better/ different from Excel/printer options, the problems it can solve - and what this can do for them (benefits)</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that CrossCap works with other companies like them - enterprise level - how implementation and support are, what the experience is like. </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that other companies like them have had great experience with CrossCap - that CrossCap has delivered on what it promised</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know that CrossCap will work for them and and their unique marketing processes - or that CrossCap can make it work. Need to get a feel for what it would be like to work with CrossCap</a:t>
                      </a:r>
                      <a:endParaRPr sz="11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100">
                          <a:latin typeface="Calibri"/>
                          <a:ea typeface="Calibri"/>
                          <a:cs typeface="Calibri"/>
                          <a:sym typeface="Calibri"/>
                        </a:rPr>
                        <a:t>Need to make sure that what CrossCap is proposing will get through their gatekeepers so they can purchase.</a:t>
                      </a:r>
                      <a:endParaRPr sz="1100">
                        <a:latin typeface="Calibri"/>
                        <a:ea typeface="Calibri"/>
                        <a:cs typeface="Calibri"/>
                        <a:sym typeface="Calibri"/>
                      </a:endParaRPr>
                    </a:p>
                  </a:txBody>
                  <a:tcPr marL="91425" marR="91425" marT="91425" marB="91425"/>
                </a:tc>
              </a:tr>
              <a:tr h="853400">
                <a:tc>
                  <a:txBody>
                    <a:bodyPr/>
                    <a:lstStyle/>
                    <a:p>
                      <a:pPr marL="0" lvl="0" indent="0" algn="l" rtl="0">
                        <a:spcBef>
                          <a:spcPts val="0"/>
                        </a:spcBef>
                        <a:spcAft>
                          <a:spcPts val="0"/>
                        </a:spcAft>
                        <a:buNone/>
                      </a:pPr>
                      <a:r>
                        <a:rPr lang="en-US" sz="1200">
                          <a:latin typeface="Calibri"/>
                          <a:ea typeface="Calibri"/>
                          <a:cs typeface="Calibri"/>
                          <a:sym typeface="Calibri"/>
                        </a:rPr>
                        <a:t>Specific Materials</a:t>
                      </a:r>
                      <a:endParaRPr sz="1200">
                        <a:latin typeface="Calibri"/>
                        <a:ea typeface="Calibri"/>
                        <a:cs typeface="Calibri"/>
                        <a:sym typeface="Calibri"/>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en-US" sz="1100">
                          <a:latin typeface="Calibri"/>
                          <a:ea typeface="Calibri"/>
                          <a:cs typeface="Calibri"/>
                          <a:sym typeface="Calibri"/>
                        </a:rPr>
                        <a:t>Blog posts, Social Media, eBooks, Whitepapers, Videos, Podcasts</a:t>
                      </a:r>
                      <a:endParaRPr sz="1100">
                        <a:latin typeface="Calibri"/>
                        <a:ea typeface="Calibri"/>
                        <a:cs typeface="Calibri"/>
                        <a:sym typeface="Calibri"/>
                      </a:endParaRPr>
                    </a:p>
                  </a:txBody>
                  <a:tcPr marL="91425" marR="91425" marT="91425" marB="91425"/>
                </a:tc>
                <a:tc hMerge="1">
                  <a:tcPr/>
                </a:tc>
                <a:tc gridSpan="2">
                  <a:txBody>
                    <a:bodyPr/>
                    <a:lstStyle/>
                    <a:p>
                      <a:pPr marL="0" lvl="0" indent="0" algn="l" rtl="0">
                        <a:spcBef>
                          <a:spcPts val="0"/>
                        </a:spcBef>
                        <a:spcAft>
                          <a:spcPts val="0"/>
                        </a:spcAft>
                        <a:buNone/>
                      </a:pPr>
                      <a:r>
                        <a:rPr lang="en-US" sz="1100">
                          <a:solidFill>
                            <a:schemeClr val="dk1"/>
                          </a:solidFill>
                          <a:latin typeface="Calibri"/>
                          <a:ea typeface="Calibri"/>
                          <a:cs typeface="Calibri"/>
                          <a:sym typeface="Calibri"/>
                        </a:rPr>
                        <a:t>Email Nurture, Product brochure, Reports, Product Comparison Guides, Service &amp; Implementation Sheets, Case Studies, Testimonials, Personality &amp; Brand</a:t>
                      </a:r>
                      <a:endParaRPr sz="1100">
                        <a:latin typeface="Calibri"/>
                        <a:ea typeface="Calibri"/>
                        <a:cs typeface="Calibri"/>
                        <a:sym typeface="Calibri"/>
                      </a:endParaRPr>
                    </a:p>
                  </a:txBody>
                  <a:tcPr marL="91425" marR="91425" marT="91425" marB="91425"/>
                </a:tc>
                <a:tc hMerge="1">
                  <a:tcPr/>
                </a:tc>
                <a:tc gridSpan="2">
                  <a:txBody>
                    <a:bodyPr/>
                    <a:lstStyle/>
                    <a:p>
                      <a:pPr marL="0" lvl="0" indent="0" algn="l" rtl="0">
                        <a:spcBef>
                          <a:spcPts val="0"/>
                        </a:spcBef>
                        <a:spcAft>
                          <a:spcPts val="0"/>
                        </a:spcAft>
                        <a:buNone/>
                      </a:pPr>
                      <a:r>
                        <a:rPr lang="en-US" sz="1100">
                          <a:latin typeface="Calibri"/>
                          <a:ea typeface="Calibri"/>
                          <a:cs typeface="Calibri"/>
                          <a:sym typeface="Calibri"/>
                        </a:rPr>
                        <a:t>Video demos, Data sheets, Technical specs, support &amp; implementation information, Analyst reports, FAQ, Consultations, Pricing info, Proposal</a:t>
                      </a:r>
                      <a:endParaRPr sz="1100">
                        <a:latin typeface="Calibri"/>
                        <a:ea typeface="Calibri"/>
                        <a:cs typeface="Calibri"/>
                        <a:sym typeface="Calibri"/>
                      </a:endParaRPr>
                    </a:p>
                  </a:txBody>
                  <a:tcPr marL="91425" marR="91425" marT="91425" marB="91425"/>
                </a:tc>
                <a:tc hMerge="1">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98" name="Shape 398"/>
        <p:cNvGrpSpPr/>
        <p:nvPr/>
      </p:nvGrpSpPr>
      <p:grpSpPr>
        <a:xfrm>
          <a:off x="0" y="0"/>
          <a:ext cx="0" cy="0"/>
          <a:chOff x="0" y="0"/>
          <a:chExt cx="0" cy="0"/>
        </a:xfrm>
      </p:grpSpPr>
      <p:sp>
        <p:nvSpPr>
          <p:cNvPr id="399" name="Google Shape;399;p49"/>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1: marketing foundation</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2: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Messaging, Positioning &amp; Branding</a:t>
            </a:r>
            <a:endParaRPr lang="en-US">
              <a:latin typeface="Calibri"/>
              <a:ea typeface="Calibri"/>
              <a:cs typeface="Calibri"/>
              <a:sym typeface="Calibri"/>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400" name="Google Shape;400;p4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a:t>
            </a:r>
            <a:endParaRPr sz="1900" b="0" i="1">
              <a:solidFill>
                <a:schemeClr val="accent5"/>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404" name="Shape 404"/>
        <p:cNvGrpSpPr/>
        <p:nvPr/>
      </p:nvGrpSpPr>
      <p:grpSpPr>
        <a:xfrm>
          <a:off x="0" y="0"/>
          <a:ext cx="0" cy="0"/>
          <a:chOff x="0" y="0"/>
          <a:chExt cx="0" cy="0"/>
        </a:xfrm>
      </p:grpSpPr>
      <p:sp>
        <p:nvSpPr>
          <p:cNvPr id="405" name="Google Shape;405;p50"/>
          <p:cNvSpPr txBox="1"/>
          <p:nvPr>
            <p:ph type="title"/>
          </p:nvPr>
        </p:nvSpPr>
        <p:spPr>
          <a:xfrm>
            <a:off x="862300"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Messaging, Positioning &amp; Branding </a:t>
            </a:r>
            <a:r>
              <a:rPr lang="en-US" sz="3800" b="0" i="1">
                <a:solidFill>
                  <a:schemeClr val="accent5"/>
                </a:solidFill>
                <a:latin typeface="Calibri"/>
                <a:ea typeface="Calibri"/>
                <a:cs typeface="Calibri"/>
                <a:sym typeface="Calibri"/>
              </a:rPr>
              <a:t>Overview</a:t>
            </a:r>
            <a:endParaRPr sz="3800" b="0" i="1">
              <a:solidFill>
                <a:schemeClr val="accent5"/>
              </a:solidFill>
              <a:latin typeface="Calibri"/>
              <a:ea typeface="Calibri"/>
              <a:cs typeface="Calibri"/>
              <a:sym typeface="Calibri"/>
            </a:endParaRPr>
          </a:p>
        </p:txBody>
      </p:sp>
      <p:sp>
        <p:nvSpPr>
          <p:cNvPr id="406" name="Google Shape;406;p50"/>
          <p:cNvSpPr txBox="1"/>
          <p:nvPr>
            <p:ph type="body" idx="1"/>
          </p:nvPr>
        </p:nvSpPr>
        <p:spPr>
          <a:xfrm>
            <a:off x="862300" y="1612650"/>
            <a:ext cx="7098300" cy="463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a:t>Update corporate &amp; product messaging, positioning and branding to make it clear who the products are for, what they do, and that they are for an enterprise level organization: </a:t>
            </a:r>
            <a:br>
              <a:rPr lang="en-US" sz="2000" b="1"/>
            </a:br>
            <a:endParaRPr sz="2000" b="1"/>
          </a:p>
          <a:p>
            <a:pPr marL="685800" marR="0" lvl="1" indent="-241300" algn="l" rtl="0">
              <a:lnSpc>
                <a:spcPct val="115000"/>
              </a:lnSpc>
              <a:spcBef>
                <a:spcPts val="0"/>
              </a:spcBef>
              <a:spcAft>
                <a:spcPts val="0"/>
              </a:spcAft>
              <a:buClr>
                <a:schemeClr val="accent2"/>
              </a:buClr>
              <a:buSzPts val="2000"/>
              <a:buChar char="✔"/>
            </a:pPr>
            <a:r>
              <a:rPr lang="en-US" sz="2000"/>
              <a:t>Update branding &amp; images for CrossCap overall</a:t>
            </a:r>
            <a:endParaRPr sz="2000"/>
          </a:p>
          <a:p>
            <a:pPr marL="685800" marR="0" lvl="1" indent="-241300" algn="l" rtl="0">
              <a:lnSpc>
                <a:spcPct val="115000"/>
              </a:lnSpc>
              <a:spcBef>
                <a:spcPts val="0"/>
              </a:spcBef>
              <a:spcAft>
                <a:spcPts val="0"/>
              </a:spcAft>
              <a:buClr>
                <a:schemeClr val="accent2"/>
              </a:buClr>
              <a:buSzPts val="2000"/>
              <a:buChar char="✔"/>
            </a:pPr>
            <a:r>
              <a:rPr lang="en-US" sz="2000"/>
              <a:t>Update messaging for:</a:t>
            </a:r>
            <a:endParaRPr sz="2000"/>
          </a:p>
          <a:p>
            <a:pPr marL="1143000" marR="0" lvl="2" indent="-228600" algn="l" rtl="0">
              <a:lnSpc>
                <a:spcPct val="115000"/>
              </a:lnSpc>
              <a:spcBef>
                <a:spcPts val="0"/>
              </a:spcBef>
              <a:spcAft>
                <a:spcPts val="0"/>
              </a:spcAft>
              <a:buSzPts val="1800"/>
              <a:buChar char="•"/>
            </a:pPr>
            <a:r>
              <a:rPr lang="en-US"/>
              <a:t>CrossCap corporate</a:t>
            </a:r>
            <a:endParaRPr lang="en-US"/>
          </a:p>
          <a:p>
            <a:pPr marL="1143000" marR="0" lvl="2" indent="-228600" algn="l" rtl="0">
              <a:lnSpc>
                <a:spcPct val="115000"/>
              </a:lnSpc>
              <a:spcBef>
                <a:spcPts val="0"/>
              </a:spcBef>
              <a:spcAft>
                <a:spcPts val="0"/>
              </a:spcAft>
              <a:buSzPts val="1800"/>
              <a:buChar char="•"/>
            </a:pPr>
            <a:r>
              <a:rPr lang="en-US"/>
              <a:t>Distro</a:t>
            </a:r>
            <a:endParaRPr lang="en-US"/>
          </a:p>
          <a:p>
            <a:pPr marL="1143000" marR="0" lvl="2" indent="-228600" algn="l" rtl="0">
              <a:lnSpc>
                <a:spcPct val="115000"/>
              </a:lnSpc>
              <a:spcBef>
                <a:spcPts val="0"/>
              </a:spcBef>
              <a:spcAft>
                <a:spcPts val="0"/>
              </a:spcAft>
              <a:buSzPts val="1800"/>
              <a:buChar char="•"/>
            </a:pPr>
            <a:r>
              <a:rPr lang="en-US"/>
              <a:t>Marketing Calendar</a:t>
            </a:r>
            <a:endParaRPr lang="en-US"/>
          </a:p>
          <a:p>
            <a:pPr marL="685800" marR="0" lvl="1" indent="-241300" algn="l" rtl="0">
              <a:lnSpc>
                <a:spcPct val="115000"/>
              </a:lnSpc>
              <a:spcBef>
                <a:spcPts val="0"/>
              </a:spcBef>
              <a:spcAft>
                <a:spcPts val="0"/>
              </a:spcAft>
              <a:buClr>
                <a:schemeClr val="accent2"/>
              </a:buClr>
              <a:buSzPts val="2000"/>
              <a:buChar char="✔"/>
            </a:pPr>
            <a:r>
              <a:rPr lang="en-US" sz="2000"/>
              <a:t>Update product positioning for Distro &amp; Marketing Calendar and make it clear which </a:t>
            </a:r>
            <a:endParaRPr sz="1850"/>
          </a:p>
          <a:p>
            <a:pPr marL="0" marR="0" lvl="0" indent="0" algn="l" rtl="0">
              <a:lnSpc>
                <a:spcPct val="100000"/>
              </a:lnSpc>
              <a:spcBef>
                <a:spcPts val="1000"/>
              </a:spcBef>
              <a:spcAft>
                <a:spcPts val="0"/>
              </a:spcAft>
              <a:buNone/>
            </a:pPr>
            <a:endParaRPr sz="1850"/>
          </a:p>
        </p:txBody>
      </p:sp>
      <p:pic>
        <p:nvPicPr>
          <p:cNvPr id="407" name="Google Shape;407;p50"/>
          <p:cNvPicPr preferRelativeResize="0"/>
          <p:nvPr/>
        </p:nvPicPr>
        <p:blipFill rotWithShape="1">
          <a:blip r:embed="rId1"/>
          <a:srcRect/>
          <a:stretch>
            <a:fillRect/>
          </a:stretch>
        </p:blipFill>
        <p:spPr>
          <a:xfrm>
            <a:off x="8293050" y="1792300"/>
            <a:ext cx="3271025" cy="3945999"/>
          </a:xfrm>
          <a:prstGeom prst="rect">
            <a:avLst/>
          </a:prstGeom>
          <a:noFill/>
          <a:ln>
            <a:noFill/>
          </a:ln>
        </p:spPr>
      </p:pic>
      <p:sp>
        <p:nvSpPr>
          <p:cNvPr id="408" name="Google Shape;408;p50"/>
          <p:cNvSpPr txBox="1"/>
          <p:nvPr/>
        </p:nvSpPr>
        <p:spPr>
          <a:xfrm>
            <a:off x="8625375" y="2002200"/>
            <a:ext cx="2657700" cy="40020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Actions:</a:t>
            </a:r>
            <a:endParaRPr sz="1800">
              <a:solidFill>
                <a:srgbClr val="434343"/>
              </a:solidFill>
            </a:endParaRPr>
          </a:p>
          <a:p>
            <a:pPr marL="285750" marR="0" lvl="0" indent="-311150" algn="l" rtl="0">
              <a:lnSpc>
                <a:spcPct val="143000"/>
              </a:lnSpc>
              <a:spcBef>
                <a:spcPts val="60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Updating corporate &amp; product messaging, positioning &amp; branding will let ideal enterprise clients know that they’re in the right place &amp; increase conversions. </a:t>
            </a:r>
            <a:endParaRPr sz="18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409" name="Google Shape;409;p5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413" name="Shape 413"/>
        <p:cNvGrpSpPr/>
        <p:nvPr/>
      </p:nvGrpSpPr>
      <p:grpSpPr>
        <a:xfrm>
          <a:off x="0" y="0"/>
          <a:ext cx="0" cy="0"/>
          <a:chOff x="0" y="0"/>
          <a:chExt cx="0" cy="0"/>
        </a:xfrm>
      </p:grpSpPr>
      <p:sp>
        <p:nvSpPr>
          <p:cNvPr id="414" name="Google Shape;414;p51"/>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3800">
                <a:solidFill>
                  <a:srgbClr val="073763"/>
                </a:solidFill>
              </a:rPr>
              <a:t>: </a:t>
            </a:r>
            <a:r>
              <a:rPr lang="en-US" sz="3800" b="0" i="1">
                <a:solidFill>
                  <a:srgbClr val="073763"/>
                </a:solidFill>
                <a:latin typeface="Calibri"/>
                <a:ea typeface="Calibri"/>
                <a:cs typeface="Calibri"/>
                <a:sym typeface="Calibri"/>
              </a:rPr>
              <a:t>Corporate Positioning </a:t>
            </a:r>
            <a:endParaRPr sz="3800" b="0" i="1">
              <a:solidFill>
                <a:schemeClr val="accent4"/>
              </a:solidFill>
              <a:latin typeface="Calibri"/>
              <a:ea typeface="Calibri"/>
              <a:cs typeface="Calibri"/>
              <a:sym typeface="Calibri"/>
            </a:endParaRPr>
          </a:p>
        </p:txBody>
      </p:sp>
      <p:sp>
        <p:nvSpPr>
          <p:cNvPr id="415" name="Google Shape;415;p51"/>
          <p:cNvSpPr txBox="1"/>
          <p:nvPr>
            <p:ph type="body" idx="1"/>
          </p:nvPr>
        </p:nvSpPr>
        <p:spPr>
          <a:xfrm>
            <a:off x="849225" y="1588000"/>
            <a:ext cx="5848500" cy="4630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US" sz="1800" b="1"/>
              <a:t>Messaging:</a:t>
            </a:r>
            <a:endParaRPr sz="1800" b="1"/>
          </a:p>
          <a:p>
            <a:pPr marL="457200" lvl="1" indent="-228600" algn="l" rtl="0">
              <a:lnSpc>
                <a:spcPct val="125000"/>
              </a:lnSpc>
              <a:spcBef>
                <a:spcPts val="0"/>
              </a:spcBef>
              <a:spcAft>
                <a:spcPts val="0"/>
              </a:spcAft>
              <a:buClr>
                <a:schemeClr val="accent2"/>
              </a:buClr>
              <a:buSzPts val="1800"/>
              <a:buFont typeface="Noto Sans Symbols"/>
              <a:buChar char="✔"/>
            </a:pPr>
            <a:r>
              <a:rPr lang="en-US" sz="1800"/>
              <a:t>Corporately, your current high level messaging is:</a:t>
            </a:r>
            <a:endParaRPr sz="1800"/>
          </a:p>
          <a:p>
            <a:pPr marL="685800" lvl="2" indent="-228600" algn="l" rtl="0">
              <a:lnSpc>
                <a:spcPct val="125000"/>
              </a:lnSpc>
              <a:spcBef>
                <a:spcPts val="0"/>
              </a:spcBef>
              <a:spcAft>
                <a:spcPts val="0"/>
              </a:spcAft>
              <a:buClr>
                <a:schemeClr val="accent2"/>
              </a:buClr>
              <a:buSzPts val="1800"/>
              <a:buFont typeface="Noto Sans Symbols"/>
              <a:buChar char="•"/>
            </a:pPr>
            <a:r>
              <a:rPr lang="en-US" sz="1800"/>
              <a:t>“The Central Hub for your Martech Stack”</a:t>
            </a:r>
            <a:endParaRPr sz="1800"/>
          </a:p>
          <a:p>
            <a:pPr marL="685800" lvl="2" indent="-228600" algn="l" rtl="0">
              <a:lnSpc>
                <a:spcPct val="125000"/>
              </a:lnSpc>
              <a:spcBef>
                <a:spcPts val="0"/>
              </a:spcBef>
              <a:spcAft>
                <a:spcPts val="0"/>
              </a:spcAft>
              <a:buClr>
                <a:schemeClr val="accent2"/>
              </a:buClr>
              <a:buSzPts val="1800"/>
              <a:buFont typeface="Noto Sans Symbols"/>
              <a:buChar char="•"/>
            </a:pPr>
            <a:r>
              <a:rPr lang="en-US" sz="1800"/>
              <a:t>“Your Marketing (Workflow/Channels) - Keeping You Connected”</a:t>
            </a:r>
            <a:endParaRPr sz="1800"/>
          </a:p>
          <a:p>
            <a:pPr marL="457200" lvl="1" indent="-228600" algn="l" rtl="0">
              <a:lnSpc>
                <a:spcPct val="125000"/>
              </a:lnSpc>
              <a:spcBef>
                <a:spcPts val="0"/>
              </a:spcBef>
              <a:spcAft>
                <a:spcPts val="0"/>
              </a:spcAft>
              <a:buClr>
                <a:schemeClr val="accent2"/>
              </a:buClr>
              <a:buSzPts val="1800"/>
              <a:buFont typeface="Noto Sans Symbols"/>
              <a:buChar char="✔"/>
            </a:pPr>
            <a:r>
              <a:rPr lang="en-US" sz="1800"/>
              <a:t>Nothing in the positioning speaks immediately to: </a:t>
            </a:r>
            <a:endParaRPr sz="1800"/>
          </a:p>
          <a:p>
            <a:pPr marL="1143000" lvl="2" indent="-228600" algn="l" rtl="0">
              <a:lnSpc>
                <a:spcPct val="125000"/>
              </a:lnSpc>
              <a:spcBef>
                <a:spcPts val="0"/>
              </a:spcBef>
              <a:spcAft>
                <a:spcPts val="0"/>
              </a:spcAft>
              <a:buClr>
                <a:schemeClr val="accent2"/>
              </a:buClr>
              <a:buSzPts val="1800"/>
              <a:buFont typeface="Noto Sans Symbols"/>
              <a:buChar char="•"/>
            </a:pPr>
            <a:r>
              <a:rPr lang="en-US" sz="1800"/>
              <a:t>True product benefits</a:t>
            </a:r>
            <a:endParaRPr sz="1800"/>
          </a:p>
          <a:p>
            <a:pPr marL="1143000" lvl="2" indent="-228600" algn="l" rtl="0">
              <a:lnSpc>
                <a:spcPct val="125000"/>
              </a:lnSpc>
              <a:spcBef>
                <a:spcPts val="0"/>
              </a:spcBef>
              <a:spcAft>
                <a:spcPts val="0"/>
              </a:spcAft>
              <a:buClr>
                <a:schemeClr val="accent2"/>
              </a:buClr>
              <a:buSzPts val="1800"/>
              <a:buFont typeface="Noto Sans Symbols"/>
              <a:buChar char="•"/>
            </a:pPr>
            <a:r>
              <a:rPr lang="en-US" sz="1800"/>
              <a:t>Your ideal type of client (only indication is client logos on website) </a:t>
            </a:r>
            <a:endParaRPr sz="1800"/>
          </a:p>
          <a:p>
            <a:pPr marL="1143000" lvl="2" indent="-228600" algn="l" rtl="0">
              <a:lnSpc>
                <a:spcPct val="125000"/>
              </a:lnSpc>
              <a:spcBef>
                <a:spcPts val="0"/>
              </a:spcBef>
              <a:spcAft>
                <a:spcPts val="0"/>
              </a:spcAft>
              <a:buClr>
                <a:schemeClr val="accent2"/>
              </a:buClr>
              <a:buSzPts val="1800"/>
              <a:buFont typeface="Noto Sans Symbols"/>
              <a:buChar char="•"/>
            </a:pPr>
            <a:r>
              <a:rPr lang="en-US" sz="1800"/>
              <a:t>Service, customization, implementation, etc. (key from client insights) </a:t>
            </a:r>
            <a:endParaRPr sz="1800"/>
          </a:p>
          <a:p>
            <a:pPr marL="457200" lvl="1" indent="-228600" algn="l" rtl="0">
              <a:lnSpc>
                <a:spcPct val="125000"/>
              </a:lnSpc>
              <a:spcBef>
                <a:spcPts val="0"/>
              </a:spcBef>
              <a:spcAft>
                <a:spcPts val="0"/>
              </a:spcAft>
              <a:buClr>
                <a:schemeClr val="accent2"/>
              </a:buClr>
              <a:buSzPts val="1800"/>
              <a:buFont typeface="Noto Sans Symbols"/>
              <a:buChar char="✔"/>
            </a:pPr>
            <a:r>
              <a:rPr lang="en-US" sz="1800"/>
              <a:t>Enterprise clients may not realize that what you have to offer is for them.</a:t>
            </a:r>
            <a:endParaRPr sz="1800"/>
          </a:p>
          <a:p>
            <a:pPr marL="685800" lvl="0" indent="0" algn="l" rtl="0">
              <a:lnSpc>
                <a:spcPct val="115000"/>
              </a:lnSpc>
              <a:spcBef>
                <a:spcPts val="1000"/>
              </a:spcBef>
              <a:spcAft>
                <a:spcPts val="0"/>
              </a:spcAft>
              <a:buNone/>
            </a:pPr>
            <a:endParaRPr sz="1800"/>
          </a:p>
          <a:p>
            <a:pPr marL="1143000" lvl="0" indent="0" algn="l" rtl="0">
              <a:lnSpc>
                <a:spcPct val="115000"/>
              </a:lnSpc>
              <a:spcBef>
                <a:spcPts val="0"/>
              </a:spcBef>
              <a:spcAft>
                <a:spcPts val="0"/>
              </a:spcAft>
              <a:buNone/>
            </a:pPr>
            <a:endParaRPr sz="1700"/>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416" name="Google Shape;416;p51"/>
          <p:cNvPicPr preferRelativeResize="0"/>
          <p:nvPr/>
        </p:nvPicPr>
        <p:blipFill>
          <a:blip r:embed="rId1"/>
          <a:stretch>
            <a:fillRect/>
          </a:stretch>
        </p:blipFill>
        <p:spPr>
          <a:xfrm>
            <a:off x="7337213" y="4376938"/>
            <a:ext cx="3209224" cy="1077825"/>
          </a:xfrm>
          <a:prstGeom prst="rect">
            <a:avLst/>
          </a:prstGeom>
          <a:noFill/>
          <a:ln>
            <a:noFill/>
          </a:ln>
        </p:spPr>
      </p:pic>
      <p:pic>
        <p:nvPicPr>
          <p:cNvPr id="417" name="Google Shape;417;p51"/>
          <p:cNvPicPr preferRelativeResize="0"/>
          <p:nvPr/>
        </p:nvPicPr>
        <p:blipFill>
          <a:blip r:embed="rId2"/>
          <a:stretch>
            <a:fillRect/>
          </a:stretch>
        </p:blipFill>
        <p:spPr>
          <a:xfrm>
            <a:off x="7240338" y="2993899"/>
            <a:ext cx="3402974" cy="1254651"/>
          </a:xfrm>
          <a:prstGeom prst="rect">
            <a:avLst/>
          </a:prstGeom>
          <a:noFill/>
          <a:ln>
            <a:noFill/>
          </a:ln>
        </p:spPr>
      </p:pic>
      <p:pic>
        <p:nvPicPr>
          <p:cNvPr id="418" name="Google Shape;418;p51"/>
          <p:cNvPicPr preferRelativeResize="0"/>
          <p:nvPr/>
        </p:nvPicPr>
        <p:blipFill>
          <a:blip r:embed="rId3"/>
          <a:stretch>
            <a:fillRect/>
          </a:stretch>
        </p:blipFill>
        <p:spPr>
          <a:xfrm>
            <a:off x="7265263" y="1722600"/>
            <a:ext cx="3353106" cy="1142900"/>
          </a:xfrm>
          <a:prstGeom prst="rect">
            <a:avLst/>
          </a:prstGeom>
          <a:noFill/>
          <a:ln>
            <a:noFill/>
          </a:ln>
        </p:spPr>
      </p:pic>
      <p:sp>
        <p:nvSpPr>
          <p:cNvPr id="419" name="Google Shape;419;p5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23" name="Shape 423"/>
        <p:cNvGrpSpPr/>
        <p:nvPr/>
      </p:nvGrpSpPr>
      <p:grpSpPr>
        <a:xfrm>
          <a:off x="0" y="0"/>
          <a:ext cx="0" cy="0"/>
          <a:chOff x="0" y="0"/>
          <a:chExt cx="0" cy="0"/>
        </a:xfrm>
      </p:grpSpPr>
      <p:sp>
        <p:nvSpPr>
          <p:cNvPr id="424" name="Google Shape;424;p52"/>
          <p:cNvSpPr/>
          <p:nvPr/>
        </p:nvSpPr>
        <p:spPr>
          <a:xfrm>
            <a:off x="915175" y="3862250"/>
            <a:ext cx="6707400" cy="2485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52"/>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3800">
                <a:solidFill>
                  <a:srgbClr val="073763"/>
                </a:solidFill>
              </a:rPr>
              <a:t>: </a:t>
            </a:r>
            <a:r>
              <a:rPr lang="en-US" sz="3800" b="0" i="1">
                <a:solidFill>
                  <a:srgbClr val="073763"/>
                </a:solidFill>
                <a:latin typeface="Calibri"/>
                <a:ea typeface="Calibri"/>
                <a:cs typeface="Calibri"/>
                <a:sym typeface="Calibri"/>
              </a:rPr>
              <a:t>Corporate Positioning </a:t>
            </a:r>
            <a:endParaRPr sz="3800" b="0" i="1">
              <a:solidFill>
                <a:schemeClr val="accent4"/>
              </a:solidFill>
              <a:latin typeface="Calibri"/>
              <a:ea typeface="Calibri"/>
              <a:cs typeface="Calibri"/>
              <a:sym typeface="Calibri"/>
            </a:endParaRPr>
          </a:p>
        </p:txBody>
      </p:sp>
      <p:sp>
        <p:nvSpPr>
          <p:cNvPr id="426" name="Google Shape;426;p52"/>
          <p:cNvSpPr txBox="1"/>
          <p:nvPr>
            <p:ph type="body" idx="1"/>
          </p:nvPr>
        </p:nvSpPr>
        <p:spPr>
          <a:xfrm>
            <a:off x="725875" y="1654850"/>
            <a:ext cx="7321800" cy="2207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650" b="1"/>
              <a:t>Messaging:</a:t>
            </a:r>
            <a:endParaRPr sz="1650" b="1"/>
          </a:p>
          <a:p>
            <a:pPr marL="400050" lvl="1" indent="-219075" algn="l" rtl="0">
              <a:lnSpc>
                <a:spcPct val="100000"/>
              </a:lnSpc>
              <a:spcBef>
                <a:spcPts val="1000"/>
              </a:spcBef>
              <a:spcAft>
                <a:spcPts val="0"/>
              </a:spcAft>
              <a:buClr>
                <a:schemeClr val="accent2"/>
              </a:buClr>
              <a:buSzPts val="1650"/>
              <a:buFont typeface="Noto Sans Symbols"/>
              <a:buChar char="✔"/>
            </a:pPr>
            <a:r>
              <a:rPr lang="en-US" sz="1650"/>
              <a:t>Clearly position CrossCap corporately so ideal clients know right away that they are in the right place, and this is a company that can serve them:</a:t>
            </a:r>
            <a:endParaRPr sz="1650"/>
          </a:p>
          <a:p>
            <a:pPr marL="685800" lvl="2" indent="-219075" algn="l" rtl="0">
              <a:lnSpc>
                <a:spcPct val="100000"/>
              </a:lnSpc>
              <a:spcBef>
                <a:spcPts val="1000"/>
              </a:spcBef>
              <a:spcAft>
                <a:spcPts val="0"/>
              </a:spcAft>
              <a:buClr>
                <a:schemeClr val="accent2"/>
              </a:buClr>
              <a:buSzPts val="1650"/>
              <a:buFont typeface="Noto Sans Symbols"/>
              <a:buChar char="•"/>
            </a:pPr>
            <a:r>
              <a:rPr lang="en-US" sz="1650"/>
              <a:t> Enterprise marketing solutions company serving large, multi-location companies with complex marketing challenges</a:t>
            </a:r>
            <a:endParaRPr sz="1650"/>
          </a:p>
          <a:p>
            <a:pPr marL="685800" lvl="2" indent="-219075" algn="l" rtl="0">
              <a:lnSpc>
                <a:spcPct val="100000"/>
              </a:lnSpc>
              <a:spcBef>
                <a:spcPts val="1000"/>
              </a:spcBef>
              <a:spcAft>
                <a:spcPts val="0"/>
              </a:spcAft>
              <a:buClr>
                <a:schemeClr val="accent2"/>
              </a:buClr>
              <a:buSzPts val="1650"/>
              <a:buFont typeface="Noto Sans Symbols"/>
              <a:buChar char="•"/>
            </a:pPr>
            <a:r>
              <a:rPr lang="en-US" sz="1650"/>
              <a:t>Enterprise level implementation (customization/service/support)</a:t>
            </a:r>
            <a:endParaRPr sz="1650"/>
          </a:p>
          <a:p>
            <a:pPr marL="114300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427" name="Google Shape;427;p52"/>
          <p:cNvPicPr preferRelativeResize="0"/>
          <p:nvPr/>
        </p:nvPicPr>
        <p:blipFill rotWithShape="1">
          <a:blip r:embed="rId1"/>
          <a:srcRect/>
          <a:stretch>
            <a:fillRect/>
          </a:stretch>
        </p:blipFill>
        <p:spPr>
          <a:xfrm>
            <a:off x="8537750" y="1792300"/>
            <a:ext cx="3026325" cy="3945999"/>
          </a:xfrm>
          <a:prstGeom prst="rect">
            <a:avLst/>
          </a:prstGeom>
          <a:noFill/>
          <a:ln>
            <a:noFill/>
          </a:ln>
        </p:spPr>
      </p:pic>
      <p:sp>
        <p:nvSpPr>
          <p:cNvPr id="428" name="Google Shape;428;p52"/>
          <p:cNvSpPr txBox="1"/>
          <p:nvPr/>
        </p:nvSpPr>
        <p:spPr>
          <a:xfrm>
            <a:off x="8943200" y="2002200"/>
            <a:ext cx="2340000" cy="4155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Actions</a:t>
            </a:r>
            <a:r>
              <a:rPr lang="en-US" sz="1700" b="1">
                <a:solidFill>
                  <a:srgbClr val="434343"/>
                </a:solidFill>
                <a:latin typeface="Calibri"/>
                <a:ea typeface="Calibri"/>
                <a:cs typeface="Calibri"/>
                <a:sym typeface="Calibri"/>
              </a:rPr>
              <a:t>:</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Make sure all client personas know right away that they’re in the right place &amp; what Crosscap has to offer is for them.</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pic>
        <p:nvPicPr>
          <p:cNvPr id="429" name="Google Shape;429;p52"/>
          <p:cNvPicPr preferRelativeResize="0"/>
          <p:nvPr/>
        </p:nvPicPr>
        <p:blipFill rotWithShape="1">
          <a:blip r:embed="rId2"/>
          <a:srcRect t="19584" b="12058"/>
          <a:stretch>
            <a:fillRect/>
          </a:stretch>
        </p:blipFill>
        <p:spPr>
          <a:xfrm>
            <a:off x="2788850" y="3980525"/>
            <a:ext cx="2783775" cy="696675"/>
          </a:xfrm>
          <a:prstGeom prst="rect">
            <a:avLst/>
          </a:prstGeom>
          <a:noFill/>
          <a:ln>
            <a:noFill/>
          </a:ln>
        </p:spPr>
      </p:pic>
      <p:sp>
        <p:nvSpPr>
          <p:cNvPr id="430" name="Google Shape;430;p52"/>
          <p:cNvSpPr txBox="1"/>
          <p:nvPr/>
        </p:nvSpPr>
        <p:spPr>
          <a:xfrm>
            <a:off x="2100350" y="4677200"/>
            <a:ext cx="4254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b="1">
                <a:latin typeface="Calibri"/>
                <a:ea typeface="Calibri"/>
                <a:cs typeface="Calibri"/>
                <a:sym typeface="Calibri"/>
              </a:rPr>
              <a:t>Enterprise Marketing Management Solutions</a:t>
            </a:r>
            <a:endParaRPr b="1">
              <a:latin typeface="Calibri"/>
              <a:ea typeface="Calibri"/>
              <a:cs typeface="Calibri"/>
              <a:sym typeface="Calibri"/>
            </a:endParaRPr>
          </a:p>
        </p:txBody>
      </p:sp>
      <p:sp>
        <p:nvSpPr>
          <p:cNvPr id="431" name="Google Shape;431;p52"/>
          <p:cNvSpPr txBox="1"/>
          <p:nvPr/>
        </p:nvSpPr>
        <p:spPr>
          <a:xfrm>
            <a:off x="1648200" y="5077400"/>
            <a:ext cx="54765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b="1">
                <a:latin typeface="Calibri"/>
                <a:ea typeface="Calibri"/>
                <a:cs typeface="Calibri"/>
                <a:sym typeface="Calibri"/>
              </a:rPr>
              <a:t>We partner with large multi-location enterprises to solve their complex marketing planning, promotion &amp; signage distribution challenges</a:t>
            </a:r>
            <a:endParaRPr b="1">
              <a:latin typeface="Calibri"/>
              <a:ea typeface="Calibri"/>
              <a:cs typeface="Calibri"/>
              <a:sym typeface="Calibri"/>
            </a:endParaRPr>
          </a:p>
        </p:txBody>
      </p:sp>
      <p:sp>
        <p:nvSpPr>
          <p:cNvPr id="432" name="Google Shape;432;p52"/>
          <p:cNvSpPr txBox="1"/>
          <p:nvPr/>
        </p:nvSpPr>
        <p:spPr>
          <a:xfrm>
            <a:off x="69350" y="5892450"/>
            <a:ext cx="8316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000" b="1">
                <a:latin typeface="Calibri"/>
                <a:ea typeface="Calibri"/>
                <a:cs typeface="Calibri"/>
                <a:sym typeface="Calibri"/>
              </a:rPr>
              <a:t>World Class Enterprise SaaS Solutions  |  Custom Implementation   |  Strategic Consulting  |  Boutique Customer Support  </a:t>
            </a:r>
            <a:endParaRPr sz="1000" b="1">
              <a:latin typeface="Calibri"/>
              <a:ea typeface="Calibri"/>
              <a:cs typeface="Calibri"/>
              <a:sym typeface="Calibri"/>
            </a:endParaRPr>
          </a:p>
        </p:txBody>
      </p:sp>
      <p:sp>
        <p:nvSpPr>
          <p:cNvPr id="433" name="Google Shape;433;p5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437" name="Shape 437"/>
        <p:cNvGrpSpPr/>
        <p:nvPr/>
      </p:nvGrpSpPr>
      <p:grpSpPr>
        <a:xfrm>
          <a:off x="0" y="0"/>
          <a:ext cx="0" cy="0"/>
          <a:chOff x="0" y="0"/>
          <a:chExt cx="0" cy="0"/>
        </a:xfrm>
      </p:grpSpPr>
      <p:sp>
        <p:nvSpPr>
          <p:cNvPr id="438" name="Google Shape;438;p53"/>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Core Difference - CrossCap </a:t>
            </a:r>
            <a:endParaRPr sz="3800" b="0" i="1">
              <a:solidFill>
                <a:srgbClr val="62C9D7"/>
              </a:solidFill>
              <a:latin typeface="Calibri"/>
              <a:ea typeface="Calibri"/>
              <a:cs typeface="Calibri"/>
              <a:sym typeface="Calibri"/>
            </a:endParaRPr>
          </a:p>
        </p:txBody>
      </p:sp>
      <p:sp>
        <p:nvSpPr>
          <p:cNvPr id="439" name="Google Shape;439;p53"/>
          <p:cNvSpPr txBox="1"/>
          <p:nvPr>
            <p:ph type="body" idx="1"/>
          </p:nvPr>
        </p:nvSpPr>
        <p:spPr>
          <a:xfrm>
            <a:off x="1857400" y="1795675"/>
            <a:ext cx="6855900" cy="4630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1000"/>
              </a:spcBef>
              <a:spcAft>
                <a:spcPts val="0"/>
              </a:spcAft>
              <a:buNone/>
            </a:pPr>
            <a:r>
              <a:rPr lang="en-US" sz="1750"/>
              <a:t>CrossCap develops enterprise marketing </a:t>
            </a:r>
            <a:r>
              <a:rPr lang="en-US" sz="1750"/>
              <a:t>management software solutions for some of the world’s best companies.</a:t>
            </a:r>
            <a:endParaRPr sz="1750"/>
          </a:p>
          <a:p>
            <a:pPr marL="0" marR="0" lvl="0" indent="0" algn="ctr" rtl="0">
              <a:lnSpc>
                <a:spcPct val="100000"/>
              </a:lnSpc>
              <a:spcBef>
                <a:spcPts val="1000"/>
              </a:spcBef>
              <a:spcAft>
                <a:spcPts val="0"/>
              </a:spcAft>
              <a:buNone/>
            </a:pPr>
            <a:r>
              <a:rPr lang="en-US" sz="1750"/>
              <a:t>We partner with large multi-location enterprises to solve their complex marketing planning, budgeting, promotion and retail store profiling requirements and provide enterprise level custom implementation services.</a:t>
            </a:r>
            <a:endParaRPr sz="1750"/>
          </a:p>
          <a:p>
            <a:pPr marL="0" marR="0" lvl="0" indent="0" algn="ctr" rtl="0">
              <a:lnSpc>
                <a:spcPct val="100000"/>
              </a:lnSpc>
              <a:spcBef>
                <a:spcPts val="1000"/>
              </a:spcBef>
              <a:spcAft>
                <a:spcPts val="0"/>
              </a:spcAft>
              <a:buNone/>
            </a:pPr>
            <a:endParaRPr sz="1750"/>
          </a:p>
          <a:p>
            <a:pPr marL="0" marR="0" lvl="0" indent="0" algn="ctr" rtl="0">
              <a:lnSpc>
                <a:spcPct val="100000"/>
              </a:lnSpc>
              <a:spcBef>
                <a:spcPts val="1000"/>
              </a:spcBef>
              <a:spcAft>
                <a:spcPts val="0"/>
              </a:spcAft>
              <a:buNone/>
            </a:pPr>
            <a:r>
              <a:rPr lang="en-US" sz="1750" i="1"/>
              <a:t>CrossCap - custom enterprise marketing management solutions</a:t>
            </a:r>
            <a:endParaRPr sz="1750" i="1"/>
          </a:p>
          <a:p>
            <a:pPr marL="0" marR="0" lvl="0" indent="0" algn="ctr" rtl="0">
              <a:lnSpc>
                <a:spcPct val="100000"/>
              </a:lnSpc>
              <a:spcBef>
                <a:spcPts val="1000"/>
              </a:spcBef>
              <a:spcAft>
                <a:spcPts val="0"/>
              </a:spcAft>
              <a:buNone/>
            </a:pPr>
            <a:endParaRPr sz="1950"/>
          </a:p>
          <a:p>
            <a:pPr marL="0" marR="0" lvl="0" indent="0" algn="ctr" rtl="0">
              <a:lnSpc>
                <a:spcPct val="100000"/>
              </a:lnSpc>
              <a:spcBef>
                <a:spcPts val="1000"/>
              </a:spcBef>
              <a:spcAft>
                <a:spcPts val="0"/>
              </a:spcAft>
              <a:buNone/>
            </a:pPr>
            <a:r>
              <a:rPr lang="en-US" sz="1250"/>
              <a:t>World Class Enterprise SaaS Solutions  |  Custom Implementation   |  Strategic Consulting  |  Dedicated Customer Support</a:t>
            </a:r>
            <a:endParaRPr sz="1250"/>
          </a:p>
          <a:p>
            <a:pPr marL="0" marR="0" lvl="0" indent="0" algn="ctr" rtl="0">
              <a:lnSpc>
                <a:spcPct val="100000"/>
              </a:lnSpc>
              <a:spcBef>
                <a:spcPts val="1000"/>
              </a:spcBef>
              <a:spcAft>
                <a:spcPts val="0"/>
              </a:spcAft>
              <a:buNone/>
            </a:pPr>
            <a:endParaRPr sz="1950" b="1" i="1"/>
          </a:p>
        </p:txBody>
      </p:sp>
      <p:sp>
        <p:nvSpPr>
          <p:cNvPr id="440" name="Google Shape;440;p5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44" name="Shape 444"/>
        <p:cNvGrpSpPr/>
        <p:nvPr/>
      </p:nvGrpSpPr>
      <p:grpSpPr>
        <a:xfrm>
          <a:off x="0" y="0"/>
          <a:ext cx="0" cy="0"/>
          <a:chOff x="0" y="0"/>
          <a:chExt cx="0" cy="0"/>
        </a:xfrm>
      </p:grpSpPr>
      <p:sp>
        <p:nvSpPr>
          <p:cNvPr id="445" name="Google Shape;445;p54"/>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3800">
                <a:solidFill>
                  <a:srgbClr val="073763"/>
                </a:solidFill>
              </a:rPr>
              <a:t>: </a:t>
            </a:r>
            <a:r>
              <a:rPr lang="en-US" sz="3800" b="0" i="1">
                <a:solidFill>
                  <a:srgbClr val="073763"/>
                </a:solidFill>
                <a:latin typeface="Calibri"/>
                <a:ea typeface="Calibri"/>
                <a:cs typeface="Calibri"/>
                <a:sym typeface="Calibri"/>
              </a:rPr>
              <a:t>Product Positioning </a:t>
            </a:r>
            <a:endParaRPr sz="3800" b="0" i="1">
              <a:solidFill>
                <a:schemeClr val="accent4"/>
              </a:solidFill>
              <a:latin typeface="Calibri"/>
              <a:ea typeface="Calibri"/>
              <a:cs typeface="Calibri"/>
              <a:sym typeface="Calibri"/>
            </a:endParaRPr>
          </a:p>
        </p:txBody>
      </p:sp>
      <p:sp>
        <p:nvSpPr>
          <p:cNvPr id="446" name="Google Shape;446;p54"/>
          <p:cNvSpPr txBox="1"/>
          <p:nvPr>
            <p:ph type="body" idx="1"/>
          </p:nvPr>
        </p:nvSpPr>
        <p:spPr>
          <a:xfrm>
            <a:off x="802100" y="1654850"/>
            <a:ext cx="68973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650" b="1"/>
              <a:t>Product Structure:</a:t>
            </a:r>
            <a:endParaRPr sz="1650" b="1"/>
          </a:p>
          <a:p>
            <a:pPr marL="514350" marR="0" lvl="1" indent="-342900" algn="l" rtl="0">
              <a:lnSpc>
                <a:spcPct val="100000"/>
              </a:lnSpc>
              <a:spcBef>
                <a:spcPts val="1000"/>
              </a:spcBef>
              <a:spcAft>
                <a:spcPts val="0"/>
              </a:spcAft>
              <a:buClr>
                <a:schemeClr val="accent2"/>
              </a:buClr>
              <a:buSzPts val="1650"/>
              <a:buFont typeface="Noto Sans Symbols"/>
              <a:buChar char="✔"/>
            </a:pPr>
            <a:r>
              <a:rPr lang="en-US" sz="1650"/>
              <a:t>Products are currently positioned individually - not clear if the products work together or are all stand-alone:</a:t>
            </a:r>
            <a:endParaRPr sz="1650"/>
          </a:p>
          <a:p>
            <a:pPr marL="742950" lvl="2" indent="-219075" algn="l" rtl="0">
              <a:lnSpc>
                <a:spcPct val="100000"/>
              </a:lnSpc>
              <a:spcBef>
                <a:spcPts val="1000"/>
              </a:spcBef>
              <a:spcAft>
                <a:spcPts val="0"/>
              </a:spcAft>
              <a:buClr>
                <a:schemeClr val="accent2"/>
              </a:buClr>
              <a:buSzPts val="1650"/>
              <a:buFont typeface="Noto Sans Symbols"/>
              <a:buChar char="•"/>
            </a:pPr>
            <a:r>
              <a:rPr lang="en-US" sz="1650"/>
              <a:t>Could give the perception that all products hold equal weight</a:t>
            </a:r>
            <a:endParaRPr sz="1650"/>
          </a:p>
          <a:p>
            <a:pPr marL="742950" marR="0" lvl="2" indent="-219075" algn="l" rtl="0">
              <a:lnSpc>
                <a:spcPct val="100000"/>
              </a:lnSpc>
              <a:spcBef>
                <a:spcPts val="1000"/>
              </a:spcBef>
              <a:spcAft>
                <a:spcPts val="0"/>
              </a:spcAft>
              <a:buClr>
                <a:schemeClr val="accent2"/>
              </a:buClr>
              <a:buSzPts val="1650"/>
              <a:buFont typeface="Noto Sans Symbols"/>
              <a:buChar char="•"/>
            </a:pPr>
            <a:r>
              <a:rPr lang="en-US" sz="1650"/>
              <a:t>Up to the prospect to figure out if/how they work together/which product they need now/first</a:t>
            </a:r>
            <a:endParaRPr sz="1650"/>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447" name="Google Shape;447;p54"/>
          <p:cNvPicPr preferRelativeResize="0"/>
          <p:nvPr/>
        </p:nvPicPr>
        <p:blipFill rotWithShape="1">
          <a:blip r:embed="rId1"/>
          <a:srcRect/>
          <a:stretch>
            <a:fillRect/>
          </a:stretch>
        </p:blipFill>
        <p:spPr>
          <a:xfrm>
            <a:off x="8361100" y="1792300"/>
            <a:ext cx="3202975" cy="3945999"/>
          </a:xfrm>
          <a:prstGeom prst="rect">
            <a:avLst/>
          </a:prstGeom>
          <a:noFill/>
          <a:ln>
            <a:noFill/>
          </a:ln>
        </p:spPr>
      </p:pic>
      <p:sp>
        <p:nvSpPr>
          <p:cNvPr id="448" name="Google Shape;448;p54"/>
          <p:cNvSpPr txBox="1"/>
          <p:nvPr/>
        </p:nvSpPr>
        <p:spPr>
          <a:xfrm>
            <a:off x="8589125" y="2002200"/>
            <a:ext cx="2694000" cy="26715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CrossCap needs to take the lead in moving prospects to the right products. </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pic>
        <p:nvPicPr>
          <p:cNvPr id="449" name="Google Shape;449;p54"/>
          <p:cNvPicPr preferRelativeResize="0"/>
          <p:nvPr/>
        </p:nvPicPr>
        <p:blipFill>
          <a:blip r:embed="rId2"/>
          <a:stretch>
            <a:fillRect/>
          </a:stretch>
        </p:blipFill>
        <p:spPr>
          <a:xfrm>
            <a:off x="1119574" y="4422276"/>
            <a:ext cx="6589149" cy="1915100"/>
          </a:xfrm>
          <a:prstGeom prst="rect">
            <a:avLst/>
          </a:prstGeom>
          <a:noFill/>
          <a:ln>
            <a:noFill/>
          </a:ln>
        </p:spPr>
      </p:pic>
      <p:pic>
        <p:nvPicPr>
          <p:cNvPr id="450" name="Google Shape;450;p54"/>
          <p:cNvPicPr preferRelativeResize="0"/>
          <p:nvPr/>
        </p:nvPicPr>
        <p:blipFill>
          <a:blip r:embed="rId3"/>
          <a:stretch>
            <a:fillRect/>
          </a:stretch>
        </p:blipFill>
        <p:spPr>
          <a:xfrm>
            <a:off x="3158108" y="3782812"/>
            <a:ext cx="1809944" cy="707143"/>
          </a:xfrm>
          <a:prstGeom prst="rect">
            <a:avLst/>
          </a:prstGeom>
          <a:noFill/>
          <a:ln>
            <a:noFill/>
          </a:ln>
        </p:spPr>
      </p:pic>
      <p:sp>
        <p:nvSpPr>
          <p:cNvPr id="451" name="Google Shape;451;p5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455" name="Shape 455"/>
        <p:cNvGrpSpPr/>
        <p:nvPr/>
      </p:nvGrpSpPr>
      <p:grpSpPr>
        <a:xfrm>
          <a:off x="0" y="0"/>
          <a:ext cx="0" cy="0"/>
          <a:chOff x="0" y="0"/>
          <a:chExt cx="0" cy="0"/>
        </a:xfrm>
      </p:grpSpPr>
      <p:sp>
        <p:nvSpPr>
          <p:cNvPr id="456" name="Google Shape;456;p55"/>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3800">
                <a:solidFill>
                  <a:srgbClr val="073763"/>
                </a:solidFill>
              </a:rPr>
              <a:t>: </a:t>
            </a:r>
            <a:r>
              <a:rPr lang="en-US" sz="3800" b="0" i="1">
                <a:solidFill>
                  <a:srgbClr val="073763"/>
                </a:solidFill>
                <a:latin typeface="Calibri"/>
                <a:ea typeface="Calibri"/>
                <a:cs typeface="Calibri"/>
                <a:sym typeface="Calibri"/>
              </a:rPr>
              <a:t>Product Positioning</a:t>
            </a:r>
            <a:endParaRPr sz="3800" b="0" i="1">
              <a:solidFill>
                <a:schemeClr val="accent4"/>
              </a:solidFill>
              <a:latin typeface="Calibri"/>
              <a:ea typeface="Calibri"/>
              <a:cs typeface="Calibri"/>
              <a:sym typeface="Calibri"/>
            </a:endParaRPr>
          </a:p>
        </p:txBody>
      </p:sp>
      <p:sp>
        <p:nvSpPr>
          <p:cNvPr id="457" name="Google Shape;457;p55"/>
          <p:cNvSpPr txBox="1"/>
          <p:nvPr>
            <p:ph type="body" idx="1"/>
          </p:nvPr>
        </p:nvSpPr>
        <p:spPr>
          <a:xfrm>
            <a:off x="822475" y="1668225"/>
            <a:ext cx="9137100" cy="189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650" b="1"/>
              <a:t>Product Structure:</a:t>
            </a:r>
            <a:endParaRPr sz="1650" b="1"/>
          </a:p>
          <a:p>
            <a:pPr marL="514350" marR="0" lvl="1" indent="-342900" algn="l" rtl="0">
              <a:lnSpc>
                <a:spcPct val="115000"/>
              </a:lnSpc>
              <a:spcBef>
                <a:spcPts val="0"/>
              </a:spcBef>
              <a:spcAft>
                <a:spcPts val="0"/>
              </a:spcAft>
              <a:buClr>
                <a:schemeClr val="accent2"/>
              </a:buClr>
              <a:buSzPts val="1650"/>
              <a:buFont typeface="Noto Sans Symbols"/>
              <a:buChar char="✔"/>
            </a:pPr>
            <a:r>
              <a:rPr lang="en-US" sz="1650"/>
              <a:t>Re-evaluate overall product positioning:</a:t>
            </a:r>
            <a:endParaRPr sz="1650"/>
          </a:p>
          <a:p>
            <a:pPr marL="742950" marR="0" lvl="2" indent="-219075" algn="l" rtl="0">
              <a:lnSpc>
                <a:spcPct val="115000"/>
              </a:lnSpc>
              <a:spcBef>
                <a:spcPts val="0"/>
              </a:spcBef>
              <a:spcAft>
                <a:spcPts val="0"/>
              </a:spcAft>
              <a:buClr>
                <a:schemeClr val="accent2"/>
              </a:buClr>
              <a:buSzPts val="1650"/>
              <a:buFont typeface="Noto Sans Symbols"/>
              <a:buChar char="•"/>
            </a:pPr>
            <a:r>
              <a:rPr lang="en-US" sz="1650"/>
              <a:t>Two main product lines: Marketing Calendar and Distro? </a:t>
            </a:r>
            <a:endParaRPr sz="1650"/>
          </a:p>
          <a:p>
            <a:pPr marL="742950" marR="0" lvl="3" indent="-219075" algn="l" rtl="0">
              <a:lnSpc>
                <a:spcPct val="115000"/>
              </a:lnSpc>
              <a:spcBef>
                <a:spcPts val="0"/>
              </a:spcBef>
              <a:spcAft>
                <a:spcPts val="0"/>
              </a:spcAft>
              <a:buClr>
                <a:schemeClr val="accent2"/>
              </a:buClr>
              <a:buSzPts val="1650"/>
              <a:buFont typeface="Noto Sans Symbols"/>
              <a:buChar char="•"/>
            </a:pPr>
            <a:r>
              <a:rPr lang="en-US" sz="1650"/>
              <a:t>Position other product lines as add-ons underneath (can still be sold stand-alone if needed?)</a:t>
            </a:r>
            <a:endParaRPr sz="1650"/>
          </a:p>
          <a:p>
            <a:pPr marL="742950" marR="0" lvl="3" indent="-219075" algn="l" rtl="0">
              <a:lnSpc>
                <a:spcPct val="115000"/>
              </a:lnSpc>
              <a:spcBef>
                <a:spcPts val="0"/>
              </a:spcBef>
              <a:spcAft>
                <a:spcPts val="0"/>
              </a:spcAft>
              <a:buClr>
                <a:schemeClr val="accent2"/>
              </a:buClr>
              <a:buSzPts val="1650"/>
              <a:buFont typeface="Noto Sans Symbols"/>
              <a:buChar char="•"/>
            </a:pPr>
            <a:r>
              <a:rPr lang="en-US" sz="1650"/>
              <a:t>Make it clear which companies need which product lines when - move them in the direction WE want them to take</a:t>
            </a:r>
            <a:endParaRPr sz="1650"/>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458" name="Google Shape;458;p55"/>
          <p:cNvPicPr preferRelativeResize="0"/>
          <p:nvPr/>
        </p:nvPicPr>
        <p:blipFill rotWithShape="1">
          <a:blip r:embed="rId1"/>
          <a:srcRect r="66486" b="48854"/>
          <a:stretch>
            <a:fillRect/>
          </a:stretch>
        </p:blipFill>
        <p:spPr>
          <a:xfrm>
            <a:off x="944025" y="3561350"/>
            <a:ext cx="3795224" cy="1577450"/>
          </a:xfrm>
          <a:prstGeom prst="rect">
            <a:avLst/>
          </a:prstGeom>
          <a:noFill/>
          <a:ln>
            <a:noFill/>
          </a:ln>
        </p:spPr>
      </p:pic>
      <p:pic>
        <p:nvPicPr>
          <p:cNvPr id="459" name="Google Shape;459;p55"/>
          <p:cNvPicPr preferRelativeResize="0"/>
          <p:nvPr/>
        </p:nvPicPr>
        <p:blipFill rotWithShape="1">
          <a:blip r:embed="rId1"/>
          <a:srcRect t="51146" r="67130"/>
          <a:stretch>
            <a:fillRect/>
          </a:stretch>
        </p:blipFill>
        <p:spPr>
          <a:xfrm>
            <a:off x="4739250" y="3634414"/>
            <a:ext cx="3795224" cy="1536336"/>
          </a:xfrm>
          <a:prstGeom prst="rect">
            <a:avLst/>
          </a:prstGeom>
          <a:noFill/>
          <a:ln>
            <a:noFill/>
          </a:ln>
        </p:spPr>
      </p:pic>
      <p:pic>
        <p:nvPicPr>
          <p:cNvPr id="460" name="Google Shape;460;p55"/>
          <p:cNvPicPr preferRelativeResize="0"/>
          <p:nvPr/>
        </p:nvPicPr>
        <p:blipFill rotWithShape="1">
          <a:blip r:embed="rId1"/>
          <a:srcRect l="35057" b="45525"/>
          <a:stretch>
            <a:fillRect/>
          </a:stretch>
        </p:blipFill>
        <p:spPr>
          <a:xfrm>
            <a:off x="3466743" y="5280525"/>
            <a:ext cx="5008833" cy="1058100"/>
          </a:xfrm>
          <a:prstGeom prst="rect">
            <a:avLst/>
          </a:prstGeom>
          <a:noFill/>
          <a:ln>
            <a:noFill/>
          </a:ln>
        </p:spPr>
      </p:pic>
      <p:pic>
        <p:nvPicPr>
          <p:cNvPr id="461" name="Google Shape;461;p55"/>
          <p:cNvPicPr preferRelativeResize="0"/>
          <p:nvPr/>
        </p:nvPicPr>
        <p:blipFill rotWithShape="1">
          <a:blip r:embed="rId1"/>
          <a:srcRect l="34511" t="48854" r="37131"/>
          <a:stretch>
            <a:fillRect/>
          </a:stretch>
        </p:blipFill>
        <p:spPr>
          <a:xfrm>
            <a:off x="1071500" y="5280525"/>
            <a:ext cx="2329470" cy="1058100"/>
          </a:xfrm>
          <a:prstGeom prst="rect">
            <a:avLst/>
          </a:prstGeom>
          <a:noFill/>
          <a:ln>
            <a:noFill/>
          </a:ln>
        </p:spPr>
      </p:pic>
      <p:sp>
        <p:nvSpPr>
          <p:cNvPr id="462" name="Google Shape;462;p5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466" name="Shape 466"/>
        <p:cNvGrpSpPr/>
        <p:nvPr/>
      </p:nvGrpSpPr>
      <p:grpSpPr>
        <a:xfrm>
          <a:off x="0" y="0"/>
          <a:ext cx="0" cy="0"/>
          <a:chOff x="0" y="0"/>
          <a:chExt cx="0" cy="0"/>
        </a:xfrm>
      </p:grpSpPr>
      <p:sp>
        <p:nvSpPr>
          <p:cNvPr id="467" name="Google Shape;467;p56"/>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3800">
                <a:solidFill>
                  <a:srgbClr val="073763"/>
                </a:solidFill>
              </a:rPr>
              <a:t>: </a:t>
            </a:r>
            <a:r>
              <a:rPr lang="en-US" sz="3800" b="0" i="1">
                <a:solidFill>
                  <a:srgbClr val="073763"/>
                </a:solidFill>
                <a:latin typeface="Calibri"/>
                <a:ea typeface="Calibri"/>
                <a:cs typeface="Calibri"/>
                <a:sym typeface="Calibri"/>
              </a:rPr>
              <a:t>Product Positioning</a:t>
            </a:r>
            <a:endParaRPr sz="3800" b="0" i="1">
              <a:solidFill>
                <a:schemeClr val="accent4"/>
              </a:solidFill>
              <a:latin typeface="Calibri"/>
              <a:ea typeface="Calibri"/>
              <a:cs typeface="Calibri"/>
              <a:sym typeface="Calibri"/>
            </a:endParaRPr>
          </a:p>
        </p:txBody>
      </p:sp>
      <p:sp>
        <p:nvSpPr>
          <p:cNvPr id="468" name="Google Shape;468;p56"/>
          <p:cNvSpPr txBox="1"/>
          <p:nvPr>
            <p:ph type="body" idx="1"/>
          </p:nvPr>
        </p:nvSpPr>
        <p:spPr>
          <a:xfrm>
            <a:off x="922425" y="1654850"/>
            <a:ext cx="91974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650" b="1"/>
              <a:t>Product Naming &amp; Description:</a:t>
            </a:r>
            <a:endParaRPr sz="1650" b="1"/>
          </a:p>
          <a:p>
            <a:pPr marL="800100" marR="0" lvl="1" indent="-346075" algn="l" rtl="0">
              <a:lnSpc>
                <a:spcPct val="100000"/>
              </a:lnSpc>
              <a:spcBef>
                <a:spcPts val="1000"/>
              </a:spcBef>
              <a:spcAft>
                <a:spcPts val="0"/>
              </a:spcAft>
              <a:buClr>
                <a:schemeClr val="accent2"/>
              </a:buClr>
              <a:buSzPts val="1650"/>
              <a:buFont typeface="Noto Sans Symbols"/>
              <a:buChar char="✔"/>
            </a:pPr>
            <a:r>
              <a:rPr lang="en-US" sz="1650"/>
              <a:t>High level product messaging does not clearly state what the product does, or indicate a clear target market (does not talk about whether the products are ideal for a certain industry, size of company, type of company, or position within the company)</a:t>
            </a:r>
            <a:endParaRPr sz="1650"/>
          </a:p>
          <a:p>
            <a:pPr marL="1143000" marR="0" lvl="2" indent="-219075" algn="l" rtl="0">
              <a:lnSpc>
                <a:spcPct val="100000"/>
              </a:lnSpc>
              <a:spcBef>
                <a:spcPts val="1000"/>
              </a:spcBef>
              <a:spcAft>
                <a:spcPts val="0"/>
              </a:spcAft>
              <a:buSzPts val="1650"/>
              <a:buChar char="•"/>
            </a:pPr>
            <a:r>
              <a:rPr lang="en-US" sz="1650"/>
              <a:t>Prospect has to figure out if the product is suited for them - could accidentally opt themselves out.</a:t>
            </a: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469" name="Google Shape;469;p56"/>
          <p:cNvPicPr preferRelativeResize="0"/>
          <p:nvPr/>
        </p:nvPicPr>
        <p:blipFill rotWithShape="1">
          <a:blip r:embed="rId1"/>
          <a:srcRect r="66486" b="48854"/>
          <a:stretch>
            <a:fillRect/>
          </a:stretch>
        </p:blipFill>
        <p:spPr>
          <a:xfrm>
            <a:off x="1367575" y="3817300"/>
            <a:ext cx="3791576" cy="1575950"/>
          </a:xfrm>
          <a:prstGeom prst="rect">
            <a:avLst/>
          </a:prstGeom>
          <a:noFill/>
          <a:ln>
            <a:noFill/>
          </a:ln>
        </p:spPr>
      </p:pic>
      <p:pic>
        <p:nvPicPr>
          <p:cNvPr id="470" name="Google Shape;470;p56"/>
          <p:cNvPicPr preferRelativeResize="0"/>
          <p:nvPr/>
        </p:nvPicPr>
        <p:blipFill rotWithShape="1">
          <a:blip r:embed="rId1"/>
          <a:srcRect t="59067" r="67130"/>
          <a:stretch>
            <a:fillRect/>
          </a:stretch>
        </p:blipFill>
        <p:spPr>
          <a:xfrm>
            <a:off x="5668013" y="4107272"/>
            <a:ext cx="3791576" cy="1285978"/>
          </a:xfrm>
          <a:prstGeom prst="rect">
            <a:avLst/>
          </a:prstGeom>
          <a:noFill/>
          <a:ln>
            <a:noFill/>
          </a:ln>
        </p:spPr>
      </p:pic>
      <p:sp>
        <p:nvSpPr>
          <p:cNvPr id="471" name="Google Shape;471;p5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475" name="Shape 475"/>
        <p:cNvGrpSpPr/>
        <p:nvPr/>
      </p:nvGrpSpPr>
      <p:grpSpPr>
        <a:xfrm>
          <a:off x="0" y="0"/>
          <a:ext cx="0" cy="0"/>
          <a:chOff x="0" y="0"/>
          <a:chExt cx="0" cy="0"/>
        </a:xfrm>
      </p:grpSpPr>
      <p:sp>
        <p:nvSpPr>
          <p:cNvPr id="476" name="Google Shape;476;p57"/>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a:t>
            </a:r>
            <a:r>
              <a:rPr lang="en-US" sz="3800">
                <a:solidFill>
                  <a:srgbClr val="073763"/>
                </a:solidFill>
              </a:rPr>
              <a:t>: </a:t>
            </a:r>
            <a:r>
              <a:rPr lang="en-US" sz="3800" b="0" i="1">
                <a:solidFill>
                  <a:srgbClr val="073763"/>
                </a:solidFill>
                <a:latin typeface="Calibri"/>
                <a:ea typeface="Calibri"/>
                <a:cs typeface="Calibri"/>
                <a:sym typeface="Calibri"/>
              </a:rPr>
              <a:t>Product Positioning </a:t>
            </a:r>
            <a:endParaRPr sz="3800" b="0" i="1">
              <a:solidFill>
                <a:schemeClr val="accent4"/>
              </a:solidFill>
              <a:latin typeface="Calibri"/>
              <a:ea typeface="Calibri"/>
              <a:cs typeface="Calibri"/>
              <a:sym typeface="Calibri"/>
            </a:endParaRPr>
          </a:p>
        </p:txBody>
      </p:sp>
      <p:sp>
        <p:nvSpPr>
          <p:cNvPr id="477" name="Google Shape;477;p57"/>
          <p:cNvSpPr txBox="1"/>
          <p:nvPr>
            <p:ph type="body" idx="1"/>
          </p:nvPr>
        </p:nvSpPr>
        <p:spPr>
          <a:xfrm>
            <a:off x="488225" y="1641500"/>
            <a:ext cx="5835000" cy="2211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50"/>
              <a:t>    </a:t>
            </a:r>
            <a:r>
              <a:rPr lang="en-US" sz="2050" b="1"/>
              <a:t> Product Naming &amp; Description:</a:t>
            </a:r>
            <a:endParaRPr sz="2050" b="1"/>
          </a:p>
          <a:p>
            <a:pPr marL="685800" lvl="1" indent="-225425" algn="l" rtl="0">
              <a:lnSpc>
                <a:spcPct val="115000"/>
              </a:lnSpc>
              <a:spcBef>
                <a:spcPts val="0"/>
              </a:spcBef>
              <a:spcAft>
                <a:spcPts val="0"/>
              </a:spcAft>
              <a:buClr>
                <a:schemeClr val="accent2"/>
              </a:buClr>
              <a:buSzPts val="1750"/>
              <a:buFont typeface="Noto Sans Symbols"/>
              <a:buChar char="✔"/>
            </a:pPr>
            <a:r>
              <a:rPr lang="en-US" sz="1750"/>
              <a:t>Clearly position both products for: </a:t>
            </a:r>
            <a:endParaRPr sz="1750"/>
          </a:p>
          <a:p>
            <a:pPr marL="914400" lvl="2" indent="-225425" algn="l" rtl="0">
              <a:lnSpc>
                <a:spcPct val="115000"/>
              </a:lnSpc>
              <a:spcBef>
                <a:spcPts val="0"/>
              </a:spcBef>
              <a:spcAft>
                <a:spcPts val="0"/>
              </a:spcAft>
              <a:buClr>
                <a:schemeClr val="accent2"/>
              </a:buClr>
              <a:buSzPts val="1750"/>
              <a:buFont typeface="Noto Sans Symbols"/>
              <a:buChar char="•"/>
            </a:pPr>
            <a:r>
              <a:rPr lang="en-US" sz="1750"/>
              <a:t>Size of company: Enterprise solutions for complex marketing environments</a:t>
            </a:r>
            <a:endParaRPr sz="1750"/>
          </a:p>
          <a:p>
            <a:pPr marL="914400" lvl="2" indent="-225425" algn="l" rtl="0">
              <a:lnSpc>
                <a:spcPct val="115000"/>
              </a:lnSpc>
              <a:spcBef>
                <a:spcPts val="0"/>
              </a:spcBef>
              <a:spcAft>
                <a:spcPts val="0"/>
              </a:spcAft>
              <a:buClr>
                <a:schemeClr val="accent2"/>
              </a:buClr>
              <a:buSzPts val="1750"/>
              <a:buFont typeface="Noto Sans Symbols"/>
              <a:buChar char="•"/>
            </a:pPr>
            <a:r>
              <a:rPr lang="en-US" sz="1750"/>
              <a:t>Vertical Market:</a:t>
            </a:r>
            <a:endParaRPr sz="1750"/>
          </a:p>
          <a:p>
            <a:pPr marL="1200150" lvl="3" indent="-225425" algn="l" rtl="0">
              <a:lnSpc>
                <a:spcPct val="115000"/>
              </a:lnSpc>
              <a:spcBef>
                <a:spcPts val="0"/>
              </a:spcBef>
              <a:spcAft>
                <a:spcPts val="0"/>
              </a:spcAft>
              <a:buClr>
                <a:schemeClr val="accent2"/>
              </a:buClr>
              <a:buSzPts val="1750"/>
              <a:buFont typeface="Noto Sans Symbols"/>
              <a:buChar char="•"/>
            </a:pPr>
            <a:r>
              <a:rPr lang="en-US" sz="1750"/>
              <a:t>Marketing Calendar - no vertical market differentiation initially (future possibility)</a:t>
            </a:r>
            <a:endParaRPr sz="1750"/>
          </a:p>
          <a:p>
            <a:pPr marL="1200150" lvl="3" indent="-225425" algn="l" rtl="0">
              <a:lnSpc>
                <a:spcPct val="115000"/>
              </a:lnSpc>
              <a:spcBef>
                <a:spcPts val="0"/>
              </a:spcBef>
              <a:spcAft>
                <a:spcPts val="0"/>
              </a:spcAft>
              <a:buClr>
                <a:schemeClr val="accent2"/>
              </a:buClr>
              <a:buSzPts val="1750"/>
              <a:buFont typeface="Noto Sans Symbols"/>
              <a:buChar char="•"/>
            </a:pPr>
            <a:r>
              <a:rPr lang="en-US" sz="1750"/>
              <a:t>Distro - start with a Retail vertical </a:t>
            </a:r>
            <a:endParaRPr sz="1750"/>
          </a:p>
          <a:p>
            <a:pPr marL="1543050" lvl="4" indent="-225425" algn="l" rtl="0">
              <a:lnSpc>
                <a:spcPct val="115000"/>
              </a:lnSpc>
              <a:spcBef>
                <a:spcPts val="0"/>
              </a:spcBef>
              <a:spcAft>
                <a:spcPts val="0"/>
              </a:spcAft>
              <a:buClr>
                <a:schemeClr val="accent2"/>
              </a:buClr>
              <a:buSzPts val="1750"/>
              <a:buFont typeface="Noto Sans Symbols"/>
              <a:buChar char="•"/>
            </a:pPr>
            <a:r>
              <a:rPr lang="en-US" sz="1750"/>
              <a:t>Future: more verticals (financial services, etc.)</a:t>
            </a:r>
            <a:endParaRPr sz="1750"/>
          </a:p>
          <a:p>
            <a:pPr marL="1543050" lvl="4" indent="-225425" algn="l" rtl="0">
              <a:lnSpc>
                <a:spcPct val="115000"/>
              </a:lnSpc>
              <a:spcBef>
                <a:spcPts val="0"/>
              </a:spcBef>
              <a:spcAft>
                <a:spcPts val="0"/>
              </a:spcAft>
              <a:buClr>
                <a:schemeClr val="accent2"/>
              </a:buClr>
              <a:buSzPts val="1750"/>
              <a:buFont typeface="Noto Sans Symbols"/>
              <a:buChar char="•"/>
            </a:pPr>
            <a:r>
              <a:rPr lang="en-US" sz="1750"/>
              <a:t>Future: sub-verticals (grocery, clothing, electronics, etc.)</a:t>
            </a:r>
            <a:endParaRPr sz="1750"/>
          </a:p>
          <a:p>
            <a:pPr marL="685800" marR="0" lvl="0" indent="0" algn="l" rtl="0">
              <a:lnSpc>
                <a:spcPct val="100000"/>
              </a:lnSpc>
              <a:spcBef>
                <a:spcPts val="1000"/>
              </a:spcBef>
              <a:spcAft>
                <a:spcPts val="0"/>
              </a:spcAft>
              <a:buNone/>
            </a:pPr>
            <a:endParaRPr sz="20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478" name="Google Shape;478;p57"/>
          <p:cNvPicPr preferRelativeResize="0"/>
          <p:nvPr/>
        </p:nvPicPr>
        <p:blipFill>
          <a:blip r:embed="rId1"/>
          <a:stretch>
            <a:fillRect/>
          </a:stretch>
        </p:blipFill>
        <p:spPr>
          <a:xfrm>
            <a:off x="6751050" y="1943100"/>
            <a:ext cx="4152875" cy="1381550"/>
          </a:xfrm>
          <a:prstGeom prst="rect">
            <a:avLst/>
          </a:prstGeom>
          <a:noFill/>
          <a:ln>
            <a:noFill/>
          </a:ln>
        </p:spPr>
      </p:pic>
      <p:pic>
        <p:nvPicPr>
          <p:cNvPr id="479" name="Google Shape;479;p57"/>
          <p:cNvPicPr preferRelativeResize="0"/>
          <p:nvPr/>
        </p:nvPicPr>
        <p:blipFill>
          <a:blip r:embed="rId2"/>
          <a:stretch>
            <a:fillRect/>
          </a:stretch>
        </p:blipFill>
        <p:spPr>
          <a:xfrm>
            <a:off x="6871401" y="3489174"/>
            <a:ext cx="4098000" cy="1285875"/>
          </a:xfrm>
          <a:prstGeom prst="rect">
            <a:avLst/>
          </a:prstGeom>
          <a:noFill/>
          <a:ln>
            <a:noFill/>
          </a:ln>
        </p:spPr>
      </p:pic>
      <p:sp>
        <p:nvSpPr>
          <p:cNvPr id="480" name="Google Shape;480;p5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484" name="Shape 484"/>
        <p:cNvGrpSpPr/>
        <p:nvPr/>
      </p:nvGrpSpPr>
      <p:grpSpPr>
        <a:xfrm>
          <a:off x="0" y="0"/>
          <a:ext cx="0" cy="0"/>
          <a:chOff x="0" y="0"/>
          <a:chExt cx="0" cy="0"/>
        </a:xfrm>
      </p:grpSpPr>
      <p:sp>
        <p:nvSpPr>
          <p:cNvPr id="485" name="Google Shape;485;p58"/>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Core Difference - Marketing Calendar </a:t>
            </a:r>
            <a:endParaRPr sz="3800" b="0" i="1">
              <a:solidFill>
                <a:srgbClr val="62C9D7"/>
              </a:solidFill>
              <a:latin typeface="Calibri"/>
              <a:ea typeface="Calibri"/>
              <a:cs typeface="Calibri"/>
              <a:sym typeface="Calibri"/>
            </a:endParaRPr>
          </a:p>
        </p:txBody>
      </p:sp>
      <p:sp>
        <p:nvSpPr>
          <p:cNvPr id="486" name="Google Shape;486;p58"/>
          <p:cNvSpPr txBox="1"/>
          <p:nvPr>
            <p:ph type="body" idx="1"/>
          </p:nvPr>
        </p:nvSpPr>
        <p:spPr>
          <a:xfrm>
            <a:off x="1532125" y="1712300"/>
            <a:ext cx="7481100" cy="4630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1000"/>
              </a:spcBef>
              <a:spcAft>
                <a:spcPts val="0"/>
              </a:spcAft>
              <a:buClr>
                <a:schemeClr val="dk1"/>
              </a:buClr>
              <a:buSzPts val="1100"/>
              <a:buFont typeface="Arial" panose="020B0704020202020204"/>
              <a:buNone/>
            </a:pPr>
            <a:r>
              <a:rPr lang="en-US" sz="1850"/>
              <a:t>CrossCap Enterprise Marketing Calendar is an organization-wide calendar &amp; planning system specifically designed for complex multi-region, multi-country and multi-location enterprises who run complex campaigns simultaneously.</a:t>
            </a:r>
            <a:endParaRPr sz="1850"/>
          </a:p>
          <a:p>
            <a:pPr marL="0" marR="0" lvl="0" indent="0" algn="l" rtl="0">
              <a:lnSpc>
                <a:spcPct val="100000"/>
              </a:lnSpc>
              <a:spcBef>
                <a:spcPts val="1000"/>
              </a:spcBef>
              <a:spcAft>
                <a:spcPts val="0"/>
              </a:spcAft>
              <a:buNone/>
            </a:pPr>
            <a:endParaRPr sz="1850"/>
          </a:p>
          <a:p>
            <a:pPr marL="0" marR="0" lvl="0" indent="0" algn="ctr" rtl="0">
              <a:lnSpc>
                <a:spcPct val="100000"/>
              </a:lnSpc>
              <a:spcBef>
                <a:spcPts val="1000"/>
              </a:spcBef>
              <a:spcAft>
                <a:spcPts val="0"/>
              </a:spcAft>
              <a:buNone/>
            </a:pPr>
            <a:r>
              <a:rPr lang="en-US" sz="1850"/>
              <a:t>CrossCap Enterprise </a:t>
            </a:r>
            <a:r>
              <a:rPr lang="en-US" sz="1850"/>
              <a:t>Marketing Calendar ensures executive-level visibility and insights to past, present and future global campaigns while being powerful enough for marketing ops to plan and execute specific local-market promotions.</a:t>
            </a:r>
            <a:endParaRPr sz="1850"/>
          </a:p>
          <a:p>
            <a:pPr marL="0" marR="0" lvl="0" indent="0" algn="ctr" rtl="0">
              <a:lnSpc>
                <a:spcPct val="100000"/>
              </a:lnSpc>
              <a:spcBef>
                <a:spcPts val="1000"/>
              </a:spcBef>
              <a:spcAft>
                <a:spcPts val="0"/>
              </a:spcAft>
              <a:buNone/>
            </a:pPr>
            <a:endParaRPr sz="1850"/>
          </a:p>
          <a:p>
            <a:pPr marL="0" marR="0" lvl="0" indent="0" algn="ctr" rtl="0">
              <a:lnSpc>
                <a:spcPct val="100000"/>
              </a:lnSpc>
              <a:spcBef>
                <a:spcPts val="1000"/>
              </a:spcBef>
              <a:spcAft>
                <a:spcPts val="0"/>
              </a:spcAft>
              <a:buNone/>
            </a:pPr>
            <a:r>
              <a:rPr lang="en-US" sz="1850" i="1"/>
              <a:t>CrossCap Enterprise Marketing Calendar - an enterprise calendar,  planning and implementation system CMOs love and marketing ops actually use</a:t>
            </a:r>
            <a:endParaRPr sz="1850" i="1"/>
          </a:p>
        </p:txBody>
      </p:sp>
      <p:sp>
        <p:nvSpPr>
          <p:cNvPr id="487" name="Google Shape;487;p5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491" name="Shape 491"/>
        <p:cNvGrpSpPr/>
        <p:nvPr/>
      </p:nvGrpSpPr>
      <p:grpSpPr>
        <a:xfrm>
          <a:off x="0" y="0"/>
          <a:ext cx="0" cy="0"/>
          <a:chOff x="0" y="0"/>
          <a:chExt cx="0" cy="0"/>
        </a:xfrm>
      </p:grpSpPr>
      <p:sp>
        <p:nvSpPr>
          <p:cNvPr id="492" name="Google Shape;492;p59"/>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Example: </a:t>
            </a:r>
            <a:r>
              <a:rPr lang="en-US" sz="3800" b="0" i="1">
                <a:solidFill>
                  <a:srgbClr val="073763"/>
                </a:solidFill>
                <a:latin typeface="Calibri"/>
                <a:ea typeface="Calibri"/>
                <a:cs typeface="Calibri"/>
                <a:sym typeface="Calibri"/>
              </a:rPr>
              <a:t>Core Difference - Distro </a:t>
            </a:r>
            <a:endParaRPr sz="3800" b="0" i="1">
              <a:solidFill>
                <a:srgbClr val="62C9D7"/>
              </a:solidFill>
              <a:latin typeface="Calibri"/>
              <a:ea typeface="Calibri"/>
              <a:cs typeface="Calibri"/>
              <a:sym typeface="Calibri"/>
            </a:endParaRPr>
          </a:p>
        </p:txBody>
      </p:sp>
      <p:sp>
        <p:nvSpPr>
          <p:cNvPr id="493" name="Google Shape;493;p59"/>
          <p:cNvSpPr txBox="1"/>
          <p:nvPr>
            <p:ph type="body" idx="1"/>
          </p:nvPr>
        </p:nvSpPr>
        <p:spPr>
          <a:xfrm>
            <a:off x="1138225" y="1826950"/>
            <a:ext cx="8364900" cy="4630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1000"/>
              </a:spcBef>
              <a:spcAft>
                <a:spcPts val="0"/>
              </a:spcAft>
              <a:buNone/>
            </a:pPr>
            <a:r>
              <a:rPr lang="en-US" sz="1950"/>
              <a:t>CrossCap Distro is a customizable store-profiling &amp; in-store signage distribution software system for national and global retail, branch and multi-location enterprises.</a:t>
            </a:r>
            <a:endParaRPr sz="1950"/>
          </a:p>
          <a:p>
            <a:pPr marL="0" marR="0" lvl="0" indent="0" algn="ctr" rtl="0">
              <a:lnSpc>
                <a:spcPct val="100000"/>
              </a:lnSpc>
              <a:spcBef>
                <a:spcPts val="1000"/>
              </a:spcBef>
              <a:spcAft>
                <a:spcPts val="0"/>
              </a:spcAft>
              <a:buNone/>
            </a:pPr>
            <a:r>
              <a:rPr lang="en-US" sz="1950" i="1"/>
              <a:t> CrossCap Distro - store-profiling system customized for customer-facing multi-location enterprises</a:t>
            </a:r>
            <a:endParaRPr sz="1950" i="1"/>
          </a:p>
        </p:txBody>
      </p:sp>
      <p:sp>
        <p:nvSpPr>
          <p:cNvPr id="494" name="Google Shape;494;p5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498" name="Shape 498"/>
        <p:cNvGrpSpPr/>
        <p:nvPr/>
      </p:nvGrpSpPr>
      <p:grpSpPr>
        <a:xfrm>
          <a:off x="0" y="0"/>
          <a:ext cx="0" cy="0"/>
          <a:chOff x="0" y="0"/>
          <a:chExt cx="0" cy="0"/>
        </a:xfrm>
      </p:grpSpPr>
      <p:sp>
        <p:nvSpPr>
          <p:cNvPr id="499" name="Google Shape;499;p60"/>
          <p:cNvSpPr txBox="1"/>
          <p:nvPr>
            <p:ph type="title"/>
          </p:nvPr>
        </p:nvSpPr>
        <p:spPr>
          <a:xfrm>
            <a:off x="791375" y="73077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4000">
                <a:solidFill>
                  <a:srgbClr val="073763"/>
                </a:solidFill>
              </a:rPr>
              <a:t>Example:</a:t>
            </a:r>
            <a:r>
              <a:rPr lang="en-US" sz="4000">
                <a:solidFill>
                  <a:srgbClr val="073763"/>
                </a:solidFill>
              </a:rPr>
              <a:t> </a:t>
            </a:r>
            <a:r>
              <a:rPr lang="en-US" sz="4000" b="0" i="1">
                <a:solidFill>
                  <a:srgbClr val="073763"/>
                </a:solidFill>
                <a:latin typeface="Calibri"/>
                <a:ea typeface="Calibri"/>
                <a:cs typeface="Calibri"/>
                <a:sym typeface="Calibri"/>
              </a:rPr>
              <a:t>Core Difference</a:t>
            </a:r>
            <a:endParaRPr sz="4000" b="0" i="1">
              <a:solidFill>
                <a:schemeClr val="accent4"/>
              </a:solidFill>
              <a:latin typeface="Calibri"/>
              <a:ea typeface="Calibri"/>
              <a:cs typeface="Calibri"/>
              <a:sym typeface="Calibri"/>
            </a:endParaRPr>
          </a:p>
        </p:txBody>
      </p:sp>
      <p:sp>
        <p:nvSpPr>
          <p:cNvPr id="500" name="Google Shape;500;p60"/>
          <p:cNvSpPr txBox="1"/>
          <p:nvPr>
            <p:ph type="body" idx="1"/>
          </p:nvPr>
        </p:nvSpPr>
        <p:spPr>
          <a:xfrm>
            <a:off x="456075" y="1575175"/>
            <a:ext cx="7097100" cy="4630200"/>
          </a:xfrm>
          <a:prstGeom prst="rect">
            <a:avLst/>
          </a:prstGeom>
          <a:noFill/>
          <a:ln>
            <a:noFill/>
          </a:ln>
        </p:spPr>
        <p:txBody>
          <a:bodyPr spcFirstLastPara="1" wrap="square" lIns="91425" tIns="45700" rIns="91425" bIns="45700" anchor="t" anchorCtr="0">
            <a:noAutofit/>
          </a:bodyPr>
          <a:lstStyle/>
          <a:p>
            <a:pPr marL="685800" lvl="1" indent="-238125" algn="l" rtl="0">
              <a:lnSpc>
                <a:spcPct val="100000"/>
              </a:lnSpc>
              <a:spcBef>
                <a:spcPts val="1000"/>
              </a:spcBef>
              <a:spcAft>
                <a:spcPts val="0"/>
              </a:spcAft>
              <a:buClr>
                <a:schemeClr val="accent2"/>
              </a:buClr>
              <a:buSzPts val="1950"/>
              <a:buFont typeface="Noto Sans Symbols"/>
              <a:buChar char="✔"/>
            </a:pPr>
            <a:r>
              <a:rPr lang="en-US" sz="1750"/>
              <a:t>CrossCap has a unique position in the marketplace right now with no real true competitors at the enterprise level (but perception and awareness are reality)</a:t>
            </a:r>
            <a:endParaRPr sz="1750"/>
          </a:p>
          <a:p>
            <a:pPr marL="685800" lvl="1" indent="-238125" algn="l" rtl="0">
              <a:lnSpc>
                <a:spcPct val="100000"/>
              </a:lnSpc>
              <a:spcBef>
                <a:spcPts val="1000"/>
              </a:spcBef>
              <a:spcAft>
                <a:spcPts val="0"/>
              </a:spcAft>
              <a:buClr>
                <a:schemeClr val="accent2"/>
              </a:buClr>
              <a:buSzPts val="1950"/>
              <a:buFont typeface="Noto Sans Symbols"/>
              <a:buChar char="✔"/>
            </a:pPr>
            <a:r>
              <a:rPr lang="en-US" sz="1750"/>
              <a:t>Our client interviews indicate that what CrossCap’s ideal customers value most are:</a:t>
            </a:r>
            <a:endParaRPr sz="1750"/>
          </a:p>
          <a:p>
            <a:pPr marL="914400" lvl="3" indent="-238125" algn="l" rtl="0">
              <a:lnSpc>
                <a:spcPct val="100000"/>
              </a:lnSpc>
              <a:spcBef>
                <a:spcPts val="1000"/>
              </a:spcBef>
              <a:spcAft>
                <a:spcPts val="0"/>
              </a:spcAft>
              <a:buClr>
                <a:schemeClr val="accent2"/>
              </a:buClr>
              <a:buSzPts val="1950"/>
              <a:buFont typeface="Noto Sans Symbols"/>
              <a:buChar char="•"/>
            </a:pPr>
            <a:r>
              <a:rPr lang="en-US" sz="1750"/>
              <a:t>Flexible and customizable implementation to match how they work best</a:t>
            </a:r>
            <a:endParaRPr sz="1750"/>
          </a:p>
          <a:p>
            <a:pPr marL="914400" lvl="3" indent="-238125" algn="l" rtl="0">
              <a:lnSpc>
                <a:spcPct val="100000"/>
              </a:lnSpc>
              <a:spcBef>
                <a:spcPts val="1000"/>
              </a:spcBef>
              <a:spcAft>
                <a:spcPts val="0"/>
              </a:spcAft>
              <a:buClr>
                <a:schemeClr val="accent2"/>
              </a:buClr>
              <a:buSzPts val="1950"/>
              <a:buFont typeface="Noto Sans Symbols"/>
              <a:buChar char="•"/>
            </a:pPr>
            <a:r>
              <a:rPr lang="en-US" sz="1750"/>
              <a:t>The real ability to handle an enterprise level implementation but with the nimbleness and responsiveness of a smaller company</a:t>
            </a:r>
            <a:endParaRPr sz="1750"/>
          </a:p>
          <a:p>
            <a:pPr marL="914400" lvl="3" indent="-238125" algn="l" rtl="0">
              <a:lnSpc>
                <a:spcPct val="100000"/>
              </a:lnSpc>
              <a:spcBef>
                <a:spcPts val="1000"/>
              </a:spcBef>
              <a:spcAft>
                <a:spcPts val="0"/>
              </a:spcAft>
              <a:buClr>
                <a:schemeClr val="accent2"/>
              </a:buClr>
              <a:buSzPts val="1950"/>
              <a:buFont typeface="Noto Sans Symbols"/>
              <a:buChar char="•"/>
            </a:pPr>
            <a:r>
              <a:rPr lang="en-US" sz="1750"/>
              <a:t>Responsiveness, “smarts”, ability to quickly make fixes, figure out solutions, guide the conversation, enhancements</a:t>
            </a:r>
            <a:endParaRPr sz="1750"/>
          </a:p>
          <a:p>
            <a:pPr marL="914400" lvl="3" indent="-238125" algn="l" rtl="0">
              <a:lnSpc>
                <a:spcPct val="100000"/>
              </a:lnSpc>
              <a:spcBef>
                <a:spcPts val="1000"/>
              </a:spcBef>
              <a:spcAft>
                <a:spcPts val="0"/>
              </a:spcAft>
              <a:buClr>
                <a:schemeClr val="accent2"/>
              </a:buClr>
              <a:buSzPts val="1950"/>
              <a:buFont typeface="Noto Sans Symbols"/>
              <a:buChar char="•"/>
            </a:pPr>
            <a:r>
              <a:rPr lang="en-US" sz="1750"/>
              <a:t>True partner - they feel CrossCap really cares, and believe they are with them to support their future</a:t>
            </a:r>
            <a:endParaRPr sz="1950" b="1" i="1"/>
          </a:p>
        </p:txBody>
      </p:sp>
      <p:pic>
        <p:nvPicPr>
          <p:cNvPr id="501" name="Google Shape;501;p60"/>
          <p:cNvPicPr preferRelativeResize="0"/>
          <p:nvPr/>
        </p:nvPicPr>
        <p:blipFill rotWithShape="1">
          <a:blip r:embed="rId1"/>
          <a:srcRect/>
          <a:stretch>
            <a:fillRect/>
          </a:stretch>
        </p:blipFill>
        <p:spPr>
          <a:xfrm>
            <a:off x="7751475" y="1724700"/>
            <a:ext cx="3759125" cy="4227499"/>
          </a:xfrm>
          <a:prstGeom prst="rect">
            <a:avLst/>
          </a:prstGeom>
          <a:noFill/>
          <a:ln>
            <a:noFill/>
          </a:ln>
        </p:spPr>
      </p:pic>
      <p:sp>
        <p:nvSpPr>
          <p:cNvPr id="502" name="Google Shape;502;p60"/>
          <p:cNvSpPr txBox="1"/>
          <p:nvPr/>
        </p:nvSpPr>
        <p:spPr>
          <a:xfrm>
            <a:off x="8122275" y="1949225"/>
            <a:ext cx="3412200" cy="3834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No one else is really doing with CrossCap is doing</a:t>
            </a:r>
            <a:endParaRPr sz="1600">
              <a:solidFill>
                <a:srgbClr val="434343"/>
              </a:solidFill>
              <a:latin typeface="Calibri"/>
              <a:ea typeface="Calibri"/>
              <a:cs typeface="Calibri"/>
              <a:sym typeface="Calibri"/>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Opportunity to really own these categories with more awareness</a:t>
            </a:r>
            <a:endParaRPr sz="1600">
              <a:solidFill>
                <a:srgbClr val="434343"/>
              </a:solidFill>
              <a:latin typeface="Calibri"/>
              <a:ea typeface="Calibri"/>
              <a:cs typeface="Calibri"/>
              <a:sym typeface="Calibri"/>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Need to be clear on the Enterprise level position </a:t>
            </a:r>
            <a:endParaRPr sz="1600">
              <a:solidFill>
                <a:srgbClr val="434343"/>
              </a:solidFill>
              <a:latin typeface="Calibri"/>
              <a:ea typeface="Calibri"/>
              <a:cs typeface="Calibri"/>
              <a:sym typeface="Calibri"/>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True differentiation is in partnership, implementation, innovation, customer care</a:t>
            </a:r>
            <a:endParaRPr sz="1600">
              <a:solidFill>
                <a:srgbClr val="434343"/>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506" name="Shape 506"/>
        <p:cNvGrpSpPr/>
        <p:nvPr/>
      </p:nvGrpSpPr>
      <p:grpSpPr>
        <a:xfrm>
          <a:off x="0" y="0"/>
          <a:ext cx="0" cy="0"/>
          <a:chOff x="0" y="0"/>
          <a:chExt cx="0" cy="0"/>
        </a:xfrm>
      </p:grpSpPr>
      <p:sp>
        <p:nvSpPr>
          <p:cNvPr id="507" name="Google Shape;507;p61"/>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4000">
                <a:solidFill>
                  <a:srgbClr val="073763"/>
                </a:solidFill>
              </a:rPr>
              <a:t>Example</a:t>
            </a:r>
            <a:r>
              <a:rPr lang="en-US" sz="4000">
                <a:solidFill>
                  <a:srgbClr val="073763"/>
                </a:solidFill>
              </a:rPr>
              <a:t>: </a:t>
            </a:r>
            <a:r>
              <a:rPr lang="en-US" sz="4000" b="0" i="1">
                <a:solidFill>
                  <a:srgbClr val="073763"/>
                </a:solidFill>
                <a:latin typeface="Calibri"/>
                <a:ea typeface="Calibri"/>
                <a:cs typeface="Calibri"/>
                <a:sym typeface="Calibri"/>
              </a:rPr>
              <a:t>Core Difference </a:t>
            </a:r>
            <a:endParaRPr sz="4000" b="0" i="1">
              <a:solidFill>
                <a:srgbClr val="62C9D7"/>
              </a:solidFill>
              <a:latin typeface="Calibri"/>
              <a:ea typeface="Calibri"/>
              <a:cs typeface="Calibri"/>
              <a:sym typeface="Calibri"/>
            </a:endParaRPr>
          </a:p>
        </p:txBody>
      </p:sp>
      <p:sp>
        <p:nvSpPr>
          <p:cNvPr id="508" name="Google Shape;508;p61"/>
          <p:cNvSpPr txBox="1"/>
          <p:nvPr>
            <p:ph type="body" idx="1"/>
          </p:nvPr>
        </p:nvSpPr>
        <p:spPr>
          <a:xfrm>
            <a:off x="1138225" y="1826950"/>
            <a:ext cx="83649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950" b="1"/>
              <a:t>Opportunity to really differentiate CrossCap in two key areas:</a:t>
            </a:r>
            <a:br>
              <a:rPr lang="en-US" sz="1250" b="1"/>
            </a:br>
            <a:endParaRPr sz="1250" b="1"/>
          </a:p>
          <a:p>
            <a:pPr marL="685800" marR="0" lvl="1" indent="-238125" algn="l" rtl="0">
              <a:lnSpc>
                <a:spcPct val="100000"/>
              </a:lnSpc>
              <a:spcBef>
                <a:spcPts val="1000"/>
              </a:spcBef>
              <a:spcAft>
                <a:spcPts val="0"/>
              </a:spcAft>
              <a:buClr>
                <a:schemeClr val="accent2"/>
              </a:buClr>
              <a:buSzPts val="1950"/>
              <a:buFont typeface="Noto Sans Symbols"/>
              <a:buChar char="✔"/>
            </a:pPr>
            <a:r>
              <a:rPr lang="en-US" sz="1950"/>
              <a:t>While all the competitors lead with messaging around type of software, features, and technical benefits… </a:t>
            </a:r>
            <a:r>
              <a:rPr lang="en-US" sz="1950" b="1" i="1"/>
              <a:t>CrossCap can stand out by focusing on the ability to provide an enterprise level implementation but with the innovation, customization, partnership and boutique one-to-one customer care of a smaller, more nimble firm. </a:t>
            </a:r>
            <a:endParaRPr sz="1950" b="1" i="1"/>
          </a:p>
          <a:p>
            <a:pPr marL="1143000" marR="0" lvl="2" indent="-238125" algn="l" rtl="0">
              <a:lnSpc>
                <a:spcPct val="100000"/>
              </a:lnSpc>
              <a:spcBef>
                <a:spcPts val="1000"/>
              </a:spcBef>
              <a:spcAft>
                <a:spcPts val="0"/>
              </a:spcAft>
              <a:buClr>
                <a:schemeClr val="accent2"/>
              </a:buClr>
              <a:buSzPts val="1950"/>
              <a:buFont typeface="Noto Sans Symbols"/>
              <a:buChar char="•"/>
            </a:pPr>
            <a:r>
              <a:rPr lang="en-US" sz="1950" i="1"/>
              <a:t>Small firms promise everything and can’t fulfill - the Oracles of the world make you fit yourself in their software box</a:t>
            </a:r>
            <a:br>
              <a:rPr lang="en-US" sz="1950" b="1" i="1"/>
            </a:br>
            <a:endParaRPr sz="1950" b="1" i="1"/>
          </a:p>
          <a:p>
            <a:pPr marL="685800" marR="0" lvl="1" indent="-238125" algn="l" rtl="0">
              <a:lnSpc>
                <a:spcPct val="100000"/>
              </a:lnSpc>
              <a:spcBef>
                <a:spcPts val="1000"/>
              </a:spcBef>
              <a:spcAft>
                <a:spcPts val="0"/>
              </a:spcAft>
              <a:buClr>
                <a:schemeClr val="accent2"/>
              </a:buClr>
              <a:buSzPts val="1950"/>
              <a:buFont typeface="Noto Sans Symbols"/>
              <a:buChar char="✔"/>
            </a:pPr>
            <a:r>
              <a:rPr lang="en-US" sz="1950"/>
              <a:t>While all the competitors target all sizes of companies… </a:t>
            </a:r>
            <a:r>
              <a:rPr lang="en-US" sz="1950" b="1" i="1"/>
              <a:t>CrossCap can design everything they do around supporting Enterprise level organizations</a:t>
            </a:r>
            <a:endParaRPr sz="1950" b="1" i="1"/>
          </a:p>
        </p:txBody>
      </p:sp>
      <p:sp>
        <p:nvSpPr>
          <p:cNvPr id="509" name="Google Shape;509;p6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513" name="Shape 513"/>
        <p:cNvGrpSpPr/>
        <p:nvPr/>
      </p:nvGrpSpPr>
      <p:grpSpPr>
        <a:xfrm>
          <a:off x="0" y="0"/>
          <a:ext cx="0" cy="0"/>
          <a:chOff x="0" y="0"/>
          <a:chExt cx="0" cy="0"/>
        </a:xfrm>
      </p:grpSpPr>
      <p:sp>
        <p:nvSpPr>
          <p:cNvPr id="514" name="Google Shape;514;p62"/>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Corporate Branding</a:t>
            </a:r>
            <a:endParaRPr sz="3800" b="0" i="1">
              <a:solidFill>
                <a:schemeClr val="accent4"/>
              </a:solidFill>
              <a:latin typeface="Calibri"/>
              <a:ea typeface="Calibri"/>
              <a:cs typeface="Calibri"/>
              <a:sym typeface="Calibri"/>
            </a:endParaRPr>
          </a:p>
        </p:txBody>
      </p:sp>
      <p:sp>
        <p:nvSpPr>
          <p:cNvPr id="515" name="Google Shape;515;p62"/>
          <p:cNvSpPr txBox="1"/>
          <p:nvPr>
            <p:ph type="body" idx="1"/>
          </p:nvPr>
        </p:nvSpPr>
        <p:spPr>
          <a:xfrm>
            <a:off x="802075" y="1654850"/>
            <a:ext cx="6693000" cy="463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650" b="1"/>
              <a:t>Branding/Images:</a:t>
            </a:r>
            <a:endParaRPr sz="1650" b="1"/>
          </a:p>
          <a:p>
            <a:pPr marL="400050" lvl="1" indent="-219075" algn="l" rtl="0">
              <a:lnSpc>
                <a:spcPct val="100000"/>
              </a:lnSpc>
              <a:spcBef>
                <a:spcPts val="1000"/>
              </a:spcBef>
              <a:spcAft>
                <a:spcPts val="0"/>
              </a:spcAft>
              <a:buClr>
                <a:schemeClr val="accent2"/>
              </a:buClr>
              <a:buSzPts val="1650"/>
              <a:buFont typeface="Noto Sans Symbols"/>
              <a:buChar char="✔"/>
            </a:pPr>
            <a:r>
              <a:rPr lang="en-US" sz="1650"/>
              <a:t>Choose images that clearly position CrossCap as serving enterprise level clients</a:t>
            </a:r>
            <a:endParaRPr sz="1650"/>
          </a:p>
          <a:p>
            <a:pPr marL="400050" lvl="1" indent="-219075" algn="l" rtl="0">
              <a:lnSpc>
                <a:spcPct val="100000"/>
              </a:lnSpc>
              <a:spcBef>
                <a:spcPts val="1000"/>
              </a:spcBef>
              <a:spcAft>
                <a:spcPts val="0"/>
              </a:spcAft>
              <a:buClr>
                <a:schemeClr val="accent2"/>
              </a:buClr>
              <a:buSzPts val="1650"/>
              <a:buFont typeface="Noto Sans Symbols"/>
              <a:buChar char="✔"/>
            </a:pPr>
            <a:r>
              <a:rPr lang="en-US" sz="1650"/>
              <a:t>Stay away from images that may indicate CrossCap services smaller companies or solopreneurs. </a:t>
            </a:r>
            <a:endParaRPr sz="1650"/>
          </a:p>
          <a:p>
            <a:pPr marL="400050" lvl="1" indent="-219075" algn="l" rtl="0">
              <a:lnSpc>
                <a:spcPct val="100000"/>
              </a:lnSpc>
              <a:spcBef>
                <a:spcPts val="1000"/>
              </a:spcBef>
              <a:spcAft>
                <a:spcPts val="0"/>
              </a:spcAft>
              <a:buClr>
                <a:schemeClr val="accent2"/>
              </a:buClr>
              <a:buSzPts val="1650"/>
              <a:buFont typeface="Noto Sans Symbols"/>
              <a:buChar char="✔"/>
            </a:pPr>
            <a:r>
              <a:rPr lang="en-US" sz="1650"/>
              <a:t>Add some complementary colors to the branding palette that are bolder, reflect an enterprise feel, and can “pop” in ads/posts</a:t>
            </a:r>
            <a:endParaRPr sz="1650"/>
          </a:p>
          <a:p>
            <a:pPr marL="1143000" lvl="0" indent="0" algn="l" rtl="0">
              <a:lnSpc>
                <a:spcPct val="100000"/>
              </a:lnSpc>
              <a:spcBef>
                <a:spcPts val="1000"/>
              </a:spcBef>
              <a:spcAft>
                <a:spcPts val="0"/>
              </a:spcAft>
              <a:buNone/>
            </a:pPr>
            <a:endParaRPr sz="1650"/>
          </a:p>
          <a:p>
            <a:pPr marL="114300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516" name="Google Shape;516;p62"/>
          <p:cNvPicPr preferRelativeResize="0"/>
          <p:nvPr/>
        </p:nvPicPr>
        <p:blipFill rotWithShape="1">
          <a:blip r:embed="rId1"/>
          <a:srcRect/>
          <a:stretch>
            <a:fillRect/>
          </a:stretch>
        </p:blipFill>
        <p:spPr>
          <a:xfrm>
            <a:off x="8537750" y="1792300"/>
            <a:ext cx="3026325" cy="3945999"/>
          </a:xfrm>
          <a:prstGeom prst="rect">
            <a:avLst/>
          </a:prstGeom>
          <a:noFill/>
          <a:ln>
            <a:noFill/>
          </a:ln>
        </p:spPr>
      </p:pic>
      <p:sp>
        <p:nvSpPr>
          <p:cNvPr id="517" name="Google Shape;517;p62"/>
          <p:cNvSpPr txBox="1"/>
          <p:nvPr/>
        </p:nvSpPr>
        <p:spPr>
          <a:xfrm>
            <a:off x="8943200" y="2002200"/>
            <a:ext cx="2340000" cy="34524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Opportunity to use branding and images to position CrossCap at the Enterprise level</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521" name="Shape 521"/>
        <p:cNvGrpSpPr/>
        <p:nvPr/>
      </p:nvGrpSpPr>
      <p:grpSpPr>
        <a:xfrm>
          <a:off x="0" y="0"/>
          <a:ext cx="0" cy="0"/>
          <a:chOff x="0" y="0"/>
          <a:chExt cx="0" cy="0"/>
        </a:xfrm>
      </p:grpSpPr>
      <p:sp>
        <p:nvSpPr>
          <p:cNvPr id="522" name="Google Shape;522;p63"/>
          <p:cNvSpPr txBox="1"/>
          <p:nvPr>
            <p:ph type="title"/>
          </p:nvPr>
        </p:nvSpPr>
        <p:spPr>
          <a:xfrm>
            <a:off x="853450" y="784225"/>
            <a:ext cx="10704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Update Images &amp; Branding</a:t>
            </a:r>
            <a:endParaRPr sz="3800">
              <a:solidFill>
                <a:schemeClr val="accent5"/>
              </a:solidFill>
            </a:endParaRPr>
          </a:p>
        </p:txBody>
      </p:sp>
      <p:sp>
        <p:nvSpPr>
          <p:cNvPr id="523" name="Google Shape;523;p63"/>
          <p:cNvSpPr txBox="1"/>
          <p:nvPr>
            <p:ph type="body" idx="1"/>
          </p:nvPr>
        </p:nvSpPr>
        <p:spPr>
          <a:xfrm>
            <a:off x="589125" y="1611500"/>
            <a:ext cx="7186500" cy="47682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1000"/>
              </a:spcBef>
              <a:spcAft>
                <a:spcPts val="0"/>
              </a:spcAft>
              <a:buNone/>
            </a:pPr>
            <a:r>
              <a:rPr lang="en-US" sz="1750"/>
              <a:t>Update images &amp; branding to better reflect an Enterprise level company</a:t>
            </a:r>
            <a:endParaRPr sz="1750"/>
          </a:p>
        </p:txBody>
      </p:sp>
      <p:pic>
        <p:nvPicPr>
          <p:cNvPr id="524" name="Google Shape;524;p63"/>
          <p:cNvPicPr preferRelativeResize="0"/>
          <p:nvPr/>
        </p:nvPicPr>
        <p:blipFill>
          <a:blip r:embed="rId1"/>
          <a:stretch>
            <a:fillRect/>
          </a:stretch>
        </p:blipFill>
        <p:spPr>
          <a:xfrm>
            <a:off x="8409825" y="1662752"/>
            <a:ext cx="3344114" cy="1586300"/>
          </a:xfrm>
          <a:prstGeom prst="rect">
            <a:avLst/>
          </a:prstGeom>
          <a:noFill/>
          <a:ln w="9525" cap="flat" cmpd="sng">
            <a:solidFill>
              <a:schemeClr val="dk2"/>
            </a:solidFill>
            <a:prstDash val="dot"/>
            <a:round/>
            <a:headEnd type="none" w="sm" len="sm"/>
            <a:tailEnd type="none" w="sm" len="sm"/>
          </a:ln>
        </p:spPr>
      </p:pic>
      <p:pic>
        <p:nvPicPr>
          <p:cNvPr id="525" name="Google Shape;525;p63"/>
          <p:cNvPicPr preferRelativeResize="0"/>
          <p:nvPr/>
        </p:nvPicPr>
        <p:blipFill>
          <a:blip r:embed="rId2"/>
          <a:stretch>
            <a:fillRect/>
          </a:stretch>
        </p:blipFill>
        <p:spPr>
          <a:xfrm>
            <a:off x="1187750" y="2491350"/>
            <a:ext cx="6823752" cy="3888351"/>
          </a:xfrm>
          <a:prstGeom prst="rect">
            <a:avLst/>
          </a:prstGeom>
          <a:noFill/>
          <a:ln w="9525" cap="flat" cmpd="sng">
            <a:solidFill>
              <a:schemeClr val="dk2"/>
            </a:solidFill>
            <a:prstDash val="dot"/>
            <a:round/>
            <a:headEnd type="none" w="sm" len="sm"/>
            <a:tailEnd type="none" w="sm" len="sm"/>
          </a:ln>
        </p:spPr>
      </p:pic>
      <p:sp>
        <p:nvSpPr>
          <p:cNvPr id="526" name="Google Shape;526;p6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530" name="Shape 530"/>
        <p:cNvGrpSpPr/>
        <p:nvPr/>
      </p:nvGrpSpPr>
      <p:grpSpPr>
        <a:xfrm>
          <a:off x="0" y="0"/>
          <a:ext cx="0" cy="0"/>
          <a:chOff x="0" y="0"/>
          <a:chExt cx="0" cy="0"/>
        </a:xfrm>
      </p:grpSpPr>
      <p:sp>
        <p:nvSpPr>
          <p:cNvPr id="531" name="Google Shape;531;p64"/>
          <p:cNvSpPr txBox="1"/>
          <p:nvPr>
            <p:ph type="title"/>
          </p:nvPr>
        </p:nvSpPr>
        <p:spPr>
          <a:xfrm>
            <a:off x="725875" y="708025"/>
            <a:ext cx="11060400" cy="751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rgbClr val="073763"/>
                </a:solidFill>
              </a:rPr>
              <a:t>Corporate Branding</a:t>
            </a:r>
            <a:endParaRPr sz="3800" b="0" i="1">
              <a:solidFill>
                <a:schemeClr val="accent4"/>
              </a:solidFill>
              <a:latin typeface="Calibri"/>
              <a:ea typeface="Calibri"/>
              <a:cs typeface="Calibri"/>
              <a:sym typeface="Calibri"/>
            </a:endParaRPr>
          </a:p>
        </p:txBody>
      </p:sp>
      <p:sp>
        <p:nvSpPr>
          <p:cNvPr id="532" name="Google Shape;532;p64"/>
          <p:cNvSpPr txBox="1"/>
          <p:nvPr>
            <p:ph type="body" idx="1"/>
          </p:nvPr>
        </p:nvSpPr>
        <p:spPr>
          <a:xfrm>
            <a:off x="849225" y="1588000"/>
            <a:ext cx="4244100" cy="4630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None/>
            </a:pPr>
            <a:r>
              <a:rPr lang="en-US" sz="1700" b="1"/>
              <a:t>Branding/Images:</a:t>
            </a:r>
            <a:endParaRPr sz="1700" b="1"/>
          </a:p>
          <a:p>
            <a:pPr marL="457200" lvl="1" indent="-222250" algn="l" rtl="0">
              <a:lnSpc>
                <a:spcPct val="115000"/>
              </a:lnSpc>
              <a:spcBef>
                <a:spcPts val="0"/>
              </a:spcBef>
              <a:spcAft>
                <a:spcPts val="0"/>
              </a:spcAft>
              <a:buClr>
                <a:schemeClr val="accent2"/>
              </a:buClr>
              <a:buSzPts val="1700"/>
              <a:buFont typeface="Noto Sans Symbols"/>
              <a:buChar char="✔"/>
            </a:pPr>
            <a:r>
              <a:rPr lang="en-US" sz="1700"/>
              <a:t>Main images on website feature people &amp; pets in everyday situations, some at home, some at work</a:t>
            </a:r>
            <a:endParaRPr sz="1700"/>
          </a:p>
          <a:p>
            <a:pPr marL="685800" lvl="2" indent="-222250" algn="l" rtl="0">
              <a:lnSpc>
                <a:spcPct val="115000"/>
              </a:lnSpc>
              <a:spcBef>
                <a:spcPts val="0"/>
              </a:spcBef>
              <a:spcAft>
                <a:spcPts val="0"/>
              </a:spcAft>
              <a:buClr>
                <a:schemeClr val="accent2"/>
              </a:buClr>
              <a:buSzPts val="1700"/>
              <a:buFont typeface="Noto Sans Symbols"/>
              <a:buChar char="•"/>
            </a:pPr>
            <a:r>
              <a:rPr lang="en-US" sz="1700"/>
              <a:t>May give the perception that CrossCap’s products are for smaller companies/solopreneurs - not an “enterprise” feel</a:t>
            </a:r>
            <a:endParaRPr sz="1700"/>
          </a:p>
          <a:p>
            <a:pPr marL="457200" lvl="1" indent="-222250" algn="l" rtl="0">
              <a:lnSpc>
                <a:spcPct val="115000"/>
              </a:lnSpc>
              <a:spcBef>
                <a:spcPts val="0"/>
              </a:spcBef>
              <a:spcAft>
                <a:spcPts val="0"/>
              </a:spcAft>
              <a:buClr>
                <a:schemeClr val="accent2"/>
              </a:buClr>
              <a:buSzPts val="1700"/>
              <a:buFont typeface="Noto Sans Symbols"/>
              <a:buChar char="✔"/>
            </a:pPr>
            <a:r>
              <a:rPr lang="en-US" sz="1700"/>
              <a:t>Current brand colors are in the pastel range:</a:t>
            </a:r>
            <a:endParaRPr sz="1700"/>
          </a:p>
          <a:p>
            <a:pPr marL="685800" lvl="2" indent="-222250" algn="l" rtl="0">
              <a:lnSpc>
                <a:spcPct val="115000"/>
              </a:lnSpc>
              <a:spcBef>
                <a:spcPts val="0"/>
              </a:spcBef>
              <a:spcAft>
                <a:spcPts val="0"/>
              </a:spcAft>
              <a:buClr>
                <a:schemeClr val="accent2"/>
              </a:buClr>
              <a:buSzPts val="1700"/>
              <a:buFont typeface="Noto Sans Symbols"/>
              <a:buChar char="•"/>
            </a:pPr>
            <a:r>
              <a:rPr lang="en-US" sz="1700"/>
              <a:t>The pastel colors don’t scream “enterprise” or pop for online/offline ads/posts</a:t>
            </a:r>
            <a:endParaRPr sz="1700"/>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533" name="Google Shape;533;p64"/>
          <p:cNvPicPr preferRelativeResize="0"/>
          <p:nvPr/>
        </p:nvPicPr>
        <p:blipFill>
          <a:blip r:embed="rId1"/>
          <a:stretch>
            <a:fillRect/>
          </a:stretch>
        </p:blipFill>
        <p:spPr>
          <a:xfrm>
            <a:off x="5395325" y="1761404"/>
            <a:ext cx="3589200" cy="3335172"/>
          </a:xfrm>
          <a:prstGeom prst="rect">
            <a:avLst/>
          </a:prstGeom>
          <a:noFill/>
          <a:ln>
            <a:noFill/>
          </a:ln>
        </p:spPr>
      </p:pic>
      <p:pic>
        <p:nvPicPr>
          <p:cNvPr id="534" name="Google Shape;534;p64"/>
          <p:cNvPicPr preferRelativeResize="0"/>
          <p:nvPr/>
        </p:nvPicPr>
        <p:blipFill rotWithShape="1">
          <a:blip r:embed="rId2"/>
          <a:srcRect t="21966"/>
          <a:stretch>
            <a:fillRect/>
          </a:stretch>
        </p:blipFill>
        <p:spPr>
          <a:xfrm>
            <a:off x="9286525" y="2343850"/>
            <a:ext cx="2566575" cy="2408489"/>
          </a:xfrm>
          <a:prstGeom prst="rect">
            <a:avLst/>
          </a:prstGeom>
          <a:noFill/>
          <a:ln>
            <a:noFill/>
          </a:ln>
        </p:spPr>
      </p:pic>
      <p:sp>
        <p:nvSpPr>
          <p:cNvPr id="535" name="Google Shape;535;p6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539" name="Shape 539"/>
        <p:cNvGrpSpPr/>
        <p:nvPr/>
      </p:nvGrpSpPr>
      <p:grpSpPr>
        <a:xfrm>
          <a:off x="0" y="0"/>
          <a:ext cx="0" cy="0"/>
          <a:chOff x="0" y="0"/>
          <a:chExt cx="0" cy="0"/>
        </a:xfrm>
      </p:grpSpPr>
      <p:sp>
        <p:nvSpPr>
          <p:cNvPr id="540" name="Google Shape;540;p65"/>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Update Images &amp; Branding</a:t>
            </a:r>
            <a:endParaRPr sz="3800">
              <a:solidFill>
                <a:schemeClr val="accent5"/>
              </a:solidFill>
            </a:endParaRPr>
          </a:p>
        </p:txBody>
      </p:sp>
      <p:sp>
        <p:nvSpPr>
          <p:cNvPr id="541" name="Google Shape;541;p65"/>
          <p:cNvSpPr txBox="1"/>
          <p:nvPr>
            <p:ph type="body" idx="1"/>
          </p:nvPr>
        </p:nvSpPr>
        <p:spPr>
          <a:xfrm>
            <a:off x="927600" y="1611500"/>
            <a:ext cx="6848100" cy="476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2000" b="1">
                <a:solidFill>
                  <a:schemeClr val="accent2"/>
                </a:solidFill>
              </a:rPr>
              <a:t>Update Images &amp; Branding to Reflect an Enterprise-level Company </a:t>
            </a:r>
            <a:endParaRPr sz="1950"/>
          </a:p>
          <a:p>
            <a:pPr marL="342900" lvl="1" indent="-219075" algn="l" rtl="0">
              <a:lnSpc>
                <a:spcPct val="100000"/>
              </a:lnSpc>
              <a:spcBef>
                <a:spcPts val="1000"/>
              </a:spcBef>
              <a:spcAft>
                <a:spcPts val="0"/>
              </a:spcAft>
              <a:buClr>
                <a:schemeClr val="accent2"/>
              </a:buClr>
              <a:buSzPts val="1650"/>
              <a:buFont typeface="Noto Sans Symbols"/>
              <a:buChar char="✔"/>
            </a:pPr>
            <a:r>
              <a:rPr lang="en-US" sz="1650"/>
              <a:t>Recommend current teal colour + additional colours to give more depth to the logo and to the brand pallet. Either add in additional colours or move in a completely new direction with an entire brand revamp.</a:t>
            </a:r>
            <a:endParaRPr sz="1650"/>
          </a:p>
          <a:p>
            <a:pPr marL="342900" marR="0" lvl="1" indent="-219075" algn="l" rtl="0">
              <a:lnSpc>
                <a:spcPct val="100000"/>
              </a:lnSpc>
              <a:spcBef>
                <a:spcPts val="1000"/>
              </a:spcBef>
              <a:spcAft>
                <a:spcPts val="0"/>
              </a:spcAft>
              <a:buClr>
                <a:schemeClr val="accent2"/>
              </a:buClr>
              <a:buSzPts val="1650"/>
              <a:buFont typeface="Noto Sans Symbols"/>
              <a:buChar char="✔"/>
            </a:pPr>
            <a:r>
              <a:rPr lang="en-US" sz="1650"/>
              <a:t>Use of images is currently illustration - recommend moving to high-end photography (stock) that shows your ideal customer (CMO, Marketing Ops) and their ideal work situation (global, teams, in-store) so that it is very clear who CrossCap is for Adjust messaging for corporate and products:</a:t>
            </a:r>
            <a:endParaRPr sz="1650"/>
          </a:p>
          <a:p>
            <a:pPr marL="1143000" marR="0" lvl="0" indent="0" algn="l" rtl="0">
              <a:lnSpc>
                <a:spcPct val="100000"/>
              </a:lnSpc>
              <a:spcBef>
                <a:spcPts val="1000"/>
              </a:spcBef>
              <a:spcAft>
                <a:spcPts val="0"/>
              </a:spcAft>
              <a:buNone/>
            </a:pPr>
            <a:endParaRPr sz="1950"/>
          </a:p>
        </p:txBody>
      </p:sp>
      <p:pic>
        <p:nvPicPr>
          <p:cNvPr id="542" name="Google Shape;542;p65"/>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543" name="Google Shape;543;p65"/>
          <p:cNvSpPr txBox="1"/>
          <p:nvPr/>
        </p:nvSpPr>
        <p:spPr>
          <a:xfrm>
            <a:off x="8282300" y="1816950"/>
            <a:ext cx="2983800" cy="31575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With the complexity CrossCap’s existing customers manage each day, it is key that potential customers see a company with products who can support their own global marketing complexity. Stronger imagery helps achieve this message.</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544" name="Google Shape;544;p6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548" name="Shape 548"/>
        <p:cNvGrpSpPr/>
        <p:nvPr/>
      </p:nvGrpSpPr>
      <p:grpSpPr>
        <a:xfrm>
          <a:off x="0" y="0"/>
          <a:ext cx="0" cy="0"/>
          <a:chOff x="0" y="0"/>
          <a:chExt cx="0" cy="0"/>
        </a:xfrm>
      </p:grpSpPr>
      <p:sp>
        <p:nvSpPr>
          <p:cNvPr id="549" name="Google Shape;549;p66"/>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Brand Colors</a:t>
            </a:r>
            <a:endParaRPr sz="3800">
              <a:solidFill>
                <a:schemeClr val="accent5"/>
              </a:solidFill>
            </a:endParaRPr>
          </a:p>
        </p:txBody>
      </p:sp>
      <p:sp>
        <p:nvSpPr>
          <p:cNvPr id="550" name="Google Shape;550;p66"/>
          <p:cNvSpPr txBox="1"/>
          <p:nvPr>
            <p:ph type="body" idx="1"/>
          </p:nvPr>
        </p:nvSpPr>
        <p:spPr>
          <a:xfrm>
            <a:off x="589125" y="1611500"/>
            <a:ext cx="7186500" cy="47682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1000"/>
              </a:spcBef>
              <a:spcAft>
                <a:spcPts val="0"/>
              </a:spcAft>
              <a:buNone/>
            </a:pPr>
            <a:r>
              <a:rPr lang="en-US" sz="1750"/>
              <a:t>Update images &amp; branding to better reflect an Enterprise level company</a:t>
            </a:r>
            <a:endParaRPr sz="1750"/>
          </a:p>
        </p:txBody>
      </p:sp>
      <p:pic>
        <p:nvPicPr>
          <p:cNvPr id="551" name="Google Shape;551;p66"/>
          <p:cNvPicPr preferRelativeResize="0"/>
          <p:nvPr/>
        </p:nvPicPr>
        <p:blipFill>
          <a:blip r:embed="rId1"/>
          <a:stretch>
            <a:fillRect/>
          </a:stretch>
        </p:blipFill>
        <p:spPr>
          <a:xfrm>
            <a:off x="390125" y="1452925"/>
            <a:ext cx="8233706" cy="4768201"/>
          </a:xfrm>
          <a:prstGeom prst="rect">
            <a:avLst/>
          </a:prstGeom>
          <a:noFill/>
          <a:ln>
            <a:noFill/>
          </a:ln>
        </p:spPr>
      </p:pic>
      <p:pic>
        <p:nvPicPr>
          <p:cNvPr id="552" name="Google Shape;552;p66"/>
          <p:cNvPicPr preferRelativeResize="0"/>
          <p:nvPr/>
        </p:nvPicPr>
        <p:blipFill rotWithShape="1">
          <a:blip r:embed="rId2"/>
          <a:srcRect/>
          <a:stretch>
            <a:fillRect/>
          </a:stretch>
        </p:blipFill>
        <p:spPr>
          <a:xfrm>
            <a:off x="9179950" y="1611500"/>
            <a:ext cx="2713275" cy="3544825"/>
          </a:xfrm>
          <a:prstGeom prst="rect">
            <a:avLst/>
          </a:prstGeom>
          <a:noFill/>
          <a:ln>
            <a:noFill/>
          </a:ln>
        </p:spPr>
      </p:pic>
      <p:sp>
        <p:nvSpPr>
          <p:cNvPr id="553" name="Google Shape;553;p66"/>
          <p:cNvSpPr txBox="1"/>
          <p:nvPr/>
        </p:nvSpPr>
        <p:spPr>
          <a:xfrm>
            <a:off x="9471425" y="1816950"/>
            <a:ext cx="2266200" cy="1989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Options of you want to keep current teal colour and add in additional colours</a:t>
            </a:r>
            <a:endParaRPr sz="1500">
              <a:solidFill>
                <a:srgbClr val="434343"/>
              </a:solidFill>
              <a:latin typeface="Calibri"/>
              <a:ea typeface="Calibri"/>
              <a:cs typeface="Calibri"/>
              <a:sym typeface="Calibri"/>
            </a:endParaRPr>
          </a:p>
          <a:p>
            <a:pPr marL="0" marR="0" lvl="0" indent="0" algn="l" rtl="0">
              <a:lnSpc>
                <a:spcPct val="100000"/>
              </a:lnSpc>
              <a:spcBef>
                <a:spcPts val="60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554" name="Google Shape;554;p6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558" name="Shape 558"/>
        <p:cNvGrpSpPr/>
        <p:nvPr/>
      </p:nvGrpSpPr>
      <p:grpSpPr>
        <a:xfrm>
          <a:off x="0" y="0"/>
          <a:ext cx="0" cy="0"/>
          <a:chOff x="0" y="0"/>
          <a:chExt cx="0" cy="0"/>
        </a:xfrm>
      </p:grpSpPr>
      <p:sp>
        <p:nvSpPr>
          <p:cNvPr id="559" name="Google Shape;559;p67"/>
          <p:cNvSpPr txBox="1"/>
          <p:nvPr>
            <p:ph type="title"/>
          </p:nvPr>
        </p:nvSpPr>
        <p:spPr>
          <a:xfrm>
            <a:off x="863600" y="784225"/>
            <a:ext cx="10694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Branding Colors</a:t>
            </a:r>
            <a:endParaRPr sz="3800">
              <a:solidFill>
                <a:schemeClr val="accent5"/>
              </a:solidFill>
            </a:endParaRPr>
          </a:p>
        </p:txBody>
      </p:sp>
      <p:pic>
        <p:nvPicPr>
          <p:cNvPr id="560" name="Google Shape;560;p67"/>
          <p:cNvPicPr preferRelativeResize="0"/>
          <p:nvPr/>
        </p:nvPicPr>
        <p:blipFill>
          <a:blip r:embed="rId1"/>
          <a:stretch>
            <a:fillRect/>
          </a:stretch>
        </p:blipFill>
        <p:spPr>
          <a:xfrm>
            <a:off x="1167263" y="1710150"/>
            <a:ext cx="3804526" cy="1971715"/>
          </a:xfrm>
          <a:prstGeom prst="rect">
            <a:avLst/>
          </a:prstGeom>
          <a:noFill/>
          <a:ln w="9525" cap="flat" cmpd="sng">
            <a:solidFill>
              <a:schemeClr val="dk2"/>
            </a:solidFill>
            <a:prstDash val="dot"/>
            <a:round/>
            <a:headEnd type="none" w="sm" len="sm"/>
            <a:tailEnd type="none" w="sm" len="sm"/>
          </a:ln>
        </p:spPr>
      </p:pic>
      <p:pic>
        <p:nvPicPr>
          <p:cNvPr id="561" name="Google Shape;561;p67"/>
          <p:cNvPicPr preferRelativeResize="0"/>
          <p:nvPr/>
        </p:nvPicPr>
        <p:blipFill>
          <a:blip r:embed="rId2"/>
          <a:stretch>
            <a:fillRect/>
          </a:stretch>
        </p:blipFill>
        <p:spPr>
          <a:xfrm>
            <a:off x="5113925" y="3249250"/>
            <a:ext cx="3907075" cy="1804825"/>
          </a:xfrm>
          <a:prstGeom prst="rect">
            <a:avLst/>
          </a:prstGeom>
          <a:noFill/>
          <a:ln w="9525" cap="flat" cmpd="sng">
            <a:solidFill>
              <a:schemeClr val="dk2"/>
            </a:solidFill>
            <a:prstDash val="dot"/>
            <a:round/>
            <a:headEnd type="none" w="sm" len="sm"/>
            <a:tailEnd type="none" w="sm" len="sm"/>
          </a:ln>
        </p:spPr>
      </p:pic>
      <p:pic>
        <p:nvPicPr>
          <p:cNvPr id="562" name="Google Shape;562;p67"/>
          <p:cNvPicPr preferRelativeResize="0"/>
          <p:nvPr/>
        </p:nvPicPr>
        <p:blipFill>
          <a:blip r:embed="rId3"/>
          <a:stretch>
            <a:fillRect/>
          </a:stretch>
        </p:blipFill>
        <p:spPr>
          <a:xfrm>
            <a:off x="1242688" y="4234650"/>
            <a:ext cx="3653653" cy="1804825"/>
          </a:xfrm>
          <a:prstGeom prst="rect">
            <a:avLst/>
          </a:prstGeom>
          <a:noFill/>
          <a:ln w="9525" cap="flat" cmpd="sng">
            <a:solidFill>
              <a:schemeClr val="dk2"/>
            </a:solidFill>
            <a:prstDash val="dot"/>
            <a:round/>
            <a:headEnd type="none" w="sm" len="sm"/>
            <a:tailEnd type="none" w="sm" len="sm"/>
          </a:ln>
        </p:spPr>
      </p:pic>
      <p:pic>
        <p:nvPicPr>
          <p:cNvPr id="563" name="Google Shape;563;p67"/>
          <p:cNvPicPr preferRelativeResize="0"/>
          <p:nvPr/>
        </p:nvPicPr>
        <p:blipFill rotWithShape="1">
          <a:blip r:embed="rId4"/>
          <a:srcRect/>
          <a:stretch>
            <a:fillRect/>
          </a:stretch>
        </p:blipFill>
        <p:spPr>
          <a:xfrm>
            <a:off x="9179950" y="1611500"/>
            <a:ext cx="2713275" cy="3544825"/>
          </a:xfrm>
          <a:prstGeom prst="rect">
            <a:avLst/>
          </a:prstGeom>
          <a:noFill/>
          <a:ln>
            <a:noFill/>
          </a:ln>
        </p:spPr>
      </p:pic>
      <p:sp>
        <p:nvSpPr>
          <p:cNvPr id="564" name="Google Shape;564;p67"/>
          <p:cNvSpPr txBox="1"/>
          <p:nvPr/>
        </p:nvSpPr>
        <p:spPr>
          <a:xfrm>
            <a:off x="9471425" y="1816950"/>
            <a:ext cx="2266200" cy="24516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Options to depart to a more serious green or lead with blue - typical of Enterprise brand colours</a:t>
            </a:r>
            <a:endParaRPr sz="1500">
              <a:solidFill>
                <a:srgbClr val="434343"/>
              </a:solidFill>
              <a:latin typeface="Calibri"/>
              <a:ea typeface="Calibri"/>
              <a:cs typeface="Calibri"/>
              <a:sym typeface="Calibri"/>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Consider a full logo/colour palette redesign/refresh</a:t>
            </a:r>
            <a:endParaRPr sz="15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565" name="Google Shape;565;p6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569" name="Shape 569"/>
        <p:cNvGrpSpPr/>
        <p:nvPr/>
      </p:nvGrpSpPr>
      <p:grpSpPr>
        <a:xfrm>
          <a:off x="0" y="0"/>
          <a:ext cx="0" cy="0"/>
          <a:chOff x="0" y="0"/>
          <a:chExt cx="0" cy="0"/>
        </a:xfrm>
      </p:grpSpPr>
      <p:sp>
        <p:nvSpPr>
          <p:cNvPr id="570" name="Google Shape;570;p68"/>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Distro</a:t>
            </a:r>
            <a:endParaRPr sz="3800">
              <a:solidFill>
                <a:schemeClr val="accent5"/>
              </a:solidFill>
            </a:endParaRPr>
          </a:p>
        </p:txBody>
      </p:sp>
      <p:pic>
        <p:nvPicPr>
          <p:cNvPr id="571" name="Google Shape;571;p68"/>
          <p:cNvPicPr preferRelativeResize="0"/>
          <p:nvPr/>
        </p:nvPicPr>
        <p:blipFill>
          <a:blip r:embed="rId1"/>
          <a:stretch>
            <a:fillRect/>
          </a:stretch>
        </p:blipFill>
        <p:spPr>
          <a:xfrm>
            <a:off x="7324024" y="386525"/>
            <a:ext cx="4478288" cy="3358701"/>
          </a:xfrm>
          <a:prstGeom prst="rect">
            <a:avLst/>
          </a:prstGeom>
          <a:noFill/>
          <a:ln>
            <a:noFill/>
          </a:ln>
        </p:spPr>
      </p:pic>
      <p:pic>
        <p:nvPicPr>
          <p:cNvPr id="572" name="Google Shape;572;p68"/>
          <p:cNvPicPr preferRelativeResize="0"/>
          <p:nvPr/>
        </p:nvPicPr>
        <p:blipFill>
          <a:blip r:embed="rId2"/>
          <a:stretch>
            <a:fillRect/>
          </a:stretch>
        </p:blipFill>
        <p:spPr>
          <a:xfrm>
            <a:off x="377425" y="2284075"/>
            <a:ext cx="4076225" cy="2718850"/>
          </a:xfrm>
          <a:prstGeom prst="rect">
            <a:avLst/>
          </a:prstGeom>
          <a:noFill/>
          <a:ln>
            <a:noFill/>
          </a:ln>
        </p:spPr>
      </p:pic>
      <p:pic>
        <p:nvPicPr>
          <p:cNvPr id="573" name="Google Shape;573;p68"/>
          <p:cNvPicPr preferRelativeResize="0"/>
          <p:nvPr/>
        </p:nvPicPr>
        <p:blipFill>
          <a:blip r:embed="rId3"/>
          <a:stretch>
            <a:fillRect/>
          </a:stretch>
        </p:blipFill>
        <p:spPr>
          <a:xfrm>
            <a:off x="1163165" y="4014228"/>
            <a:ext cx="5616460" cy="2381375"/>
          </a:xfrm>
          <a:prstGeom prst="rect">
            <a:avLst/>
          </a:prstGeom>
          <a:noFill/>
          <a:ln>
            <a:noFill/>
          </a:ln>
        </p:spPr>
      </p:pic>
      <p:pic>
        <p:nvPicPr>
          <p:cNvPr id="574" name="Google Shape;574;p68"/>
          <p:cNvPicPr preferRelativeResize="0"/>
          <p:nvPr/>
        </p:nvPicPr>
        <p:blipFill>
          <a:blip r:embed="rId4"/>
          <a:stretch>
            <a:fillRect/>
          </a:stretch>
        </p:blipFill>
        <p:spPr>
          <a:xfrm>
            <a:off x="6971175" y="4014226"/>
            <a:ext cx="3948075" cy="2633324"/>
          </a:xfrm>
          <a:prstGeom prst="rect">
            <a:avLst/>
          </a:prstGeom>
          <a:noFill/>
          <a:ln>
            <a:noFill/>
          </a:ln>
        </p:spPr>
      </p:pic>
      <p:sp>
        <p:nvSpPr>
          <p:cNvPr id="575" name="Google Shape;575;p6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pic>
        <p:nvPicPr>
          <p:cNvPr id="576" name="Google Shape;576;p68"/>
          <p:cNvPicPr preferRelativeResize="0"/>
          <p:nvPr/>
        </p:nvPicPr>
        <p:blipFill>
          <a:blip r:embed="rId5"/>
          <a:stretch>
            <a:fillRect/>
          </a:stretch>
        </p:blipFill>
        <p:spPr>
          <a:xfrm>
            <a:off x="4453649" y="2163501"/>
            <a:ext cx="3740525" cy="2494950"/>
          </a:xfrm>
          <a:prstGeom prst="rect">
            <a:avLst/>
          </a:prstGeom>
          <a:noFill/>
          <a:ln>
            <a:noFill/>
          </a:ln>
        </p:spPr>
      </p:pic>
      <p:sp>
        <p:nvSpPr>
          <p:cNvPr id="577" name="Google Shape;577;p68"/>
          <p:cNvSpPr txBox="1"/>
          <p:nvPr>
            <p:ph type="body" idx="1"/>
          </p:nvPr>
        </p:nvSpPr>
        <p:spPr>
          <a:xfrm>
            <a:off x="862300" y="1413475"/>
            <a:ext cx="5482200" cy="870600"/>
          </a:xfrm>
          <a:prstGeom prst="rect">
            <a:avLst/>
          </a:prstGeom>
          <a:noFill/>
          <a:ln>
            <a:noFill/>
          </a:ln>
        </p:spPr>
        <p:txBody>
          <a:bodyPr spcFirstLastPara="1" wrap="square" lIns="91425" tIns="45700" rIns="91425" bIns="45700" anchor="t" anchorCtr="0">
            <a:noAutofit/>
          </a:bodyPr>
          <a:lstStyle/>
          <a:p>
            <a:pPr marL="342900" lvl="1" indent="-219075" algn="l" rtl="0">
              <a:lnSpc>
                <a:spcPct val="100000"/>
              </a:lnSpc>
              <a:spcBef>
                <a:spcPts val="1000"/>
              </a:spcBef>
              <a:spcAft>
                <a:spcPts val="0"/>
              </a:spcAft>
              <a:buClr>
                <a:schemeClr val="accent2"/>
              </a:buClr>
              <a:buSzPts val="1650"/>
              <a:buFont typeface="Noto Sans Symbols"/>
              <a:buChar char="✔"/>
            </a:pPr>
            <a:r>
              <a:rPr lang="en-US" sz="1650"/>
              <a:t>Recommend considering imagery that reflects what problems Distro helps it solve</a:t>
            </a:r>
            <a:endParaRPr sz="195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581" name="Shape 581"/>
        <p:cNvGrpSpPr/>
        <p:nvPr/>
      </p:nvGrpSpPr>
      <p:grpSpPr>
        <a:xfrm>
          <a:off x="0" y="0"/>
          <a:ext cx="0" cy="0"/>
          <a:chOff x="0" y="0"/>
          <a:chExt cx="0" cy="0"/>
        </a:xfrm>
      </p:grpSpPr>
      <p:sp>
        <p:nvSpPr>
          <p:cNvPr id="582" name="Google Shape;582;p69"/>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CMO</a:t>
            </a:r>
            <a:endParaRPr sz="3800">
              <a:solidFill>
                <a:schemeClr val="accent5"/>
              </a:solidFill>
            </a:endParaRPr>
          </a:p>
        </p:txBody>
      </p:sp>
      <p:pic>
        <p:nvPicPr>
          <p:cNvPr id="583" name="Google Shape;583;p69"/>
          <p:cNvPicPr preferRelativeResize="0"/>
          <p:nvPr/>
        </p:nvPicPr>
        <p:blipFill>
          <a:blip r:embed="rId1"/>
          <a:stretch>
            <a:fillRect/>
          </a:stretch>
        </p:blipFill>
        <p:spPr>
          <a:xfrm>
            <a:off x="7145600" y="3994350"/>
            <a:ext cx="4614400" cy="2339500"/>
          </a:xfrm>
          <a:prstGeom prst="rect">
            <a:avLst/>
          </a:prstGeom>
          <a:noFill/>
          <a:ln>
            <a:noFill/>
          </a:ln>
        </p:spPr>
      </p:pic>
      <p:sp>
        <p:nvSpPr>
          <p:cNvPr id="584" name="Google Shape;584;p6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pic>
        <p:nvPicPr>
          <p:cNvPr id="585" name="Google Shape;585;p69"/>
          <p:cNvPicPr preferRelativeResize="0"/>
          <p:nvPr/>
        </p:nvPicPr>
        <p:blipFill>
          <a:blip r:embed="rId2"/>
          <a:stretch>
            <a:fillRect/>
          </a:stretch>
        </p:blipFill>
        <p:spPr>
          <a:xfrm>
            <a:off x="270375" y="2245375"/>
            <a:ext cx="6427850" cy="4287374"/>
          </a:xfrm>
          <a:prstGeom prst="rect">
            <a:avLst/>
          </a:prstGeom>
          <a:noFill/>
          <a:ln>
            <a:noFill/>
          </a:ln>
        </p:spPr>
      </p:pic>
      <p:pic>
        <p:nvPicPr>
          <p:cNvPr id="586" name="Google Shape;586;p69"/>
          <p:cNvPicPr preferRelativeResize="0"/>
          <p:nvPr/>
        </p:nvPicPr>
        <p:blipFill>
          <a:blip r:embed="rId3"/>
          <a:stretch>
            <a:fillRect/>
          </a:stretch>
        </p:blipFill>
        <p:spPr>
          <a:xfrm>
            <a:off x="6591600" y="784225"/>
            <a:ext cx="5377325" cy="3022050"/>
          </a:xfrm>
          <a:prstGeom prst="rect">
            <a:avLst/>
          </a:prstGeom>
          <a:noFill/>
          <a:ln>
            <a:noFill/>
          </a:ln>
        </p:spPr>
      </p:pic>
      <p:sp>
        <p:nvSpPr>
          <p:cNvPr id="587" name="Google Shape;587;p69"/>
          <p:cNvSpPr txBox="1"/>
          <p:nvPr>
            <p:ph type="body" idx="1"/>
          </p:nvPr>
        </p:nvSpPr>
        <p:spPr>
          <a:xfrm>
            <a:off x="862375" y="1374775"/>
            <a:ext cx="5482200" cy="870600"/>
          </a:xfrm>
          <a:prstGeom prst="rect">
            <a:avLst/>
          </a:prstGeom>
          <a:noFill/>
          <a:ln>
            <a:noFill/>
          </a:ln>
        </p:spPr>
        <p:txBody>
          <a:bodyPr spcFirstLastPara="1" wrap="square" lIns="91425" tIns="45700" rIns="91425" bIns="45700" anchor="t" anchorCtr="0">
            <a:noAutofit/>
          </a:bodyPr>
          <a:lstStyle/>
          <a:p>
            <a:pPr marL="342900" lvl="1" indent="-219075" algn="l" rtl="0">
              <a:lnSpc>
                <a:spcPct val="100000"/>
              </a:lnSpc>
              <a:spcBef>
                <a:spcPts val="1000"/>
              </a:spcBef>
              <a:spcAft>
                <a:spcPts val="0"/>
              </a:spcAft>
              <a:buClr>
                <a:schemeClr val="accent2"/>
              </a:buClr>
              <a:buSzPts val="1650"/>
              <a:buFont typeface="Noto Sans Symbols"/>
              <a:buChar char="✔"/>
            </a:pPr>
            <a:r>
              <a:rPr lang="en-US" sz="1650"/>
              <a:t>Recommend showing images of the CMOs and executives</a:t>
            </a:r>
            <a:br>
              <a:rPr lang="en-US" sz="1650"/>
            </a:br>
            <a:r>
              <a:rPr lang="en-US" sz="1650"/>
              <a:t>who CrossCap wants to be invaluable to</a:t>
            </a:r>
            <a:endParaRPr sz="1650"/>
          </a:p>
          <a:p>
            <a:pPr marL="1143000" marR="0" lvl="0" indent="0" algn="l" rtl="0">
              <a:lnSpc>
                <a:spcPct val="100000"/>
              </a:lnSpc>
              <a:spcBef>
                <a:spcPts val="1000"/>
              </a:spcBef>
              <a:spcAft>
                <a:spcPts val="0"/>
              </a:spcAft>
              <a:buNone/>
            </a:pPr>
            <a:endParaRPr sz="195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591" name="Shape 591"/>
        <p:cNvGrpSpPr/>
        <p:nvPr/>
      </p:nvGrpSpPr>
      <p:grpSpPr>
        <a:xfrm>
          <a:off x="0" y="0"/>
          <a:ext cx="0" cy="0"/>
          <a:chOff x="0" y="0"/>
          <a:chExt cx="0" cy="0"/>
        </a:xfrm>
      </p:grpSpPr>
      <p:sp>
        <p:nvSpPr>
          <p:cNvPr id="592" name="Google Shape;592;p70"/>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Calendar</a:t>
            </a:r>
            <a:endParaRPr sz="3800">
              <a:solidFill>
                <a:schemeClr val="accent5"/>
              </a:solidFill>
            </a:endParaRPr>
          </a:p>
        </p:txBody>
      </p:sp>
      <p:pic>
        <p:nvPicPr>
          <p:cNvPr id="593" name="Google Shape;593;p70"/>
          <p:cNvPicPr preferRelativeResize="0"/>
          <p:nvPr/>
        </p:nvPicPr>
        <p:blipFill>
          <a:blip r:embed="rId1"/>
          <a:stretch>
            <a:fillRect/>
          </a:stretch>
        </p:blipFill>
        <p:spPr>
          <a:xfrm>
            <a:off x="4629125" y="3768400"/>
            <a:ext cx="7349200" cy="2616325"/>
          </a:xfrm>
          <a:prstGeom prst="rect">
            <a:avLst/>
          </a:prstGeom>
          <a:noFill/>
          <a:ln>
            <a:noFill/>
          </a:ln>
        </p:spPr>
      </p:pic>
      <p:sp>
        <p:nvSpPr>
          <p:cNvPr id="594" name="Google Shape;594;p7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pic>
        <p:nvPicPr>
          <p:cNvPr id="595" name="Google Shape;595;p70"/>
          <p:cNvPicPr preferRelativeResize="0"/>
          <p:nvPr/>
        </p:nvPicPr>
        <p:blipFill>
          <a:blip r:embed="rId2"/>
          <a:stretch>
            <a:fillRect/>
          </a:stretch>
        </p:blipFill>
        <p:spPr>
          <a:xfrm>
            <a:off x="5843100" y="1943100"/>
            <a:ext cx="5829300" cy="1666875"/>
          </a:xfrm>
          <a:prstGeom prst="rect">
            <a:avLst/>
          </a:prstGeom>
          <a:noFill/>
          <a:ln>
            <a:noFill/>
          </a:ln>
        </p:spPr>
      </p:pic>
      <p:pic>
        <p:nvPicPr>
          <p:cNvPr id="596" name="Google Shape;596;p70"/>
          <p:cNvPicPr preferRelativeResize="0"/>
          <p:nvPr/>
        </p:nvPicPr>
        <p:blipFill>
          <a:blip r:embed="rId3"/>
          <a:stretch>
            <a:fillRect/>
          </a:stretch>
        </p:blipFill>
        <p:spPr>
          <a:xfrm>
            <a:off x="433800" y="4375000"/>
            <a:ext cx="4794981" cy="1496800"/>
          </a:xfrm>
          <a:prstGeom prst="rect">
            <a:avLst/>
          </a:prstGeom>
          <a:noFill/>
          <a:ln>
            <a:noFill/>
          </a:ln>
        </p:spPr>
      </p:pic>
      <p:pic>
        <p:nvPicPr>
          <p:cNvPr id="597" name="Google Shape;597;p70"/>
          <p:cNvPicPr preferRelativeResize="0"/>
          <p:nvPr/>
        </p:nvPicPr>
        <p:blipFill>
          <a:blip r:embed="rId4"/>
          <a:stretch>
            <a:fillRect/>
          </a:stretch>
        </p:blipFill>
        <p:spPr>
          <a:xfrm>
            <a:off x="764026" y="2534550"/>
            <a:ext cx="4628458" cy="1325700"/>
          </a:xfrm>
          <a:prstGeom prst="rect">
            <a:avLst/>
          </a:prstGeom>
          <a:noFill/>
          <a:ln>
            <a:noFill/>
          </a:ln>
        </p:spPr>
      </p:pic>
      <p:sp>
        <p:nvSpPr>
          <p:cNvPr id="598" name="Google Shape;598;p70"/>
          <p:cNvSpPr txBox="1"/>
          <p:nvPr>
            <p:ph type="body" idx="1"/>
          </p:nvPr>
        </p:nvSpPr>
        <p:spPr>
          <a:xfrm>
            <a:off x="862300" y="1413475"/>
            <a:ext cx="5482200" cy="870600"/>
          </a:xfrm>
          <a:prstGeom prst="rect">
            <a:avLst/>
          </a:prstGeom>
          <a:noFill/>
          <a:ln>
            <a:noFill/>
          </a:ln>
        </p:spPr>
        <p:txBody>
          <a:bodyPr spcFirstLastPara="1" wrap="square" lIns="91425" tIns="45700" rIns="91425" bIns="45700" anchor="t" anchorCtr="0">
            <a:noAutofit/>
          </a:bodyPr>
          <a:lstStyle/>
          <a:p>
            <a:pPr marL="342900" lvl="1" indent="-219075" algn="l" rtl="0">
              <a:lnSpc>
                <a:spcPct val="100000"/>
              </a:lnSpc>
              <a:spcBef>
                <a:spcPts val="1000"/>
              </a:spcBef>
              <a:spcAft>
                <a:spcPts val="0"/>
              </a:spcAft>
              <a:buClr>
                <a:schemeClr val="accent2"/>
              </a:buClr>
              <a:buSzPts val="1650"/>
              <a:buFont typeface="Noto Sans Symbols"/>
              <a:buChar char="✔"/>
            </a:pPr>
            <a:r>
              <a:rPr lang="en-US" sz="1650"/>
              <a:t>Recommend considering imagery that reflects the global and enterprise nature of the products</a:t>
            </a:r>
            <a:endParaRPr sz="1650"/>
          </a:p>
          <a:p>
            <a:pPr marL="1143000" marR="0" lvl="0" indent="0" algn="l" rtl="0">
              <a:lnSpc>
                <a:spcPct val="100000"/>
              </a:lnSpc>
              <a:spcBef>
                <a:spcPts val="1000"/>
              </a:spcBef>
              <a:spcAft>
                <a:spcPts val="0"/>
              </a:spcAft>
              <a:buNone/>
            </a:pPr>
            <a:endParaRPr sz="195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602" name="Shape 602"/>
        <p:cNvGrpSpPr/>
        <p:nvPr/>
      </p:nvGrpSpPr>
      <p:grpSpPr>
        <a:xfrm>
          <a:off x="0" y="0"/>
          <a:ext cx="0" cy="0"/>
          <a:chOff x="0" y="0"/>
          <a:chExt cx="0" cy="0"/>
        </a:xfrm>
      </p:grpSpPr>
      <p:sp>
        <p:nvSpPr>
          <p:cNvPr id="603" name="Google Shape;603;p71"/>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Calendar </a:t>
            </a:r>
            <a:r>
              <a:rPr lang="en-US" sz="3800" b="0" i="1">
                <a:solidFill>
                  <a:schemeClr val="accent5"/>
                </a:solidFill>
                <a:latin typeface="Calibri"/>
                <a:ea typeface="Calibri"/>
                <a:cs typeface="Calibri"/>
                <a:sym typeface="Calibri"/>
              </a:rPr>
              <a:t>Product in Use</a:t>
            </a:r>
            <a:endParaRPr sz="3800" b="0" i="1">
              <a:solidFill>
                <a:schemeClr val="accent5"/>
              </a:solidFill>
              <a:latin typeface="Calibri"/>
              <a:ea typeface="Calibri"/>
              <a:cs typeface="Calibri"/>
              <a:sym typeface="Calibri"/>
            </a:endParaRPr>
          </a:p>
        </p:txBody>
      </p:sp>
      <p:sp>
        <p:nvSpPr>
          <p:cNvPr id="604" name="Google Shape;604;p7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pic>
        <p:nvPicPr>
          <p:cNvPr id="605" name="Google Shape;605;p71"/>
          <p:cNvPicPr preferRelativeResize="0"/>
          <p:nvPr/>
        </p:nvPicPr>
        <p:blipFill>
          <a:blip r:embed="rId1"/>
          <a:stretch>
            <a:fillRect/>
          </a:stretch>
        </p:blipFill>
        <p:spPr>
          <a:xfrm>
            <a:off x="6622825" y="1488875"/>
            <a:ext cx="4772025" cy="1476375"/>
          </a:xfrm>
          <a:prstGeom prst="rect">
            <a:avLst/>
          </a:prstGeom>
          <a:noFill/>
          <a:ln>
            <a:noFill/>
          </a:ln>
        </p:spPr>
      </p:pic>
      <p:pic>
        <p:nvPicPr>
          <p:cNvPr id="606" name="Google Shape;606;p71"/>
          <p:cNvPicPr preferRelativeResize="0"/>
          <p:nvPr/>
        </p:nvPicPr>
        <p:blipFill>
          <a:blip r:embed="rId2"/>
          <a:stretch>
            <a:fillRect/>
          </a:stretch>
        </p:blipFill>
        <p:spPr>
          <a:xfrm>
            <a:off x="862300" y="2662188"/>
            <a:ext cx="4029075" cy="2695575"/>
          </a:xfrm>
          <a:prstGeom prst="rect">
            <a:avLst/>
          </a:prstGeom>
          <a:noFill/>
          <a:ln>
            <a:noFill/>
          </a:ln>
        </p:spPr>
      </p:pic>
      <p:pic>
        <p:nvPicPr>
          <p:cNvPr id="607" name="Google Shape;607;p71"/>
          <p:cNvPicPr preferRelativeResize="0"/>
          <p:nvPr/>
        </p:nvPicPr>
        <p:blipFill>
          <a:blip r:embed="rId3"/>
          <a:stretch>
            <a:fillRect/>
          </a:stretch>
        </p:blipFill>
        <p:spPr>
          <a:xfrm>
            <a:off x="7903300" y="3454575"/>
            <a:ext cx="3819525" cy="2657475"/>
          </a:xfrm>
          <a:prstGeom prst="rect">
            <a:avLst/>
          </a:prstGeom>
          <a:noFill/>
          <a:ln>
            <a:noFill/>
          </a:ln>
        </p:spPr>
      </p:pic>
      <p:pic>
        <p:nvPicPr>
          <p:cNvPr id="608" name="Google Shape;608;p71"/>
          <p:cNvPicPr preferRelativeResize="0"/>
          <p:nvPr/>
        </p:nvPicPr>
        <p:blipFill>
          <a:blip r:embed="rId4"/>
          <a:stretch>
            <a:fillRect/>
          </a:stretch>
        </p:blipFill>
        <p:spPr>
          <a:xfrm>
            <a:off x="4286692" y="3454579"/>
            <a:ext cx="3265800" cy="2198150"/>
          </a:xfrm>
          <a:prstGeom prst="rect">
            <a:avLst/>
          </a:prstGeom>
          <a:noFill/>
          <a:ln>
            <a:noFill/>
          </a:ln>
        </p:spPr>
      </p:pic>
      <p:sp>
        <p:nvSpPr>
          <p:cNvPr id="609" name="Google Shape;609;p71"/>
          <p:cNvSpPr txBox="1"/>
          <p:nvPr>
            <p:ph type="body" idx="1"/>
          </p:nvPr>
        </p:nvSpPr>
        <p:spPr>
          <a:xfrm>
            <a:off x="927600" y="1611500"/>
            <a:ext cx="5482200" cy="870600"/>
          </a:xfrm>
          <a:prstGeom prst="rect">
            <a:avLst/>
          </a:prstGeom>
          <a:noFill/>
          <a:ln>
            <a:noFill/>
          </a:ln>
        </p:spPr>
        <p:txBody>
          <a:bodyPr spcFirstLastPara="1" wrap="square" lIns="91425" tIns="45700" rIns="91425" bIns="45700" anchor="t" anchorCtr="0">
            <a:noAutofit/>
          </a:bodyPr>
          <a:lstStyle/>
          <a:p>
            <a:pPr marL="342900" lvl="1" indent="-219075" algn="l" rtl="0">
              <a:lnSpc>
                <a:spcPct val="100000"/>
              </a:lnSpc>
              <a:spcBef>
                <a:spcPts val="1000"/>
              </a:spcBef>
              <a:spcAft>
                <a:spcPts val="0"/>
              </a:spcAft>
              <a:buClr>
                <a:schemeClr val="accent2"/>
              </a:buClr>
              <a:buSzPts val="1650"/>
              <a:buFont typeface="Noto Sans Symbols"/>
              <a:buChar char="✔"/>
            </a:pPr>
            <a:r>
              <a:rPr lang="en-US" sz="1650"/>
              <a:t>Recommend taking some original imagery of the products in use, or as a secondary option, using photoshop. </a:t>
            </a:r>
            <a:endParaRPr sz="1650"/>
          </a:p>
          <a:p>
            <a:pPr marL="1143000" marR="0" lvl="0" indent="0" algn="l" rtl="0">
              <a:lnSpc>
                <a:spcPct val="100000"/>
              </a:lnSpc>
              <a:spcBef>
                <a:spcPts val="1000"/>
              </a:spcBef>
              <a:spcAft>
                <a:spcPts val="0"/>
              </a:spcAft>
              <a:buNone/>
            </a:pPr>
            <a:endParaRPr sz="195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613" name="Shape 613"/>
        <p:cNvGrpSpPr/>
        <p:nvPr/>
      </p:nvGrpSpPr>
      <p:grpSpPr>
        <a:xfrm>
          <a:off x="0" y="0"/>
          <a:ext cx="0" cy="0"/>
          <a:chOff x="0" y="0"/>
          <a:chExt cx="0" cy="0"/>
        </a:xfrm>
      </p:grpSpPr>
      <p:sp>
        <p:nvSpPr>
          <p:cNvPr id="614" name="Google Shape;614;p72"/>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Marketing Ops</a:t>
            </a:r>
            <a:endParaRPr sz="3800">
              <a:solidFill>
                <a:schemeClr val="accent5"/>
              </a:solidFill>
            </a:endParaRPr>
          </a:p>
        </p:txBody>
      </p:sp>
      <p:pic>
        <p:nvPicPr>
          <p:cNvPr id="615" name="Google Shape;615;p72"/>
          <p:cNvPicPr preferRelativeResize="0"/>
          <p:nvPr/>
        </p:nvPicPr>
        <p:blipFill>
          <a:blip r:embed="rId1"/>
          <a:stretch>
            <a:fillRect/>
          </a:stretch>
        </p:blipFill>
        <p:spPr>
          <a:xfrm>
            <a:off x="6150250" y="307545"/>
            <a:ext cx="5600100" cy="3735275"/>
          </a:xfrm>
          <a:prstGeom prst="rect">
            <a:avLst/>
          </a:prstGeom>
          <a:noFill/>
          <a:ln>
            <a:noFill/>
          </a:ln>
        </p:spPr>
      </p:pic>
      <p:sp>
        <p:nvSpPr>
          <p:cNvPr id="616" name="Google Shape;616;p7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pic>
        <p:nvPicPr>
          <p:cNvPr id="617" name="Google Shape;617;p72"/>
          <p:cNvPicPr preferRelativeResize="0"/>
          <p:nvPr/>
        </p:nvPicPr>
        <p:blipFill>
          <a:blip r:embed="rId2"/>
          <a:stretch>
            <a:fillRect/>
          </a:stretch>
        </p:blipFill>
        <p:spPr>
          <a:xfrm>
            <a:off x="407575" y="2843327"/>
            <a:ext cx="6345000" cy="3572225"/>
          </a:xfrm>
          <a:prstGeom prst="rect">
            <a:avLst/>
          </a:prstGeom>
          <a:noFill/>
          <a:ln>
            <a:noFill/>
          </a:ln>
        </p:spPr>
      </p:pic>
      <p:pic>
        <p:nvPicPr>
          <p:cNvPr id="618" name="Google Shape;618;p72"/>
          <p:cNvPicPr preferRelativeResize="0"/>
          <p:nvPr/>
        </p:nvPicPr>
        <p:blipFill>
          <a:blip r:embed="rId3"/>
          <a:stretch>
            <a:fillRect/>
          </a:stretch>
        </p:blipFill>
        <p:spPr>
          <a:xfrm>
            <a:off x="7043150" y="3408574"/>
            <a:ext cx="4608875" cy="3074125"/>
          </a:xfrm>
          <a:prstGeom prst="rect">
            <a:avLst/>
          </a:prstGeom>
          <a:noFill/>
          <a:ln>
            <a:noFill/>
          </a:ln>
        </p:spPr>
      </p:pic>
      <p:sp>
        <p:nvSpPr>
          <p:cNvPr id="619" name="Google Shape;619;p72"/>
          <p:cNvSpPr txBox="1"/>
          <p:nvPr>
            <p:ph type="body" idx="1"/>
          </p:nvPr>
        </p:nvSpPr>
        <p:spPr>
          <a:xfrm>
            <a:off x="976775" y="1439425"/>
            <a:ext cx="5482200" cy="870600"/>
          </a:xfrm>
          <a:prstGeom prst="rect">
            <a:avLst/>
          </a:prstGeom>
          <a:noFill/>
          <a:ln>
            <a:noFill/>
          </a:ln>
        </p:spPr>
        <p:txBody>
          <a:bodyPr spcFirstLastPara="1" wrap="square" lIns="91425" tIns="45700" rIns="91425" bIns="45700" anchor="t" anchorCtr="0">
            <a:noAutofit/>
          </a:bodyPr>
          <a:lstStyle/>
          <a:p>
            <a:pPr marL="342900" lvl="1" indent="-219075" algn="l" rtl="0">
              <a:lnSpc>
                <a:spcPct val="100000"/>
              </a:lnSpc>
              <a:spcBef>
                <a:spcPts val="1000"/>
              </a:spcBef>
              <a:spcAft>
                <a:spcPts val="0"/>
              </a:spcAft>
              <a:buClr>
                <a:schemeClr val="accent2"/>
              </a:buClr>
              <a:buSzPts val="1650"/>
              <a:buFont typeface="Noto Sans Symbols"/>
              <a:buChar char="✔"/>
            </a:pPr>
            <a:r>
              <a:rPr lang="en-US" sz="1650"/>
              <a:t>Recommend using high quality photography that represents the marketing ops professionals </a:t>
            </a:r>
            <a:br>
              <a:rPr lang="en-US" sz="1650"/>
            </a:br>
            <a:r>
              <a:rPr lang="en-US" sz="1650"/>
              <a:t>CrossCap serves</a:t>
            </a:r>
            <a:endParaRPr sz="1650"/>
          </a:p>
          <a:p>
            <a:pPr marL="1143000" marR="0" lvl="0" indent="0" algn="l" rtl="0">
              <a:lnSpc>
                <a:spcPct val="100000"/>
              </a:lnSpc>
              <a:spcBef>
                <a:spcPts val="1000"/>
              </a:spcBef>
              <a:spcAft>
                <a:spcPts val="0"/>
              </a:spcAft>
              <a:buNone/>
            </a:pPr>
            <a:endParaRPr sz="195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623" name="Shape 623"/>
        <p:cNvGrpSpPr/>
        <p:nvPr/>
      </p:nvGrpSpPr>
      <p:grpSpPr>
        <a:xfrm>
          <a:off x="0" y="0"/>
          <a:ext cx="0" cy="0"/>
          <a:chOff x="0" y="0"/>
          <a:chExt cx="0" cy="0"/>
        </a:xfrm>
      </p:grpSpPr>
      <p:sp>
        <p:nvSpPr>
          <p:cNvPr id="624" name="Google Shape;624;p73"/>
          <p:cNvSpPr txBox="1"/>
          <p:nvPr>
            <p:ph type="title"/>
          </p:nvPr>
        </p:nvSpPr>
        <p:spPr>
          <a:xfrm>
            <a:off x="843275" y="784225"/>
            <a:ext cx="10714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Imagery</a:t>
            </a:r>
            <a:endParaRPr sz="3800">
              <a:solidFill>
                <a:schemeClr val="accent5"/>
              </a:solidFill>
            </a:endParaRPr>
          </a:p>
        </p:txBody>
      </p:sp>
      <p:pic>
        <p:nvPicPr>
          <p:cNvPr id="625" name="Google Shape;625;p73"/>
          <p:cNvPicPr preferRelativeResize="0"/>
          <p:nvPr/>
        </p:nvPicPr>
        <p:blipFill>
          <a:blip r:embed="rId1"/>
          <a:stretch>
            <a:fillRect/>
          </a:stretch>
        </p:blipFill>
        <p:spPr>
          <a:xfrm>
            <a:off x="4616332" y="3587900"/>
            <a:ext cx="4355075" cy="2451910"/>
          </a:xfrm>
          <a:prstGeom prst="rect">
            <a:avLst/>
          </a:prstGeom>
          <a:noFill/>
          <a:ln>
            <a:noFill/>
          </a:ln>
        </p:spPr>
      </p:pic>
      <p:pic>
        <p:nvPicPr>
          <p:cNvPr id="626" name="Google Shape;626;p73"/>
          <p:cNvPicPr preferRelativeResize="0"/>
          <p:nvPr/>
        </p:nvPicPr>
        <p:blipFill>
          <a:blip r:embed="rId2"/>
          <a:stretch>
            <a:fillRect/>
          </a:stretch>
        </p:blipFill>
        <p:spPr>
          <a:xfrm>
            <a:off x="1030675" y="3587898"/>
            <a:ext cx="3094975" cy="2064350"/>
          </a:xfrm>
          <a:prstGeom prst="rect">
            <a:avLst/>
          </a:prstGeom>
          <a:noFill/>
          <a:ln>
            <a:noFill/>
          </a:ln>
        </p:spPr>
      </p:pic>
      <p:pic>
        <p:nvPicPr>
          <p:cNvPr id="627" name="Google Shape;627;p73"/>
          <p:cNvPicPr preferRelativeResize="0"/>
          <p:nvPr/>
        </p:nvPicPr>
        <p:blipFill rotWithShape="1">
          <a:blip r:embed="rId3"/>
          <a:srcRect/>
          <a:stretch>
            <a:fillRect/>
          </a:stretch>
        </p:blipFill>
        <p:spPr>
          <a:xfrm>
            <a:off x="9179950" y="1611500"/>
            <a:ext cx="2713275" cy="3544825"/>
          </a:xfrm>
          <a:prstGeom prst="rect">
            <a:avLst/>
          </a:prstGeom>
          <a:noFill/>
          <a:ln>
            <a:noFill/>
          </a:ln>
        </p:spPr>
      </p:pic>
      <p:sp>
        <p:nvSpPr>
          <p:cNvPr id="628" name="Google Shape;628;p73"/>
          <p:cNvSpPr txBox="1"/>
          <p:nvPr/>
        </p:nvSpPr>
        <p:spPr>
          <a:xfrm>
            <a:off x="9471425" y="1816950"/>
            <a:ext cx="2266200" cy="2697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Move to photography so there is no confusion about who Cross Cap is for nor what you do.</a:t>
            </a:r>
            <a:endParaRPr sz="1500">
              <a:solidFill>
                <a:srgbClr val="434343"/>
              </a:solidFill>
              <a:latin typeface="Calibri"/>
              <a:ea typeface="Calibri"/>
              <a:cs typeface="Calibri"/>
              <a:sym typeface="Calibri"/>
            </a:endParaRPr>
          </a:p>
          <a:p>
            <a:pPr marL="285750" marR="0" lvl="0" indent="-292100" algn="l" rtl="0">
              <a:lnSpc>
                <a:spcPct val="100000"/>
              </a:lnSpc>
              <a:spcBef>
                <a:spcPts val="60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Consider high-end stock photography, then graduate to 100% custom photography for the brand/company</a:t>
            </a:r>
            <a:endParaRPr sz="1400">
              <a:solidFill>
                <a:schemeClr val="lt1"/>
              </a:solidFill>
              <a:latin typeface="Calibri"/>
              <a:ea typeface="Calibri"/>
              <a:cs typeface="Calibri"/>
              <a:sym typeface="Calibri"/>
            </a:endParaRPr>
          </a:p>
        </p:txBody>
      </p:sp>
      <p:sp>
        <p:nvSpPr>
          <p:cNvPr id="629" name="Google Shape;629;p7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 - messaging, positioning &amp; branding</a:t>
            </a:r>
            <a:endParaRPr sz="1900" b="0" i="1">
              <a:solidFill>
                <a:schemeClr val="accent5"/>
              </a:solidFill>
              <a:latin typeface="Calibri"/>
              <a:ea typeface="Calibri"/>
              <a:cs typeface="Calibri"/>
              <a:sym typeface="Calibri"/>
            </a:endParaRPr>
          </a:p>
        </p:txBody>
      </p:sp>
      <p:pic>
        <p:nvPicPr>
          <p:cNvPr id="630" name="Google Shape;630;p73"/>
          <p:cNvPicPr preferRelativeResize="0"/>
          <p:nvPr/>
        </p:nvPicPr>
        <p:blipFill>
          <a:blip r:embed="rId4"/>
          <a:stretch>
            <a:fillRect/>
          </a:stretch>
        </p:blipFill>
        <p:spPr>
          <a:xfrm>
            <a:off x="2232525" y="1395637"/>
            <a:ext cx="5798715" cy="20643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634" name="Shape 634"/>
        <p:cNvGrpSpPr/>
        <p:nvPr/>
      </p:nvGrpSpPr>
      <p:grpSpPr>
        <a:xfrm>
          <a:off x="0" y="0"/>
          <a:ext cx="0" cy="0"/>
          <a:chOff x="0" y="0"/>
          <a:chExt cx="0" cy="0"/>
        </a:xfrm>
      </p:grpSpPr>
      <p:sp>
        <p:nvSpPr>
          <p:cNvPr id="635" name="Google Shape;635;p74"/>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1: marketing foundation</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3: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New Website Flow</a:t>
            </a:r>
            <a:endParaRPr lang="en-US">
              <a:latin typeface="Calibri"/>
              <a:ea typeface="Calibri"/>
              <a:cs typeface="Calibri"/>
              <a:sym typeface="Calibri"/>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636" name="Google Shape;636;p7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a:t>
            </a:r>
            <a:endParaRPr sz="1900" b="0" i="1">
              <a:solidFill>
                <a:schemeClr val="accent5"/>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640" name="Shape 640"/>
        <p:cNvGrpSpPr/>
        <p:nvPr/>
      </p:nvGrpSpPr>
      <p:grpSpPr>
        <a:xfrm>
          <a:off x="0" y="0"/>
          <a:ext cx="0" cy="0"/>
          <a:chOff x="0" y="0"/>
          <a:chExt cx="0" cy="0"/>
        </a:xfrm>
      </p:grpSpPr>
      <p:sp>
        <p:nvSpPr>
          <p:cNvPr id="641" name="Google Shape;641;p75"/>
          <p:cNvSpPr txBox="1"/>
          <p:nvPr>
            <p:ph type="title"/>
          </p:nvPr>
        </p:nvSpPr>
        <p:spPr>
          <a:xfrm>
            <a:off x="75212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solidFill>
                  <a:schemeClr val="accent5"/>
                </a:solidFill>
              </a:rPr>
              <a:t>Key Insights: </a:t>
            </a:r>
            <a:r>
              <a:rPr lang="en-US" b="0" i="1">
                <a:solidFill>
                  <a:schemeClr val="accent5"/>
                </a:solidFill>
                <a:latin typeface="Calibri"/>
                <a:ea typeface="Calibri"/>
                <a:cs typeface="Calibri"/>
                <a:sym typeface="Calibri"/>
              </a:rPr>
              <a:t>Website </a:t>
            </a:r>
            <a:r>
              <a:rPr lang="en-US" b="0" i="1">
                <a:solidFill>
                  <a:srgbClr val="2E475D"/>
                </a:solidFill>
                <a:latin typeface="Calibri"/>
                <a:ea typeface="Calibri"/>
                <a:cs typeface="Calibri"/>
                <a:sym typeface="Calibri"/>
              </a:rPr>
              <a:t>review</a:t>
            </a:r>
            <a:endParaRPr b="0" i="1">
              <a:solidFill>
                <a:srgbClr val="2E475D"/>
              </a:solidFill>
              <a:latin typeface="Calibri"/>
              <a:ea typeface="Calibri"/>
              <a:cs typeface="Calibri"/>
              <a:sym typeface="Calibri"/>
            </a:endParaRPr>
          </a:p>
        </p:txBody>
      </p:sp>
      <p:sp>
        <p:nvSpPr>
          <p:cNvPr id="642" name="Google Shape;642;p75"/>
          <p:cNvSpPr txBox="1"/>
          <p:nvPr>
            <p:ph type="body" idx="1"/>
          </p:nvPr>
        </p:nvSpPr>
        <p:spPr>
          <a:xfrm>
            <a:off x="430525" y="1826625"/>
            <a:ext cx="7560300" cy="4619700"/>
          </a:xfrm>
          <a:prstGeom prst="rect">
            <a:avLst/>
          </a:prstGeom>
          <a:noFill/>
          <a:ln>
            <a:noFill/>
          </a:ln>
        </p:spPr>
        <p:txBody>
          <a:bodyPr spcFirstLastPara="1" wrap="square" lIns="91425" tIns="45700" rIns="91425" bIns="45700" anchor="t" anchorCtr="0">
            <a:noAutofit/>
          </a:bodyPr>
          <a:lstStyle/>
          <a:p>
            <a:pPr marL="685800" lvl="1" indent="-231775" algn="l" rtl="0">
              <a:lnSpc>
                <a:spcPct val="115000"/>
              </a:lnSpc>
              <a:spcBef>
                <a:spcPts val="0"/>
              </a:spcBef>
              <a:spcAft>
                <a:spcPts val="0"/>
              </a:spcAft>
              <a:buClr>
                <a:schemeClr val="accent2"/>
              </a:buClr>
              <a:buSzPts val="1850"/>
              <a:buFont typeface="Noto Sans Symbols"/>
              <a:buChar char="✔"/>
            </a:pPr>
            <a:r>
              <a:rPr lang="en-US" sz="1850"/>
              <a:t>Your website is: </a:t>
            </a:r>
            <a:endParaRPr sz="1850"/>
          </a:p>
          <a:p>
            <a:pPr marL="1143000" lvl="2" indent="-231775" algn="l" rtl="0">
              <a:lnSpc>
                <a:spcPct val="115000"/>
              </a:lnSpc>
              <a:spcBef>
                <a:spcPts val="0"/>
              </a:spcBef>
              <a:spcAft>
                <a:spcPts val="0"/>
              </a:spcAft>
              <a:buClr>
                <a:schemeClr val="accent2"/>
              </a:buClr>
              <a:buSzPts val="1850"/>
              <a:buFont typeface="Noto Sans Symbols"/>
              <a:buChar char="•"/>
            </a:pPr>
            <a:r>
              <a:rPr lang="en-US" sz="1850"/>
              <a:t>Your marketing hub that all marketing activities drive to</a:t>
            </a:r>
            <a:endParaRPr sz="1850"/>
          </a:p>
          <a:p>
            <a:pPr marL="1143000" lvl="2" indent="-231775" algn="l" rtl="0">
              <a:lnSpc>
                <a:spcPct val="115000"/>
              </a:lnSpc>
              <a:spcBef>
                <a:spcPts val="0"/>
              </a:spcBef>
              <a:spcAft>
                <a:spcPts val="0"/>
              </a:spcAft>
              <a:buClr>
                <a:schemeClr val="accent2"/>
              </a:buClr>
              <a:buSzPts val="1850"/>
              <a:buFont typeface="Noto Sans Symbols"/>
              <a:buChar char="•"/>
            </a:pPr>
            <a:r>
              <a:rPr lang="en-US" sz="1850"/>
              <a:t>Your inbound marketing hub that can help people find you </a:t>
            </a:r>
            <a:endParaRPr sz="1850"/>
          </a:p>
          <a:p>
            <a:pPr marL="685800" lvl="1" indent="-231775" algn="l" rtl="0">
              <a:lnSpc>
                <a:spcPct val="115000"/>
              </a:lnSpc>
              <a:spcBef>
                <a:spcPts val="0"/>
              </a:spcBef>
              <a:spcAft>
                <a:spcPts val="0"/>
              </a:spcAft>
              <a:buClr>
                <a:schemeClr val="accent2"/>
              </a:buClr>
              <a:buSzPts val="1850"/>
              <a:buFont typeface="Noto Sans Symbols"/>
              <a:buChar char="✔"/>
            </a:pPr>
            <a:r>
              <a:rPr lang="en-US" sz="1850"/>
              <a:t>Your website needs to:</a:t>
            </a:r>
            <a:endParaRPr sz="1850"/>
          </a:p>
          <a:p>
            <a:pPr marL="1143000" lvl="2" indent="-231775" algn="l" rtl="0">
              <a:lnSpc>
                <a:spcPct val="115000"/>
              </a:lnSpc>
              <a:spcBef>
                <a:spcPts val="0"/>
              </a:spcBef>
              <a:spcAft>
                <a:spcPts val="0"/>
              </a:spcAft>
              <a:buClr>
                <a:schemeClr val="accent2"/>
              </a:buClr>
              <a:buSzPts val="1850"/>
              <a:buFont typeface="Noto Sans Symbols"/>
              <a:buChar char="•"/>
            </a:pPr>
            <a:r>
              <a:rPr lang="en-US" sz="1850"/>
              <a:t>Immediately let your ideal clients know that they’re in the right place, and that what you have to offer is for them</a:t>
            </a:r>
            <a:endParaRPr sz="1850"/>
          </a:p>
          <a:p>
            <a:pPr marL="1143000" marR="0" lvl="2" indent="-231775" algn="l" rtl="0">
              <a:lnSpc>
                <a:spcPct val="115000"/>
              </a:lnSpc>
              <a:spcBef>
                <a:spcPts val="0"/>
              </a:spcBef>
              <a:spcAft>
                <a:spcPts val="0"/>
              </a:spcAft>
              <a:buClr>
                <a:schemeClr val="accent2"/>
              </a:buClr>
              <a:buSzPts val="1850"/>
              <a:buFont typeface="Noto Sans Symbols"/>
              <a:buChar char="•"/>
            </a:pPr>
            <a:r>
              <a:rPr lang="en-US" sz="1850"/>
              <a:t>Move your clients in the direction you want them to take (direct them to the right product, get them on your lead nurture list)</a:t>
            </a:r>
            <a:endParaRPr sz="1850"/>
          </a:p>
          <a:p>
            <a:pPr marL="1143000" marR="0" lvl="2" indent="-231775" algn="l" rtl="0">
              <a:lnSpc>
                <a:spcPct val="115000"/>
              </a:lnSpc>
              <a:spcBef>
                <a:spcPts val="0"/>
              </a:spcBef>
              <a:spcAft>
                <a:spcPts val="0"/>
              </a:spcAft>
              <a:buClr>
                <a:schemeClr val="accent2"/>
              </a:buClr>
              <a:buSzPts val="1850"/>
              <a:buFont typeface="Noto Sans Symbols"/>
              <a:buChar char="•"/>
            </a:pPr>
            <a:r>
              <a:rPr lang="en-US" sz="1850"/>
              <a:t>Enable your prospects to take themselves through their own customer journey</a:t>
            </a:r>
            <a:endParaRPr sz="1850"/>
          </a:p>
          <a:p>
            <a:pPr marL="1143000" marR="0" lvl="2" indent="-231775" algn="l" rtl="0">
              <a:lnSpc>
                <a:spcPct val="115000"/>
              </a:lnSpc>
              <a:spcBef>
                <a:spcPts val="0"/>
              </a:spcBef>
              <a:spcAft>
                <a:spcPts val="0"/>
              </a:spcAft>
              <a:buClr>
                <a:schemeClr val="accent2"/>
              </a:buClr>
              <a:buSzPts val="1850"/>
              <a:buFont typeface="Noto Sans Symbols"/>
              <a:buChar char="•"/>
            </a:pPr>
            <a:r>
              <a:rPr lang="en-US" sz="1850"/>
              <a:t>Act as an entry point to continue marketing to them and supporting them through the customer journey</a:t>
            </a:r>
            <a:endParaRPr sz="1850"/>
          </a:p>
          <a:p>
            <a:pPr marL="0" lvl="0" indent="0" algn="l" rtl="0">
              <a:lnSpc>
                <a:spcPct val="115000"/>
              </a:lnSpc>
              <a:spcBef>
                <a:spcPts val="0"/>
              </a:spcBef>
              <a:spcAft>
                <a:spcPts val="0"/>
              </a:spcAft>
              <a:buNone/>
            </a:pPr>
            <a:endParaRPr sz="1850"/>
          </a:p>
          <a:p>
            <a:pPr marL="0" lvl="0" indent="0" algn="l" rtl="0">
              <a:lnSpc>
                <a:spcPct val="115000"/>
              </a:lnSpc>
              <a:spcBef>
                <a:spcPts val="0"/>
              </a:spcBef>
              <a:spcAft>
                <a:spcPts val="0"/>
              </a:spcAft>
              <a:buNone/>
            </a:pPr>
            <a:endParaRPr sz="1950"/>
          </a:p>
        </p:txBody>
      </p:sp>
      <p:pic>
        <p:nvPicPr>
          <p:cNvPr id="643" name="Google Shape;643;p75"/>
          <p:cNvPicPr preferRelativeResize="0"/>
          <p:nvPr/>
        </p:nvPicPr>
        <p:blipFill rotWithShape="1">
          <a:blip r:embed="rId1"/>
          <a:srcRect/>
          <a:stretch>
            <a:fillRect/>
          </a:stretch>
        </p:blipFill>
        <p:spPr>
          <a:xfrm>
            <a:off x="8063788" y="1724213"/>
            <a:ext cx="3566725" cy="3987425"/>
          </a:xfrm>
          <a:prstGeom prst="rect">
            <a:avLst/>
          </a:prstGeom>
          <a:noFill/>
          <a:ln>
            <a:noFill/>
          </a:ln>
        </p:spPr>
      </p:pic>
      <p:sp>
        <p:nvSpPr>
          <p:cNvPr id="644" name="Google Shape;644;p75"/>
          <p:cNvSpPr txBox="1"/>
          <p:nvPr/>
        </p:nvSpPr>
        <p:spPr>
          <a:xfrm>
            <a:off x="8396438" y="1954525"/>
            <a:ext cx="3060300" cy="37272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Actions</a:t>
            </a:r>
            <a:r>
              <a:rPr lang="en-US" sz="1700" b="1">
                <a:solidFill>
                  <a:srgbClr val="434343"/>
                </a:solidFill>
                <a:latin typeface="Calibri"/>
                <a:ea typeface="Calibri"/>
                <a:cs typeface="Calibri"/>
                <a:sym typeface="Calibri"/>
              </a:rPr>
              <a:t>:</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Turn the </a:t>
            </a:r>
            <a:r>
              <a:rPr lang="en-US" sz="1600">
                <a:solidFill>
                  <a:srgbClr val="434343"/>
                </a:solidFill>
                <a:latin typeface="Calibri"/>
                <a:ea typeface="Calibri"/>
                <a:cs typeface="Calibri"/>
                <a:sym typeface="Calibri"/>
              </a:rPr>
              <a:t>website into a powerful tool to both attract and convert prospects.</a:t>
            </a:r>
            <a:endParaRPr sz="1600">
              <a:solidFill>
                <a:srgbClr val="434343"/>
              </a:solidFill>
              <a:latin typeface="Calibri"/>
              <a:ea typeface="Calibri"/>
              <a:cs typeface="Calibri"/>
              <a:sym typeface="Calibri"/>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Review and update to match branding, messaging, positioning, persona, content, funnel, flow &amp; marketing recommendations.</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648" name="Shape 648"/>
        <p:cNvGrpSpPr/>
        <p:nvPr/>
      </p:nvGrpSpPr>
      <p:grpSpPr>
        <a:xfrm>
          <a:off x="0" y="0"/>
          <a:ext cx="0" cy="0"/>
          <a:chOff x="0" y="0"/>
          <a:chExt cx="0" cy="0"/>
        </a:xfrm>
      </p:grpSpPr>
      <p:pic>
        <p:nvPicPr>
          <p:cNvPr id="649" name="Google Shape;649;p76"/>
          <p:cNvPicPr preferRelativeResize="0"/>
          <p:nvPr/>
        </p:nvPicPr>
        <p:blipFill>
          <a:blip r:embed="rId1"/>
          <a:stretch>
            <a:fillRect/>
          </a:stretch>
        </p:blipFill>
        <p:spPr>
          <a:xfrm>
            <a:off x="315250" y="1611500"/>
            <a:ext cx="11561503" cy="897600"/>
          </a:xfrm>
          <a:prstGeom prst="rect">
            <a:avLst/>
          </a:prstGeom>
          <a:noFill/>
          <a:ln>
            <a:noFill/>
          </a:ln>
        </p:spPr>
      </p:pic>
      <p:sp>
        <p:nvSpPr>
          <p:cNvPr id="650" name="Google Shape;650;p76"/>
          <p:cNvSpPr txBox="1"/>
          <p:nvPr>
            <p:ph type="title"/>
          </p:nvPr>
        </p:nvSpPr>
        <p:spPr>
          <a:xfrm>
            <a:off x="4972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Website </a:t>
            </a:r>
            <a:r>
              <a:rPr lang="en-US" sz="3800" b="0" i="1">
                <a:solidFill>
                  <a:schemeClr val="accent5"/>
                </a:solidFill>
                <a:latin typeface="Calibri"/>
                <a:ea typeface="Calibri"/>
                <a:cs typeface="Calibri"/>
                <a:sym typeface="Calibri"/>
              </a:rPr>
              <a:t>New Navigation &amp; Flow</a:t>
            </a:r>
            <a:endParaRPr sz="3800" b="0" i="1">
              <a:solidFill>
                <a:schemeClr val="accent5"/>
              </a:solidFill>
              <a:latin typeface="Calibri"/>
              <a:ea typeface="Calibri"/>
              <a:cs typeface="Calibri"/>
              <a:sym typeface="Calibri"/>
            </a:endParaRPr>
          </a:p>
        </p:txBody>
      </p:sp>
      <p:sp>
        <p:nvSpPr>
          <p:cNvPr id="651" name="Google Shape;651;p76"/>
          <p:cNvSpPr txBox="1"/>
          <p:nvPr>
            <p:ph type="body" idx="1"/>
          </p:nvPr>
        </p:nvSpPr>
        <p:spPr>
          <a:xfrm>
            <a:off x="3118525" y="1740800"/>
            <a:ext cx="6435900" cy="548400"/>
          </a:xfrm>
          <a:prstGeom prst="rect">
            <a:avLst/>
          </a:prstGeom>
          <a:solidFill>
            <a:schemeClr val="lt1"/>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endParaRPr sz="100" b="1"/>
          </a:p>
          <a:p>
            <a:pPr marL="685800" marR="0" lvl="0" indent="0" algn="l" rtl="0">
              <a:lnSpc>
                <a:spcPct val="120000"/>
              </a:lnSpc>
              <a:spcBef>
                <a:spcPts val="0"/>
              </a:spcBef>
              <a:spcAft>
                <a:spcPts val="0"/>
              </a:spcAft>
              <a:buNone/>
            </a:pPr>
            <a:r>
              <a:rPr lang="en-US" sz="1350" b="1">
                <a:latin typeface="Roboto" panose="02000000000000000000"/>
                <a:ea typeface="Roboto" panose="02000000000000000000"/>
                <a:cs typeface="Roboto" panose="02000000000000000000"/>
                <a:sym typeface="Roboto" panose="02000000000000000000"/>
              </a:rPr>
              <a:t>CMO 	Marketing Ops  	Products 	 Resources    Company     Contact</a:t>
            </a:r>
            <a:endParaRPr sz="1350" b="1">
              <a:latin typeface="Roboto" panose="02000000000000000000"/>
              <a:ea typeface="Roboto" panose="02000000000000000000"/>
              <a:cs typeface="Roboto" panose="02000000000000000000"/>
              <a:sym typeface="Roboto" panose="02000000000000000000"/>
            </a:endParaRPr>
          </a:p>
          <a:p>
            <a:pPr marL="0" marR="0" lvl="0" indent="0" algn="l" rtl="0">
              <a:lnSpc>
                <a:spcPct val="120000"/>
              </a:lnSpc>
              <a:spcBef>
                <a:spcPts val="0"/>
              </a:spcBef>
              <a:spcAft>
                <a:spcPts val="0"/>
              </a:spcAft>
              <a:buNone/>
            </a:pPr>
            <a:endParaRPr sz="1450">
              <a:solidFill>
                <a:schemeClr val="accent6"/>
              </a:solidFill>
            </a:endParaRPr>
          </a:p>
          <a:p>
            <a:pPr marL="0" marR="0" lvl="0" indent="0" algn="l" rtl="0">
              <a:lnSpc>
                <a:spcPct val="100000"/>
              </a:lnSpc>
              <a:spcBef>
                <a:spcPts val="1000"/>
              </a:spcBef>
              <a:spcAft>
                <a:spcPts val="0"/>
              </a:spcAft>
              <a:buNone/>
            </a:pPr>
            <a:endParaRPr sz="1600" b="1"/>
          </a:p>
        </p:txBody>
      </p:sp>
      <p:sp>
        <p:nvSpPr>
          <p:cNvPr id="652" name="Google Shape;652;p76"/>
          <p:cNvSpPr txBox="1"/>
          <p:nvPr/>
        </p:nvSpPr>
        <p:spPr>
          <a:xfrm>
            <a:off x="1662900" y="3164250"/>
            <a:ext cx="5177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653" name="Google Shape;653;p76"/>
          <p:cNvSpPr txBox="1"/>
          <p:nvPr>
            <p:ph type="body" idx="1"/>
          </p:nvPr>
        </p:nvSpPr>
        <p:spPr>
          <a:xfrm>
            <a:off x="601075" y="2509100"/>
            <a:ext cx="1595700" cy="37131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000" b="1">
                <a:solidFill>
                  <a:schemeClr val="accent2"/>
                </a:solidFill>
              </a:rPr>
              <a:t>CMO</a:t>
            </a:r>
            <a:endParaRPr sz="2000" b="1">
              <a:solidFill>
                <a:schemeClr val="accent2"/>
              </a:solidFill>
            </a:endParaRPr>
          </a:p>
          <a:p>
            <a:pPr marL="0" marR="0" lvl="0" indent="0" algn="l" rtl="0">
              <a:lnSpc>
                <a:spcPct val="100000"/>
              </a:lnSpc>
              <a:spcBef>
                <a:spcPts val="0"/>
              </a:spcBef>
              <a:spcAft>
                <a:spcPts val="0"/>
              </a:spcAft>
              <a:buNone/>
            </a:pPr>
            <a:r>
              <a:rPr lang="en-US" sz="1300" i="1"/>
              <a:t>The Ultimate Guide to </a:t>
            </a:r>
            <a:r>
              <a:rPr lang="en-US" sz="1300" i="1"/>
              <a:t>National &amp; Global Marketing Planning and Promotion for Large Enterprise CMOs</a:t>
            </a:r>
            <a:br>
              <a:rPr lang="en-US" sz="1400" i="1"/>
            </a:br>
            <a:br>
              <a:rPr lang="en-US" sz="1400"/>
            </a:br>
            <a:r>
              <a:rPr lang="en-US" sz="1300" i="1"/>
              <a:t>The Ultimate CMO Guide to Multi-Location In-store, Branch and Franchisor Marketing for Large Enterprises</a:t>
            </a:r>
            <a:endParaRPr sz="1300" i="1"/>
          </a:p>
          <a:p>
            <a:pPr marL="0" marR="0" lvl="0" indent="0" algn="l" rtl="0">
              <a:lnSpc>
                <a:spcPct val="120000"/>
              </a:lnSpc>
              <a:spcBef>
                <a:spcPts val="0"/>
              </a:spcBef>
              <a:spcAft>
                <a:spcPts val="0"/>
              </a:spcAft>
              <a:buNone/>
            </a:pPr>
            <a:endParaRPr sz="1400" b="1"/>
          </a:p>
          <a:p>
            <a:pPr marL="0" marR="0" lvl="0" indent="0" algn="l" rtl="0">
              <a:lnSpc>
                <a:spcPct val="120000"/>
              </a:lnSpc>
              <a:spcBef>
                <a:spcPts val="0"/>
              </a:spcBef>
              <a:spcAft>
                <a:spcPts val="0"/>
              </a:spcAft>
              <a:buNone/>
            </a:pPr>
            <a:endParaRPr sz="1400" b="1"/>
          </a:p>
          <a:p>
            <a:pPr marL="0" marR="0" lvl="0" indent="0" algn="l" rtl="0">
              <a:lnSpc>
                <a:spcPct val="100000"/>
              </a:lnSpc>
              <a:spcBef>
                <a:spcPts val="1000"/>
              </a:spcBef>
              <a:spcAft>
                <a:spcPts val="0"/>
              </a:spcAft>
              <a:buNone/>
            </a:pPr>
            <a:endParaRPr sz="1600" b="1"/>
          </a:p>
        </p:txBody>
      </p:sp>
      <p:sp>
        <p:nvSpPr>
          <p:cNvPr id="654" name="Google Shape;654;p76"/>
          <p:cNvSpPr txBox="1"/>
          <p:nvPr>
            <p:ph type="body" idx="1"/>
          </p:nvPr>
        </p:nvSpPr>
        <p:spPr>
          <a:xfrm>
            <a:off x="2478000" y="2509100"/>
            <a:ext cx="1802700" cy="37131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1900" b="1">
                <a:solidFill>
                  <a:schemeClr val="accent2"/>
                </a:solidFill>
              </a:rPr>
              <a:t>Marketing Ops</a:t>
            </a:r>
            <a:endParaRPr sz="1900" b="1">
              <a:solidFill>
                <a:schemeClr val="accent2"/>
              </a:solidFill>
            </a:endParaRPr>
          </a:p>
          <a:p>
            <a:pPr marL="0" marR="0" lvl="0" indent="0" algn="l" rtl="0">
              <a:lnSpc>
                <a:spcPct val="100000"/>
              </a:lnSpc>
              <a:spcBef>
                <a:spcPts val="0"/>
              </a:spcBef>
              <a:spcAft>
                <a:spcPts val="0"/>
              </a:spcAft>
              <a:buNone/>
            </a:pPr>
            <a:r>
              <a:rPr lang="en-US" sz="1300" i="1"/>
              <a:t>The Ultimate Guide to National &amp; Global Marketing Planning and Promotion for Large Enterprise Marketing Operations</a:t>
            </a:r>
            <a:br>
              <a:rPr lang="en-US" sz="1300"/>
            </a:br>
            <a:br>
              <a:rPr lang="en-US" sz="1300"/>
            </a:br>
            <a:r>
              <a:rPr lang="en-US" sz="1300" i="1"/>
              <a:t>The Ultimate Guide to Large Enterprise Marketing Operations for Multi-Location In-store and branches</a:t>
            </a:r>
            <a:endParaRPr sz="1300" i="1"/>
          </a:p>
          <a:p>
            <a:pPr marL="0" marR="0" lvl="0" indent="0" algn="l" rtl="0">
              <a:lnSpc>
                <a:spcPct val="120000"/>
              </a:lnSpc>
              <a:spcBef>
                <a:spcPts val="0"/>
              </a:spcBef>
              <a:spcAft>
                <a:spcPts val="0"/>
              </a:spcAft>
              <a:buNone/>
            </a:pPr>
            <a:endParaRPr sz="1400" b="1"/>
          </a:p>
          <a:p>
            <a:pPr marL="0" marR="0" lvl="0" indent="0" algn="l" rtl="0">
              <a:lnSpc>
                <a:spcPct val="120000"/>
              </a:lnSpc>
              <a:spcBef>
                <a:spcPts val="0"/>
              </a:spcBef>
              <a:spcAft>
                <a:spcPts val="0"/>
              </a:spcAft>
              <a:buNone/>
            </a:pPr>
            <a:endParaRPr sz="1400" b="1"/>
          </a:p>
          <a:p>
            <a:pPr marL="0" marR="0" lvl="0" indent="0" algn="l" rtl="0">
              <a:lnSpc>
                <a:spcPct val="100000"/>
              </a:lnSpc>
              <a:spcBef>
                <a:spcPts val="1000"/>
              </a:spcBef>
              <a:spcAft>
                <a:spcPts val="0"/>
              </a:spcAft>
              <a:buNone/>
            </a:pPr>
            <a:endParaRPr sz="1600" b="1"/>
          </a:p>
        </p:txBody>
      </p:sp>
      <p:sp>
        <p:nvSpPr>
          <p:cNvPr id="655" name="Google Shape;655;p76"/>
          <p:cNvSpPr txBox="1"/>
          <p:nvPr>
            <p:ph type="body" idx="1"/>
          </p:nvPr>
        </p:nvSpPr>
        <p:spPr>
          <a:xfrm>
            <a:off x="4539800" y="2509100"/>
            <a:ext cx="1746300" cy="37131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000" b="1">
                <a:solidFill>
                  <a:schemeClr val="accent2"/>
                </a:solidFill>
              </a:rPr>
              <a:t>Products</a:t>
            </a:r>
            <a:endParaRPr sz="2000" b="1">
              <a:solidFill>
                <a:schemeClr val="accent2"/>
              </a:solidFill>
            </a:endParaRPr>
          </a:p>
          <a:p>
            <a:pPr marL="0" marR="0" lvl="0" indent="0" algn="l" rtl="0">
              <a:lnSpc>
                <a:spcPct val="100000"/>
              </a:lnSpc>
              <a:spcBef>
                <a:spcPts val="0"/>
              </a:spcBef>
              <a:spcAft>
                <a:spcPts val="0"/>
              </a:spcAft>
              <a:buNone/>
            </a:pPr>
            <a:r>
              <a:rPr lang="en-US" sz="1400"/>
              <a:t>Distro</a:t>
            </a:r>
            <a:endParaRPr sz="1400"/>
          </a:p>
          <a:p>
            <a:pPr marL="0" marR="0" lvl="0" indent="0" algn="l" rtl="0">
              <a:lnSpc>
                <a:spcPct val="100000"/>
              </a:lnSpc>
              <a:spcBef>
                <a:spcPts val="0"/>
              </a:spcBef>
              <a:spcAft>
                <a:spcPts val="0"/>
              </a:spcAft>
              <a:buNone/>
            </a:pPr>
            <a:r>
              <a:rPr lang="en-US" sz="1400"/>
              <a:t>Marketing Calendar</a:t>
            </a:r>
            <a:endParaRPr sz="1400"/>
          </a:p>
          <a:p>
            <a:pPr marL="0" marR="0" lvl="0" indent="0" algn="l" rtl="0">
              <a:lnSpc>
                <a:spcPct val="100000"/>
              </a:lnSpc>
              <a:spcBef>
                <a:spcPts val="0"/>
              </a:spcBef>
              <a:spcAft>
                <a:spcPts val="0"/>
              </a:spcAft>
              <a:buNone/>
            </a:pPr>
            <a:r>
              <a:rPr lang="en-US" sz="1400"/>
              <a:t>Budgeting</a:t>
            </a:r>
            <a:endParaRPr sz="1400"/>
          </a:p>
          <a:p>
            <a:pPr marL="0" marR="0" lvl="0" indent="0" algn="l" rtl="0">
              <a:lnSpc>
                <a:spcPct val="100000"/>
              </a:lnSpc>
              <a:spcBef>
                <a:spcPts val="0"/>
              </a:spcBef>
              <a:spcAft>
                <a:spcPts val="0"/>
              </a:spcAft>
              <a:buNone/>
            </a:pPr>
            <a:r>
              <a:rPr lang="en-US" sz="1400"/>
              <a:t>Promo Planning</a:t>
            </a:r>
            <a:endParaRPr sz="1400"/>
          </a:p>
          <a:p>
            <a:pPr marL="0" marR="0" lvl="0" indent="0" algn="l" rtl="0">
              <a:lnSpc>
                <a:spcPct val="100000"/>
              </a:lnSpc>
              <a:spcBef>
                <a:spcPts val="0"/>
              </a:spcBef>
              <a:spcAft>
                <a:spcPts val="0"/>
              </a:spcAft>
              <a:buNone/>
            </a:pPr>
            <a:r>
              <a:rPr lang="en-US" sz="1400"/>
              <a:t>Online Proofing</a:t>
            </a:r>
            <a:endParaRPr sz="1400"/>
          </a:p>
          <a:p>
            <a:pPr marL="0" marR="0" lvl="0" indent="0" algn="l" rtl="0">
              <a:lnSpc>
                <a:spcPct val="120000"/>
              </a:lnSpc>
              <a:spcBef>
                <a:spcPts val="0"/>
              </a:spcBef>
              <a:spcAft>
                <a:spcPts val="0"/>
              </a:spcAft>
              <a:buNone/>
            </a:pPr>
            <a:endParaRPr sz="1400" b="1"/>
          </a:p>
          <a:p>
            <a:pPr marL="0" marR="0" lvl="0" indent="0" algn="l" rtl="0">
              <a:lnSpc>
                <a:spcPct val="120000"/>
              </a:lnSpc>
              <a:spcBef>
                <a:spcPts val="0"/>
              </a:spcBef>
              <a:spcAft>
                <a:spcPts val="0"/>
              </a:spcAft>
              <a:buNone/>
            </a:pPr>
            <a:endParaRPr sz="1400" b="1"/>
          </a:p>
          <a:p>
            <a:pPr marL="0" marR="0" lvl="0" indent="0" algn="l" rtl="0">
              <a:lnSpc>
                <a:spcPct val="100000"/>
              </a:lnSpc>
              <a:spcBef>
                <a:spcPts val="1000"/>
              </a:spcBef>
              <a:spcAft>
                <a:spcPts val="0"/>
              </a:spcAft>
              <a:buNone/>
            </a:pPr>
            <a:endParaRPr sz="1600" b="1"/>
          </a:p>
        </p:txBody>
      </p:sp>
      <p:sp>
        <p:nvSpPr>
          <p:cNvPr id="656" name="Google Shape;656;p76"/>
          <p:cNvSpPr txBox="1"/>
          <p:nvPr>
            <p:ph type="body" idx="1"/>
          </p:nvPr>
        </p:nvSpPr>
        <p:spPr>
          <a:xfrm>
            <a:off x="6471888" y="2509100"/>
            <a:ext cx="1595700" cy="37131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000" b="1">
                <a:solidFill>
                  <a:schemeClr val="accent2"/>
                </a:solidFill>
              </a:rPr>
              <a:t>Resources</a:t>
            </a:r>
            <a:endParaRPr sz="2000" b="1">
              <a:solidFill>
                <a:schemeClr val="accent2"/>
              </a:solidFill>
            </a:endParaRPr>
          </a:p>
          <a:p>
            <a:pPr marL="0" marR="0" lvl="0" indent="0" algn="l" rtl="0">
              <a:lnSpc>
                <a:spcPct val="100000"/>
              </a:lnSpc>
              <a:spcBef>
                <a:spcPts val="0"/>
              </a:spcBef>
              <a:spcAft>
                <a:spcPts val="0"/>
              </a:spcAft>
              <a:buNone/>
            </a:pPr>
            <a:r>
              <a:rPr lang="en-US" sz="1400"/>
              <a:t>Blog</a:t>
            </a:r>
            <a:endParaRPr sz="1400"/>
          </a:p>
          <a:p>
            <a:pPr marL="0" marR="0" lvl="0" indent="0" algn="l" rtl="0">
              <a:lnSpc>
                <a:spcPct val="100000"/>
              </a:lnSpc>
              <a:spcBef>
                <a:spcPts val="0"/>
              </a:spcBef>
              <a:spcAft>
                <a:spcPts val="0"/>
              </a:spcAft>
              <a:buNone/>
            </a:pPr>
            <a:r>
              <a:rPr lang="en-US" sz="1400"/>
              <a:t>White papers</a:t>
            </a:r>
            <a:endParaRPr sz="1400"/>
          </a:p>
          <a:p>
            <a:pPr marL="0" marR="0" lvl="0" indent="0" algn="l" rtl="0">
              <a:lnSpc>
                <a:spcPct val="100000"/>
              </a:lnSpc>
              <a:spcBef>
                <a:spcPts val="0"/>
              </a:spcBef>
              <a:spcAft>
                <a:spcPts val="0"/>
              </a:spcAft>
              <a:buNone/>
            </a:pPr>
            <a:r>
              <a:rPr lang="en-US" sz="1400"/>
              <a:t>Case Studies</a:t>
            </a:r>
            <a:endParaRPr sz="1400"/>
          </a:p>
          <a:p>
            <a:pPr marL="0" marR="0" lvl="0" indent="0" algn="l" rtl="0">
              <a:lnSpc>
                <a:spcPct val="100000"/>
              </a:lnSpc>
              <a:spcBef>
                <a:spcPts val="0"/>
              </a:spcBef>
              <a:spcAft>
                <a:spcPts val="0"/>
              </a:spcAft>
              <a:buNone/>
            </a:pPr>
            <a:r>
              <a:rPr lang="en-US" sz="1400"/>
              <a:t>Newsletter</a:t>
            </a:r>
            <a:endParaRPr sz="1400"/>
          </a:p>
          <a:p>
            <a:pPr marL="0" marR="0" lvl="0" indent="0" algn="l" rtl="0">
              <a:lnSpc>
                <a:spcPct val="100000"/>
              </a:lnSpc>
              <a:spcBef>
                <a:spcPts val="0"/>
              </a:spcBef>
              <a:spcAft>
                <a:spcPts val="0"/>
              </a:spcAft>
              <a:buNone/>
            </a:pPr>
            <a:r>
              <a:rPr lang="en-US" sz="1400"/>
              <a:t>Ebooks</a:t>
            </a:r>
            <a:endParaRPr sz="1400"/>
          </a:p>
          <a:p>
            <a:pPr marL="0" marR="0" lvl="0" indent="0" algn="l" rtl="0">
              <a:lnSpc>
                <a:spcPct val="100000"/>
              </a:lnSpc>
              <a:spcBef>
                <a:spcPts val="0"/>
              </a:spcBef>
              <a:spcAft>
                <a:spcPts val="0"/>
              </a:spcAft>
              <a:buNone/>
            </a:pPr>
            <a:r>
              <a:rPr lang="en-US" sz="1400"/>
              <a:t>IT Kit</a:t>
            </a:r>
            <a:endParaRPr sz="1400"/>
          </a:p>
          <a:p>
            <a:pPr marL="0" marR="0" lvl="0" indent="0" algn="l" rtl="0">
              <a:lnSpc>
                <a:spcPct val="100000"/>
              </a:lnSpc>
              <a:spcBef>
                <a:spcPts val="0"/>
              </a:spcBef>
              <a:spcAft>
                <a:spcPts val="0"/>
              </a:spcAft>
              <a:buNone/>
            </a:pPr>
            <a:r>
              <a:rPr lang="en-US" sz="1400"/>
              <a:t>Sourcing Kit</a:t>
            </a:r>
            <a:endParaRPr sz="1400"/>
          </a:p>
          <a:p>
            <a:pPr marL="0" marR="0" lvl="0" indent="0" algn="l" rtl="0">
              <a:lnSpc>
                <a:spcPct val="120000"/>
              </a:lnSpc>
              <a:spcBef>
                <a:spcPts val="0"/>
              </a:spcBef>
              <a:spcAft>
                <a:spcPts val="0"/>
              </a:spcAft>
              <a:buNone/>
            </a:pPr>
            <a:endParaRPr sz="1400" b="1"/>
          </a:p>
          <a:p>
            <a:pPr marL="0" marR="0" lvl="0" indent="0" algn="l" rtl="0">
              <a:lnSpc>
                <a:spcPct val="120000"/>
              </a:lnSpc>
              <a:spcBef>
                <a:spcPts val="0"/>
              </a:spcBef>
              <a:spcAft>
                <a:spcPts val="0"/>
              </a:spcAft>
              <a:buNone/>
            </a:pPr>
            <a:endParaRPr sz="1400" b="1"/>
          </a:p>
          <a:p>
            <a:pPr marL="0" marR="0" lvl="0" indent="0" algn="l" rtl="0">
              <a:lnSpc>
                <a:spcPct val="100000"/>
              </a:lnSpc>
              <a:spcBef>
                <a:spcPts val="1000"/>
              </a:spcBef>
              <a:spcAft>
                <a:spcPts val="0"/>
              </a:spcAft>
              <a:buNone/>
            </a:pPr>
            <a:endParaRPr sz="1600" b="1"/>
          </a:p>
        </p:txBody>
      </p:sp>
      <p:sp>
        <p:nvSpPr>
          <p:cNvPr id="657" name="Google Shape;657;p76"/>
          <p:cNvSpPr txBox="1"/>
          <p:nvPr>
            <p:ph type="body" idx="1"/>
          </p:nvPr>
        </p:nvSpPr>
        <p:spPr>
          <a:xfrm>
            <a:off x="8329600" y="2509100"/>
            <a:ext cx="1595700" cy="37131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None/>
            </a:pPr>
            <a:r>
              <a:rPr lang="en-US" sz="2000" b="1">
                <a:solidFill>
                  <a:schemeClr val="accent2"/>
                </a:solidFill>
              </a:rPr>
              <a:t>Company</a:t>
            </a:r>
            <a:endParaRPr sz="2000" b="1">
              <a:solidFill>
                <a:schemeClr val="accent2"/>
              </a:solidFill>
            </a:endParaRPr>
          </a:p>
          <a:p>
            <a:pPr marL="0" marR="0" lvl="0" indent="0" algn="l" rtl="0">
              <a:lnSpc>
                <a:spcPct val="100000"/>
              </a:lnSpc>
              <a:spcBef>
                <a:spcPts val="0"/>
              </a:spcBef>
              <a:spcAft>
                <a:spcPts val="0"/>
              </a:spcAft>
              <a:buNone/>
            </a:pPr>
            <a:r>
              <a:rPr lang="en-US" sz="1400"/>
              <a:t>News</a:t>
            </a:r>
            <a:endParaRPr sz="1400"/>
          </a:p>
          <a:p>
            <a:pPr marL="0" marR="0" lvl="0" indent="0" algn="l" rtl="0">
              <a:lnSpc>
                <a:spcPct val="100000"/>
              </a:lnSpc>
              <a:spcBef>
                <a:spcPts val="0"/>
              </a:spcBef>
              <a:spcAft>
                <a:spcPts val="0"/>
              </a:spcAft>
              <a:buNone/>
            </a:pPr>
            <a:r>
              <a:rPr lang="en-US" sz="1400"/>
              <a:t>Events</a:t>
            </a:r>
            <a:endParaRPr sz="1400"/>
          </a:p>
          <a:p>
            <a:pPr marL="0" marR="0" lvl="0" indent="0" algn="l" rtl="0">
              <a:lnSpc>
                <a:spcPct val="100000"/>
              </a:lnSpc>
              <a:spcBef>
                <a:spcPts val="0"/>
              </a:spcBef>
              <a:spcAft>
                <a:spcPts val="0"/>
              </a:spcAft>
              <a:buNone/>
            </a:pPr>
            <a:r>
              <a:rPr lang="en-US" sz="1400"/>
              <a:t>Blog</a:t>
            </a:r>
            <a:endParaRPr sz="1400"/>
          </a:p>
          <a:p>
            <a:pPr marL="0" marR="0" lvl="0" indent="0" algn="l" rtl="0">
              <a:lnSpc>
                <a:spcPct val="100000"/>
              </a:lnSpc>
              <a:spcBef>
                <a:spcPts val="0"/>
              </a:spcBef>
              <a:spcAft>
                <a:spcPts val="0"/>
              </a:spcAft>
              <a:buNone/>
            </a:pPr>
            <a:r>
              <a:rPr lang="en-US" sz="1400"/>
              <a:t>Company Story</a:t>
            </a:r>
            <a:endParaRPr sz="1400"/>
          </a:p>
          <a:p>
            <a:pPr marL="0" marR="0" lvl="0" indent="0" algn="l" rtl="0">
              <a:lnSpc>
                <a:spcPct val="100000"/>
              </a:lnSpc>
              <a:spcBef>
                <a:spcPts val="0"/>
              </a:spcBef>
              <a:spcAft>
                <a:spcPts val="0"/>
              </a:spcAft>
              <a:buNone/>
            </a:pPr>
            <a:r>
              <a:rPr lang="en-US" sz="1400"/>
              <a:t>Team</a:t>
            </a:r>
            <a:endParaRPr sz="1400"/>
          </a:p>
          <a:p>
            <a:pPr marL="0" marR="0" lvl="0" indent="0" algn="l" rtl="0">
              <a:lnSpc>
                <a:spcPct val="100000"/>
              </a:lnSpc>
              <a:spcBef>
                <a:spcPts val="0"/>
              </a:spcBef>
              <a:spcAft>
                <a:spcPts val="0"/>
              </a:spcAft>
              <a:buNone/>
            </a:pPr>
            <a:r>
              <a:rPr lang="en-US" sz="1400"/>
              <a:t>Careers</a:t>
            </a:r>
            <a:endParaRPr sz="1400"/>
          </a:p>
          <a:p>
            <a:pPr marL="0" marR="0" lvl="0" indent="0" algn="l" rtl="0">
              <a:lnSpc>
                <a:spcPct val="100000"/>
              </a:lnSpc>
              <a:spcBef>
                <a:spcPts val="0"/>
              </a:spcBef>
              <a:spcAft>
                <a:spcPts val="0"/>
              </a:spcAft>
              <a:buNone/>
            </a:pPr>
            <a:endParaRPr sz="1400"/>
          </a:p>
          <a:p>
            <a:pPr marL="0" marR="0" lvl="0" indent="0" algn="l" rtl="0">
              <a:lnSpc>
                <a:spcPct val="120000"/>
              </a:lnSpc>
              <a:spcBef>
                <a:spcPts val="0"/>
              </a:spcBef>
              <a:spcAft>
                <a:spcPts val="0"/>
              </a:spcAft>
              <a:buNone/>
            </a:pPr>
            <a:endParaRPr sz="1400" b="1"/>
          </a:p>
          <a:p>
            <a:pPr marL="0" marR="0" lvl="0" indent="0" algn="l" rtl="0">
              <a:lnSpc>
                <a:spcPct val="120000"/>
              </a:lnSpc>
              <a:spcBef>
                <a:spcPts val="0"/>
              </a:spcBef>
              <a:spcAft>
                <a:spcPts val="0"/>
              </a:spcAft>
              <a:buNone/>
            </a:pPr>
            <a:endParaRPr sz="1400" b="1"/>
          </a:p>
          <a:p>
            <a:pPr marL="0" marR="0" lvl="0" indent="0" algn="l" rtl="0">
              <a:lnSpc>
                <a:spcPct val="100000"/>
              </a:lnSpc>
              <a:spcBef>
                <a:spcPts val="1000"/>
              </a:spcBef>
              <a:spcAft>
                <a:spcPts val="0"/>
              </a:spcAft>
              <a:buNone/>
            </a:pPr>
            <a:endParaRPr sz="1600" b="1"/>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661" name="Shape 661"/>
        <p:cNvGrpSpPr/>
        <p:nvPr/>
      </p:nvGrpSpPr>
      <p:grpSpPr>
        <a:xfrm>
          <a:off x="0" y="0"/>
          <a:ext cx="0" cy="0"/>
          <a:chOff x="0" y="0"/>
          <a:chExt cx="0" cy="0"/>
        </a:xfrm>
      </p:grpSpPr>
      <p:sp>
        <p:nvSpPr>
          <p:cNvPr id="662" name="Google Shape;662;p77"/>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1: marketing foundation</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4: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New Website Funnels </a:t>
            </a:r>
            <a:br>
              <a:rPr lang="en-US">
                <a:latin typeface="Calibri"/>
                <a:ea typeface="Calibri"/>
                <a:cs typeface="Calibri"/>
                <a:sym typeface="Calibri"/>
              </a:rPr>
            </a:br>
            <a:r>
              <a:rPr lang="en-US">
                <a:latin typeface="Calibri"/>
                <a:ea typeface="Calibri"/>
                <a:cs typeface="Calibri"/>
                <a:sym typeface="Calibri"/>
              </a:rPr>
              <a:t>&amp; Lead Nurturing Sequences</a:t>
            </a:r>
            <a:endParaRPr lang="en-US">
              <a:latin typeface="Calibri"/>
              <a:ea typeface="Calibri"/>
              <a:cs typeface="Calibri"/>
              <a:sym typeface="Calibri"/>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663" name="Google Shape;663;p7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a:t>
            </a:r>
            <a:endParaRPr sz="1900" b="0" i="1">
              <a:solidFill>
                <a:schemeClr val="accent5"/>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667" name="Shape 667"/>
        <p:cNvGrpSpPr/>
        <p:nvPr/>
      </p:nvGrpSpPr>
      <p:grpSpPr>
        <a:xfrm>
          <a:off x="0" y="0"/>
          <a:ext cx="0" cy="0"/>
          <a:chOff x="0" y="0"/>
          <a:chExt cx="0" cy="0"/>
        </a:xfrm>
      </p:grpSpPr>
      <p:sp>
        <p:nvSpPr>
          <p:cNvPr id="668" name="Google Shape;668;p78"/>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Marketing Calendar Funnel: </a:t>
            </a:r>
            <a:r>
              <a:rPr lang="en-US" sz="3300" b="0" i="1">
                <a:solidFill>
                  <a:srgbClr val="073763"/>
                </a:solidFill>
                <a:latin typeface="Calibri"/>
                <a:ea typeface="Calibri"/>
                <a:cs typeface="Calibri"/>
                <a:sym typeface="Calibri"/>
              </a:rPr>
              <a:t>VP of Marketing &amp; Marketing Operations Personas</a:t>
            </a:r>
            <a:endParaRPr sz="3300" b="0" i="1">
              <a:solidFill>
                <a:srgbClr val="073763"/>
              </a:solidFill>
              <a:latin typeface="Calibri"/>
              <a:ea typeface="Calibri"/>
              <a:cs typeface="Calibri"/>
              <a:sym typeface="Calibri"/>
            </a:endParaRPr>
          </a:p>
        </p:txBody>
      </p:sp>
      <p:sp>
        <p:nvSpPr>
          <p:cNvPr id="669" name="Google Shape;669;p78"/>
          <p:cNvSpPr txBox="1"/>
          <p:nvPr>
            <p:ph type="body" idx="1"/>
          </p:nvPr>
        </p:nvSpPr>
        <p:spPr>
          <a:xfrm>
            <a:off x="1201100" y="1880575"/>
            <a:ext cx="8097900" cy="4630200"/>
          </a:xfrm>
          <a:prstGeom prst="rect">
            <a:avLst/>
          </a:prstGeom>
          <a:noFill/>
          <a:ln>
            <a:noFill/>
          </a:ln>
        </p:spPr>
        <p:txBody>
          <a:bodyPr spcFirstLastPara="1" wrap="square" lIns="91425" tIns="45700" rIns="91425" bIns="45700" anchor="t" anchorCtr="0">
            <a:noAutofit/>
          </a:bodyPr>
          <a:lstStyle/>
          <a:p>
            <a:pPr marL="800100" marR="0" lvl="1" indent="-352425" algn="l" rtl="0">
              <a:lnSpc>
                <a:spcPct val="100000"/>
              </a:lnSpc>
              <a:spcBef>
                <a:spcPts val="1000"/>
              </a:spcBef>
              <a:spcAft>
                <a:spcPts val="0"/>
              </a:spcAft>
              <a:buClr>
                <a:schemeClr val="accent2"/>
              </a:buClr>
              <a:buSzPts val="1750"/>
              <a:buFont typeface="Calibri"/>
              <a:buChar char="✔"/>
            </a:pPr>
            <a:r>
              <a:rPr lang="en-US" sz="1750"/>
              <a:t>Main persona</a:t>
            </a:r>
            <a:endParaRPr sz="1750"/>
          </a:p>
          <a:p>
            <a:pPr marL="800100" marR="0" lvl="1" indent="-352425" algn="l" rtl="0">
              <a:lnSpc>
                <a:spcPct val="100000"/>
              </a:lnSpc>
              <a:spcBef>
                <a:spcPts val="1000"/>
              </a:spcBef>
              <a:spcAft>
                <a:spcPts val="0"/>
              </a:spcAft>
              <a:buClr>
                <a:schemeClr val="accent2"/>
              </a:buClr>
              <a:buSzPts val="1750"/>
              <a:buFont typeface="Calibri"/>
              <a:buChar char="✔"/>
            </a:pPr>
            <a:r>
              <a:rPr lang="en-US" sz="1750"/>
              <a:t>Main CTA on website</a:t>
            </a:r>
            <a:endParaRPr sz="1750"/>
          </a:p>
          <a:p>
            <a:pPr marL="800100" marR="0" lvl="1" indent="-352425" algn="l" rtl="0">
              <a:lnSpc>
                <a:spcPct val="100000"/>
              </a:lnSpc>
              <a:spcBef>
                <a:spcPts val="1000"/>
              </a:spcBef>
              <a:spcAft>
                <a:spcPts val="0"/>
              </a:spcAft>
              <a:buClr>
                <a:schemeClr val="accent2"/>
              </a:buClr>
              <a:buSzPts val="1750"/>
              <a:buFont typeface="Calibri"/>
              <a:buChar char="✔"/>
            </a:pPr>
            <a:r>
              <a:rPr lang="en-US" sz="1750"/>
              <a:t>Most lead generation activities will drive to this funnel</a:t>
            </a:r>
            <a:endParaRPr sz="1750"/>
          </a:p>
          <a:p>
            <a:pPr marL="0" marR="0" lvl="0" indent="0" algn="l" rtl="0">
              <a:lnSpc>
                <a:spcPct val="100000"/>
              </a:lnSpc>
              <a:spcBef>
                <a:spcPts val="1000"/>
              </a:spcBef>
              <a:spcAft>
                <a:spcPts val="0"/>
              </a:spcAft>
              <a:buNone/>
            </a:pPr>
            <a:endParaRPr sz="1750"/>
          </a:p>
          <a:p>
            <a:pPr marL="0" marR="0" lvl="0" indent="0" algn="l" rtl="0">
              <a:lnSpc>
                <a:spcPct val="100000"/>
              </a:lnSpc>
              <a:spcBef>
                <a:spcPts val="1000"/>
              </a:spcBef>
              <a:spcAft>
                <a:spcPts val="0"/>
              </a:spcAft>
              <a:buNone/>
            </a:pPr>
            <a:r>
              <a:rPr lang="en-US" sz="1750"/>
              <a:t>Funnel Includes:</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Main Landing Page, CTA, Thank You Page</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Auto Responder Email</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Four Email Nurture Sequence with CTA to Book a Demo</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Once Sequence is Complete - Move to Ongoing Newsletter</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Consider Monthly Re-Engagement Emails</a:t>
            </a:r>
            <a:endParaRPr sz="1750"/>
          </a:p>
        </p:txBody>
      </p:sp>
      <p:sp>
        <p:nvSpPr>
          <p:cNvPr id="670" name="Google Shape;670;p7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Persona Funnels</a:t>
            </a:r>
            <a:endParaRPr sz="1900" b="0" i="1">
              <a:solidFill>
                <a:schemeClr val="accent5"/>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674" name="Shape 674"/>
        <p:cNvGrpSpPr/>
        <p:nvPr/>
      </p:nvGrpSpPr>
      <p:grpSpPr>
        <a:xfrm>
          <a:off x="0" y="0"/>
          <a:ext cx="0" cy="0"/>
          <a:chOff x="0" y="0"/>
          <a:chExt cx="0" cy="0"/>
        </a:xfrm>
      </p:grpSpPr>
      <p:sp>
        <p:nvSpPr>
          <p:cNvPr id="675" name="Google Shape;675;p79"/>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100">
                <a:solidFill>
                  <a:srgbClr val="073763"/>
                </a:solidFill>
              </a:rPr>
              <a:t>Marketing Calendar: </a:t>
            </a:r>
            <a:r>
              <a:rPr lang="en-US" sz="3100" b="0" i="1">
                <a:solidFill>
                  <a:srgbClr val="073763"/>
                </a:solidFill>
                <a:latin typeface="Calibri"/>
                <a:ea typeface="Calibri"/>
                <a:cs typeface="Calibri"/>
                <a:sym typeface="Calibri"/>
              </a:rPr>
              <a:t>Marketing Operations Persona Funnel</a:t>
            </a:r>
            <a:endParaRPr sz="3100" b="0" i="1">
              <a:solidFill>
                <a:srgbClr val="073763"/>
              </a:solidFill>
              <a:latin typeface="Calibri"/>
              <a:ea typeface="Calibri"/>
              <a:cs typeface="Calibri"/>
              <a:sym typeface="Calibri"/>
            </a:endParaRPr>
          </a:p>
          <a:p>
            <a:pPr marL="0" lvl="0" indent="0" algn="l" rtl="0">
              <a:lnSpc>
                <a:spcPct val="90000"/>
              </a:lnSpc>
              <a:spcBef>
                <a:spcPts val="0"/>
              </a:spcBef>
              <a:spcAft>
                <a:spcPts val="0"/>
              </a:spcAft>
              <a:buNone/>
            </a:pPr>
          </a:p>
        </p:txBody>
      </p:sp>
      <p:sp>
        <p:nvSpPr>
          <p:cNvPr id="676" name="Google Shape;676;p79"/>
          <p:cNvSpPr/>
          <p:nvPr/>
        </p:nvSpPr>
        <p:spPr>
          <a:xfrm>
            <a:off x="713275" y="1936400"/>
            <a:ext cx="1452000" cy="1624800"/>
          </a:xfrm>
          <a:prstGeom prst="snip1Rect">
            <a:avLst>
              <a:gd name="adj" fmla="val 16667"/>
            </a:avLst>
          </a:prstGeom>
          <a:solidFill>
            <a:srgbClr val="AFDFE4"/>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b="1">
                <a:solidFill>
                  <a:schemeClr val="accent5"/>
                </a:solidFill>
                <a:latin typeface="Calibri"/>
                <a:ea typeface="Calibri"/>
                <a:cs typeface="Calibri"/>
                <a:sym typeface="Calibri"/>
              </a:rPr>
              <a:t>Inbound Marketing:</a:t>
            </a:r>
            <a:endParaRPr sz="1300" b="1">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Content Marketing Social Media</a:t>
            </a:r>
            <a:endParaRPr sz="13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SEO/Hub Pages</a:t>
            </a:r>
            <a:endParaRPr sz="1300">
              <a:solidFill>
                <a:schemeClr val="accent5"/>
              </a:solidFill>
              <a:latin typeface="Calibri"/>
              <a:ea typeface="Calibri"/>
              <a:cs typeface="Calibri"/>
              <a:sym typeface="Calibri"/>
            </a:endParaRPr>
          </a:p>
        </p:txBody>
      </p:sp>
      <p:sp>
        <p:nvSpPr>
          <p:cNvPr id="677" name="Google Shape;677;p79"/>
          <p:cNvSpPr/>
          <p:nvPr/>
        </p:nvSpPr>
        <p:spPr>
          <a:xfrm>
            <a:off x="2739925" y="1943100"/>
            <a:ext cx="1704440" cy="324348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accent5"/>
                </a:solidFill>
                <a:latin typeface="Calibri"/>
                <a:ea typeface="Calibri"/>
                <a:cs typeface="Calibri"/>
                <a:sym typeface="Calibri"/>
              </a:rPr>
              <a:t>Website Landing Page/CTA: </a:t>
            </a:r>
            <a:br>
              <a:rPr lang="en-US" sz="1600" b="1">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Enterprise Marketing Calendar Software Buyer’s Guide</a:t>
            </a:r>
            <a:endParaRPr sz="1600"/>
          </a:p>
        </p:txBody>
      </p:sp>
      <p:pic>
        <p:nvPicPr>
          <p:cNvPr id="678" name="Google Shape;678;p79"/>
          <p:cNvPicPr preferRelativeResize="0"/>
          <p:nvPr/>
        </p:nvPicPr>
        <p:blipFill rotWithShape="1">
          <a:blip r:embed="rId1"/>
          <a:srcRect/>
          <a:stretch>
            <a:fillRect/>
          </a:stretch>
        </p:blipFill>
        <p:spPr>
          <a:xfrm>
            <a:off x="2345975" y="3375927"/>
            <a:ext cx="221894" cy="308722"/>
          </a:xfrm>
          <a:prstGeom prst="rect">
            <a:avLst/>
          </a:prstGeom>
          <a:noFill/>
          <a:ln>
            <a:noFill/>
          </a:ln>
        </p:spPr>
      </p:pic>
      <p:pic>
        <p:nvPicPr>
          <p:cNvPr id="679" name="Google Shape;679;p79"/>
          <p:cNvPicPr preferRelativeResize="0"/>
          <p:nvPr/>
        </p:nvPicPr>
        <p:blipFill rotWithShape="1">
          <a:blip r:embed="rId1"/>
          <a:srcRect/>
          <a:stretch>
            <a:fillRect/>
          </a:stretch>
        </p:blipFill>
        <p:spPr>
          <a:xfrm>
            <a:off x="4616425" y="3375918"/>
            <a:ext cx="221894" cy="308722"/>
          </a:xfrm>
          <a:prstGeom prst="rect">
            <a:avLst/>
          </a:prstGeom>
          <a:noFill/>
          <a:ln>
            <a:noFill/>
          </a:ln>
        </p:spPr>
      </p:pic>
      <p:sp>
        <p:nvSpPr>
          <p:cNvPr id="680" name="Google Shape;680;p79"/>
          <p:cNvSpPr/>
          <p:nvPr/>
        </p:nvSpPr>
        <p:spPr>
          <a:xfrm>
            <a:off x="4975275" y="1650725"/>
            <a:ext cx="2906100" cy="7227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None/>
            </a:pPr>
            <a:r>
              <a:rPr lang="en-US" sz="1300" b="1">
                <a:solidFill>
                  <a:schemeClr val="accent5"/>
                </a:solidFill>
                <a:latin typeface="Calibri"/>
                <a:ea typeface="Calibri"/>
                <a:cs typeface="Calibri"/>
                <a:sym typeface="Calibri"/>
              </a:rPr>
              <a:t>Why you need to stop using Excel as your enterprise marketing calendar</a:t>
            </a:r>
            <a:endParaRPr sz="1300" b="1"/>
          </a:p>
        </p:txBody>
      </p:sp>
      <p:sp>
        <p:nvSpPr>
          <p:cNvPr id="681" name="Google Shape;681;p79"/>
          <p:cNvSpPr/>
          <p:nvPr/>
        </p:nvSpPr>
        <p:spPr>
          <a:xfrm>
            <a:off x="4975275" y="2570275"/>
            <a:ext cx="2906100" cy="6654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Get a single source of truth for your complex marketing organization</a:t>
            </a:r>
            <a:endParaRPr sz="1300" b="1">
              <a:solidFill>
                <a:schemeClr val="accent5"/>
              </a:solidFill>
              <a:latin typeface="Calibri"/>
              <a:ea typeface="Calibri"/>
              <a:cs typeface="Calibri"/>
              <a:sym typeface="Calibri"/>
            </a:endParaRPr>
          </a:p>
        </p:txBody>
      </p:sp>
      <p:sp>
        <p:nvSpPr>
          <p:cNvPr id="682" name="Google Shape;682;p79"/>
          <p:cNvSpPr/>
          <p:nvPr/>
        </p:nvSpPr>
        <p:spPr>
          <a:xfrm>
            <a:off x="4978988" y="3419063"/>
            <a:ext cx="2906100" cy="7227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10 (surprising) reasons you need an enterprise level marketing calendar now</a:t>
            </a:r>
            <a:endParaRPr sz="1300"/>
          </a:p>
        </p:txBody>
      </p:sp>
      <p:pic>
        <p:nvPicPr>
          <p:cNvPr id="683" name="Google Shape;683;p79"/>
          <p:cNvPicPr preferRelativeResize="0"/>
          <p:nvPr/>
        </p:nvPicPr>
        <p:blipFill rotWithShape="1">
          <a:blip r:embed="rId1"/>
          <a:srcRect/>
          <a:stretch>
            <a:fillRect/>
          </a:stretch>
        </p:blipFill>
        <p:spPr>
          <a:xfrm>
            <a:off x="11616725" y="4491781"/>
            <a:ext cx="221894" cy="308722"/>
          </a:xfrm>
          <a:prstGeom prst="rect">
            <a:avLst/>
          </a:prstGeom>
          <a:noFill/>
          <a:ln>
            <a:noFill/>
          </a:ln>
        </p:spPr>
      </p:pic>
      <p:sp>
        <p:nvSpPr>
          <p:cNvPr id="684" name="Google Shape;684;p79"/>
          <p:cNvSpPr/>
          <p:nvPr/>
        </p:nvSpPr>
        <p:spPr>
          <a:xfrm>
            <a:off x="10303176" y="2088800"/>
            <a:ext cx="1085791" cy="1325535"/>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b="1">
                <a:solidFill>
                  <a:schemeClr val="accent5"/>
                </a:solidFill>
                <a:latin typeface="Calibri"/>
                <a:ea typeface="Calibri"/>
                <a:cs typeface="Calibri"/>
                <a:sym typeface="Calibri"/>
              </a:rPr>
              <a:t>Ready?</a:t>
            </a:r>
            <a:endParaRPr b="1">
              <a:solidFill>
                <a:schemeClr val="accent5"/>
              </a:solidFill>
              <a:latin typeface="Calibri"/>
              <a:ea typeface="Calibri"/>
              <a:cs typeface="Calibri"/>
              <a:sym typeface="Calibri"/>
            </a:endParaRPr>
          </a:p>
          <a:p>
            <a:pPr marL="0" marR="0" lvl="0" indent="0" algn="ctr" rtl="0">
              <a:spcBef>
                <a:spcPts val="0"/>
              </a:spcBef>
              <a:spcAft>
                <a:spcPts val="0"/>
              </a:spcAft>
              <a:buNone/>
            </a:pPr>
            <a:r>
              <a:rPr lang="en-US">
                <a:solidFill>
                  <a:schemeClr val="accent5"/>
                </a:solidFill>
                <a:latin typeface="Calibri"/>
                <a:ea typeface="Calibri"/>
                <a:cs typeface="Calibri"/>
                <a:sym typeface="Calibri"/>
              </a:rPr>
              <a:t>Book a Demo</a:t>
            </a:r>
            <a:endParaRPr lang="en-US">
              <a:solidFill>
                <a:schemeClr val="accent5"/>
              </a:solidFill>
              <a:latin typeface="Calibri"/>
              <a:ea typeface="Calibri"/>
              <a:cs typeface="Calibri"/>
              <a:sym typeface="Calibri"/>
            </a:endParaRPr>
          </a:p>
        </p:txBody>
      </p:sp>
      <p:pic>
        <p:nvPicPr>
          <p:cNvPr id="685" name="Google Shape;685;p79"/>
          <p:cNvPicPr preferRelativeResize="0"/>
          <p:nvPr/>
        </p:nvPicPr>
        <p:blipFill rotWithShape="1">
          <a:blip r:embed="rId1"/>
          <a:srcRect/>
          <a:stretch>
            <a:fillRect/>
          </a:stretch>
        </p:blipFill>
        <p:spPr>
          <a:xfrm rot="5400000">
            <a:off x="10814563" y="3561118"/>
            <a:ext cx="221894" cy="308722"/>
          </a:xfrm>
          <a:prstGeom prst="rect">
            <a:avLst/>
          </a:prstGeom>
          <a:noFill/>
          <a:ln>
            <a:noFill/>
          </a:ln>
        </p:spPr>
      </p:pic>
      <p:sp>
        <p:nvSpPr>
          <p:cNvPr id="686" name="Google Shape;686;p79"/>
          <p:cNvSpPr/>
          <p:nvPr/>
        </p:nvSpPr>
        <p:spPr>
          <a:xfrm>
            <a:off x="10303176" y="4016625"/>
            <a:ext cx="1085791" cy="1325535"/>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b="1">
                <a:solidFill>
                  <a:schemeClr val="accent5"/>
                </a:solidFill>
                <a:latin typeface="Calibri"/>
                <a:ea typeface="Calibri"/>
                <a:cs typeface="Calibri"/>
                <a:sym typeface="Calibri"/>
              </a:rPr>
              <a:t>Not Ready? </a:t>
            </a:r>
            <a:r>
              <a:rPr lang="en-US">
                <a:solidFill>
                  <a:schemeClr val="accent5"/>
                </a:solidFill>
                <a:latin typeface="Calibri"/>
                <a:ea typeface="Calibri"/>
                <a:cs typeface="Calibri"/>
                <a:sym typeface="Calibri"/>
              </a:rPr>
              <a:t>Ongoing Newsletter</a:t>
            </a:r>
            <a:endParaRPr lang="en-US">
              <a:solidFill>
                <a:schemeClr val="accent5"/>
              </a:solidFill>
              <a:latin typeface="Calibri"/>
              <a:ea typeface="Calibri"/>
              <a:cs typeface="Calibri"/>
              <a:sym typeface="Calibri"/>
            </a:endParaRPr>
          </a:p>
        </p:txBody>
      </p:sp>
      <p:pic>
        <p:nvPicPr>
          <p:cNvPr id="687" name="Google Shape;687;p79"/>
          <p:cNvPicPr preferRelativeResize="0"/>
          <p:nvPr/>
        </p:nvPicPr>
        <p:blipFill rotWithShape="1">
          <a:blip r:embed="rId1"/>
          <a:srcRect/>
          <a:stretch>
            <a:fillRect/>
          </a:stretch>
        </p:blipFill>
        <p:spPr>
          <a:xfrm>
            <a:off x="9917500" y="2722093"/>
            <a:ext cx="221894" cy="308722"/>
          </a:xfrm>
          <a:prstGeom prst="rect">
            <a:avLst/>
          </a:prstGeom>
          <a:noFill/>
          <a:ln>
            <a:noFill/>
          </a:ln>
        </p:spPr>
      </p:pic>
      <p:sp>
        <p:nvSpPr>
          <p:cNvPr id="688" name="Google Shape;688;p7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Persona Funnels</a:t>
            </a:r>
            <a:endParaRPr sz="1900" b="0" i="1">
              <a:solidFill>
                <a:schemeClr val="accent5"/>
              </a:solidFill>
              <a:latin typeface="Calibri"/>
              <a:ea typeface="Calibri"/>
              <a:cs typeface="Calibri"/>
              <a:sym typeface="Calibri"/>
            </a:endParaRPr>
          </a:p>
        </p:txBody>
      </p:sp>
      <p:sp>
        <p:nvSpPr>
          <p:cNvPr id="689" name="Google Shape;689;p79"/>
          <p:cNvSpPr/>
          <p:nvPr/>
        </p:nvSpPr>
        <p:spPr>
          <a:xfrm>
            <a:off x="671575" y="3913250"/>
            <a:ext cx="1493700" cy="1233900"/>
          </a:xfrm>
          <a:prstGeom prst="snip1Rect">
            <a:avLst>
              <a:gd name="adj" fmla="val 16667"/>
            </a:avLst>
          </a:prstGeom>
          <a:solidFill>
            <a:srgbClr val="AFDFE4"/>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b="1">
                <a:solidFill>
                  <a:schemeClr val="accent5"/>
                </a:solidFill>
                <a:latin typeface="Calibri"/>
                <a:ea typeface="Calibri"/>
                <a:cs typeface="Calibri"/>
                <a:sym typeface="Calibri"/>
              </a:rPr>
              <a:t>Outbound Marketing</a:t>
            </a:r>
            <a:endParaRPr sz="1300" b="1">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PPC &amp; Social Ads</a:t>
            </a:r>
            <a:endParaRPr sz="13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Events/Associations</a:t>
            </a:r>
            <a:endParaRPr sz="13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endParaRPr sz="1300">
              <a:solidFill>
                <a:schemeClr val="accent5"/>
              </a:solidFill>
              <a:latin typeface="Calibri"/>
              <a:ea typeface="Calibri"/>
              <a:cs typeface="Calibri"/>
              <a:sym typeface="Calibri"/>
            </a:endParaRPr>
          </a:p>
        </p:txBody>
      </p:sp>
      <p:sp>
        <p:nvSpPr>
          <p:cNvPr id="690" name="Google Shape;690;p79"/>
          <p:cNvSpPr/>
          <p:nvPr/>
        </p:nvSpPr>
        <p:spPr>
          <a:xfrm>
            <a:off x="8037500" y="1650725"/>
            <a:ext cx="15612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200">
                <a:solidFill>
                  <a:schemeClr val="accent5"/>
                </a:solidFill>
                <a:latin typeface="Calibri"/>
                <a:ea typeface="Calibri"/>
                <a:cs typeface="Calibri"/>
                <a:sym typeface="Calibri"/>
              </a:rPr>
              <a:t>eBook: </a:t>
            </a:r>
            <a:br>
              <a:rPr lang="en-US" sz="1200">
                <a:solidFill>
                  <a:schemeClr val="accent5"/>
                </a:solidFill>
                <a:latin typeface="Calibri"/>
                <a:ea typeface="Calibri"/>
                <a:cs typeface="Calibri"/>
                <a:sym typeface="Calibri"/>
              </a:rPr>
            </a:br>
            <a:r>
              <a:rPr lang="en-US" sz="1200">
                <a:solidFill>
                  <a:schemeClr val="accent5"/>
                </a:solidFill>
                <a:latin typeface="Calibri"/>
                <a:ea typeface="Calibri"/>
                <a:cs typeface="Calibri"/>
                <a:sym typeface="Calibri"/>
              </a:rPr>
              <a:t>5 Reasons to STOP Using Excel</a:t>
            </a:r>
            <a:endParaRPr sz="1200"/>
          </a:p>
        </p:txBody>
      </p:sp>
      <p:sp>
        <p:nvSpPr>
          <p:cNvPr id="691" name="Google Shape;691;p79"/>
          <p:cNvSpPr/>
          <p:nvPr/>
        </p:nvSpPr>
        <p:spPr>
          <a:xfrm>
            <a:off x="8037500" y="2561150"/>
            <a:ext cx="1556700" cy="6306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eBook/Use Case</a:t>
            </a:r>
            <a:endParaRPr sz="1300"/>
          </a:p>
        </p:txBody>
      </p:sp>
      <p:sp>
        <p:nvSpPr>
          <p:cNvPr id="692" name="Google Shape;692;p79"/>
          <p:cNvSpPr/>
          <p:nvPr/>
        </p:nvSpPr>
        <p:spPr>
          <a:xfrm>
            <a:off x="8041875" y="3419075"/>
            <a:ext cx="15567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eBook</a:t>
            </a:r>
            <a:endParaRPr sz="1300"/>
          </a:p>
        </p:txBody>
      </p:sp>
      <p:sp>
        <p:nvSpPr>
          <p:cNvPr id="693" name="Google Shape;693;p79"/>
          <p:cNvSpPr/>
          <p:nvPr/>
        </p:nvSpPr>
        <p:spPr>
          <a:xfrm>
            <a:off x="8041875" y="4325175"/>
            <a:ext cx="15567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Case Study</a:t>
            </a:r>
            <a:endParaRPr sz="1300"/>
          </a:p>
        </p:txBody>
      </p:sp>
      <p:sp>
        <p:nvSpPr>
          <p:cNvPr id="694" name="Google Shape;694;p79"/>
          <p:cNvSpPr/>
          <p:nvPr/>
        </p:nvSpPr>
        <p:spPr>
          <a:xfrm>
            <a:off x="4979000" y="4325175"/>
            <a:ext cx="2906100" cy="7227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How Walmart streamlined their marketing with CrossCap’s Enterprise Marketing Calendar</a:t>
            </a:r>
            <a:endParaRPr sz="1300"/>
          </a:p>
        </p:txBody>
      </p:sp>
      <p:sp>
        <p:nvSpPr>
          <p:cNvPr id="695" name="Google Shape;695;p79"/>
          <p:cNvSpPr/>
          <p:nvPr/>
        </p:nvSpPr>
        <p:spPr>
          <a:xfrm>
            <a:off x="4975275" y="5231275"/>
            <a:ext cx="2906100" cy="7770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How a customized marketing calendar transforms your enterprise marketing (book demo now) </a:t>
            </a:r>
            <a:endParaRPr sz="1300" b="1">
              <a:solidFill>
                <a:schemeClr val="accent5"/>
              </a:solidFill>
              <a:latin typeface="Calibri"/>
              <a:ea typeface="Calibri"/>
              <a:cs typeface="Calibri"/>
              <a:sym typeface="Calibri"/>
            </a:endParaRPr>
          </a:p>
        </p:txBody>
      </p:sp>
      <p:sp>
        <p:nvSpPr>
          <p:cNvPr id="696" name="Google Shape;696;p79"/>
          <p:cNvSpPr/>
          <p:nvPr/>
        </p:nvSpPr>
        <p:spPr>
          <a:xfrm>
            <a:off x="8037500" y="5231275"/>
            <a:ext cx="15567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Video leading to Book a Demo</a:t>
            </a:r>
            <a:endParaRPr sz="13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700" name="Shape 700"/>
        <p:cNvGrpSpPr/>
        <p:nvPr/>
      </p:nvGrpSpPr>
      <p:grpSpPr>
        <a:xfrm>
          <a:off x="0" y="0"/>
          <a:ext cx="0" cy="0"/>
          <a:chOff x="0" y="0"/>
          <a:chExt cx="0" cy="0"/>
        </a:xfrm>
      </p:grpSpPr>
      <p:sp>
        <p:nvSpPr>
          <p:cNvPr id="701" name="Google Shape;701;p80"/>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600">
                <a:solidFill>
                  <a:srgbClr val="073763"/>
                </a:solidFill>
              </a:rPr>
              <a:t>Distro: </a:t>
            </a:r>
            <a:r>
              <a:rPr lang="en-US" sz="3600" b="0" i="1">
                <a:solidFill>
                  <a:srgbClr val="073763"/>
                </a:solidFill>
                <a:latin typeface="Calibri"/>
                <a:ea typeface="Calibri"/>
                <a:cs typeface="Calibri"/>
                <a:sym typeface="Calibri"/>
              </a:rPr>
              <a:t>VP of Marketing/Marketing Operations Persona</a:t>
            </a:r>
            <a:endParaRPr sz="3600" b="0" i="1">
              <a:solidFill>
                <a:srgbClr val="073763"/>
              </a:solidFill>
              <a:latin typeface="Calibri"/>
              <a:ea typeface="Calibri"/>
              <a:cs typeface="Calibri"/>
              <a:sym typeface="Calibri"/>
            </a:endParaRPr>
          </a:p>
        </p:txBody>
      </p:sp>
      <p:sp>
        <p:nvSpPr>
          <p:cNvPr id="702" name="Google Shape;702;p80"/>
          <p:cNvSpPr txBox="1"/>
          <p:nvPr>
            <p:ph type="body" idx="1"/>
          </p:nvPr>
        </p:nvSpPr>
        <p:spPr>
          <a:xfrm>
            <a:off x="1138575" y="1758175"/>
            <a:ext cx="8097900" cy="4752600"/>
          </a:xfrm>
          <a:prstGeom prst="rect">
            <a:avLst/>
          </a:prstGeom>
          <a:noFill/>
          <a:ln>
            <a:noFill/>
          </a:ln>
        </p:spPr>
        <p:txBody>
          <a:bodyPr spcFirstLastPara="1" wrap="square" lIns="91425" tIns="45700" rIns="91425" bIns="45700" anchor="t" anchorCtr="0">
            <a:noAutofit/>
          </a:bodyPr>
          <a:lstStyle/>
          <a:p>
            <a:pPr marL="800100" marR="0" lvl="1" indent="-352425" algn="l" rtl="0">
              <a:lnSpc>
                <a:spcPct val="100000"/>
              </a:lnSpc>
              <a:spcBef>
                <a:spcPts val="1000"/>
              </a:spcBef>
              <a:spcAft>
                <a:spcPts val="0"/>
              </a:spcAft>
              <a:buClr>
                <a:schemeClr val="accent2"/>
              </a:buClr>
              <a:buSzPts val="1750"/>
              <a:buFont typeface="Calibri"/>
              <a:buChar char="✔"/>
            </a:pPr>
            <a:r>
              <a:rPr lang="en-US" sz="1750"/>
              <a:t>Main persona</a:t>
            </a:r>
            <a:endParaRPr sz="1750"/>
          </a:p>
          <a:p>
            <a:pPr marL="800100" marR="0" lvl="1" indent="-352425" algn="l" rtl="0">
              <a:lnSpc>
                <a:spcPct val="100000"/>
              </a:lnSpc>
              <a:spcBef>
                <a:spcPts val="1000"/>
              </a:spcBef>
              <a:spcAft>
                <a:spcPts val="0"/>
              </a:spcAft>
              <a:buClr>
                <a:schemeClr val="accent2"/>
              </a:buClr>
              <a:buSzPts val="1750"/>
              <a:buFont typeface="Calibri"/>
              <a:buChar char="✔"/>
            </a:pPr>
            <a:r>
              <a:rPr lang="en-US" sz="1750"/>
              <a:t>Main CTA on website</a:t>
            </a:r>
            <a:endParaRPr sz="1750"/>
          </a:p>
          <a:p>
            <a:pPr marL="800100" marR="0" lvl="1" indent="-352425" algn="l" rtl="0">
              <a:lnSpc>
                <a:spcPct val="100000"/>
              </a:lnSpc>
              <a:spcBef>
                <a:spcPts val="1000"/>
              </a:spcBef>
              <a:spcAft>
                <a:spcPts val="0"/>
              </a:spcAft>
              <a:buClr>
                <a:schemeClr val="accent2"/>
              </a:buClr>
              <a:buSzPts val="1750"/>
              <a:buFont typeface="Calibri"/>
              <a:buChar char="✔"/>
            </a:pPr>
            <a:r>
              <a:rPr lang="en-US" sz="1750"/>
              <a:t>Most lead generation activities will drive to this funnel</a:t>
            </a:r>
            <a:endParaRPr sz="1750"/>
          </a:p>
          <a:p>
            <a:pPr marL="0" marR="0" lvl="0" indent="0" algn="l" rtl="0">
              <a:lnSpc>
                <a:spcPct val="100000"/>
              </a:lnSpc>
              <a:spcBef>
                <a:spcPts val="1000"/>
              </a:spcBef>
              <a:spcAft>
                <a:spcPts val="0"/>
              </a:spcAft>
              <a:buNone/>
            </a:pPr>
            <a:endParaRPr sz="1750"/>
          </a:p>
          <a:p>
            <a:pPr marL="0" marR="0" lvl="0" indent="0" algn="l" rtl="0">
              <a:lnSpc>
                <a:spcPct val="100000"/>
              </a:lnSpc>
              <a:spcBef>
                <a:spcPts val="1000"/>
              </a:spcBef>
              <a:spcAft>
                <a:spcPts val="0"/>
              </a:spcAft>
              <a:buNone/>
            </a:pPr>
            <a:r>
              <a:rPr lang="en-US" sz="1750"/>
              <a:t>Funnel Includes:</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Main Landing Page, CTA, Thank You Page</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Auto Responder Email</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Four Email Nurture Sequence with CTA to Book a Demo</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Once Sequence is Complete - Move to Ongoing Newsletter</a:t>
            </a:r>
            <a:endParaRPr sz="1750"/>
          </a:p>
          <a:p>
            <a:pPr marL="800100" lvl="1" indent="-352425" algn="l" rtl="0">
              <a:lnSpc>
                <a:spcPct val="100000"/>
              </a:lnSpc>
              <a:spcBef>
                <a:spcPts val="1000"/>
              </a:spcBef>
              <a:spcAft>
                <a:spcPts val="0"/>
              </a:spcAft>
              <a:buClr>
                <a:schemeClr val="accent2"/>
              </a:buClr>
              <a:buSzPts val="1750"/>
              <a:buFont typeface="Calibri"/>
              <a:buChar char="✔"/>
            </a:pPr>
            <a:r>
              <a:rPr lang="en-US" sz="1750"/>
              <a:t>Consider Monthly Re-Engagement Emails</a:t>
            </a:r>
            <a:endParaRPr sz="1750"/>
          </a:p>
        </p:txBody>
      </p:sp>
      <p:sp>
        <p:nvSpPr>
          <p:cNvPr id="703" name="Google Shape;703;p8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Persona Funnels</a:t>
            </a:r>
            <a:endParaRPr sz="1900" b="0" i="1">
              <a:solidFill>
                <a:schemeClr val="accent5"/>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707" name="Shape 707"/>
        <p:cNvGrpSpPr/>
        <p:nvPr/>
      </p:nvGrpSpPr>
      <p:grpSpPr>
        <a:xfrm>
          <a:off x="0" y="0"/>
          <a:ext cx="0" cy="0"/>
          <a:chOff x="0" y="0"/>
          <a:chExt cx="0" cy="0"/>
        </a:xfrm>
      </p:grpSpPr>
      <p:sp>
        <p:nvSpPr>
          <p:cNvPr id="708" name="Google Shape;708;p81"/>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3100">
                <a:solidFill>
                  <a:srgbClr val="073763"/>
                </a:solidFill>
              </a:rPr>
              <a:t>Distro: </a:t>
            </a:r>
            <a:r>
              <a:rPr lang="en-US" sz="3100" b="0" i="1">
                <a:solidFill>
                  <a:srgbClr val="073763"/>
                </a:solidFill>
                <a:latin typeface="Calibri"/>
                <a:ea typeface="Calibri"/>
                <a:cs typeface="Calibri"/>
                <a:sym typeface="Calibri"/>
              </a:rPr>
              <a:t>Marketing Operations Persona Funnel</a:t>
            </a:r>
            <a:endParaRPr sz="3100" b="0" i="1">
              <a:solidFill>
                <a:srgbClr val="073763"/>
              </a:solidFill>
              <a:latin typeface="Calibri"/>
              <a:ea typeface="Calibri"/>
              <a:cs typeface="Calibri"/>
              <a:sym typeface="Calibri"/>
            </a:endParaRPr>
          </a:p>
          <a:p>
            <a:pPr marL="0" lvl="0" indent="0" algn="l" rtl="0">
              <a:lnSpc>
                <a:spcPct val="90000"/>
              </a:lnSpc>
              <a:spcBef>
                <a:spcPts val="0"/>
              </a:spcBef>
              <a:spcAft>
                <a:spcPts val="0"/>
              </a:spcAft>
              <a:buNone/>
            </a:pPr>
          </a:p>
        </p:txBody>
      </p:sp>
      <p:sp>
        <p:nvSpPr>
          <p:cNvPr id="709" name="Google Shape;709;p81"/>
          <p:cNvSpPr/>
          <p:nvPr/>
        </p:nvSpPr>
        <p:spPr>
          <a:xfrm>
            <a:off x="713275" y="1936400"/>
            <a:ext cx="1452000" cy="1624800"/>
          </a:xfrm>
          <a:prstGeom prst="snip1Rect">
            <a:avLst>
              <a:gd name="adj" fmla="val 16667"/>
            </a:avLst>
          </a:prstGeom>
          <a:solidFill>
            <a:srgbClr val="AFDFE4"/>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b="1">
                <a:solidFill>
                  <a:schemeClr val="accent5"/>
                </a:solidFill>
                <a:latin typeface="Calibri"/>
                <a:ea typeface="Calibri"/>
                <a:cs typeface="Calibri"/>
                <a:sym typeface="Calibri"/>
              </a:rPr>
              <a:t>Inbound Marketing:</a:t>
            </a:r>
            <a:endParaRPr sz="1300" b="1">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Content Marketing Social Media</a:t>
            </a:r>
            <a:endParaRPr sz="13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SEO/Hub Pages</a:t>
            </a:r>
            <a:endParaRPr sz="1300">
              <a:solidFill>
                <a:schemeClr val="accent5"/>
              </a:solidFill>
              <a:latin typeface="Calibri"/>
              <a:ea typeface="Calibri"/>
              <a:cs typeface="Calibri"/>
              <a:sym typeface="Calibri"/>
            </a:endParaRPr>
          </a:p>
        </p:txBody>
      </p:sp>
      <p:sp>
        <p:nvSpPr>
          <p:cNvPr id="710" name="Google Shape;710;p81"/>
          <p:cNvSpPr/>
          <p:nvPr/>
        </p:nvSpPr>
        <p:spPr>
          <a:xfrm>
            <a:off x="2739925" y="1943100"/>
            <a:ext cx="1704440" cy="3243487"/>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accent5"/>
                </a:solidFill>
                <a:latin typeface="Calibri"/>
                <a:ea typeface="Calibri"/>
                <a:cs typeface="Calibri"/>
                <a:sym typeface="Calibri"/>
              </a:rPr>
              <a:t>Website Landing Page/CTA: </a:t>
            </a:r>
            <a:br>
              <a:rPr lang="en-US" sz="1600" b="1">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Enterprise Store Profiling Software Buyer’s Guide</a:t>
            </a:r>
            <a:endParaRPr sz="1600"/>
          </a:p>
        </p:txBody>
      </p:sp>
      <p:pic>
        <p:nvPicPr>
          <p:cNvPr id="711" name="Google Shape;711;p81"/>
          <p:cNvPicPr preferRelativeResize="0"/>
          <p:nvPr/>
        </p:nvPicPr>
        <p:blipFill rotWithShape="1">
          <a:blip r:embed="rId1"/>
          <a:srcRect/>
          <a:stretch>
            <a:fillRect/>
          </a:stretch>
        </p:blipFill>
        <p:spPr>
          <a:xfrm>
            <a:off x="2345975" y="3375927"/>
            <a:ext cx="221894" cy="308722"/>
          </a:xfrm>
          <a:prstGeom prst="rect">
            <a:avLst/>
          </a:prstGeom>
          <a:noFill/>
          <a:ln>
            <a:noFill/>
          </a:ln>
        </p:spPr>
      </p:pic>
      <p:pic>
        <p:nvPicPr>
          <p:cNvPr id="712" name="Google Shape;712;p81"/>
          <p:cNvPicPr preferRelativeResize="0"/>
          <p:nvPr/>
        </p:nvPicPr>
        <p:blipFill rotWithShape="1">
          <a:blip r:embed="rId1"/>
          <a:srcRect/>
          <a:stretch>
            <a:fillRect/>
          </a:stretch>
        </p:blipFill>
        <p:spPr>
          <a:xfrm>
            <a:off x="4616425" y="3375918"/>
            <a:ext cx="221894" cy="308722"/>
          </a:xfrm>
          <a:prstGeom prst="rect">
            <a:avLst/>
          </a:prstGeom>
          <a:noFill/>
          <a:ln>
            <a:noFill/>
          </a:ln>
        </p:spPr>
      </p:pic>
      <p:sp>
        <p:nvSpPr>
          <p:cNvPr id="713" name="Google Shape;713;p81"/>
          <p:cNvSpPr/>
          <p:nvPr/>
        </p:nvSpPr>
        <p:spPr>
          <a:xfrm>
            <a:off x="4975275" y="1650725"/>
            <a:ext cx="2906100" cy="7227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Why you need to stop using Excel to manage your retail in-store signage</a:t>
            </a:r>
            <a:endParaRPr sz="1300" b="1"/>
          </a:p>
        </p:txBody>
      </p:sp>
      <p:sp>
        <p:nvSpPr>
          <p:cNvPr id="714" name="Google Shape;714;p81"/>
          <p:cNvSpPr/>
          <p:nvPr/>
        </p:nvSpPr>
        <p:spPr>
          <a:xfrm>
            <a:off x="4975275" y="2570275"/>
            <a:ext cx="2906100" cy="6654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Centralize your retail store signage distribution </a:t>
            </a:r>
            <a:endParaRPr sz="1300" b="1">
              <a:solidFill>
                <a:schemeClr val="accent5"/>
              </a:solidFill>
              <a:latin typeface="Calibri"/>
              <a:ea typeface="Calibri"/>
              <a:cs typeface="Calibri"/>
              <a:sym typeface="Calibri"/>
            </a:endParaRPr>
          </a:p>
        </p:txBody>
      </p:sp>
      <p:sp>
        <p:nvSpPr>
          <p:cNvPr id="715" name="Google Shape;715;p81"/>
          <p:cNvSpPr/>
          <p:nvPr/>
        </p:nvSpPr>
        <p:spPr>
          <a:xfrm>
            <a:off x="4978988" y="3419063"/>
            <a:ext cx="2906100" cy="7227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10 (surprising) reasons you need an enterprise level store profiling software now</a:t>
            </a:r>
            <a:endParaRPr sz="1300"/>
          </a:p>
        </p:txBody>
      </p:sp>
      <p:pic>
        <p:nvPicPr>
          <p:cNvPr id="716" name="Google Shape;716;p81"/>
          <p:cNvPicPr preferRelativeResize="0"/>
          <p:nvPr/>
        </p:nvPicPr>
        <p:blipFill rotWithShape="1">
          <a:blip r:embed="rId1"/>
          <a:srcRect/>
          <a:stretch>
            <a:fillRect/>
          </a:stretch>
        </p:blipFill>
        <p:spPr>
          <a:xfrm>
            <a:off x="11616725" y="4491781"/>
            <a:ext cx="221894" cy="308722"/>
          </a:xfrm>
          <a:prstGeom prst="rect">
            <a:avLst/>
          </a:prstGeom>
          <a:noFill/>
          <a:ln>
            <a:noFill/>
          </a:ln>
        </p:spPr>
      </p:pic>
      <p:sp>
        <p:nvSpPr>
          <p:cNvPr id="717" name="Google Shape;717;p81"/>
          <p:cNvSpPr/>
          <p:nvPr/>
        </p:nvSpPr>
        <p:spPr>
          <a:xfrm>
            <a:off x="10303176" y="2088800"/>
            <a:ext cx="1085791" cy="1325535"/>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b="1">
                <a:solidFill>
                  <a:schemeClr val="accent5"/>
                </a:solidFill>
                <a:latin typeface="Calibri"/>
                <a:ea typeface="Calibri"/>
                <a:cs typeface="Calibri"/>
                <a:sym typeface="Calibri"/>
              </a:rPr>
              <a:t>Ready?</a:t>
            </a:r>
            <a:endParaRPr b="1">
              <a:solidFill>
                <a:schemeClr val="accent5"/>
              </a:solidFill>
              <a:latin typeface="Calibri"/>
              <a:ea typeface="Calibri"/>
              <a:cs typeface="Calibri"/>
              <a:sym typeface="Calibri"/>
            </a:endParaRPr>
          </a:p>
          <a:p>
            <a:pPr marL="0" marR="0" lvl="0" indent="0" algn="ctr" rtl="0">
              <a:spcBef>
                <a:spcPts val="0"/>
              </a:spcBef>
              <a:spcAft>
                <a:spcPts val="0"/>
              </a:spcAft>
              <a:buNone/>
            </a:pPr>
            <a:r>
              <a:rPr lang="en-US">
                <a:solidFill>
                  <a:schemeClr val="accent5"/>
                </a:solidFill>
                <a:latin typeface="Calibri"/>
                <a:ea typeface="Calibri"/>
                <a:cs typeface="Calibri"/>
                <a:sym typeface="Calibri"/>
              </a:rPr>
              <a:t>Book a Demo</a:t>
            </a:r>
            <a:endParaRPr lang="en-US">
              <a:solidFill>
                <a:schemeClr val="accent5"/>
              </a:solidFill>
              <a:latin typeface="Calibri"/>
              <a:ea typeface="Calibri"/>
              <a:cs typeface="Calibri"/>
              <a:sym typeface="Calibri"/>
            </a:endParaRPr>
          </a:p>
        </p:txBody>
      </p:sp>
      <p:pic>
        <p:nvPicPr>
          <p:cNvPr id="718" name="Google Shape;718;p81"/>
          <p:cNvPicPr preferRelativeResize="0"/>
          <p:nvPr/>
        </p:nvPicPr>
        <p:blipFill rotWithShape="1">
          <a:blip r:embed="rId1"/>
          <a:srcRect/>
          <a:stretch>
            <a:fillRect/>
          </a:stretch>
        </p:blipFill>
        <p:spPr>
          <a:xfrm rot="5400000">
            <a:off x="10814563" y="3561118"/>
            <a:ext cx="221894" cy="308722"/>
          </a:xfrm>
          <a:prstGeom prst="rect">
            <a:avLst/>
          </a:prstGeom>
          <a:noFill/>
          <a:ln>
            <a:noFill/>
          </a:ln>
        </p:spPr>
      </p:pic>
      <p:sp>
        <p:nvSpPr>
          <p:cNvPr id="719" name="Google Shape;719;p81"/>
          <p:cNvSpPr/>
          <p:nvPr/>
        </p:nvSpPr>
        <p:spPr>
          <a:xfrm>
            <a:off x="10358101" y="3983375"/>
            <a:ext cx="1085791" cy="1325535"/>
          </a:xfrm>
          <a:custGeom>
            <a:avLst/>
            <a:gdLst/>
            <a:ahLst/>
            <a:cxnLst/>
            <a:rect l="l" t="t" r="r" b="b"/>
            <a:pathLst>
              <a:path w="2525096" h="2962089" extrusionOk="0">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b="1">
                <a:solidFill>
                  <a:schemeClr val="accent5"/>
                </a:solidFill>
                <a:latin typeface="Calibri"/>
                <a:ea typeface="Calibri"/>
                <a:cs typeface="Calibri"/>
                <a:sym typeface="Calibri"/>
              </a:rPr>
              <a:t>Not Ready? </a:t>
            </a:r>
            <a:r>
              <a:rPr lang="en-US">
                <a:solidFill>
                  <a:schemeClr val="accent5"/>
                </a:solidFill>
                <a:latin typeface="Calibri"/>
                <a:ea typeface="Calibri"/>
                <a:cs typeface="Calibri"/>
                <a:sym typeface="Calibri"/>
              </a:rPr>
              <a:t>Ongoing Newsletter</a:t>
            </a:r>
            <a:endParaRPr lang="en-US">
              <a:solidFill>
                <a:schemeClr val="accent5"/>
              </a:solidFill>
              <a:latin typeface="Calibri"/>
              <a:ea typeface="Calibri"/>
              <a:cs typeface="Calibri"/>
              <a:sym typeface="Calibri"/>
            </a:endParaRPr>
          </a:p>
        </p:txBody>
      </p:sp>
      <p:pic>
        <p:nvPicPr>
          <p:cNvPr id="720" name="Google Shape;720;p81"/>
          <p:cNvPicPr preferRelativeResize="0"/>
          <p:nvPr/>
        </p:nvPicPr>
        <p:blipFill rotWithShape="1">
          <a:blip r:embed="rId1"/>
          <a:srcRect/>
          <a:stretch>
            <a:fillRect/>
          </a:stretch>
        </p:blipFill>
        <p:spPr>
          <a:xfrm>
            <a:off x="9917500" y="2722093"/>
            <a:ext cx="221894" cy="308722"/>
          </a:xfrm>
          <a:prstGeom prst="rect">
            <a:avLst/>
          </a:prstGeom>
          <a:noFill/>
          <a:ln>
            <a:noFill/>
          </a:ln>
        </p:spPr>
      </p:pic>
      <p:sp>
        <p:nvSpPr>
          <p:cNvPr id="721" name="Google Shape;721;p8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Persona Funnels</a:t>
            </a:r>
            <a:endParaRPr sz="1900" b="0" i="1">
              <a:solidFill>
                <a:schemeClr val="accent5"/>
              </a:solidFill>
              <a:latin typeface="Calibri"/>
              <a:ea typeface="Calibri"/>
              <a:cs typeface="Calibri"/>
              <a:sym typeface="Calibri"/>
            </a:endParaRPr>
          </a:p>
        </p:txBody>
      </p:sp>
      <p:sp>
        <p:nvSpPr>
          <p:cNvPr id="722" name="Google Shape;722;p81"/>
          <p:cNvSpPr/>
          <p:nvPr/>
        </p:nvSpPr>
        <p:spPr>
          <a:xfrm>
            <a:off x="671575" y="3913250"/>
            <a:ext cx="1493700" cy="1233900"/>
          </a:xfrm>
          <a:prstGeom prst="snip1Rect">
            <a:avLst>
              <a:gd name="adj" fmla="val 16667"/>
            </a:avLst>
          </a:prstGeom>
          <a:solidFill>
            <a:srgbClr val="AFDFE4"/>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b="1">
                <a:solidFill>
                  <a:schemeClr val="accent5"/>
                </a:solidFill>
                <a:latin typeface="Calibri"/>
                <a:ea typeface="Calibri"/>
                <a:cs typeface="Calibri"/>
                <a:sym typeface="Calibri"/>
              </a:rPr>
              <a:t>Outbound Marketing</a:t>
            </a:r>
            <a:endParaRPr sz="1300" b="1">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PPC &amp; Social Ads</a:t>
            </a:r>
            <a:endParaRPr sz="13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Events/Associations</a:t>
            </a:r>
            <a:endParaRPr sz="1300">
              <a:solidFill>
                <a:schemeClr val="accent5"/>
              </a:solidFill>
              <a:latin typeface="Calibri"/>
              <a:ea typeface="Calibri"/>
              <a:cs typeface="Calibri"/>
              <a:sym typeface="Calibri"/>
            </a:endParaRPr>
          </a:p>
          <a:p>
            <a:pPr marL="0" marR="0" lvl="0" indent="0" algn="ctr" rtl="0">
              <a:lnSpc>
                <a:spcPct val="105000"/>
              </a:lnSpc>
              <a:spcBef>
                <a:spcPts val="0"/>
              </a:spcBef>
              <a:spcAft>
                <a:spcPts val="0"/>
              </a:spcAft>
              <a:buNone/>
            </a:pPr>
            <a:endParaRPr sz="1300">
              <a:solidFill>
                <a:schemeClr val="accent5"/>
              </a:solidFill>
              <a:latin typeface="Calibri"/>
              <a:ea typeface="Calibri"/>
              <a:cs typeface="Calibri"/>
              <a:sym typeface="Calibri"/>
            </a:endParaRPr>
          </a:p>
        </p:txBody>
      </p:sp>
      <p:sp>
        <p:nvSpPr>
          <p:cNvPr id="723" name="Google Shape;723;p81"/>
          <p:cNvSpPr/>
          <p:nvPr/>
        </p:nvSpPr>
        <p:spPr>
          <a:xfrm>
            <a:off x="8037500" y="1650725"/>
            <a:ext cx="15612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200">
                <a:solidFill>
                  <a:schemeClr val="accent5"/>
                </a:solidFill>
                <a:latin typeface="Calibri"/>
                <a:ea typeface="Calibri"/>
                <a:cs typeface="Calibri"/>
                <a:sym typeface="Calibri"/>
              </a:rPr>
              <a:t>eBook: </a:t>
            </a:r>
            <a:br>
              <a:rPr lang="en-US" sz="1200">
                <a:solidFill>
                  <a:schemeClr val="accent5"/>
                </a:solidFill>
                <a:latin typeface="Calibri"/>
                <a:ea typeface="Calibri"/>
                <a:cs typeface="Calibri"/>
                <a:sym typeface="Calibri"/>
              </a:rPr>
            </a:br>
            <a:r>
              <a:rPr lang="en-US" sz="1200">
                <a:solidFill>
                  <a:schemeClr val="accent5"/>
                </a:solidFill>
                <a:latin typeface="Calibri"/>
                <a:ea typeface="Calibri"/>
                <a:cs typeface="Calibri"/>
                <a:sym typeface="Calibri"/>
              </a:rPr>
              <a:t>5 Reasons to STOP Using Excel</a:t>
            </a:r>
            <a:endParaRPr sz="1200"/>
          </a:p>
        </p:txBody>
      </p:sp>
      <p:sp>
        <p:nvSpPr>
          <p:cNvPr id="724" name="Google Shape;724;p81"/>
          <p:cNvSpPr/>
          <p:nvPr/>
        </p:nvSpPr>
        <p:spPr>
          <a:xfrm>
            <a:off x="8037500" y="2561150"/>
            <a:ext cx="1556700" cy="6306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eBook/Use Case</a:t>
            </a:r>
            <a:endParaRPr sz="1300"/>
          </a:p>
        </p:txBody>
      </p:sp>
      <p:sp>
        <p:nvSpPr>
          <p:cNvPr id="725" name="Google Shape;725;p81"/>
          <p:cNvSpPr/>
          <p:nvPr/>
        </p:nvSpPr>
        <p:spPr>
          <a:xfrm>
            <a:off x="8041875" y="3419075"/>
            <a:ext cx="15567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eBook</a:t>
            </a:r>
            <a:endParaRPr sz="1300"/>
          </a:p>
        </p:txBody>
      </p:sp>
      <p:sp>
        <p:nvSpPr>
          <p:cNvPr id="726" name="Google Shape;726;p81"/>
          <p:cNvSpPr/>
          <p:nvPr/>
        </p:nvSpPr>
        <p:spPr>
          <a:xfrm>
            <a:off x="8041875" y="4325175"/>
            <a:ext cx="15567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Case Study</a:t>
            </a:r>
            <a:endParaRPr sz="1300"/>
          </a:p>
        </p:txBody>
      </p:sp>
      <p:sp>
        <p:nvSpPr>
          <p:cNvPr id="727" name="Google Shape;727;p81"/>
          <p:cNvSpPr/>
          <p:nvPr/>
        </p:nvSpPr>
        <p:spPr>
          <a:xfrm>
            <a:off x="4979000" y="4325175"/>
            <a:ext cx="2906100" cy="7227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How The Gap streamlined their in-store signage with CrossCap’s Distro Store Signage Software</a:t>
            </a:r>
            <a:endParaRPr sz="1300"/>
          </a:p>
        </p:txBody>
      </p:sp>
      <p:sp>
        <p:nvSpPr>
          <p:cNvPr id="728" name="Google Shape;728;p81"/>
          <p:cNvSpPr/>
          <p:nvPr/>
        </p:nvSpPr>
        <p:spPr>
          <a:xfrm>
            <a:off x="4975275" y="5231275"/>
            <a:ext cx="2906100" cy="777000"/>
          </a:xfrm>
          <a:prstGeom prst="snip1Rect">
            <a:avLst>
              <a:gd name="adj" fmla="val 16667"/>
            </a:avLst>
          </a:prstGeom>
          <a:solidFill>
            <a:srgbClr val="AFDFE4"/>
          </a:solidFill>
          <a:ln>
            <a:noFill/>
          </a:ln>
        </p:spPr>
        <p:txBody>
          <a:bodyPr spcFirstLastPara="1" wrap="square" lIns="0" tIns="0" rIns="0" bIns="0" anchor="ctr" anchorCtr="0">
            <a:noAutofit/>
          </a:bodyPr>
          <a:lstStyle/>
          <a:p>
            <a:pPr marL="0" lvl="0" indent="0" algn="ctr" rtl="0">
              <a:lnSpc>
                <a:spcPct val="105000"/>
              </a:lnSpc>
              <a:spcBef>
                <a:spcPts val="0"/>
              </a:spcBef>
              <a:spcAft>
                <a:spcPts val="0"/>
              </a:spcAft>
              <a:buClr>
                <a:schemeClr val="dk1"/>
              </a:buClr>
              <a:buFont typeface="Arial" panose="020B0704020202020204"/>
              <a:buNone/>
            </a:pPr>
            <a:r>
              <a:rPr lang="en-US" sz="1300" b="1">
                <a:solidFill>
                  <a:schemeClr val="accent5"/>
                </a:solidFill>
                <a:latin typeface="Calibri"/>
                <a:ea typeface="Calibri"/>
                <a:cs typeface="Calibri"/>
                <a:sym typeface="Calibri"/>
              </a:rPr>
              <a:t>How a customized** transforms your enterprise marketing (book demo now) </a:t>
            </a:r>
            <a:endParaRPr sz="1300" b="1">
              <a:solidFill>
                <a:schemeClr val="accent5"/>
              </a:solidFill>
              <a:latin typeface="Calibri"/>
              <a:ea typeface="Calibri"/>
              <a:cs typeface="Calibri"/>
              <a:sym typeface="Calibri"/>
            </a:endParaRPr>
          </a:p>
        </p:txBody>
      </p:sp>
      <p:sp>
        <p:nvSpPr>
          <p:cNvPr id="729" name="Google Shape;729;p81"/>
          <p:cNvSpPr/>
          <p:nvPr/>
        </p:nvSpPr>
        <p:spPr>
          <a:xfrm>
            <a:off x="8037500" y="5231275"/>
            <a:ext cx="1556700" cy="722700"/>
          </a:xfrm>
          <a:prstGeom prst="snip1Rect">
            <a:avLst>
              <a:gd name="adj" fmla="val 16667"/>
            </a:avLst>
          </a:prstGeom>
          <a:solidFill>
            <a:schemeClr val="lt2"/>
          </a:solid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300">
                <a:solidFill>
                  <a:schemeClr val="accent5"/>
                </a:solidFill>
                <a:latin typeface="Calibri"/>
                <a:ea typeface="Calibri"/>
                <a:cs typeface="Calibri"/>
                <a:sym typeface="Calibri"/>
              </a:rPr>
              <a:t>Video leading to Book a Demo</a:t>
            </a:r>
            <a:endParaRPr sz="13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733" name="Shape 733"/>
        <p:cNvGrpSpPr/>
        <p:nvPr/>
      </p:nvGrpSpPr>
      <p:grpSpPr>
        <a:xfrm>
          <a:off x="0" y="0"/>
          <a:ext cx="0" cy="0"/>
          <a:chOff x="0" y="0"/>
          <a:chExt cx="0" cy="0"/>
        </a:xfrm>
      </p:grpSpPr>
      <p:sp>
        <p:nvSpPr>
          <p:cNvPr id="734" name="Google Shape;734;p82"/>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1: marketing foundation</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5: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B2B Marketing Kit</a:t>
            </a:r>
            <a:endParaRPr lang="en-US">
              <a:latin typeface="Calibri"/>
              <a:ea typeface="Calibri"/>
              <a:cs typeface="Calibri"/>
              <a:sym typeface="Calibri"/>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735" name="Google Shape;735;p8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marketing foundation</a:t>
            </a:r>
            <a:endParaRPr sz="1900" b="0" i="1">
              <a:solidFill>
                <a:schemeClr val="accent5"/>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739" name="Shape 739"/>
        <p:cNvGrpSpPr/>
        <p:nvPr/>
      </p:nvGrpSpPr>
      <p:grpSpPr>
        <a:xfrm>
          <a:off x="0" y="0"/>
          <a:ext cx="0" cy="0"/>
          <a:chOff x="0" y="0"/>
          <a:chExt cx="0" cy="0"/>
        </a:xfrm>
      </p:grpSpPr>
      <p:sp>
        <p:nvSpPr>
          <p:cNvPr id="740" name="Google Shape;740;p83"/>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Content Kit</a:t>
            </a:r>
            <a:endParaRPr sz="3300" b="0" i="1">
              <a:solidFill>
                <a:srgbClr val="073763"/>
              </a:solidFill>
              <a:latin typeface="Calibri"/>
              <a:ea typeface="Calibri"/>
              <a:cs typeface="Calibri"/>
              <a:sym typeface="Calibri"/>
            </a:endParaRPr>
          </a:p>
        </p:txBody>
      </p:sp>
      <p:sp>
        <p:nvSpPr>
          <p:cNvPr id="741" name="Google Shape;741;p83"/>
          <p:cNvSpPr txBox="1"/>
          <p:nvPr>
            <p:ph type="body" idx="1"/>
          </p:nvPr>
        </p:nvSpPr>
        <p:spPr>
          <a:xfrm>
            <a:off x="941700" y="1641900"/>
            <a:ext cx="9854100" cy="4630200"/>
          </a:xfrm>
          <a:prstGeom prst="rect">
            <a:avLst/>
          </a:prstGeom>
          <a:noFill/>
          <a:ln>
            <a:noFill/>
          </a:ln>
        </p:spPr>
        <p:txBody>
          <a:bodyPr spcFirstLastPara="1" wrap="square" lIns="91425" tIns="45700" rIns="91425" bIns="45700" anchor="t" anchorCtr="0">
            <a:noAutofit/>
          </a:bodyPr>
          <a:lstStyle/>
          <a:p>
            <a:pPr marL="800100" marR="0" lvl="1" indent="-339725" algn="l" rtl="0">
              <a:lnSpc>
                <a:spcPct val="100000"/>
              </a:lnSpc>
              <a:spcBef>
                <a:spcPts val="1000"/>
              </a:spcBef>
              <a:spcAft>
                <a:spcPts val="0"/>
              </a:spcAft>
              <a:buClr>
                <a:schemeClr val="accent2"/>
              </a:buClr>
              <a:buSzPts val="1550"/>
              <a:buFont typeface="Calibri"/>
              <a:buChar char="✔"/>
            </a:pPr>
            <a:r>
              <a:rPr lang="en-US" sz="1550"/>
              <a:t>Create the right content to help move ideal clients through each phase of the buyer journey</a:t>
            </a:r>
            <a:endParaRPr sz="1550"/>
          </a:p>
          <a:p>
            <a:pPr marL="800100" marR="0" lvl="1" indent="-339725" algn="l" rtl="0">
              <a:lnSpc>
                <a:spcPct val="100000"/>
              </a:lnSpc>
              <a:spcBef>
                <a:spcPts val="1000"/>
              </a:spcBef>
              <a:spcAft>
                <a:spcPts val="0"/>
              </a:spcAft>
              <a:buClr>
                <a:schemeClr val="accent2"/>
              </a:buClr>
              <a:buSzPts val="1550"/>
              <a:buFont typeface="Calibri"/>
              <a:buChar char="✔"/>
            </a:pPr>
            <a:r>
              <a:rPr lang="en-US" sz="1550"/>
              <a:t>Can use and repurpose this content in many ways:</a:t>
            </a:r>
            <a:endParaRPr sz="1550"/>
          </a:p>
          <a:p>
            <a:pPr marL="1143000" marR="0" lvl="2" indent="-212725" algn="l" rtl="0">
              <a:lnSpc>
                <a:spcPct val="100000"/>
              </a:lnSpc>
              <a:spcBef>
                <a:spcPts val="1000"/>
              </a:spcBef>
              <a:spcAft>
                <a:spcPts val="0"/>
              </a:spcAft>
              <a:buSzPts val="1550"/>
              <a:buChar char="•"/>
            </a:pPr>
            <a:r>
              <a:rPr lang="en-US" sz="1550"/>
              <a:t>On the website (main content and/or PDF downloads) </a:t>
            </a:r>
            <a:endParaRPr sz="1550"/>
          </a:p>
          <a:p>
            <a:pPr marL="1143000" marR="0" lvl="2" indent="-212725" algn="l" rtl="0">
              <a:lnSpc>
                <a:spcPct val="100000"/>
              </a:lnSpc>
              <a:spcBef>
                <a:spcPts val="1000"/>
              </a:spcBef>
              <a:spcAft>
                <a:spcPts val="0"/>
              </a:spcAft>
              <a:buSzPts val="1550"/>
              <a:buChar char="•"/>
            </a:pPr>
            <a:r>
              <a:rPr lang="en-US" sz="1550"/>
              <a:t>As downloads for lead nurturing sequences</a:t>
            </a:r>
            <a:endParaRPr sz="1550"/>
          </a:p>
          <a:p>
            <a:pPr marL="1143000" marR="0" lvl="2" indent="-212725" algn="l" rtl="0">
              <a:lnSpc>
                <a:spcPct val="100000"/>
              </a:lnSpc>
              <a:spcBef>
                <a:spcPts val="1000"/>
              </a:spcBef>
              <a:spcAft>
                <a:spcPts val="0"/>
              </a:spcAft>
              <a:buSzPts val="1550"/>
              <a:buChar char="•"/>
            </a:pPr>
            <a:r>
              <a:rPr lang="en-US" sz="1550"/>
              <a:t>Email, advertising, and social media campaigns</a:t>
            </a:r>
            <a:endParaRPr sz="1550"/>
          </a:p>
          <a:p>
            <a:pPr marL="1143000" marR="0" lvl="2" indent="-212725" algn="l" rtl="0">
              <a:lnSpc>
                <a:spcPct val="100000"/>
              </a:lnSpc>
              <a:spcBef>
                <a:spcPts val="1000"/>
              </a:spcBef>
              <a:spcAft>
                <a:spcPts val="0"/>
              </a:spcAft>
              <a:buSzPts val="1550"/>
              <a:buChar char="•"/>
            </a:pPr>
            <a:r>
              <a:rPr lang="en-US" sz="1550"/>
              <a:t>Inspiration or can be repurposed over and over for additional content for blog posts, webinars, podcasts, social media content, events, advertisements, etc. </a:t>
            </a:r>
            <a:endParaRPr sz="1550"/>
          </a:p>
          <a:p>
            <a:pPr marL="1143000" marR="0" lvl="2" indent="-212725" algn="l" rtl="0">
              <a:lnSpc>
                <a:spcPct val="100000"/>
              </a:lnSpc>
              <a:spcBef>
                <a:spcPts val="1000"/>
              </a:spcBef>
              <a:spcAft>
                <a:spcPts val="0"/>
              </a:spcAft>
              <a:buSzPts val="1550"/>
              <a:buChar char="•"/>
            </a:pPr>
            <a:r>
              <a:rPr lang="en-US" sz="1550"/>
              <a:t>Conferences &amp; trade shows</a:t>
            </a:r>
            <a:endParaRPr sz="1550"/>
          </a:p>
          <a:p>
            <a:pPr marL="1143000" marR="0" lvl="2" indent="-212725" algn="l" rtl="0">
              <a:lnSpc>
                <a:spcPct val="100000"/>
              </a:lnSpc>
              <a:spcBef>
                <a:spcPts val="1000"/>
              </a:spcBef>
              <a:spcAft>
                <a:spcPts val="0"/>
              </a:spcAft>
              <a:buSzPts val="1550"/>
              <a:buChar char="•"/>
            </a:pPr>
            <a:r>
              <a:rPr lang="en-US" sz="1550"/>
              <a:t>The sales team</a:t>
            </a:r>
            <a:endParaRPr sz="1550"/>
          </a:p>
        </p:txBody>
      </p:sp>
      <p:sp>
        <p:nvSpPr>
          <p:cNvPr id="742" name="Google Shape;742;p8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746" name="Shape 746"/>
        <p:cNvGrpSpPr/>
        <p:nvPr/>
      </p:nvGrpSpPr>
      <p:grpSpPr>
        <a:xfrm>
          <a:off x="0" y="0"/>
          <a:ext cx="0" cy="0"/>
          <a:chOff x="0" y="0"/>
          <a:chExt cx="0" cy="0"/>
        </a:xfrm>
      </p:grpSpPr>
      <p:sp>
        <p:nvSpPr>
          <p:cNvPr id="747" name="Google Shape;747;p84"/>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Content: </a:t>
            </a:r>
            <a:r>
              <a:rPr lang="en-US" sz="3300" b="0" i="1">
                <a:solidFill>
                  <a:srgbClr val="073763"/>
                </a:solidFill>
                <a:latin typeface="Calibri"/>
                <a:ea typeface="Calibri"/>
                <a:cs typeface="Calibri"/>
                <a:sym typeface="Calibri"/>
              </a:rPr>
              <a:t>Awareness Stage</a:t>
            </a:r>
            <a:endParaRPr sz="3300" b="0" i="1">
              <a:solidFill>
                <a:srgbClr val="073763"/>
              </a:solidFill>
              <a:latin typeface="Calibri"/>
              <a:ea typeface="Calibri"/>
              <a:cs typeface="Calibri"/>
              <a:sym typeface="Calibri"/>
            </a:endParaRPr>
          </a:p>
        </p:txBody>
      </p:sp>
      <p:sp>
        <p:nvSpPr>
          <p:cNvPr id="748" name="Google Shape;748;p84"/>
          <p:cNvSpPr txBox="1"/>
          <p:nvPr>
            <p:ph type="body" idx="1"/>
          </p:nvPr>
        </p:nvSpPr>
        <p:spPr>
          <a:xfrm>
            <a:off x="7475325" y="1720475"/>
            <a:ext cx="3500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850" b="1">
                <a:solidFill>
                  <a:schemeClr val="accent2"/>
                </a:solidFill>
              </a:rPr>
              <a:t>Type of content:</a:t>
            </a:r>
            <a:endParaRPr sz="1850" b="1">
              <a:solidFill>
                <a:schemeClr val="accent2"/>
              </a:solidFill>
            </a:endParaRPr>
          </a:p>
          <a:p>
            <a:pPr marL="0" marR="0" lvl="0" indent="0" algn="l" rtl="0">
              <a:lnSpc>
                <a:spcPct val="100000"/>
              </a:lnSpc>
              <a:spcBef>
                <a:spcPts val="1000"/>
              </a:spcBef>
              <a:spcAft>
                <a:spcPts val="0"/>
              </a:spcAft>
              <a:buNone/>
            </a:pPr>
            <a:endParaRPr sz="1550" b="1"/>
          </a:p>
          <a:p>
            <a:pPr marL="0" lvl="0" indent="0" algn="l" rtl="0">
              <a:lnSpc>
                <a:spcPct val="100000"/>
              </a:lnSpc>
              <a:spcBef>
                <a:spcPts val="0"/>
              </a:spcBef>
              <a:spcAft>
                <a:spcPts val="0"/>
              </a:spcAft>
              <a:buNone/>
            </a:pPr>
            <a:r>
              <a:rPr lang="en-US" sz="1600" b="1">
                <a:solidFill>
                  <a:schemeClr val="accent5"/>
                </a:solidFill>
              </a:rPr>
              <a:t>Top level educational content to help solve a problem, get an answer or meet a need:</a:t>
            </a:r>
            <a:endParaRPr sz="1550" b="1"/>
          </a:p>
          <a:p>
            <a:pPr marL="457200" marR="0" lvl="0" indent="-327025" algn="l" rtl="0">
              <a:lnSpc>
                <a:spcPct val="100000"/>
              </a:lnSpc>
              <a:spcBef>
                <a:spcPts val="1000"/>
              </a:spcBef>
              <a:spcAft>
                <a:spcPts val="0"/>
              </a:spcAft>
              <a:buSzPts val="1550"/>
              <a:buChar char="•"/>
            </a:pPr>
            <a:r>
              <a:rPr lang="en-US" sz="1550"/>
              <a:t>Blog Post</a:t>
            </a:r>
            <a:endParaRPr sz="1550"/>
          </a:p>
          <a:p>
            <a:pPr marL="457200" marR="0" lvl="0" indent="-327025" algn="l" rtl="0">
              <a:lnSpc>
                <a:spcPct val="100000"/>
              </a:lnSpc>
              <a:spcBef>
                <a:spcPts val="0"/>
              </a:spcBef>
              <a:spcAft>
                <a:spcPts val="0"/>
              </a:spcAft>
              <a:buSzPts val="1550"/>
              <a:buChar char="•"/>
            </a:pPr>
            <a:r>
              <a:rPr lang="en-US" sz="1550"/>
              <a:t>Social Media Post</a:t>
            </a:r>
            <a:endParaRPr sz="1550"/>
          </a:p>
          <a:p>
            <a:pPr marL="457200" marR="0" lvl="0" indent="-327025" algn="l" rtl="0">
              <a:lnSpc>
                <a:spcPct val="100000"/>
              </a:lnSpc>
              <a:spcBef>
                <a:spcPts val="0"/>
              </a:spcBef>
              <a:spcAft>
                <a:spcPts val="0"/>
              </a:spcAft>
              <a:buSzPts val="1550"/>
              <a:buChar char="•"/>
            </a:pPr>
            <a:r>
              <a:rPr lang="en-US" sz="1550"/>
              <a:t>Whitepaper</a:t>
            </a:r>
            <a:endParaRPr sz="1550"/>
          </a:p>
          <a:p>
            <a:pPr marL="457200" marR="0" lvl="0" indent="-327025" algn="l" rtl="0">
              <a:lnSpc>
                <a:spcPct val="100000"/>
              </a:lnSpc>
              <a:spcBef>
                <a:spcPts val="0"/>
              </a:spcBef>
              <a:spcAft>
                <a:spcPts val="0"/>
              </a:spcAft>
              <a:buSzPts val="1550"/>
              <a:buChar char="•"/>
            </a:pPr>
            <a:r>
              <a:rPr lang="en-US" sz="1550"/>
              <a:t>Checklist</a:t>
            </a:r>
            <a:endParaRPr sz="1550"/>
          </a:p>
          <a:p>
            <a:pPr marL="457200" marR="0" lvl="0" indent="-327025" algn="l" rtl="0">
              <a:lnSpc>
                <a:spcPct val="100000"/>
              </a:lnSpc>
              <a:spcBef>
                <a:spcPts val="0"/>
              </a:spcBef>
              <a:spcAft>
                <a:spcPts val="0"/>
              </a:spcAft>
              <a:buSzPts val="1550"/>
              <a:buChar char="•"/>
            </a:pPr>
            <a:r>
              <a:rPr lang="en-US" sz="1550"/>
              <a:t>How-To Video</a:t>
            </a:r>
            <a:endParaRPr sz="1550"/>
          </a:p>
          <a:p>
            <a:pPr marL="457200" marR="0" lvl="0" indent="-327025" algn="l" rtl="0">
              <a:lnSpc>
                <a:spcPct val="100000"/>
              </a:lnSpc>
              <a:spcBef>
                <a:spcPts val="0"/>
              </a:spcBef>
              <a:spcAft>
                <a:spcPts val="0"/>
              </a:spcAft>
              <a:buSzPts val="1550"/>
              <a:buChar char="•"/>
            </a:pPr>
            <a:r>
              <a:rPr lang="en-US" sz="1550"/>
              <a:t>Kit or Tool</a:t>
            </a:r>
            <a:endParaRPr sz="1550"/>
          </a:p>
          <a:p>
            <a:pPr marL="457200" marR="0" lvl="0" indent="-327025" algn="l" rtl="0">
              <a:lnSpc>
                <a:spcPct val="100000"/>
              </a:lnSpc>
              <a:spcBef>
                <a:spcPts val="0"/>
              </a:spcBef>
              <a:spcAft>
                <a:spcPts val="0"/>
              </a:spcAft>
              <a:buSzPts val="1550"/>
              <a:buChar char="•"/>
            </a:pPr>
            <a:r>
              <a:rPr lang="en-US" sz="1550"/>
              <a:t>Ebook or Tip Sheet</a:t>
            </a:r>
            <a:endParaRPr sz="1550"/>
          </a:p>
          <a:p>
            <a:pPr marL="457200" marR="0" lvl="0" indent="-327025" algn="l" rtl="0">
              <a:lnSpc>
                <a:spcPct val="100000"/>
              </a:lnSpc>
              <a:spcBef>
                <a:spcPts val="0"/>
              </a:spcBef>
              <a:spcAft>
                <a:spcPts val="0"/>
              </a:spcAft>
              <a:buSzPts val="1550"/>
              <a:buChar char="•"/>
            </a:pPr>
            <a:r>
              <a:rPr lang="en-US" sz="1550"/>
              <a:t>Educational Webinar</a:t>
            </a:r>
            <a:endParaRPr sz="1550"/>
          </a:p>
          <a:p>
            <a:pPr marL="0" marR="0" lvl="0" indent="0" algn="l" rtl="0">
              <a:lnSpc>
                <a:spcPct val="100000"/>
              </a:lnSpc>
              <a:spcBef>
                <a:spcPts val="1000"/>
              </a:spcBef>
              <a:spcAft>
                <a:spcPts val="0"/>
              </a:spcAft>
              <a:buNone/>
            </a:pPr>
            <a:r>
              <a:rPr lang="en-US" sz="950" i="1"/>
              <a:t>*image source: HubSpot</a:t>
            </a:r>
            <a:endParaRPr sz="950" i="1"/>
          </a:p>
        </p:txBody>
      </p:sp>
      <p:sp>
        <p:nvSpPr>
          <p:cNvPr id="749" name="Google Shape;749;p8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pic>
        <p:nvPicPr>
          <p:cNvPr id="750" name="Google Shape;750;p84"/>
          <p:cNvPicPr preferRelativeResize="0"/>
          <p:nvPr/>
        </p:nvPicPr>
        <p:blipFill>
          <a:blip r:embed="rId1"/>
          <a:stretch>
            <a:fillRect/>
          </a:stretch>
        </p:blipFill>
        <p:spPr>
          <a:xfrm>
            <a:off x="862300" y="1860438"/>
            <a:ext cx="5943600" cy="35718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754" name="Shape 754"/>
        <p:cNvGrpSpPr/>
        <p:nvPr/>
      </p:nvGrpSpPr>
      <p:grpSpPr>
        <a:xfrm>
          <a:off x="0" y="0"/>
          <a:ext cx="0" cy="0"/>
          <a:chOff x="0" y="0"/>
          <a:chExt cx="0" cy="0"/>
        </a:xfrm>
      </p:grpSpPr>
      <p:sp>
        <p:nvSpPr>
          <p:cNvPr id="755" name="Google Shape;755;p85"/>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Content: </a:t>
            </a:r>
            <a:r>
              <a:rPr lang="en-US" sz="3300" b="0" i="1">
                <a:solidFill>
                  <a:srgbClr val="073763"/>
                </a:solidFill>
                <a:latin typeface="Calibri"/>
                <a:ea typeface="Calibri"/>
                <a:cs typeface="Calibri"/>
                <a:sym typeface="Calibri"/>
              </a:rPr>
              <a:t>Consideration Stage</a:t>
            </a:r>
            <a:endParaRPr sz="3300" b="0" i="1">
              <a:solidFill>
                <a:srgbClr val="073763"/>
              </a:solidFill>
              <a:latin typeface="Calibri"/>
              <a:ea typeface="Calibri"/>
              <a:cs typeface="Calibri"/>
              <a:sym typeface="Calibri"/>
            </a:endParaRPr>
          </a:p>
        </p:txBody>
      </p:sp>
      <p:sp>
        <p:nvSpPr>
          <p:cNvPr id="756" name="Google Shape;756;p85"/>
          <p:cNvSpPr txBox="1"/>
          <p:nvPr>
            <p:ph type="body" idx="1"/>
          </p:nvPr>
        </p:nvSpPr>
        <p:spPr>
          <a:xfrm>
            <a:off x="7475325" y="1720475"/>
            <a:ext cx="3500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850" b="1">
                <a:solidFill>
                  <a:schemeClr val="accent2"/>
                </a:solidFill>
              </a:rPr>
              <a:t>Type of content:</a:t>
            </a:r>
            <a:endParaRPr sz="350" b="1">
              <a:solidFill>
                <a:schemeClr val="accent2"/>
              </a:solidFill>
            </a:endParaRPr>
          </a:p>
          <a:p>
            <a:pPr marL="0" marR="0" lvl="0" indent="0" algn="l" rtl="0">
              <a:lnSpc>
                <a:spcPct val="100000"/>
              </a:lnSpc>
              <a:spcBef>
                <a:spcPts val="1000"/>
              </a:spcBef>
              <a:spcAft>
                <a:spcPts val="0"/>
              </a:spcAft>
              <a:buNone/>
            </a:pPr>
            <a:endParaRPr sz="100" b="1"/>
          </a:p>
          <a:p>
            <a:pPr marL="0" lvl="0" indent="0" algn="l" rtl="0">
              <a:lnSpc>
                <a:spcPct val="100000"/>
              </a:lnSpc>
              <a:spcBef>
                <a:spcPts val="0"/>
              </a:spcBef>
              <a:spcAft>
                <a:spcPts val="0"/>
              </a:spcAft>
              <a:buNone/>
            </a:pPr>
            <a:r>
              <a:rPr lang="en-US" sz="1350">
                <a:solidFill>
                  <a:srgbClr val="2E475D"/>
                </a:solidFill>
                <a:latin typeface="Arial" panose="020B0704020202020204"/>
                <a:ea typeface="Arial" panose="020B0704020202020204"/>
                <a:cs typeface="Arial" panose="020B0704020202020204"/>
                <a:sym typeface="Arial" panose="020B0704020202020204"/>
              </a:rPr>
              <a:t>They know they have a problem that has to be solved, and now they’re trying to discover the best solution. The need for a future purchase commitment creeps up as they’re evaluating their options:</a:t>
            </a:r>
            <a:endParaRPr sz="1550" b="1"/>
          </a:p>
          <a:p>
            <a:pPr marL="457200" marR="0" lvl="0" indent="-320675" algn="l" rtl="0">
              <a:lnSpc>
                <a:spcPct val="100000"/>
              </a:lnSpc>
              <a:spcBef>
                <a:spcPts val="1000"/>
              </a:spcBef>
              <a:spcAft>
                <a:spcPts val="0"/>
              </a:spcAft>
              <a:buSzPts val="1450"/>
              <a:buChar char="•"/>
            </a:pPr>
            <a:r>
              <a:rPr lang="en-US" sz="1450"/>
              <a:t>Email nurturing sequence</a:t>
            </a:r>
            <a:endParaRPr sz="1450"/>
          </a:p>
          <a:p>
            <a:pPr marL="457200" marR="0" lvl="0" indent="-320675" algn="l" rtl="0">
              <a:lnSpc>
                <a:spcPct val="100000"/>
              </a:lnSpc>
              <a:spcBef>
                <a:spcPts val="0"/>
              </a:spcBef>
              <a:spcAft>
                <a:spcPts val="0"/>
              </a:spcAft>
              <a:buSzPts val="1450"/>
              <a:buChar char="•"/>
            </a:pPr>
            <a:r>
              <a:rPr lang="en-US" sz="1450"/>
              <a:t>Product comparison guide</a:t>
            </a:r>
            <a:endParaRPr sz="1450"/>
          </a:p>
          <a:p>
            <a:pPr marL="457200" marR="0" lvl="0" indent="-320675" algn="l" rtl="0">
              <a:lnSpc>
                <a:spcPct val="100000"/>
              </a:lnSpc>
              <a:spcBef>
                <a:spcPts val="0"/>
              </a:spcBef>
              <a:spcAft>
                <a:spcPts val="0"/>
              </a:spcAft>
              <a:buSzPts val="1450"/>
              <a:buChar char="•"/>
            </a:pPr>
            <a:r>
              <a:rPr lang="en-US" sz="1450"/>
              <a:t>Case study</a:t>
            </a:r>
            <a:endParaRPr sz="1450"/>
          </a:p>
          <a:p>
            <a:pPr marL="457200" marR="0" lvl="0" indent="-320675" algn="l" rtl="0">
              <a:lnSpc>
                <a:spcPct val="100000"/>
              </a:lnSpc>
              <a:spcBef>
                <a:spcPts val="0"/>
              </a:spcBef>
              <a:spcAft>
                <a:spcPts val="0"/>
              </a:spcAft>
              <a:buSzPts val="1450"/>
              <a:buChar char="•"/>
            </a:pPr>
            <a:r>
              <a:rPr lang="en-US" sz="1450"/>
              <a:t>Videos</a:t>
            </a:r>
            <a:endParaRPr sz="1450"/>
          </a:p>
          <a:p>
            <a:pPr marL="457200" marR="0" lvl="0" indent="-320675" algn="l" rtl="0">
              <a:lnSpc>
                <a:spcPct val="100000"/>
              </a:lnSpc>
              <a:spcBef>
                <a:spcPts val="0"/>
              </a:spcBef>
              <a:spcAft>
                <a:spcPts val="0"/>
              </a:spcAft>
              <a:buSzPts val="1450"/>
              <a:buChar char="•"/>
            </a:pPr>
            <a:r>
              <a:rPr lang="en-US" sz="1450"/>
              <a:t>Video demo</a:t>
            </a:r>
            <a:endParaRPr sz="1450"/>
          </a:p>
          <a:p>
            <a:pPr marL="457200" marR="0" lvl="0" indent="-320675" algn="l" rtl="0">
              <a:lnSpc>
                <a:spcPct val="100000"/>
              </a:lnSpc>
              <a:spcBef>
                <a:spcPts val="0"/>
              </a:spcBef>
              <a:spcAft>
                <a:spcPts val="0"/>
              </a:spcAft>
              <a:buSzPts val="1450"/>
              <a:buChar char="•"/>
            </a:pPr>
            <a:r>
              <a:rPr lang="en-US" sz="1450"/>
              <a:t>Original research &amp; reports</a:t>
            </a:r>
            <a:endParaRPr sz="1450"/>
          </a:p>
          <a:p>
            <a:pPr marL="457200" marR="0" lvl="0" indent="-320675" algn="l" rtl="0">
              <a:lnSpc>
                <a:spcPct val="100000"/>
              </a:lnSpc>
              <a:spcBef>
                <a:spcPts val="0"/>
              </a:spcBef>
              <a:spcAft>
                <a:spcPts val="0"/>
              </a:spcAft>
              <a:buSzPts val="1450"/>
              <a:buChar char="•"/>
            </a:pPr>
            <a:r>
              <a:rPr lang="en-US" sz="1450"/>
              <a:t>Podcasts &amp; webinars</a:t>
            </a:r>
            <a:endParaRPr sz="1450"/>
          </a:p>
          <a:p>
            <a:pPr marL="0" marR="0" lvl="0" indent="0" algn="l" rtl="0">
              <a:lnSpc>
                <a:spcPct val="100000"/>
              </a:lnSpc>
              <a:spcBef>
                <a:spcPts val="1000"/>
              </a:spcBef>
              <a:spcAft>
                <a:spcPts val="0"/>
              </a:spcAft>
              <a:buNone/>
            </a:pPr>
            <a:r>
              <a:rPr lang="en-US" sz="950" i="1"/>
              <a:t>*source: HubSpot</a:t>
            </a:r>
            <a:endParaRPr sz="950" i="1"/>
          </a:p>
        </p:txBody>
      </p:sp>
      <p:sp>
        <p:nvSpPr>
          <p:cNvPr id="757" name="Google Shape;757;p8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pic>
        <p:nvPicPr>
          <p:cNvPr id="758" name="Google Shape;758;p85"/>
          <p:cNvPicPr preferRelativeResize="0"/>
          <p:nvPr/>
        </p:nvPicPr>
        <p:blipFill>
          <a:blip r:embed="rId1"/>
          <a:stretch>
            <a:fillRect/>
          </a:stretch>
        </p:blipFill>
        <p:spPr>
          <a:xfrm>
            <a:off x="862300" y="1860438"/>
            <a:ext cx="5943600" cy="3571875"/>
          </a:xfrm>
          <a:prstGeom prst="rect">
            <a:avLst/>
          </a:prstGeom>
          <a:noFill/>
          <a:ln>
            <a:noFill/>
          </a:ln>
        </p:spPr>
      </p:pic>
      <p:pic>
        <p:nvPicPr>
          <p:cNvPr id="759" name="Google Shape;759;p85"/>
          <p:cNvPicPr preferRelativeResize="0"/>
          <p:nvPr/>
        </p:nvPicPr>
        <p:blipFill>
          <a:blip r:embed="rId2"/>
          <a:stretch>
            <a:fillRect/>
          </a:stretch>
        </p:blipFill>
        <p:spPr>
          <a:xfrm>
            <a:off x="914725" y="1865213"/>
            <a:ext cx="5962650" cy="35623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763" name="Shape 763"/>
        <p:cNvGrpSpPr/>
        <p:nvPr/>
      </p:nvGrpSpPr>
      <p:grpSpPr>
        <a:xfrm>
          <a:off x="0" y="0"/>
          <a:ext cx="0" cy="0"/>
          <a:chOff x="0" y="0"/>
          <a:chExt cx="0" cy="0"/>
        </a:xfrm>
      </p:grpSpPr>
      <p:sp>
        <p:nvSpPr>
          <p:cNvPr id="764" name="Google Shape;764;p86"/>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Content: </a:t>
            </a:r>
            <a:r>
              <a:rPr lang="en-US" sz="3300" b="0" i="1">
                <a:solidFill>
                  <a:srgbClr val="073763"/>
                </a:solidFill>
                <a:latin typeface="Calibri"/>
                <a:ea typeface="Calibri"/>
                <a:cs typeface="Calibri"/>
                <a:sym typeface="Calibri"/>
              </a:rPr>
              <a:t>Decision Stage</a:t>
            </a:r>
            <a:endParaRPr sz="3300" b="0" i="1">
              <a:solidFill>
                <a:srgbClr val="073763"/>
              </a:solidFill>
              <a:latin typeface="Calibri"/>
              <a:ea typeface="Calibri"/>
              <a:cs typeface="Calibri"/>
              <a:sym typeface="Calibri"/>
            </a:endParaRPr>
          </a:p>
        </p:txBody>
      </p:sp>
      <p:sp>
        <p:nvSpPr>
          <p:cNvPr id="765" name="Google Shape;765;p86"/>
          <p:cNvSpPr txBox="1"/>
          <p:nvPr>
            <p:ph type="body" idx="1"/>
          </p:nvPr>
        </p:nvSpPr>
        <p:spPr>
          <a:xfrm>
            <a:off x="7475325" y="1720475"/>
            <a:ext cx="3500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850" b="1">
                <a:solidFill>
                  <a:schemeClr val="accent2"/>
                </a:solidFill>
              </a:rPr>
              <a:t>Type of content:</a:t>
            </a:r>
            <a:endParaRPr sz="350" b="1">
              <a:solidFill>
                <a:schemeClr val="accent2"/>
              </a:solidFill>
            </a:endParaRPr>
          </a:p>
          <a:p>
            <a:pPr marL="0" marR="0" lvl="0" indent="0" algn="l" rtl="0">
              <a:lnSpc>
                <a:spcPct val="100000"/>
              </a:lnSpc>
              <a:spcBef>
                <a:spcPts val="1000"/>
              </a:spcBef>
              <a:spcAft>
                <a:spcPts val="0"/>
              </a:spcAft>
              <a:buNone/>
            </a:pPr>
            <a:endParaRPr sz="100" b="1"/>
          </a:p>
          <a:p>
            <a:pPr marL="0" lvl="0" indent="0" algn="l" rtl="0">
              <a:lnSpc>
                <a:spcPct val="100000"/>
              </a:lnSpc>
              <a:spcBef>
                <a:spcPts val="0"/>
              </a:spcBef>
              <a:spcAft>
                <a:spcPts val="0"/>
              </a:spcAft>
              <a:buNone/>
            </a:pPr>
            <a:r>
              <a:rPr lang="en-US" sz="1450">
                <a:solidFill>
                  <a:srgbClr val="2E475D"/>
                </a:solidFill>
              </a:rPr>
              <a:t>As prospects near the end of the buyer’s journey, they’re evaluating providers. </a:t>
            </a:r>
            <a:r>
              <a:rPr lang="en-US" sz="1450">
                <a:solidFill>
                  <a:srgbClr val="2E475D"/>
                </a:solidFill>
              </a:rPr>
              <a:t>Content should cover everything a prospect needs in order to make that purchase decision. </a:t>
            </a:r>
            <a:endParaRPr sz="1650" b="1"/>
          </a:p>
          <a:p>
            <a:pPr marL="457200" marR="0" lvl="0" indent="-320675" algn="l" rtl="0">
              <a:lnSpc>
                <a:spcPct val="100000"/>
              </a:lnSpc>
              <a:spcBef>
                <a:spcPts val="1000"/>
              </a:spcBef>
              <a:spcAft>
                <a:spcPts val="0"/>
              </a:spcAft>
              <a:buSzPts val="1450"/>
              <a:buChar char="•"/>
            </a:pPr>
            <a:r>
              <a:rPr lang="en-US" sz="1450"/>
              <a:t>Product brochures, data sheets/technical spec sheets</a:t>
            </a:r>
            <a:endParaRPr sz="1450"/>
          </a:p>
          <a:p>
            <a:pPr marL="457200" marR="0" lvl="0" indent="-320675" algn="l" rtl="0">
              <a:lnSpc>
                <a:spcPct val="100000"/>
              </a:lnSpc>
              <a:spcBef>
                <a:spcPts val="0"/>
              </a:spcBef>
              <a:spcAft>
                <a:spcPts val="0"/>
              </a:spcAft>
              <a:buSzPts val="1450"/>
              <a:buChar char="•"/>
            </a:pPr>
            <a:r>
              <a:rPr lang="en-US" sz="1450"/>
              <a:t>Service/support/implementation sheets</a:t>
            </a:r>
            <a:endParaRPr sz="1450"/>
          </a:p>
          <a:p>
            <a:pPr marL="457200" marR="0" lvl="0" indent="-320675" algn="l" rtl="0">
              <a:lnSpc>
                <a:spcPct val="100000"/>
              </a:lnSpc>
              <a:spcBef>
                <a:spcPts val="0"/>
              </a:spcBef>
              <a:spcAft>
                <a:spcPts val="0"/>
              </a:spcAft>
              <a:buSzPts val="1450"/>
              <a:buChar char="•"/>
            </a:pPr>
            <a:r>
              <a:rPr lang="en-US" sz="1450"/>
              <a:t>Pricing info</a:t>
            </a:r>
            <a:endParaRPr sz="1450"/>
          </a:p>
          <a:p>
            <a:pPr marL="457200" marR="0" lvl="0" indent="-320675" algn="l" rtl="0">
              <a:lnSpc>
                <a:spcPct val="100000"/>
              </a:lnSpc>
              <a:spcBef>
                <a:spcPts val="0"/>
              </a:spcBef>
              <a:spcAft>
                <a:spcPts val="0"/>
              </a:spcAft>
              <a:buSzPts val="1450"/>
              <a:buChar char="•"/>
            </a:pPr>
            <a:r>
              <a:rPr lang="en-US" sz="1450"/>
              <a:t>FAQs</a:t>
            </a:r>
            <a:endParaRPr sz="1450"/>
          </a:p>
          <a:p>
            <a:pPr marL="457200" marR="0" lvl="0" indent="-320675" algn="l" rtl="0">
              <a:lnSpc>
                <a:spcPct val="100000"/>
              </a:lnSpc>
              <a:spcBef>
                <a:spcPts val="0"/>
              </a:spcBef>
              <a:spcAft>
                <a:spcPts val="0"/>
              </a:spcAft>
              <a:buSzPts val="1450"/>
              <a:buChar char="•"/>
            </a:pPr>
            <a:r>
              <a:rPr lang="en-US" sz="1450"/>
              <a:t>Analyst reports</a:t>
            </a:r>
            <a:endParaRPr sz="1450"/>
          </a:p>
          <a:p>
            <a:pPr marL="457200" marR="0" lvl="0" indent="-320675" algn="l" rtl="0">
              <a:lnSpc>
                <a:spcPct val="100000"/>
              </a:lnSpc>
              <a:spcBef>
                <a:spcPts val="0"/>
              </a:spcBef>
              <a:spcAft>
                <a:spcPts val="0"/>
              </a:spcAft>
              <a:buSzPts val="1450"/>
              <a:buChar char="•"/>
            </a:pPr>
            <a:r>
              <a:rPr lang="en-US" sz="1450"/>
              <a:t>Free trial/live demo</a:t>
            </a:r>
            <a:endParaRPr sz="1450"/>
          </a:p>
          <a:p>
            <a:pPr marL="457200" marR="0" lvl="0" indent="-320675" algn="l" rtl="0">
              <a:lnSpc>
                <a:spcPct val="100000"/>
              </a:lnSpc>
              <a:spcBef>
                <a:spcPts val="0"/>
              </a:spcBef>
              <a:spcAft>
                <a:spcPts val="0"/>
              </a:spcAft>
              <a:buSzPts val="1450"/>
              <a:buChar char="•"/>
            </a:pPr>
            <a:r>
              <a:rPr lang="en-US" sz="1450"/>
              <a:t>Consultation</a:t>
            </a:r>
            <a:endParaRPr sz="950" i="1"/>
          </a:p>
          <a:p>
            <a:pPr marL="0" marR="0" lvl="0" indent="0" algn="l" rtl="0">
              <a:lnSpc>
                <a:spcPct val="100000"/>
              </a:lnSpc>
              <a:spcBef>
                <a:spcPts val="1000"/>
              </a:spcBef>
              <a:spcAft>
                <a:spcPts val="0"/>
              </a:spcAft>
              <a:buNone/>
            </a:pPr>
            <a:r>
              <a:rPr lang="en-US" sz="950" i="1"/>
              <a:t>*source: HubSpot</a:t>
            </a:r>
            <a:endParaRPr sz="950" i="1"/>
          </a:p>
        </p:txBody>
      </p:sp>
      <p:sp>
        <p:nvSpPr>
          <p:cNvPr id="766" name="Google Shape;766;p8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pic>
        <p:nvPicPr>
          <p:cNvPr id="767" name="Google Shape;767;p86"/>
          <p:cNvPicPr preferRelativeResize="0"/>
          <p:nvPr/>
        </p:nvPicPr>
        <p:blipFill>
          <a:blip r:embed="rId1"/>
          <a:stretch>
            <a:fillRect/>
          </a:stretch>
        </p:blipFill>
        <p:spPr>
          <a:xfrm>
            <a:off x="862300" y="1943100"/>
            <a:ext cx="5953125" cy="35242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778" name="Shape 778"/>
        <p:cNvGrpSpPr/>
        <p:nvPr/>
      </p:nvGrpSpPr>
      <p:grpSpPr>
        <a:xfrm>
          <a:off x="0" y="0"/>
          <a:ext cx="0" cy="0"/>
          <a:chOff x="0" y="0"/>
          <a:chExt cx="0" cy="0"/>
        </a:xfrm>
      </p:grpSpPr>
      <p:sp>
        <p:nvSpPr>
          <p:cNvPr id="779" name="Google Shape;779;p88"/>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Kit </a:t>
            </a:r>
            <a:r>
              <a:rPr lang="en-US" sz="3300" b="0" i="1">
                <a:solidFill>
                  <a:srgbClr val="073763"/>
                </a:solidFill>
                <a:latin typeface="Calibri"/>
                <a:ea typeface="Calibri"/>
                <a:cs typeface="Calibri"/>
                <a:sym typeface="Calibri"/>
              </a:rPr>
              <a:t>Recommendation for CrossCap</a:t>
            </a:r>
            <a:endParaRPr sz="3300" b="0" i="1">
              <a:solidFill>
                <a:srgbClr val="073763"/>
              </a:solidFill>
              <a:latin typeface="Calibri"/>
              <a:ea typeface="Calibri"/>
              <a:cs typeface="Calibri"/>
              <a:sym typeface="Calibri"/>
            </a:endParaRPr>
          </a:p>
        </p:txBody>
      </p:sp>
      <p:sp>
        <p:nvSpPr>
          <p:cNvPr id="780" name="Google Shape;780;p88"/>
          <p:cNvSpPr txBox="1"/>
          <p:nvPr>
            <p:ph type="body" idx="1"/>
          </p:nvPr>
        </p:nvSpPr>
        <p:spPr>
          <a:xfrm>
            <a:off x="930475" y="1462325"/>
            <a:ext cx="8637300" cy="4630200"/>
          </a:xfrm>
          <a:prstGeom prst="rect">
            <a:avLst/>
          </a:prstGeom>
          <a:noFill/>
          <a:ln>
            <a:noFill/>
          </a:ln>
        </p:spPr>
        <p:txBody>
          <a:bodyPr spcFirstLastPara="1" wrap="square" lIns="91425" tIns="45700" rIns="91425" bIns="45700" anchor="t" anchorCtr="0">
            <a:noAutofit/>
          </a:bodyPr>
          <a:lstStyle/>
          <a:p>
            <a:pPr marL="800100" marR="0" lvl="1" indent="-333375" algn="l" rtl="0">
              <a:lnSpc>
                <a:spcPct val="100000"/>
              </a:lnSpc>
              <a:spcBef>
                <a:spcPts val="1000"/>
              </a:spcBef>
              <a:spcAft>
                <a:spcPts val="0"/>
              </a:spcAft>
              <a:buClr>
                <a:schemeClr val="accent2"/>
              </a:buClr>
              <a:buSzPts val="1450"/>
              <a:buFont typeface="Calibri"/>
              <a:buChar char="✔"/>
            </a:pPr>
            <a:r>
              <a:rPr lang="en-US" sz="1450" b="1"/>
              <a:t>Create the following items for a B2B marketing kit and make them available for web, PDF, and print:</a:t>
            </a:r>
            <a:endParaRPr sz="1450" b="1"/>
          </a:p>
          <a:p>
            <a:pPr marL="1143000" marR="0" lvl="2" indent="-206375" algn="l" rtl="0">
              <a:lnSpc>
                <a:spcPct val="100000"/>
              </a:lnSpc>
              <a:spcBef>
                <a:spcPts val="1000"/>
              </a:spcBef>
              <a:spcAft>
                <a:spcPts val="0"/>
              </a:spcAft>
              <a:buSzPts val="1450"/>
              <a:buChar char="•"/>
            </a:pPr>
            <a:r>
              <a:rPr lang="en-US" sz="1450" b="1"/>
              <a:t>Company Brochure/Product Catalog: </a:t>
            </a:r>
            <a:r>
              <a:rPr lang="en-US" sz="1450"/>
              <a:t>An overview of all products, how they fit together, how they are used, along with key company information</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Marketing Calendar &amp; Distro:</a:t>
            </a:r>
            <a:endParaRPr sz="1450" b="1"/>
          </a:p>
          <a:p>
            <a:pPr marL="1143000" marR="0" lvl="2" indent="-206375" algn="l" rtl="0">
              <a:lnSpc>
                <a:spcPct val="100000"/>
              </a:lnSpc>
              <a:spcBef>
                <a:spcPts val="1000"/>
              </a:spcBef>
              <a:spcAft>
                <a:spcPts val="0"/>
              </a:spcAft>
              <a:buSzPts val="1450"/>
              <a:buChar char="•"/>
            </a:pPr>
            <a:r>
              <a:rPr lang="en-US" sz="1450" b="1"/>
              <a:t>Product Brochure</a:t>
            </a:r>
            <a:r>
              <a:rPr lang="en-US" sz="1450"/>
              <a:t> </a:t>
            </a:r>
            <a:r>
              <a:rPr lang="en-US" sz="1450" i="1"/>
              <a:t>for main marketing and awareness stage</a:t>
            </a:r>
            <a:endParaRPr sz="1450" i="1"/>
          </a:p>
          <a:p>
            <a:pPr marL="1143000" marR="0" lvl="2" indent="-206375" algn="l" rtl="0">
              <a:lnSpc>
                <a:spcPct val="100000"/>
              </a:lnSpc>
              <a:spcBef>
                <a:spcPts val="1000"/>
              </a:spcBef>
              <a:spcAft>
                <a:spcPts val="0"/>
              </a:spcAft>
              <a:buSzPts val="1450"/>
              <a:buChar char="•"/>
            </a:pPr>
            <a:r>
              <a:rPr lang="en-US" sz="1450" b="1"/>
              <a:t>Implementation, </a:t>
            </a:r>
            <a:r>
              <a:rPr lang="en-US" sz="1450" b="1"/>
              <a:t>Support &amp; Service Sheet </a:t>
            </a:r>
            <a:r>
              <a:rPr lang="en-US" sz="1450" i="1"/>
              <a:t>for main marketing and consideration stage</a:t>
            </a:r>
            <a:endParaRPr sz="1450" i="1"/>
          </a:p>
          <a:p>
            <a:pPr marL="1143000" marR="0" lvl="2" indent="-206375" algn="l" rtl="0">
              <a:lnSpc>
                <a:spcPct val="100000"/>
              </a:lnSpc>
              <a:spcBef>
                <a:spcPts val="1000"/>
              </a:spcBef>
              <a:spcAft>
                <a:spcPts val="0"/>
              </a:spcAft>
              <a:buSzPts val="1450"/>
              <a:buChar char="•"/>
            </a:pPr>
            <a:r>
              <a:rPr lang="en-US" sz="1450" b="1"/>
              <a:t>Data/Spec Sheet</a:t>
            </a:r>
            <a:r>
              <a:rPr lang="en-US" sz="1450"/>
              <a:t> </a:t>
            </a:r>
            <a:r>
              <a:rPr lang="en-US" sz="1450" i="1"/>
              <a:t>for sourcing/IT/decision stage</a:t>
            </a:r>
            <a:endParaRPr sz="1450" i="1"/>
          </a:p>
          <a:p>
            <a:pPr marL="1143000" marR="0" lvl="2" indent="-206375" algn="l" rtl="0">
              <a:lnSpc>
                <a:spcPct val="100000"/>
              </a:lnSpc>
              <a:spcBef>
                <a:spcPts val="1000"/>
              </a:spcBef>
              <a:spcAft>
                <a:spcPts val="0"/>
              </a:spcAft>
              <a:buSzPts val="1450"/>
              <a:buChar char="•"/>
            </a:pPr>
            <a:r>
              <a:rPr lang="en-US" sz="1450" b="1"/>
              <a:t>Testimonial sheet </a:t>
            </a:r>
            <a:r>
              <a:rPr lang="en-US" sz="1450" i="1"/>
              <a:t>for main marketing and consideration stage</a:t>
            </a:r>
            <a:endParaRPr sz="1450" i="1"/>
          </a:p>
          <a:p>
            <a:pPr marL="1143000" marR="0" lvl="2" indent="-206375" algn="l" rtl="0">
              <a:lnSpc>
                <a:spcPct val="100000"/>
              </a:lnSpc>
              <a:spcBef>
                <a:spcPts val="1000"/>
              </a:spcBef>
              <a:spcAft>
                <a:spcPts val="0"/>
              </a:spcAft>
              <a:buSzPts val="1450"/>
              <a:buChar char="•"/>
            </a:pPr>
            <a:r>
              <a:rPr lang="en-US" sz="1450" b="1"/>
              <a:t>Case studies </a:t>
            </a:r>
            <a:r>
              <a:rPr lang="en-US" sz="1450" i="1"/>
              <a:t>for main marketing and consideration stage</a:t>
            </a:r>
            <a:endParaRPr sz="1450" b="1"/>
          </a:p>
          <a:p>
            <a:pPr marL="1143000" marR="0" lvl="2" indent="-206375" algn="l" rtl="0">
              <a:lnSpc>
                <a:spcPct val="100000"/>
              </a:lnSpc>
              <a:spcBef>
                <a:spcPts val="1000"/>
              </a:spcBef>
              <a:spcAft>
                <a:spcPts val="0"/>
              </a:spcAft>
              <a:buSzPts val="1450"/>
              <a:buChar char="•"/>
            </a:pPr>
            <a:r>
              <a:rPr lang="en-US" sz="1450" b="1"/>
              <a:t>Main positioning white paper </a:t>
            </a:r>
            <a:r>
              <a:rPr lang="en-US" sz="1450" i="1"/>
              <a:t>for awareness, consideration and lead nurturing campaigns</a:t>
            </a:r>
            <a:endParaRPr sz="1450"/>
          </a:p>
        </p:txBody>
      </p:sp>
      <p:sp>
        <p:nvSpPr>
          <p:cNvPr id="781" name="Google Shape;781;p8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785" name="Shape 785"/>
        <p:cNvGrpSpPr/>
        <p:nvPr/>
      </p:nvGrpSpPr>
      <p:grpSpPr>
        <a:xfrm>
          <a:off x="0" y="0"/>
          <a:ext cx="0" cy="0"/>
          <a:chOff x="0" y="0"/>
          <a:chExt cx="0" cy="0"/>
        </a:xfrm>
      </p:grpSpPr>
      <p:sp>
        <p:nvSpPr>
          <p:cNvPr id="786" name="Google Shape;786;p89"/>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Kit </a:t>
            </a:r>
            <a:r>
              <a:rPr lang="en-US" sz="3300" b="0" i="1">
                <a:solidFill>
                  <a:srgbClr val="073763"/>
                </a:solidFill>
                <a:latin typeface="Calibri"/>
                <a:ea typeface="Calibri"/>
                <a:cs typeface="Calibri"/>
                <a:sym typeface="Calibri"/>
              </a:rPr>
              <a:t>Example -</a:t>
            </a:r>
            <a:r>
              <a:rPr lang="en-US" sz="3300" b="0">
                <a:solidFill>
                  <a:srgbClr val="073763"/>
                </a:solidFill>
                <a:latin typeface="Calibri"/>
                <a:ea typeface="Calibri"/>
                <a:cs typeface="Calibri"/>
                <a:sym typeface="Calibri"/>
              </a:rPr>
              <a:t> Product Sheet</a:t>
            </a:r>
            <a:endParaRPr sz="3300" b="0" i="1">
              <a:solidFill>
                <a:srgbClr val="073763"/>
              </a:solidFill>
              <a:latin typeface="Calibri"/>
              <a:ea typeface="Calibri"/>
              <a:cs typeface="Calibri"/>
              <a:sym typeface="Calibri"/>
            </a:endParaRPr>
          </a:p>
        </p:txBody>
      </p:sp>
      <p:sp>
        <p:nvSpPr>
          <p:cNvPr id="787" name="Google Shape;787;p8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pic>
        <p:nvPicPr>
          <p:cNvPr id="788" name="Google Shape;788;p89"/>
          <p:cNvPicPr preferRelativeResize="0"/>
          <p:nvPr/>
        </p:nvPicPr>
        <p:blipFill>
          <a:blip r:embed="rId1"/>
          <a:stretch>
            <a:fillRect/>
          </a:stretch>
        </p:blipFill>
        <p:spPr>
          <a:xfrm>
            <a:off x="1137025" y="1777875"/>
            <a:ext cx="3050018" cy="3951299"/>
          </a:xfrm>
          <a:prstGeom prst="rect">
            <a:avLst/>
          </a:prstGeom>
          <a:noFill/>
          <a:ln>
            <a:noFill/>
          </a:ln>
        </p:spPr>
      </p:pic>
      <p:pic>
        <p:nvPicPr>
          <p:cNvPr id="789" name="Google Shape;789;p89"/>
          <p:cNvPicPr preferRelativeResize="0"/>
          <p:nvPr/>
        </p:nvPicPr>
        <p:blipFill>
          <a:blip r:embed="rId2"/>
          <a:stretch>
            <a:fillRect/>
          </a:stretch>
        </p:blipFill>
        <p:spPr>
          <a:xfrm>
            <a:off x="4404250" y="1777875"/>
            <a:ext cx="3050025" cy="394777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793" name="Shape 793"/>
        <p:cNvGrpSpPr/>
        <p:nvPr/>
      </p:nvGrpSpPr>
      <p:grpSpPr>
        <a:xfrm>
          <a:off x="0" y="0"/>
          <a:ext cx="0" cy="0"/>
          <a:chOff x="0" y="0"/>
          <a:chExt cx="0" cy="0"/>
        </a:xfrm>
      </p:grpSpPr>
      <p:sp>
        <p:nvSpPr>
          <p:cNvPr id="794" name="Google Shape;794;p90"/>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Kit </a:t>
            </a:r>
            <a:r>
              <a:rPr lang="en-US" sz="3300" b="0">
                <a:solidFill>
                  <a:srgbClr val="073763"/>
                </a:solidFill>
                <a:latin typeface="Calibri"/>
                <a:ea typeface="Calibri"/>
                <a:cs typeface="Calibri"/>
                <a:sym typeface="Calibri"/>
              </a:rPr>
              <a:t>Example - Multiple Product Sheets</a:t>
            </a:r>
            <a:endParaRPr sz="3300" b="0" i="1">
              <a:solidFill>
                <a:srgbClr val="073763"/>
              </a:solidFill>
              <a:latin typeface="Calibri"/>
              <a:ea typeface="Calibri"/>
              <a:cs typeface="Calibri"/>
              <a:sym typeface="Calibri"/>
            </a:endParaRPr>
          </a:p>
        </p:txBody>
      </p:sp>
      <p:sp>
        <p:nvSpPr>
          <p:cNvPr id="795" name="Google Shape;795;p9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pic>
        <p:nvPicPr>
          <p:cNvPr id="796" name="Google Shape;796;p90"/>
          <p:cNvPicPr preferRelativeResize="0"/>
          <p:nvPr/>
        </p:nvPicPr>
        <p:blipFill>
          <a:blip r:embed="rId1"/>
          <a:stretch>
            <a:fillRect/>
          </a:stretch>
        </p:blipFill>
        <p:spPr>
          <a:xfrm>
            <a:off x="974925" y="1697300"/>
            <a:ext cx="2220600" cy="2876776"/>
          </a:xfrm>
          <a:prstGeom prst="rect">
            <a:avLst/>
          </a:prstGeom>
          <a:noFill/>
          <a:ln>
            <a:noFill/>
          </a:ln>
        </p:spPr>
      </p:pic>
      <p:pic>
        <p:nvPicPr>
          <p:cNvPr id="797" name="Google Shape;797;p90"/>
          <p:cNvPicPr preferRelativeResize="0"/>
          <p:nvPr/>
        </p:nvPicPr>
        <p:blipFill>
          <a:blip r:embed="rId2"/>
          <a:stretch>
            <a:fillRect/>
          </a:stretch>
        </p:blipFill>
        <p:spPr>
          <a:xfrm>
            <a:off x="3329126" y="2311275"/>
            <a:ext cx="2435175" cy="3131625"/>
          </a:xfrm>
          <a:prstGeom prst="rect">
            <a:avLst/>
          </a:prstGeom>
          <a:noFill/>
          <a:ln>
            <a:noFill/>
          </a:ln>
        </p:spPr>
      </p:pic>
      <p:pic>
        <p:nvPicPr>
          <p:cNvPr id="798" name="Google Shape;798;p90"/>
          <p:cNvPicPr preferRelativeResize="0"/>
          <p:nvPr/>
        </p:nvPicPr>
        <p:blipFill>
          <a:blip r:embed="rId3"/>
          <a:stretch>
            <a:fillRect/>
          </a:stretch>
        </p:blipFill>
        <p:spPr>
          <a:xfrm>
            <a:off x="5897900" y="2890475"/>
            <a:ext cx="2607875" cy="33749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771" name="Shape 771"/>
        <p:cNvGrpSpPr/>
        <p:nvPr/>
      </p:nvGrpSpPr>
      <p:grpSpPr>
        <a:xfrm>
          <a:off x="0" y="0"/>
          <a:ext cx="0" cy="0"/>
          <a:chOff x="0" y="0"/>
          <a:chExt cx="0" cy="0"/>
        </a:xfrm>
      </p:grpSpPr>
      <p:sp>
        <p:nvSpPr>
          <p:cNvPr id="772" name="Google Shape;772;p87"/>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B2B Marketing Kit </a:t>
            </a:r>
            <a:r>
              <a:rPr lang="en-US" sz="3300" b="0" i="1">
                <a:solidFill>
                  <a:srgbClr val="073763"/>
                </a:solidFill>
                <a:latin typeface="Calibri"/>
                <a:ea typeface="Calibri"/>
                <a:cs typeface="Calibri"/>
                <a:sym typeface="Calibri"/>
              </a:rPr>
              <a:t>Detail</a:t>
            </a:r>
            <a:endParaRPr sz="3300" b="0" i="1">
              <a:solidFill>
                <a:srgbClr val="073763"/>
              </a:solidFill>
              <a:latin typeface="Calibri"/>
              <a:ea typeface="Calibri"/>
              <a:cs typeface="Calibri"/>
              <a:sym typeface="Calibri"/>
            </a:endParaRPr>
          </a:p>
        </p:txBody>
      </p:sp>
      <p:sp>
        <p:nvSpPr>
          <p:cNvPr id="773" name="Google Shape;773;p87"/>
          <p:cNvSpPr txBox="1"/>
          <p:nvPr>
            <p:ph type="body" idx="1"/>
          </p:nvPr>
        </p:nvSpPr>
        <p:spPr>
          <a:xfrm>
            <a:off x="930475" y="1462325"/>
            <a:ext cx="9854100" cy="4630200"/>
          </a:xfrm>
          <a:prstGeom prst="rect">
            <a:avLst/>
          </a:prstGeom>
          <a:noFill/>
          <a:ln>
            <a:noFill/>
          </a:ln>
        </p:spPr>
        <p:txBody>
          <a:bodyPr spcFirstLastPara="1" wrap="square" lIns="91425" tIns="45700" rIns="91425" bIns="45700" anchor="t" anchorCtr="0">
            <a:noAutofit/>
          </a:bodyPr>
          <a:lstStyle/>
          <a:p>
            <a:pPr marL="800100" marR="0" lvl="1" indent="-333375" algn="l" rtl="0">
              <a:lnSpc>
                <a:spcPct val="100000"/>
              </a:lnSpc>
              <a:spcBef>
                <a:spcPts val="1000"/>
              </a:spcBef>
              <a:spcAft>
                <a:spcPts val="0"/>
              </a:spcAft>
              <a:buClr>
                <a:schemeClr val="accent2"/>
              </a:buClr>
              <a:buSzPts val="1450"/>
              <a:buFont typeface="Calibri"/>
              <a:buChar char="✔"/>
            </a:pPr>
            <a:r>
              <a:rPr lang="en-US" sz="1450" b="1"/>
              <a:t>Company Brochure/Product Catalog: </a:t>
            </a:r>
            <a:r>
              <a:rPr lang="en-US" sz="1450"/>
              <a:t>An overview of all products, how they fit together, how they are used, along with key company information</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Product Brochure:</a:t>
            </a:r>
            <a:r>
              <a:rPr lang="en-US" sz="1450"/>
              <a:t> 2 to 4 pages giving a complete high level introduction to the product &amp; company, including product features &amp; benefits, company &amp; longevity, implementation, support &amp; services, reference clients, and testimonials</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Data/Sell Sheet:</a:t>
            </a:r>
            <a:r>
              <a:rPr lang="en-US" sz="1450"/>
              <a:t> Quick product overview, easy reference, easy to use for RFPs and competitor comparisons</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Support &amp; Service Sheet:</a:t>
            </a:r>
            <a:r>
              <a:rPr lang="en-US" sz="1450"/>
              <a:t> 1 to 2 pages providing an overview of customization, implementation, support &amp; service</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Testimonial Sheet: </a:t>
            </a:r>
            <a:r>
              <a:rPr lang="en-US" sz="1450"/>
              <a:t>One sheet highlighting testimonials from your most ideal reference clients</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Case Studies:</a:t>
            </a:r>
            <a:r>
              <a:rPr lang="en-US" sz="1450"/>
              <a:t> Consider individual case studies on the product (benefits &amp; results), customization/implementation, service &amp; support</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Use Cases:</a:t>
            </a:r>
            <a:r>
              <a:rPr lang="en-US" sz="1450"/>
              <a:t> Similar to case studies, but use cases highlight specific applications of the product - could also be specific vertical applications</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Technical Specifications:</a:t>
            </a:r>
            <a:r>
              <a:rPr lang="en-US" sz="1450"/>
              <a:t> Including everything a sourcing manager or IT department would need to know, including security &amp; integrations</a:t>
            </a:r>
            <a:endParaRPr sz="1450"/>
          </a:p>
          <a:p>
            <a:pPr marL="800100" marR="0" lvl="1" indent="-333375" algn="l" rtl="0">
              <a:lnSpc>
                <a:spcPct val="100000"/>
              </a:lnSpc>
              <a:spcBef>
                <a:spcPts val="1000"/>
              </a:spcBef>
              <a:spcAft>
                <a:spcPts val="0"/>
              </a:spcAft>
              <a:buClr>
                <a:schemeClr val="accent2"/>
              </a:buClr>
              <a:buSzPts val="1450"/>
              <a:buFont typeface="Calibri"/>
              <a:buChar char="✔"/>
            </a:pPr>
            <a:r>
              <a:rPr lang="en-US" sz="1450" b="1"/>
              <a:t>White Papers: </a:t>
            </a:r>
            <a:r>
              <a:rPr lang="en-US" sz="1450"/>
              <a:t>Connects your product to a specific trend, topic or technology; demonstrates your knowledge and authority in a certain area; an authoritative report on a topic that highlights a problem and positions your company as an expert on solving the problem</a:t>
            </a:r>
            <a:endParaRPr sz="1450"/>
          </a:p>
        </p:txBody>
      </p:sp>
      <p:sp>
        <p:nvSpPr>
          <p:cNvPr id="774" name="Google Shape;774;p8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B2B Marketing Kit</a:t>
            </a:r>
            <a:endParaRPr sz="1900" b="0" i="1">
              <a:solidFill>
                <a:schemeClr val="accent5"/>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802" name="Shape 802"/>
        <p:cNvGrpSpPr/>
        <p:nvPr/>
      </p:nvGrpSpPr>
      <p:grpSpPr>
        <a:xfrm>
          <a:off x="0" y="0"/>
          <a:ext cx="0" cy="0"/>
          <a:chOff x="0" y="0"/>
          <a:chExt cx="0" cy="0"/>
        </a:xfrm>
      </p:grpSpPr>
      <p:sp>
        <p:nvSpPr>
          <p:cNvPr id="803" name="Google Shape;803;p91"/>
          <p:cNvSpPr txBox="1"/>
          <p:nvPr>
            <p:ph type="title"/>
          </p:nvPr>
        </p:nvSpPr>
        <p:spPr>
          <a:xfrm>
            <a:off x="680400" y="200600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b="0">
                <a:solidFill>
                  <a:schemeClr val="accent5"/>
                </a:solidFill>
                <a:latin typeface="Calibri"/>
                <a:ea typeface="Calibri"/>
                <a:cs typeface="Calibri"/>
                <a:sym typeface="Calibri"/>
              </a:rPr>
              <a:t>Section 2:</a:t>
            </a:r>
            <a:br>
              <a:rPr lang="en-US">
                <a:solidFill>
                  <a:schemeClr val="accent5"/>
                </a:solidFill>
              </a:rPr>
            </a:br>
            <a:r>
              <a:rPr lang="en-US">
                <a:solidFill>
                  <a:schemeClr val="accent5"/>
                </a:solidFill>
              </a:rPr>
              <a:t>Marketing Awareness</a:t>
            </a:r>
            <a:endParaRPr>
              <a:solidFill>
                <a:schemeClr val="accent5"/>
              </a:solidFill>
            </a:endParaRPr>
          </a:p>
          <a:p>
            <a:pPr marL="0" lvl="0" indent="0" algn="ctr" rtl="0">
              <a:lnSpc>
                <a:spcPct val="90000"/>
              </a:lnSpc>
              <a:spcBef>
                <a:spcPts val="0"/>
              </a:spcBef>
              <a:spcAft>
                <a:spcPts val="0"/>
              </a:spcAft>
              <a:buClr>
                <a:schemeClr val="accent2"/>
              </a:buClr>
              <a:buSzPct val="100000"/>
              <a:buFont typeface="Calibri"/>
              <a:buNone/>
            </a:pPr>
            <a:r>
              <a:rPr lang="en-US">
                <a:solidFill>
                  <a:schemeClr val="accent5"/>
                </a:solidFill>
              </a:rPr>
              <a:t>Actions</a:t>
            </a:r>
            <a:endParaRPr>
              <a:solidFill>
                <a:schemeClr val="accent5"/>
              </a:solidFill>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807" name="Shape 807"/>
        <p:cNvGrpSpPr/>
        <p:nvPr/>
      </p:nvGrpSpPr>
      <p:grpSpPr>
        <a:xfrm>
          <a:off x="0" y="0"/>
          <a:ext cx="0" cy="0"/>
          <a:chOff x="0" y="0"/>
          <a:chExt cx="0" cy="0"/>
        </a:xfrm>
      </p:grpSpPr>
      <p:sp>
        <p:nvSpPr>
          <p:cNvPr id="808" name="Google Shape;808;p92"/>
          <p:cNvSpPr txBox="1"/>
          <p:nvPr>
            <p:ph type="title"/>
          </p:nvPr>
        </p:nvSpPr>
        <p:spPr>
          <a:xfrm>
            <a:off x="842700" y="763900"/>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Marketing Awareness </a:t>
            </a:r>
            <a:r>
              <a:rPr lang="en-US" sz="3800" b="0" i="1">
                <a:solidFill>
                  <a:schemeClr val="accent5"/>
                </a:solidFill>
                <a:latin typeface="Calibri"/>
                <a:ea typeface="Calibri"/>
                <a:cs typeface="Calibri"/>
                <a:sym typeface="Calibri"/>
              </a:rPr>
              <a:t>Goals</a:t>
            </a:r>
            <a:endParaRPr sz="3800" b="0" i="1">
              <a:solidFill>
                <a:schemeClr val="accent5"/>
              </a:solidFill>
              <a:latin typeface="Calibri"/>
              <a:ea typeface="Calibri"/>
              <a:cs typeface="Calibri"/>
              <a:sym typeface="Calibri"/>
            </a:endParaRPr>
          </a:p>
        </p:txBody>
      </p:sp>
      <p:sp>
        <p:nvSpPr>
          <p:cNvPr id="809" name="Google Shape;809;p92"/>
          <p:cNvSpPr txBox="1"/>
          <p:nvPr>
            <p:ph type="body" idx="1"/>
          </p:nvPr>
        </p:nvSpPr>
        <p:spPr>
          <a:xfrm>
            <a:off x="678250" y="1852375"/>
            <a:ext cx="7386600" cy="4630200"/>
          </a:xfrm>
          <a:prstGeom prst="rect">
            <a:avLst/>
          </a:prstGeom>
          <a:noFill/>
          <a:ln>
            <a:noFill/>
          </a:ln>
        </p:spPr>
        <p:txBody>
          <a:bodyPr spcFirstLastPara="1" wrap="square" lIns="91425" tIns="45700" rIns="91425" bIns="45700" anchor="t" anchorCtr="0">
            <a:noAutofit/>
          </a:bodyPr>
          <a:lstStyle/>
          <a:p>
            <a:pPr marL="685800" lvl="1" indent="-260350" algn="l" rtl="0">
              <a:lnSpc>
                <a:spcPct val="130000"/>
              </a:lnSpc>
              <a:spcBef>
                <a:spcPts val="1000"/>
              </a:spcBef>
              <a:spcAft>
                <a:spcPts val="0"/>
              </a:spcAft>
              <a:buClr>
                <a:schemeClr val="accent2"/>
              </a:buClr>
              <a:buSzPts val="2300"/>
              <a:buChar char="✔"/>
            </a:pPr>
            <a:r>
              <a:rPr lang="en-US" sz="2000" b="1"/>
              <a:t>Challenge:</a:t>
            </a:r>
            <a:r>
              <a:rPr lang="en-US" sz="2000"/>
              <a:t> There is a general lack of awareness of CrossCap and their products with ideal clients for both Marketing Calendar &amp; Distro - including personas in procurement, marketing operations, senior leadership, and CMOs</a:t>
            </a:r>
            <a:endParaRPr sz="2000"/>
          </a:p>
          <a:p>
            <a:pPr marL="685800" lvl="1" indent="-241300" algn="l" rtl="0">
              <a:lnSpc>
                <a:spcPct val="130000"/>
              </a:lnSpc>
              <a:spcBef>
                <a:spcPts val="1000"/>
              </a:spcBef>
              <a:spcAft>
                <a:spcPts val="0"/>
              </a:spcAft>
              <a:buClr>
                <a:schemeClr val="accent2"/>
              </a:buClr>
              <a:buSzPts val="2000"/>
              <a:buChar char="✔"/>
            </a:pPr>
            <a:r>
              <a:rPr lang="en-US" sz="2000" b="1"/>
              <a:t>Goals:</a:t>
            </a:r>
            <a:r>
              <a:rPr lang="en-US" sz="2000"/>
              <a:t> Increase awareness of CrossCap and their main products with all personas. </a:t>
            </a:r>
            <a:endParaRPr sz="2000"/>
          </a:p>
          <a:p>
            <a:pPr marL="685800" lvl="0" indent="0" algn="l" rtl="0">
              <a:lnSpc>
                <a:spcPct val="130000"/>
              </a:lnSpc>
              <a:spcBef>
                <a:spcPts val="1000"/>
              </a:spcBef>
              <a:spcAft>
                <a:spcPts val="0"/>
              </a:spcAft>
              <a:buNone/>
            </a:pPr>
            <a:r>
              <a:rPr lang="en-US" sz="2000" i="1"/>
              <a:t>*Note: these supplement lead generation activities</a:t>
            </a:r>
            <a:endParaRPr sz="2000" i="1"/>
          </a:p>
          <a:p>
            <a:pPr marL="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810" name="Google Shape;810;p92"/>
          <p:cNvPicPr preferRelativeResize="0"/>
          <p:nvPr/>
        </p:nvPicPr>
        <p:blipFill rotWithShape="1">
          <a:blip r:embed="rId1"/>
          <a:srcRect/>
          <a:stretch>
            <a:fillRect/>
          </a:stretch>
        </p:blipFill>
        <p:spPr>
          <a:xfrm>
            <a:off x="8232075" y="1612650"/>
            <a:ext cx="3271025" cy="3945999"/>
          </a:xfrm>
          <a:prstGeom prst="rect">
            <a:avLst/>
          </a:prstGeom>
          <a:noFill/>
          <a:ln>
            <a:noFill/>
          </a:ln>
        </p:spPr>
      </p:pic>
      <p:sp>
        <p:nvSpPr>
          <p:cNvPr id="811" name="Google Shape;811;p92"/>
          <p:cNvSpPr txBox="1"/>
          <p:nvPr/>
        </p:nvSpPr>
        <p:spPr>
          <a:xfrm>
            <a:off x="8472975" y="2002200"/>
            <a:ext cx="2814900" cy="2481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Action Steps:</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Media Relations</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Analyst Relations</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Influencer Relations</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Sourcing team supplier lists</a:t>
            </a:r>
            <a:endParaRPr sz="1500">
              <a:solidFill>
                <a:srgbClr val="434343"/>
              </a:solidFill>
              <a:latin typeface="Calibri"/>
              <a:ea typeface="Calibri"/>
              <a:cs typeface="Calibri"/>
              <a:sym typeface="Calibri"/>
            </a:endParaRPr>
          </a:p>
          <a:p>
            <a:pPr marL="0" marR="0" lvl="0" indent="0" algn="l" rtl="0">
              <a:lnSpc>
                <a:spcPct val="115000"/>
              </a:lnSpc>
              <a:spcBef>
                <a:spcPts val="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812" name="Google Shape;812;p9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a:t>
            </a:r>
            <a:endParaRPr sz="1900" b="0" i="1">
              <a:solidFill>
                <a:schemeClr val="accent5"/>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816" name="Shape 816"/>
        <p:cNvGrpSpPr/>
        <p:nvPr/>
      </p:nvGrpSpPr>
      <p:grpSpPr>
        <a:xfrm>
          <a:off x="0" y="0"/>
          <a:ext cx="0" cy="0"/>
          <a:chOff x="0" y="0"/>
          <a:chExt cx="0" cy="0"/>
        </a:xfrm>
      </p:grpSpPr>
      <p:sp>
        <p:nvSpPr>
          <p:cNvPr id="817" name="Google Shape;817;p93"/>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marketing awareness</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1: Media Relations</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818" name="Google Shape;818;p9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a:t>
            </a:r>
            <a:endParaRPr sz="1900" b="0" i="1">
              <a:solidFill>
                <a:schemeClr val="accent5"/>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822" name="Shape 822"/>
        <p:cNvGrpSpPr/>
        <p:nvPr/>
      </p:nvGrpSpPr>
      <p:grpSpPr>
        <a:xfrm>
          <a:off x="0" y="0"/>
          <a:ext cx="0" cy="0"/>
          <a:chOff x="0" y="0"/>
          <a:chExt cx="0" cy="0"/>
        </a:xfrm>
      </p:grpSpPr>
      <p:sp>
        <p:nvSpPr>
          <p:cNvPr id="823" name="Google Shape;823;p94"/>
          <p:cNvSpPr txBox="1"/>
          <p:nvPr>
            <p:ph type="title"/>
          </p:nvPr>
        </p:nvSpPr>
        <p:spPr>
          <a:xfrm>
            <a:off x="960775" y="784225"/>
            <a:ext cx="105969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Awareness: </a:t>
            </a:r>
            <a:r>
              <a:rPr lang="en-US" sz="3800" b="0" i="1">
                <a:latin typeface="Calibri"/>
                <a:ea typeface="Calibri"/>
                <a:cs typeface="Calibri"/>
                <a:sym typeface="Calibri"/>
              </a:rPr>
              <a:t>Media Relations</a:t>
            </a:r>
            <a:endParaRPr sz="3800" b="0" i="1">
              <a:latin typeface="Calibri"/>
              <a:ea typeface="Calibri"/>
              <a:cs typeface="Calibri"/>
              <a:sym typeface="Calibri"/>
            </a:endParaRPr>
          </a:p>
        </p:txBody>
      </p:sp>
      <p:sp>
        <p:nvSpPr>
          <p:cNvPr id="824" name="Google Shape;824;p94"/>
          <p:cNvSpPr txBox="1"/>
          <p:nvPr>
            <p:ph type="body" idx="1"/>
          </p:nvPr>
        </p:nvSpPr>
        <p:spPr>
          <a:xfrm>
            <a:off x="548450" y="1828925"/>
            <a:ext cx="5717100" cy="4630200"/>
          </a:xfrm>
          <a:prstGeom prst="rect">
            <a:avLst/>
          </a:prstGeom>
          <a:noFill/>
          <a:ln>
            <a:noFill/>
          </a:ln>
        </p:spPr>
        <p:txBody>
          <a:bodyPr spcFirstLastPara="1" wrap="square" lIns="91425" tIns="45700" rIns="91425" bIns="45700" anchor="t" anchorCtr="0">
            <a:noAutofit/>
          </a:bodyPr>
          <a:lstStyle/>
          <a:p>
            <a:pPr marL="800100" marR="0" lvl="1" indent="-339725" algn="l" rtl="0">
              <a:lnSpc>
                <a:spcPct val="100000"/>
              </a:lnSpc>
              <a:spcBef>
                <a:spcPts val="1000"/>
              </a:spcBef>
              <a:spcAft>
                <a:spcPts val="0"/>
              </a:spcAft>
              <a:buClr>
                <a:schemeClr val="accent2"/>
              </a:buClr>
              <a:buSzPts val="1750"/>
              <a:buFont typeface="Noto Sans Symbols"/>
              <a:buChar char="✔"/>
            </a:pPr>
            <a:r>
              <a:rPr lang="en-US" sz="1750"/>
              <a:t>Media relations</a:t>
            </a:r>
            <a:r>
              <a:rPr lang="en-US" sz="1750"/>
              <a:t> can increase awareness of CrossCap and inform prospects of important events, milestones, and information.</a:t>
            </a:r>
            <a:endParaRPr sz="1750"/>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News releases can be posted online to increase awareness and SEO traffic back to the website</a:t>
            </a:r>
            <a:endParaRPr sz="1750"/>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News releases posted on the website can enhance credibility</a:t>
            </a:r>
            <a:endParaRPr sz="1750"/>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News releases picked up by the media (whether it’s mainstream, local or trade media) and republished has a strong credibility factor.</a:t>
            </a:r>
            <a:endParaRPr sz="2050"/>
          </a:p>
          <a:p>
            <a:pPr marL="0" marR="0" lvl="0" indent="0" algn="l" rtl="0">
              <a:lnSpc>
                <a:spcPct val="100000"/>
              </a:lnSpc>
              <a:spcBef>
                <a:spcPts val="1000"/>
              </a:spcBef>
              <a:spcAft>
                <a:spcPts val="0"/>
              </a:spcAft>
              <a:buNone/>
            </a:pPr>
            <a:endParaRPr sz="2050"/>
          </a:p>
        </p:txBody>
      </p:sp>
      <p:sp>
        <p:nvSpPr>
          <p:cNvPr id="825" name="Google Shape;825;p94"/>
          <p:cNvSpPr txBox="1"/>
          <p:nvPr>
            <p:ph type="body" idx="1"/>
          </p:nvPr>
        </p:nvSpPr>
        <p:spPr>
          <a:xfrm>
            <a:off x="6171675" y="1557325"/>
            <a:ext cx="5717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750"/>
              <a:t>	</a:t>
            </a:r>
            <a:r>
              <a:rPr lang="en-US" sz="1750" b="1"/>
              <a:t>Action Steps:</a:t>
            </a:r>
            <a:endParaRPr sz="1750" b="1"/>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Identify key media (news, trade, associations), including specific contacts &amp; opportunities to submit press releases</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Post &amp; share news releases through online news sites</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Create and share news releases to specific contacts and submission opportunities</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Newsworthy topics include:</a:t>
            </a:r>
            <a:endParaRPr sz="1750"/>
          </a:p>
          <a:p>
            <a:pPr marL="1143000" marR="0" lvl="2" indent="-225425" algn="l" rtl="0">
              <a:lnSpc>
                <a:spcPct val="100000"/>
              </a:lnSpc>
              <a:spcBef>
                <a:spcPts val="1000"/>
              </a:spcBef>
              <a:spcAft>
                <a:spcPts val="0"/>
              </a:spcAft>
              <a:buClr>
                <a:schemeClr val="accent2"/>
              </a:buClr>
              <a:buSzPts val="1750"/>
              <a:buFont typeface="Noto Sans Symbols"/>
              <a:buChar char="•"/>
            </a:pPr>
            <a:r>
              <a:rPr lang="en-US" sz="1750"/>
              <a:t>New technology or use cases</a:t>
            </a:r>
            <a:endParaRPr sz="1750"/>
          </a:p>
          <a:p>
            <a:pPr marL="1143000" marR="0" lvl="2" indent="-225425" algn="l" rtl="0">
              <a:lnSpc>
                <a:spcPct val="100000"/>
              </a:lnSpc>
              <a:spcBef>
                <a:spcPts val="1000"/>
              </a:spcBef>
              <a:spcAft>
                <a:spcPts val="0"/>
              </a:spcAft>
              <a:buClr>
                <a:schemeClr val="accent2"/>
              </a:buClr>
              <a:buSzPts val="1750"/>
              <a:buFont typeface="Noto Sans Symbols"/>
              <a:buChar char="•"/>
            </a:pPr>
            <a:r>
              <a:rPr lang="en-US" sz="1750"/>
              <a:t>New customers </a:t>
            </a:r>
            <a:endParaRPr sz="1750"/>
          </a:p>
          <a:p>
            <a:pPr marL="1143000" marR="0" lvl="2" indent="-225425" algn="l" rtl="0">
              <a:lnSpc>
                <a:spcPct val="100000"/>
              </a:lnSpc>
              <a:spcBef>
                <a:spcPts val="1000"/>
              </a:spcBef>
              <a:spcAft>
                <a:spcPts val="0"/>
              </a:spcAft>
              <a:buClr>
                <a:schemeClr val="accent2"/>
              </a:buClr>
              <a:buSzPts val="1750"/>
              <a:buFont typeface="Noto Sans Symbols"/>
              <a:buChar char="•"/>
            </a:pPr>
            <a:r>
              <a:rPr lang="en-US" sz="1750"/>
              <a:t>Awards</a:t>
            </a:r>
            <a:endParaRPr sz="1750"/>
          </a:p>
          <a:p>
            <a:pPr marL="1143000" marR="0" lvl="2" indent="-225425" algn="l" rtl="0">
              <a:lnSpc>
                <a:spcPct val="100000"/>
              </a:lnSpc>
              <a:spcBef>
                <a:spcPts val="1000"/>
              </a:spcBef>
              <a:spcAft>
                <a:spcPts val="0"/>
              </a:spcAft>
              <a:buClr>
                <a:schemeClr val="accent2"/>
              </a:buClr>
              <a:buSzPts val="1750"/>
              <a:buFont typeface="Noto Sans Symbols"/>
              <a:buChar char="•"/>
            </a:pPr>
            <a:r>
              <a:rPr lang="en-US" sz="1750"/>
              <a:t>Current topics angles</a:t>
            </a:r>
            <a:endParaRPr sz="2050"/>
          </a:p>
          <a:p>
            <a:pPr marL="0" marR="0" lvl="0" indent="0" algn="l" rtl="0">
              <a:lnSpc>
                <a:spcPct val="100000"/>
              </a:lnSpc>
              <a:spcBef>
                <a:spcPts val="1000"/>
              </a:spcBef>
              <a:spcAft>
                <a:spcPts val="0"/>
              </a:spcAft>
              <a:buNone/>
            </a:pPr>
            <a:endParaRPr sz="2050"/>
          </a:p>
        </p:txBody>
      </p:sp>
      <p:cxnSp>
        <p:nvCxnSpPr>
          <p:cNvPr id="826" name="Google Shape;826;p94"/>
          <p:cNvCxnSpPr/>
          <p:nvPr/>
        </p:nvCxnSpPr>
        <p:spPr>
          <a:xfrm>
            <a:off x="6429375" y="1709875"/>
            <a:ext cx="23100" cy="4622100"/>
          </a:xfrm>
          <a:prstGeom prst="straightConnector1">
            <a:avLst/>
          </a:prstGeom>
          <a:noFill/>
          <a:ln w="9525" cap="flat" cmpd="sng">
            <a:solidFill>
              <a:srgbClr val="62C9D7"/>
            </a:solidFill>
            <a:prstDash val="solid"/>
            <a:round/>
            <a:headEnd type="none" w="med" len="med"/>
            <a:tailEnd type="none" w="med" len="med"/>
          </a:ln>
        </p:spPr>
      </p:cxnSp>
      <p:sp>
        <p:nvSpPr>
          <p:cNvPr id="827" name="Google Shape;827;p9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media relations</a:t>
            </a:r>
            <a:endParaRPr sz="1900" b="0" i="1">
              <a:solidFill>
                <a:schemeClr val="accent5"/>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831" name="Shape 831"/>
        <p:cNvGrpSpPr/>
        <p:nvPr/>
      </p:nvGrpSpPr>
      <p:grpSpPr>
        <a:xfrm>
          <a:off x="0" y="0"/>
          <a:ext cx="0" cy="0"/>
          <a:chOff x="0" y="0"/>
          <a:chExt cx="0" cy="0"/>
        </a:xfrm>
      </p:grpSpPr>
      <p:sp>
        <p:nvSpPr>
          <p:cNvPr id="832" name="Google Shape;832;p95"/>
          <p:cNvSpPr txBox="1"/>
          <p:nvPr>
            <p:ph type="title"/>
          </p:nvPr>
        </p:nvSpPr>
        <p:spPr>
          <a:xfrm>
            <a:off x="863600" y="784225"/>
            <a:ext cx="10694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latin typeface="Calibri"/>
                <a:ea typeface="Calibri"/>
                <a:cs typeface="Calibri"/>
                <a:sym typeface="Calibri"/>
              </a:rPr>
              <a:t>Media Relations </a:t>
            </a:r>
            <a:r>
              <a:rPr lang="en-US" sz="3800" b="0" i="1">
                <a:latin typeface="Calibri"/>
                <a:ea typeface="Calibri"/>
                <a:cs typeface="Calibri"/>
                <a:sym typeface="Calibri"/>
              </a:rPr>
              <a:t>Notes</a:t>
            </a:r>
            <a:endParaRPr sz="3800" b="0" i="1">
              <a:latin typeface="Calibri"/>
              <a:ea typeface="Calibri"/>
              <a:cs typeface="Calibri"/>
              <a:sym typeface="Calibri"/>
            </a:endParaRPr>
          </a:p>
        </p:txBody>
      </p:sp>
      <p:sp>
        <p:nvSpPr>
          <p:cNvPr id="833" name="Google Shape;833;p95"/>
          <p:cNvSpPr txBox="1"/>
          <p:nvPr>
            <p:ph type="body" idx="1"/>
          </p:nvPr>
        </p:nvSpPr>
        <p:spPr>
          <a:xfrm>
            <a:off x="863600" y="1611500"/>
            <a:ext cx="69120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endParaRPr sz="100" b="1"/>
          </a:p>
          <a:p>
            <a:pPr marL="400050" marR="0" lvl="1" indent="-209550" algn="l" rtl="0">
              <a:lnSpc>
                <a:spcPct val="120000"/>
              </a:lnSpc>
              <a:spcBef>
                <a:spcPts val="0"/>
              </a:spcBef>
              <a:spcAft>
                <a:spcPts val="0"/>
              </a:spcAft>
              <a:buClr>
                <a:schemeClr val="accent2"/>
              </a:buClr>
              <a:buSzPts val="1500"/>
              <a:buFont typeface="Noto Sans Symbols"/>
              <a:buChar char="✔"/>
            </a:pPr>
            <a:r>
              <a:rPr lang="en-US" sz="1500" b="1"/>
              <a:t>Consider a media relations approach</a:t>
            </a:r>
            <a:r>
              <a:rPr lang="en-US" sz="1500"/>
              <a:t> - news releases mentioning enterprise level customers, directly target key tech &amp; marketing media</a:t>
            </a:r>
            <a:endParaRPr sz="1500"/>
          </a:p>
          <a:p>
            <a:pPr marL="400050" marR="0" lvl="1" indent="-209550" algn="l" rtl="0">
              <a:lnSpc>
                <a:spcPct val="120000"/>
              </a:lnSpc>
              <a:spcBef>
                <a:spcPts val="0"/>
              </a:spcBef>
              <a:spcAft>
                <a:spcPts val="0"/>
              </a:spcAft>
              <a:buClr>
                <a:schemeClr val="accent2"/>
              </a:buClr>
              <a:buSzPts val="1500"/>
              <a:buFont typeface="Noto Sans Symbols"/>
              <a:buChar char="✔"/>
            </a:pPr>
            <a:r>
              <a:rPr lang="en-US" sz="1500"/>
              <a:t>Understand that media coverage will need to be part of a consistent approach to developing relationships with the news media who cover your space.</a:t>
            </a:r>
            <a:endParaRPr sz="1500"/>
          </a:p>
          <a:p>
            <a:pPr marL="400050" marR="0" lvl="1" indent="-209550" algn="l" rtl="0">
              <a:lnSpc>
                <a:spcPct val="120000"/>
              </a:lnSpc>
              <a:spcBef>
                <a:spcPts val="0"/>
              </a:spcBef>
              <a:spcAft>
                <a:spcPts val="0"/>
              </a:spcAft>
              <a:buClr>
                <a:schemeClr val="accent2"/>
              </a:buClr>
              <a:buSzPts val="1500"/>
              <a:buChar char="✔"/>
            </a:pPr>
            <a:r>
              <a:rPr lang="en-US" sz="1500"/>
              <a:t>The purpose of having a News Release section on your website is to gather all the major company announcements in one place, to showcase your company’s accomplishments which don't always lend themselves to a blog post, to formalize the process, to show you are savvy enough to be ready to speak to the press and are doing things newsworthy</a:t>
            </a:r>
            <a:endParaRPr sz="1500"/>
          </a:p>
          <a:p>
            <a:pPr marL="400050" marR="0" lvl="1" indent="-209550" algn="l" rtl="0">
              <a:lnSpc>
                <a:spcPct val="120000"/>
              </a:lnSpc>
              <a:spcBef>
                <a:spcPts val="0"/>
              </a:spcBef>
              <a:spcAft>
                <a:spcPts val="0"/>
              </a:spcAft>
              <a:buClr>
                <a:schemeClr val="accent2"/>
              </a:buClr>
              <a:buSzPts val="1500"/>
              <a:buChar char="✔"/>
            </a:pPr>
            <a:r>
              <a:rPr lang="en-US" sz="1500"/>
              <a:t>You don’t have to publish your news releases to the wire</a:t>
            </a:r>
            <a:endParaRPr sz="1500"/>
          </a:p>
          <a:p>
            <a:pPr marL="400050" marR="0" lvl="1" indent="-209550" algn="l" rtl="0">
              <a:lnSpc>
                <a:spcPct val="120000"/>
              </a:lnSpc>
              <a:spcBef>
                <a:spcPts val="0"/>
              </a:spcBef>
              <a:spcAft>
                <a:spcPts val="0"/>
              </a:spcAft>
              <a:buClr>
                <a:schemeClr val="accent2"/>
              </a:buClr>
              <a:buSzPts val="1500"/>
              <a:buChar char="✔"/>
            </a:pPr>
            <a:r>
              <a:rPr lang="en-US" sz="1500"/>
              <a:t>Research publications/journalists who cover your space, develop a relationship with them, follow on social, feed them interesting insights from your co./industry consistently (monthly) to become a valued and reputable source</a:t>
            </a:r>
            <a:endParaRPr sz="1500"/>
          </a:p>
          <a:p>
            <a:pPr marL="400050" marR="0" lvl="1" indent="-209550" algn="l" rtl="0">
              <a:lnSpc>
                <a:spcPct val="120000"/>
              </a:lnSpc>
              <a:spcBef>
                <a:spcPts val="0"/>
              </a:spcBef>
              <a:spcAft>
                <a:spcPts val="0"/>
              </a:spcAft>
              <a:buClr>
                <a:schemeClr val="accent2"/>
              </a:buClr>
              <a:buSzPts val="1500"/>
              <a:buChar char="✔"/>
            </a:pPr>
            <a:r>
              <a:rPr lang="en-US" sz="1500"/>
              <a:t>Nurture the relationship, understand it is the long game and journalists get pitched every day for “free” promotion </a:t>
            </a:r>
            <a:endParaRPr sz="1500"/>
          </a:p>
          <a:p>
            <a:pPr marL="0" marR="0" lvl="0" indent="0" algn="l" rtl="0">
              <a:lnSpc>
                <a:spcPct val="100000"/>
              </a:lnSpc>
              <a:spcBef>
                <a:spcPts val="1000"/>
              </a:spcBef>
              <a:spcAft>
                <a:spcPts val="0"/>
              </a:spcAft>
              <a:buNone/>
            </a:pPr>
            <a:endParaRPr sz="1500" b="1"/>
          </a:p>
        </p:txBody>
      </p:sp>
      <p:pic>
        <p:nvPicPr>
          <p:cNvPr id="834" name="Google Shape;834;p95"/>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835" name="Google Shape;835;p95"/>
          <p:cNvSpPr txBox="1"/>
          <p:nvPr/>
        </p:nvSpPr>
        <p:spPr>
          <a:xfrm>
            <a:off x="8282300" y="1816950"/>
            <a:ext cx="2983800" cy="37272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Media relations can be done in-house but will require a consistent and dedicated effort to both produce content and to develop the industry relationships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PR Firms are for hire for specific campaigns and will require significant lead time (4-6 months) to ramp up.</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836" name="Google Shape;836;p9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media relations</a:t>
            </a:r>
            <a:endParaRPr sz="1900" b="0" i="1">
              <a:solidFill>
                <a:schemeClr val="accent5"/>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840" name="Shape 840"/>
        <p:cNvGrpSpPr/>
        <p:nvPr/>
      </p:nvGrpSpPr>
      <p:grpSpPr>
        <a:xfrm>
          <a:off x="0" y="0"/>
          <a:ext cx="0" cy="0"/>
          <a:chOff x="0" y="0"/>
          <a:chExt cx="0" cy="0"/>
        </a:xfrm>
      </p:grpSpPr>
      <p:sp>
        <p:nvSpPr>
          <p:cNvPr id="841" name="Google Shape;841;p96"/>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Add Media Section to Website</a:t>
            </a:r>
            <a:endParaRPr sz="3800"/>
          </a:p>
        </p:txBody>
      </p:sp>
      <p:sp>
        <p:nvSpPr>
          <p:cNvPr id="842" name="Google Shape;842;p96"/>
          <p:cNvSpPr txBox="1"/>
          <p:nvPr>
            <p:ph type="body" idx="1"/>
          </p:nvPr>
        </p:nvSpPr>
        <p:spPr>
          <a:xfrm>
            <a:off x="979725" y="1611500"/>
            <a:ext cx="67956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endParaRPr sz="100" b="1"/>
          </a:p>
          <a:p>
            <a:pPr marL="685800" marR="0" lvl="0" indent="0" algn="l" rtl="0">
              <a:lnSpc>
                <a:spcPct val="120000"/>
              </a:lnSpc>
              <a:spcBef>
                <a:spcPts val="0"/>
              </a:spcBef>
              <a:spcAft>
                <a:spcPts val="0"/>
              </a:spcAft>
              <a:buNone/>
            </a:pPr>
            <a:endParaRPr sz="1750"/>
          </a:p>
          <a:p>
            <a:pPr marL="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pic>
        <p:nvPicPr>
          <p:cNvPr id="843" name="Google Shape;843;p96"/>
          <p:cNvPicPr preferRelativeResize="0"/>
          <p:nvPr/>
        </p:nvPicPr>
        <p:blipFill>
          <a:blip r:embed="rId1"/>
          <a:stretch>
            <a:fillRect/>
          </a:stretch>
        </p:blipFill>
        <p:spPr>
          <a:xfrm>
            <a:off x="399750" y="2109926"/>
            <a:ext cx="11008077" cy="3397000"/>
          </a:xfrm>
          <a:prstGeom prst="rect">
            <a:avLst/>
          </a:prstGeom>
          <a:noFill/>
          <a:ln>
            <a:noFill/>
          </a:ln>
        </p:spPr>
      </p:pic>
      <p:sp>
        <p:nvSpPr>
          <p:cNvPr id="844" name="Google Shape;844;p9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848" name="Shape 848"/>
        <p:cNvGrpSpPr/>
        <p:nvPr/>
      </p:nvGrpSpPr>
      <p:grpSpPr>
        <a:xfrm>
          <a:off x="0" y="0"/>
          <a:ext cx="0" cy="0"/>
          <a:chOff x="0" y="0"/>
          <a:chExt cx="0" cy="0"/>
        </a:xfrm>
      </p:grpSpPr>
      <p:sp>
        <p:nvSpPr>
          <p:cNvPr id="849" name="Google Shape;849;p97"/>
          <p:cNvSpPr txBox="1"/>
          <p:nvPr>
            <p:ph type="title"/>
          </p:nvPr>
        </p:nvSpPr>
        <p:spPr>
          <a:xfrm>
            <a:off x="863600" y="784225"/>
            <a:ext cx="10694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Media Relations </a:t>
            </a:r>
            <a:r>
              <a:rPr lang="en-US" sz="3800" b="0" i="1">
                <a:solidFill>
                  <a:schemeClr val="accent5"/>
                </a:solidFill>
                <a:latin typeface="Calibri"/>
                <a:ea typeface="Calibri"/>
                <a:cs typeface="Calibri"/>
                <a:sym typeface="Calibri"/>
              </a:rPr>
              <a:t>Examples</a:t>
            </a:r>
            <a:endParaRPr sz="3800" b="0" i="1">
              <a:solidFill>
                <a:schemeClr val="accent5"/>
              </a:solidFill>
              <a:latin typeface="Calibri"/>
              <a:ea typeface="Calibri"/>
              <a:cs typeface="Calibri"/>
              <a:sym typeface="Calibri"/>
            </a:endParaRPr>
          </a:p>
        </p:txBody>
      </p:sp>
      <p:sp>
        <p:nvSpPr>
          <p:cNvPr id="850" name="Google Shape;850;p9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media relations</a:t>
            </a:r>
            <a:endParaRPr sz="1900" b="0" i="1">
              <a:solidFill>
                <a:schemeClr val="accent5"/>
              </a:solidFill>
              <a:latin typeface="Calibri"/>
              <a:ea typeface="Calibri"/>
              <a:cs typeface="Calibri"/>
              <a:sym typeface="Calibri"/>
            </a:endParaRPr>
          </a:p>
        </p:txBody>
      </p:sp>
      <p:pic>
        <p:nvPicPr>
          <p:cNvPr id="851" name="Google Shape;851;p97"/>
          <p:cNvPicPr preferRelativeResize="0"/>
          <p:nvPr/>
        </p:nvPicPr>
        <p:blipFill>
          <a:blip r:embed="rId1"/>
          <a:stretch>
            <a:fillRect/>
          </a:stretch>
        </p:blipFill>
        <p:spPr>
          <a:xfrm>
            <a:off x="854625" y="1768575"/>
            <a:ext cx="3341924" cy="1568871"/>
          </a:xfrm>
          <a:prstGeom prst="rect">
            <a:avLst/>
          </a:prstGeom>
          <a:noFill/>
          <a:ln>
            <a:noFill/>
          </a:ln>
        </p:spPr>
      </p:pic>
      <p:pic>
        <p:nvPicPr>
          <p:cNvPr id="852" name="Google Shape;852;p97"/>
          <p:cNvPicPr preferRelativeResize="0"/>
          <p:nvPr/>
        </p:nvPicPr>
        <p:blipFill>
          <a:blip r:embed="rId2"/>
          <a:stretch>
            <a:fillRect/>
          </a:stretch>
        </p:blipFill>
        <p:spPr>
          <a:xfrm>
            <a:off x="7485725" y="1505687"/>
            <a:ext cx="3911773" cy="2025975"/>
          </a:xfrm>
          <a:prstGeom prst="rect">
            <a:avLst/>
          </a:prstGeom>
          <a:noFill/>
          <a:ln>
            <a:noFill/>
          </a:ln>
        </p:spPr>
      </p:pic>
      <p:pic>
        <p:nvPicPr>
          <p:cNvPr id="853" name="Google Shape;853;p97"/>
          <p:cNvPicPr preferRelativeResize="0"/>
          <p:nvPr/>
        </p:nvPicPr>
        <p:blipFill>
          <a:blip r:embed="rId3"/>
          <a:stretch>
            <a:fillRect/>
          </a:stretch>
        </p:blipFill>
        <p:spPr>
          <a:xfrm>
            <a:off x="1070450" y="4127625"/>
            <a:ext cx="3341913" cy="1958425"/>
          </a:xfrm>
          <a:prstGeom prst="rect">
            <a:avLst/>
          </a:prstGeom>
          <a:noFill/>
          <a:ln>
            <a:noFill/>
          </a:ln>
        </p:spPr>
      </p:pic>
      <p:pic>
        <p:nvPicPr>
          <p:cNvPr id="854" name="Google Shape;854;p97"/>
          <p:cNvPicPr preferRelativeResize="0"/>
          <p:nvPr/>
        </p:nvPicPr>
        <p:blipFill>
          <a:blip r:embed="rId4"/>
          <a:stretch>
            <a:fillRect/>
          </a:stretch>
        </p:blipFill>
        <p:spPr>
          <a:xfrm>
            <a:off x="7877600" y="4364425"/>
            <a:ext cx="3814549" cy="1857100"/>
          </a:xfrm>
          <a:prstGeom prst="rect">
            <a:avLst/>
          </a:prstGeom>
          <a:noFill/>
          <a:ln>
            <a:noFill/>
          </a:ln>
        </p:spPr>
      </p:pic>
      <p:sp>
        <p:nvSpPr>
          <p:cNvPr id="855" name="Google Shape;855;p97"/>
          <p:cNvSpPr txBox="1"/>
          <p:nvPr/>
        </p:nvSpPr>
        <p:spPr>
          <a:xfrm>
            <a:off x="4196550" y="1851650"/>
            <a:ext cx="10059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1"/>
                </a:solidFill>
                <a:latin typeface="Calibri"/>
                <a:ea typeface="Calibri"/>
                <a:cs typeface="Calibri"/>
                <a:sym typeface="Calibri"/>
              </a:rPr>
              <a:t>Announce New Customers</a:t>
            </a:r>
            <a:endParaRPr sz="1200">
              <a:solidFill>
                <a:schemeClr val="accent1"/>
              </a:solidFill>
              <a:latin typeface="Calibri"/>
              <a:ea typeface="Calibri"/>
              <a:cs typeface="Calibri"/>
              <a:sym typeface="Calibri"/>
            </a:endParaRPr>
          </a:p>
        </p:txBody>
      </p:sp>
      <p:sp>
        <p:nvSpPr>
          <p:cNvPr id="856" name="Google Shape;856;p97"/>
          <p:cNvSpPr txBox="1"/>
          <p:nvPr/>
        </p:nvSpPr>
        <p:spPr>
          <a:xfrm>
            <a:off x="6421075" y="1622575"/>
            <a:ext cx="1005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1"/>
                </a:solidFill>
                <a:latin typeface="Calibri"/>
                <a:ea typeface="Calibri"/>
                <a:cs typeface="Calibri"/>
                <a:sym typeface="Calibri"/>
              </a:rPr>
              <a:t>Announce Events</a:t>
            </a:r>
            <a:endParaRPr sz="1200">
              <a:solidFill>
                <a:schemeClr val="accent1"/>
              </a:solidFill>
              <a:latin typeface="Calibri"/>
              <a:ea typeface="Calibri"/>
              <a:cs typeface="Calibri"/>
              <a:sym typeface="Calibri"/>
            </a:endParaRPr>
          </a:p>
        </p:txBody>
      </p:sp>
      <p:sp>
        <p:nvSpPr>
          <p:cNvPr id="857" name="Google Shape;857;p97"/>
          <p:cNvSpPr txBox="1"/>
          <p:nvPr/>
        </p:nvSpPr>
        <p:spPr>
          <a:xfrm>
            <a:off x="1212000" y="3531675"/>
            <a:ext cx="1005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1"/>
                </a:solidFill>
                <a:latin typeface="Calibri"/>
                <a:ea typeface="Calibri"/>
                <a:cs typeface="Calibri"/>
                <a:sym typeface="Calibri"/>
              </a:rPr>
              <a:t>Product launch </a:t>
            </a:r>
            <a:endParaRPr sz="1200">
              <a:solidFill>
                <a:schemeClr val="accent1"/>
              </a:solidFill>
              <a:latin typeface="Calibri"/>
              <a:ea typeface="Calibri"/>
              <a:cs typeface="Calibri"/>
              <a:sym typeface="Calibri"/>
            </a:endParaRPr>
          </a:p>
        </p:txBody>
      </p:sp>
      <p:sp>
        <p:nvSpPr>
          <p:cNvPr id="858" name="Google Shape;858;p97"/>
          <p:cNvSpPr txBox="1"/>
          <p:nvPr/>
        </p:nvSpPr>
        <p:spPr>
          <a:xfrm>
            <a:off x="10104800" y="3839550"/>
            <a:ext cx="1452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1"/>
                </a:solidFill>
                <a:latin typeface="Calibri"/>
                <a:ea typeface="Calibri"/>
                <a:cs typeface="Calibri"/>
                <a:sym typeface="Calibri"/>
              </a:rPr>
              <a:t>New Module or Feature Launch</a:t>
            </a:r>
            <a:r>
              <a:rPr lang="en-US" sz="1200">
                <a:solidFill>
                  <a:schemeClr val="accent1"/>
                </a:solidFill>
                <a:latin typeface="Calibri"/>
                <a:ea typeface="Calibri"/>
                <a:cs typeface="Calibri"/>
                <a:sym typeface="Calibri"/>
              </a:rPr>
              <a:t> </a:t>
            </a:r>
            <a:endParaRPr sz="1200">
              <a:solidFill>
                <a:schemeClr val="accent1"/>
              </a:solidFill>
              <a:latin typeface="Calibri"/>
              <a:ea typeface="Calibri"/>
              <a:cs typeface="Calibri"/>
              <a:sym typeface="Calibri"/>
            </a:endParaRPr>
          </a:p>
        </p:txBody>
      </p:sp>
      <p:pic>
        <p:nvPicPr>
          <p:cNvPr id="859" name="Google Shape;859;p97"/>
          <p:cNvPicPr preferRelativeResize="0"/>
          <p:nvPr/>
        </p:nvPicPr>
        <p:blipFill>
          <a:blip r:embed="rId5"/>
          <a:stretch>
            <a:fillRect/>
          </a:stretch>
        </p:blipFill>
        <p:spPr>
          <a:xfrm>
            <a:off x="4799574" y="3769849"/>
            <a:ext cx="2822175" cy="1684725"/>
          </a:xfrm>
          <a:prstGeom prst="rect">
            <a:avLst/>
          </a:prstGeom>
          <a:noFill/>
          <a:ln>
            <a:noFill/>
          </a:ln>
        </p:spPr>
      </p:pic>
      <p:sp>
        <p:nvSpPr>
          <p:cNvPr id="860" name="Google Shape;860;p97"/>
          <p:cNvSpPr txBox="1"/>
          <p:nvPr/>
        </p:nvSpPr>
        <p:spPr>
          <a:xfrm>
            <a:off x="5369550" y="3337450"/>
            <a:ext cx="1452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200">
                <a:solidFill>
                  <a:schemeClr val="accent1"/>
                </a:solidFill>
                <a:latin typeface="Calibri"/>
                <a:ea typeface="Calibri"/>
                <a:cs typeface="Calibri"/>
                <a:sym typeface="Calibri"/>
              </a:rPr>
              <a:t>Key Employee Hires</a:t>
            </a:r>
            <a:r>
              <a:rPr lang="en-US" sz="1200">
                <a:solidFill>
                  <a:schemeClr val="accent1"/>
                </a:solidFill>
                <a:latin typeface="Calibri"/>
                <a:ea typeface="Calibri"/>
                <a:cs typeface="Calibri"/>
                <a:sym typeface="Calibri"/>
              </a:rPr>
              <a:t> </a:t>
            </a:r>
            <a:endParaRPr sz="1200">
              <a:solidFill>
                <a:schemeClr val="accent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864" name="Shape 864"/>
        <p:cNvGrpSpPr/>
        <p:nvPr/>
      </p:nvGrpSpPr>
      <p:grpSpPr>
        <a:xfrm>
          <a:off x="0" y="0"/>
          <a:ext cx="0" cy="0"/>
          <a:chOff x="0" y="0"/>
          <a:chExt cx="0" cy="0"/>
        </a:xfrm>
      </p:grpSpPr>
      <p:sp>
        <p:nvSpPr>
          <p:cNvPr id="865" name="Google Shape;865;p98"/>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marketing awareness</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2: Analyst Relations</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866" name="Google Shape;866;p9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a:t>
            </a:r>
            <a:endParaRPr sz="1900" b="0" i="1">
              <a:solidFill>
                <a:schemeClr val="accent5"/>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870" name="Shape 870"/>
        <p:cNvGrpSpPr/>
        <p:nvPr/>
      </p:nvGrpSpPr>
      <p:grpSpPr>
        <a:xfrm>
          <a:off x="0" y="0"/>
          <a:ext cx="0" cy="0"/>
          <a:chOff x="0" y="0"/>
          <a:chExt cx="0" cy="0"/>
        </a:xfrm>
      </p:grpSpPr>
      <p:sp>
        <p:nvSpPr>
          <p:cNvPr id="871" name="Google Shape;871;p99"/>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Action Step 3: </a:t>
            </a:r>
            <a:r>
              <a:rPr lang="en-US" sz="3800"/>
              <a:t>Analyst Relations</a:t>
            </a:r>
            <a:endParaRPr sz="3800"/>
          </a:p>
        </p:txBody>
      </p:sp>
      <p:sp>
        <p:nvSpPr>
          <p:cNvPr id="872" name="Google Shape;872;p99"/>
          <p:cNvSpPr txBox="1"/>
          <p:nvPr>
            <p:ph type="body" idx="1"/>
          </p:nvPr>
        </p:nvSpPr>
        <p:spPr>
          <a:xfrm>
            <a:off x="782325" y="1611500"/>
            <a:ext cx="6993000" cy="4768200"/>
          </a:xfrm>
          <a:prstGeom prst="rect">
            <a:avLst/>
          </a:prstGeom>
          <a:noFill/>
          <a:ln>
            <a:noFill/>
          </a:ln>
        </p:spPr>
        <p:txBody>
          <a:bodyPr spcFirstLastPara="1" wrap="square" lIns="91425" tIns="45700" rIns="91425" bIns="45700" anchor="t" anchorCtr="0">
            <a:noAutofit/>
          </a:bodyPr>
          <a:lstStyle/>
          <a:p>
            <a:pPr marL="400050" marR="0" lvl="1" indent="-209550" algn="l" rtl="0">
              <a:lnSpc>
                <a:spcPct val="120000"/>
              </a:lnSpc>
              <a:spcBef>
                <a:spcPts val="0"/>
              </a:spcBef>
              <a:spcAft>
                <a:spcPts val="0"/>
              </a:spcAft>
              <a:buClr>
                <a:schemeClr val="accent2"/>
              </a:buClr>
              <a:buSzPts val="1500"/>
              <a:buChar char="✔"/>
            </a:pPr>
            <a:r>
              <a:rPr lang="en-US" sz="1500"/>
              <a:t>Kicking off an AR program needn't be difficult or expensive: </a:t>
            </a:r>
            <a:endParaRPr sz="1500"/>
          </a:p>
          <a:p>
            <a:pPr marL="1143000" marR="0" lvl="2" indent="-209550" algn="l" rtl="0">
              <a:lnSpc>
                <a:spcPct val="120000"/>
              </a:lnSpc>
              <a:spcBef>
                <a:spcPts val="0"/>
              </a:spcBef>
              <a:spcAft>
                <a:spcPts val="0"/>
              </a:spcAft>
              <a:buSzPts val="1500"/>
              <a:buAutoNum type="romanLcPeriod"/>
            </a:pPr>
            <a:r>
              <a:rPr lang="en-US" sz="1500"/>
              <a:t>Basics include identifying key firms, their areas of coverage, and specific analysts that cover your market. Most firms make this information readily available, and it is simple to add these researchers to your media lists and establish contact with the appropriate firms. </a:t>
            </a:r>
            <a:br>
              <a:rPr lang="en-US" sz="1500"/>
            </a:br>
            <a:endParaRPr sz="1500"/>
          </a:p>
          <a:p>
            <a:pPr marL="1143000" marR="0" lvl="2" indent="-209550" algn="l" rtl="0">
              <a:lnSpc>
                <a:spcPct val="120000"/>
              </a:lnSpc>
              <a:spcBef>
                <a:spcPts val="0"/>
              </a:spcBef>
              <a:spcAft>
                <a:spcPts val="0"/>
              </a:spcAft>
              <a:buSzPts val="1500"/>
              <a:buAutoNum type="romanLcPeriod"/>
            </a:pPr>
            <a:r>
              <a:rPr lang="en-US" sz="1500"/>
              <a:t>By working within the framework of your company's PR program, begin communicating with target analysts so that they're up to date on the latest product and service developments and so that you're considered for "industry roundup" research publications, even if you're not a paying client of the analyst firm in question.</a:t>
            </a:r>
            <a:br>
              <a:rPr lang="en-US" sz="1500"/>
            </a:br>
            <a:endParaRPr sz="1500"/>
          </a:p>
          <a:p>
            <a:pPr marL="1143000" marR="0" lvl="2" indent="-209550" algn="l" rtl="0">
              <a:lnSpc>
                <a:spcPct val="120000"/>
              </a:lnSpc>
              <a:spcBef>
                <a:spcPts val="0"/>
              </a:spcBef>
              <a:spcAft>
                <a:spcPts val="0"/>
              </a:spcAft>
              <a:buSzPts val="1500"/>
              <a:buAutoNum type="romanLcPeriod"/>
            </a:pPr>
            <a:r>
              <a:rPr lang="en-US" sz="1500"/>
              <a:t>This will contribute to "market construction" and will ultimately help your company establish a spot in the consideration set of potential customers. </a:t>
            </a:r>
            <a:endParaRPr sz="1500"/>
          </a:p>
        </p:txBody>
      </p:sp>
      <p:pic>
        <p:nvPicPr>
          <p:cNvPr id="873" name="Google Shape;873;p99"/>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874" name="Google Shape;874;p99"/>
          <p:cNvSpPr txBox="1"/>
          <p:nvPr/>
        </p:nvSpPr>
        <p:spPr>
          <a:xfrm>
            <a:off x="8282300" y="1816950"/>
            <a:ext cx="2983800" cy="3867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Start </a:t>
            </a:r>
            <a:r>
              <a:rPr lang="en-US" sz="1600" b="1">
                <a:solidFill>
                  <a:srgbClr val="434343"/>
                </a:solidFill>
                <a:latin typeface="Calibri"/>
                <a:ea typeface="Calibri"/>
                <a:cs typeface="Calibri"/>
                <a:sym typeface="Calibri"/>
              </a:rPr>
              <a:t>i</a:t>
            </a:r>
            <a:r>
              <a:rPr lang="en-US" sz="1600">
                <a:solidFill>
                  <a:srgbClr val="434343"/>
                </a:solidFill>
                <a:latin typeface="Calibri"/>
                <a:ea typeface="Calibri"/>
                <a:cs typeface="Calibri"/>
                <a:sym typeface="Calibri"/>
              </a:rPr>
              <a:t> right away</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Move to </a:t>
            </a:r>
            <a:r>
              <a:rPr lang="en-US" sz="1600" b="1">
                <a:solidFill>
                  <a:srgbClr val="434343"/>
                </a:solidFill>
                <a:latin typeface="Calibri"/>
                <a:ea typeface="Calibri"/>
                <a:cs typeface="Calibri"/>
                <a:sym typeface="Calibri"/>
              </a:rPr>
              <a:t>ii</a:t>
            </a:r>
            <a:r>
              <a:rPr lang="en-US" sz="1600">
                <a:solidFill>
                  <a:srgbClr val="434343"/>
                </a:solidFill>
                <a:latin typeface="Calibri"/>
                <a:ea typeface="Calibri"/>
                <a:cs typeface="Calibri"/>
                <a:sym typeface="Calibri"/>
              </a:rPr>
              <a:t> and </a:t>
            </a:r>
            <a:r>
              <a:rPr lang="en-US" sz="1600" b="1">
                <a:solidFill>
                  <a:srgbClr val="434343"/>
                </a:solidFill>
                <a:latin typeface="Calibri"/>
                <a:ea typeface="Calibri"/>
                <a:cs typeface="Calibri"/>
                <a:sym typeface="Calibri"/>
              </a:rPr>
              <a:t>iii </a:t>
            </a:r>
            <a:r>
              <a:rPr lang="en-US" sz="1600">
                <a:solidFill>
                  <a:srgbClr val="434343"/>
                </a:solidFill>
                <a:latin typeface="Calibri"/>
                <a:ea typeface="Calibri"/>
                <a:cs typeface="Calibri"/>
                <a:sym typeface="Calibri"/>
              </a:rPr>
              <a:t>only after your company’s marketing content is being published consistently and is on message</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After </a:t>
            </a:r>
            <a:r>
              <a:rPr lang="en-US" sz="1600" b="1">
                <a:solidFill>
                  <a:srgbClr val="434343"/>
                </a:solidFill>
                <a:latin typeface="Calibri"/>
                <a:ea typeface="Calibri"/>
                <a:cs typeface="Calibri"/>
                <a:sym typeface="Calibri"/>
              </a:rPr>
              <a:t>iii</a:t>
            </a:r>
            <a:r>
              <a:rPr lang="en-US" sz="1600">
                <a:solidFill>
                  <a:srgbClr val="434343"/>
                </a:solidFill>
                <a:latin typeface="Calibri"/>
                <a:ea typeface="Calibri"/>
                <a:cs typeface="Calibri"/>
                <a:sym typeface="Calibri"/>
              </a:rPr>
              <a:t>, consider elevating your Analyst Relations activities to a paid subscription with one of the analyst firms and pursue the Gartner Magic Quadrant/Forrester Wave applicable to your industry</a:t>
            </a: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875" name="Google Shape;875;p9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analyst relations</a:t>
            </a:r>
            <a:endParaRPr sz="1900" b="0" i="1">
              <a:solidFill>
                <a:schemeClr val="accent5"/>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879" name="Shape 879"/>
        <p:cNvGrpSpPr/>
        <p:nvPr/>
      </p:nvGrpSpPr>
      <p:grpSpPr>
        <a:xfrm>
          <a:off x="0" y="0"/>
          <a:ext cx="0" cy="0"/>
          <a:chOff x="0" y="0"/>
          <a:chExt cx="0" cy="0"/>
        </a:xfrm>
      </p:grpSpPr>
      <p:sp>
        <p:nvSpPr>
          <p:cNvPr id="880" name="Google Shape;880;p100"/>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marketing awareness</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3: Influencer Relations</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881" name="Google Shape;881;p10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a:t>
            </a:r>
            <a:endParaRPr sz="1900" b="0" i="1">
              <a:solidFill>
                <a:schemeClr val="accent5"/>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885" name="Shape 885"/>
        <p:cNvGrpSpPr/>
        <p:nvPr/>
      </p:nvGrpSpPr>
      <p:grpSpPr>
        <a:xfrm>
          <a:off x="0" y="0"/>
          <a:ext cx="0" cy="0"/>
          <a:chOff x="0" y="0"/>
          <a:chExt cx="0" cy="0"/>
        </a:xfrm>
      </p:grpSpPr>
      <p:sp>
        <p:nvSpPr>
          <p:cNvPr id="886" name="Google Shape;886;p101"/>
          <p:cNvSpPr txBox="1"/>
          <p:nvPr>
            <p:ph type="title"/>
          </p:nvPr>
        </p:nvSpPr>
        <p:spPr>
          <a:xfrm>
            <a:off x="960775" y="784225"/>
            <a:ext cx="105969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Influencer Relations </a:t>
            </a:r>
            <a:r>
              <a:rPr lang="en-US" sz="3800" b="0" i="1">
                <a:latin typeface="Calibri"/>
                <a:ea typeface="Calibri"/>
                <a:cs typeface="Calibri"/>
                <a:sym typeface="Calibri"/>
              </a:rPr>
              <a:t>Overview &amp; Action Steps</a:t>
            </a:r>
            <a:endParaRPr sz="3800" b="0" i="1">
              <a:latin typeface="Calibri"/>
              <a:ea typeface="Calibri"/>
              <a:cs typeface="Calibri"/>
              <a:sym typeface="Calibri"/>
            </a:endParaRPr>
          </a:p>
        </p:txBody>
      </p:sp>
      <p:sp>
        <p:nvSpPr>
          <p:cNvPr id="887" name="Google Shape;887;p101"/>
          <p:cNvSpPr txBox="1"/>
          <p:nvPr>
            <p:ph type="body" idx="1"/>
          </p:nvPr>
        </p:nvSpPr>
        <p:spPr>
          <a:xfrm>
            <a:off x="548450" y="1727325"/>
            <a:ext cx="5717100" cy="4630200"/>
          </a:xfrm>
          <a:prstGeom prst="rect">
            <a:avLst/>
          </a:prstGeom>
          <a:noFill/>
          <a:ln>
            <a:noFill/>
          </a:ln>
        </p:spPr>
        <p:txBody>
          <a:bodyPr spcFirstLastPara="1" wrap="square" lIns="91425" tIns="45700" rIns="91425" bIns="45700" anchor="t" anchorCtr="0">
            <a:noAutofit/>
          </a:bodyPr>
          <a:lstStyle/>
          <a:p>
            <a:pPr marL="800100" marR="0" lvl="1" indent="-339725" algn="l" rtl="0">
              <a:lnSpc>
                <a:spcPct val="100000"/>
              </a:lnSpc>
              <a:spcBef>
                <a:spcPts val="1000"/>
              </a:spcBef>
              <a:spcAft>
                <a:spcPts val="0"/>
              </a:spcAft>
              <a:buClr>
                <a:schemeClr val="accent2"/>
              </a:buClr>
              <a:buSzPts val="1750"/>
              <a:buFont typeface="Noto Sans Symbols"/>
              <a:buChar char="✔"/>
            </a:pPr>
            <a:r>
              <a:rPr lang="en-US" sz="1750"/>
              <a:t>Influencers can be anyone online or in social media considered an authority or thought leader in a particular topic area</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Influencers may share their best picks, product reviews, product comparisons, product analyses, or specific product uses online in a number of ways</a:t>
            </a:r>
            <a:endParaRPr sz="1750"/>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Some influencers charge money for your product to be included</a:t>
            </a:r>
            <a:endParaRPr sz="1750"/>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More and more, B2B buyers rely on influencers to evaluate technology decisions or identify options</a:t>
            </a:r>
            <a:endParaRPr sz="1750"/>
          </a:p>
          <a:p>
            <a:pPr marL="685800" marR="0" lvl="0" indent="0" algn="l" rtl="0">
              <a:lnSpc>
                <a:spcPct val="100000"/>
              </a:lnSpc>
              <a:spcBef>
                <a:spcPts val="1000"/>
              </a:spcBef>
              <a:spcAft>
                <a:spcPts val="0"/>
              </a:spcAft>
              <a:buNone/>
            </a:pPr>
            <a:endParaRPr sz="1750"/>
          </a:p>
          <a:p>
            <a:pPr marL="685800" marR="0" lvl="0" indent="0" algn="l" rtl="0">
              <a:lnSpc>
                <a:spcPct val="100000"/>
              </a:lnSpc>
              <a:spcBef>
                <a:spcPts val="1000"/>
              </a:spcBef>
              <a:spcAft>
                <a:spcPts val="0"/>
              </a:spcAft>
              <a:buNone/>
            </a:pPr>
            <a:endParaRPr sz="2050"/>
          </a:p>
          <a:p>
            <a:pPr marL="0" marR="0" lvl="0" indent="0" algn="l" rtl="0">
              <a:lnSpc>
                <a:spcPct val="100000"/>
              </a:lnSpc>
              <a:spcBef>
                <a:spcPts val="1000"/>
              </a:spcBef>
              <a:spcAft>
                <a:spcPts val="0"/>
              </a:spcAft>
              <a:buNone/>
            </a:pPr>
            <a:endParaRPr sz="2050"/>
          </a:p>
        </p:txBody>
      </p:sp>
      <p:sp>
        <p:nvSpPr>
          <p:cNvPr id="888" name="Google Shape;888;p101"/>
          <p:cNvSpPr txBox="1"/>
          <p:nvPr>
            <p:ph type="body" idx="1"/>
          </p:nvPr>
        </p:nvSpPr>
        <p:spPr>
          <a:xfrm>
            <a:off x="6182100" y="1651125"/>
            <a:ext cx="5717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750"/>
              <a:t>	</a:t>
            </a:r>
            <a:r>
              <a:rPr lang="en-US" sz="1750" b="1"/>
              <a:t>Action Steps:</a:t>
            </a:r>
            <a:endParaRPr sz="1750" b="1"/>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Identify key influencers for CrossCap’s products</a:t>
            </a:r>
            <a:endParaRPr sz="1750"/>
          </a:p>
          <a:p>
            <a:pPr marL="1143000" marR="0" lvl="2" indent="-225425" algn="l" rtl="0">
              <a:lnSpc>
                <a:spcPct val="100000"/>
              </a:lnSpc>
              <a:spcBef>
                <a:spcPts val="1000"/>
              </a:spcBef>
              <a:spcAft>
                <a:spcPts val="0"/>
              </a:spcAft>
              <a:buSzPts val="1750"/>
              <a:buChar char="•"/>
            </a:pPr>
            <a:r>
              <a:rPr lang="en-US" sz="1750"/>
              <a:t>Influencers who have </a:t>
            </a:r>
            <a:r>
              <a:rPr lang="en-US" sz="1750"/>
              <a:t>already included CrossCap’s products (note any errors)</a:t>
            </a:r>
            <a:endParaRPr sz="1750"/>
          </a:p>
          <a:p>
            <a:pPr marL="1143000" marR="0" lvl="2" indent="-225425" algn="l" rtl="0">
              <a:lnSpc>
                <a:spcPct val="100000"/>
              </a:lnSpc>
              <a:spcBef>
                <a:spcPts val="1000"/>
              </a:spcBef>
              <a:spcAft>
                <a:spcPts val="0"/>
              </a:spcAft>
              <a:buSzPts val="1750"/>
              <a:buChar char="•"/>
            </a:pPr>
            <a:r>
              <a:rPr lang="en-US" sz="1750"/>
              <a:t>Influencers who have covered CrossCap competitors or the general product category</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Create a campaign to contact influencers:</a:t>
            </a:r>
            <a:endParaRPr sz="1750"/>
          </a:p>
          <a:p>
            <a:pPr marL="1143000" lvl="2" indent="-225425" algn="l" rtl="0">
              <a:lnSpc>
                <a:spcPct val="100000"/>
              </a:lnSpc>
              <a:spcBef>
                <a:spcPts val="1000"/>
              </a:spcBef>
              <a:spcAft>
                <a:spcPts val="0"/>
              </a:spcAft>
              <a:buClr>
                <a:schemeClr val="accent2"/>
              </a:buClr>
              <a:buSzPts val="1750"/>
              <a:buFont typeface="Noto Sans Symbols"/>
              <a:buChar char="•"/>
            </a:pPr>
            <a:r>
              <a:rPr lang="en-US" sz="1750"/>
              <a:t>Send product information (B2B marketing kit)</a:t>
            </a:r>
            <a:endParaRPr sz="1750"/>
          </a:p>
          <a:p>
            <a:pPr marL="1143000" marR="0" lvl="2" indent="-225425" algn="l" rtl="0">
              <a:lnSpc>
                <a:spcPct val="100000"/>
              </a:lnSpc>
              <a:spcBef>
                <a:spcPts val="1000"/>
              </a:spcBef>
              <a:spcAft>
                <a:spcPts val="0"/>
              </a:spcAft>
              <a:buClr>
                <a:schemeClr val="accent2"/>
              </a:buClr>
              <a:buSzPts val="1750"/>
              <a:buFont typeface="Noto Sans Symbols"/>
              <a:buChar char="•"/>
            </a:pPr>
            <a:r>
              <a:rPr lang="en-US" sz="1750"/>
              <a:t>Offer to provide a product demo &amp; interview</a:t>
            </a:r>
            <a:endParaRPr sz="1750"/>
          </a:p>
          <a:p>
            <a:pPr marL="685800" marR="0" lvl="0" indent="0" algn="l" rtl="0">
              <a:lnSpc>
                <a:spcPct val="100000"/>
              </a:lnSpc>
              <a:spcBef>
                <a:spcPts val="1000"/>
              </a:spcBef>
              <a:spcAft>
                <a:spcPts val="0"/>
              </a:spcAft>
              <a:buNone/>
            </a:pPr>
            <a:endParaRPr sz="2050"/>
          </a:p>
          <a:p>
            <a:pPr marL="0" marR="0" lvl="0" indent="0" algn="l" rtl="0">
              <a:lnSpc>
                <a:spcPct val="100000"/>
              </a:lnSpc>
              <a:spcBef>
                <a:spcPts val="1000"/>
              </a:spcBef>
              <a:spcAft>
                <a:spcPts val="0"/>
              </a:spcAft>
              <a:buNone/>
            </a:pPr>
            <a:endParaRPr sz="2050"/>
          </a:p>
        </p:txBody>
      </p:sp>
      <p:cxnSp>
        <p:nvCxnSpPr>
          <p:cNvPr id="889" name="Google Shape;889;p101"/>
          <p:cNvCxnSpPr/>
          <p:nvPr/>
        </p:nvCxnSpPr>
        <p:spPr>
          <a:xfrm>
            <a:off x="6429375" y="1709875"/>
            <a:ext cx="23100" cy="4622100"/>
          </a:xfrm>
          <a:prstGeom prst="straightConnector1">
            <a:avLst/>
          </a:prstGeom>
          <a:noFill/>
          <a:ln w="9525" cap="flat" cmpd="sng">
            <a:solidFill>
              <a:srgbClr val="62C9D7"/>
            </a:solidFill>
            <a:prstDash val="solid"/>
            <a:round/>
            <a:headEnd type="none" w="med" len="med"/>
            <a:tailEnd type="none" w="med" len="med"/>
          </a:ln>
        </p:spPr>
      </p:cxnSp>
      <p:sp>
        <p:nvSpPr>
          <p:cNvPr id="890" name="Google Shape;890;p10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influencer relations</a:t>
            </a:r>
            <a:endParaRPr sz="1900" b="0" i="1">
              <a:solidFill>
                <a:schemeClr val="accent5"/>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894" name="Shape 894"/>
        <p:cNvGrpSpPr/>
        <p:nvPr/>
      </p:nvGrpSpPr>
      <p:grpSpPr>
        <a:xfrm>
          <a:off x="0" y="0"/>
          <a:ext cx="0" cy="0"/>
          <a:chOff x="0" y="0"/>
          <a:chExt cx="0" cy="0"/>
        </a:xfrm>
      </p:grpSpPr>
      <p:sp>
        <p:nvSpPr>
          <p:cNvPr id="895" name="Google Shape;895;p102"/>
          <p:cNvSpPr txBox="1"/>
          <p:nvPr>
            <p:ph type="title"/>
          </p:nvPr>
        </p:nvSpPr>
        <p:spPr>
          <a:xfrm>
            <a:off x="960775" y="784225"/>
            <a:ext cx="105969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Influencer Relations </a:t>
            </a:r>
            <a:r>
              <a:rPr lang="en-US" sz="3800" b="0" i="1">
                <a:latin typeface="Calibri"/>
                <a:ea typeface="Calibri"/>
                <a:cs typeface="Calibri"/>
                <a:sym typeface="Calibri"/>
              </a:rPr>
              <a:t>Examples</a:t>
            </a:r>
            <a:endParaRPr sz="3800" b="0" i="1">
              <a:latin typeface="Calibri"/>
              <a:ea typeface="Calibri"/>
              <a:cs typeface="Calibri"/>
              <a:sym typeface="Calibri"/>
            </a:endParaRPr>
          </a:p>
        </p:txBody>
      </p:sp>
      <p:sp>
        <p:nvSpPr>
          <p:cNvPr id="896" name="Google Shape;896;p102"/>
          <p:cNvSpPr txBox="1"/>
          <p:nvPr>
            <p:ph type="body" idx="1"/>
          </p:nvPr>
        </p:nvSpPr>
        <p:spPr>
          <a:xfrm>
            <a:off x="465000" y="1873225"/>
            <a:ext cx="5717100" cy="4630200"/>
          </a:xfrm>
          <a:prstGeom prst="rect">
            <a:avLst/>
          </a:prstGeom>
          <a:noFill/>
          <a:ln>
            <a:noFill/>
          </a:ln>
        </p:spPr>
        <p:txBody>
          <a:bodyPr spcFirstLastPara="1" wrap="square" lIns="91425" tIns="45700" rIns="91425" bIns="45700" anchor="t" anchorCtr="0">
            <a:noAutofit/>
          </a:bodyPr>
          <a:lstStyle/>
          <a:p>
            <a:pPr marL="800100" marR="0" lvl="1" indent="-352425" algn="l" rtl="0">
              <a:lnSpc>
                <a:spcPct val="100000"/>
              </a:lnSpc>
              <a:spcBef>
                <a:spcPts val="1000"/>
              </a:spcBef>
              <a:spcAft>
                <a:spcPts val="0"/>
              </a:spcAft>
              <a:buClr>
                <a:schemeClr val="accent2"/>
              </a:buClr>
              <a:buSzPts val="1750"/>
              <a:buFont typeface="Noto Sans Symbols"/>
              <a:buChar char="✔"/>
            </a:pPr>
            <a:r>
              <a:rPr lang="en-US" sz="1750" u="sng">
                <a:solidFill>
                  <a:schemeClr val="hlink"/>
                </a:solidFill>
                <a:hlinkClick r:id="rId1"/>
              </a:rPr>
              <a:t>https://www.ventureharbour.com/marketing-calendar-software/</a:t>
            </a:r>
            <a:r>
              <a:rPr lang="en-US" sz="1750"/>
              <a:t> </a:t>
            </a:r>
            <a:endParaRPr sz="1750"/>
          </a:p>
          <a:p>
            <a:pPr marL="685800" marR="0" lvl="0" indent="0" algn="l" rtl="0">
              <a:lnSpc>
                <a:spcPct val="100000"/>
              </a:lnSpc>
              <a:spcBef>
                <a:spcPts val="1000"/>
              </a:spcBef>
              <a:spcAft>
                <a:spcPts val="0"/>
              </a:spcAft>
              <a:buNone/>
            </a:pPr>
            <a:endParaRPr sz="1750"/>
          </a:p>
          <a:p>
            <a:pPr marL="685800" marR="0" lvl="0" indent="0" algn="l" rtl="0">
              <a:lnSpc>
                <a:spcPct val="100000"/>
              </a:lnSpc>
              <a:spcBef>
                <a:spcPts val="1000"/>
              </a:spcBef>
              <a:spcAft>
                <a:spcPts val="0"/>
              </a:spcAft>
              <a:buNone/>
            </a:pPr>
            <a:endParaRPr sz="2050"/>
          </a:p>
          <a:p>
            <a:pPr marL="0" marR="0" lvl="0" indent="0" algn="l" rtl="0">
              <a:lnSpc>
                <a:spcPct val="100000"/>
              </a:lnSpc>
              <a:spcBef>
                <a:spcPts val="1000"/>
              </a:spcBef>
              <a:spcAft>
                <a:spcPts val="0"/>
              </a:spcAft>
              <a:buNone/>
            </a:pPr>
            <a:endParaRPr sz="2050"/>
          </a:p>
        </p:txBody>
      </p:sp>
      <p:sp>
        <p:nvSpPr>
          <p:cNvPr id="897" name="Google Shape;897;p102"/>
          <p:cNvSpPr txBox="1"/>
          <p:nvPr>
            <p:ph type="body" idx="1"/>
          </p:nvPr>
        </p:nvSpPr>
        <p:spPr>
          <a:xfrm>
            <a:off x="6182100" y="1526075"/>
            <a:ext cx="5717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750"/>
              <a:t>	</a:t>
            </a:r>
            <a:endParaRPr sz="1750" b="1"/>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u="sng">
                <a:solidFill>
                  <a:schemeClr val="hlink"/>
                </a:solidFill>
                <a:hlinkClick r:id="rId2"/>
              </a:rPr>
              <a:t>https://webinarcare.com/best-marketing-calendar-software/</a:t>
            </a:r>
            <a:r>
              <a:rPr lang="en-US" sz="1750"/>
              <a:t> </a:t>
            </a:r>
            <a:endParaRPr sz="1750"/>
          </a:p>
          <a:p>
            <a:pPr marL="0" marR="0" lvl="0" indent="0" algn="l" rtl="0">
              <a:lnSpc>
                <a:spcPct val="100000"/>
              </a:lnSpc>
              <a:spcBef>
                <a:spcPts val="1000"/>
              </a:spcBef>
              <a:spcAft>
                <a:spcPts val="0"/>
              </a:spcAft>
              <a:buNone/>
            </a:pPr>
            <a:endParaRPr sz="1750"/>
          </a:p>
          <a:p>
            <a:pPr marL="0" marR="0" lvl="0" indent="0" algn="l" rtl="0">
              <a:lnSpc>
                <a:spcPct val="100000"/>
              </a:lnSpc>
              <a:spcBef>
                <a:spcPts val="1000"/>
              </a:spcBef>
              <a:spcAft>
                <a:spcPts val="0"/>
              </a:spcAft>
              <a:buNone/>
            </a:pPr>
            <a:endParaRPr sz="1750"/>
          </a:p>
          <a:p>
            <a:pPr marL="685800" marR="0" lvl="0" indent="0" algn="l" rtl="0">
              <a:lnSpc>
                <a:spcPct val="100000"/>
              </a:lnSpc>
              <a:spcBef>
                <a:spcPts val="1000"/>
              </a:spcBef>
              <a:spcAft>
                <a:spcPts val="0"/>
              </a:spcAft>
              <a:buNone/>
            </a:pPr>
            <a:endParaRPr sz="2050"/>
          </a:p>
          <a:p>
            <a:pPr marL="0" marR="0" lvl="0" indent="0" algn="l" rtl="0">
              <a:lnSpc>
                <a:spcPct val="100000"/>
              </a:lnSpc>
              <a:spcBef>
                <a:spcPts val="1000"/>
              </a:spcBef>
              <a:spcAft>
                <a:spcPts val="0"/>
              </a:spcAft>
              <a:buNone/>
            </a:pPr>
            <a:endParaRPr sz="2050"/>
          </a:p>
        </p:txBody>
      </p:sp>
      <p:cxnSp>
        <p:nvCxnSpPr>
          <p:cNvPr id="898" name="Google Shape;898;p102"/>
          <p:cNvCxnSpPr/>
          <p:nvPr/>
        </p:nvCxnSpPr>
        <p:spPr>
          <a:xfrm>
            <a:off x="6429375" y="1709875"/>
            <a:ext cx="23100" cy="4622100"/>
          </a:xfrm>
          <a:prstGeom prst="straightConnector1">
            <a:avLst/>
          </a:prstGeom>
          <a:noFill/>
          <a:ln w="9525" cap="flat" cmpd="sng">
            <a:solidFill>
              <a:srgbClr val="62C9D7"/>
            </a:solidFill>
            <a:prstDash val="solid"/>
            <a:round/>
            <a:headEnd type="none" w="med" len="med"/>
            <a:tailEnd type="none" w="med" len="med"/>
          </a:ln>
        </p:spPr>
      </p:cxnSp>
      <p:sp>
        <p:nvSpPr>
          <p:cNvPr id="899" name="Google Shape;899;p10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influencer relations</a:t>
            </a:r>
            <a:endParaRPr sz="1900" b="0" i="1">
              <a:solidFill>
                <a:schemeClr val="accent5"/>
              </a:solidFill>
              <a:latin typeface="Calibri"/>
              <a:ea typeface="Calibri"/>
              <a:cs typeface="Calibri"/>
              <a:sym typeface="Calibri"/>
            </a:endParaRPr>
          </a:p>
        </p:txBody>
      </p:sp>
      <p:pic>
        <p:nvPicPr>
          <p:cNvPr id="900" name="Google Shape;900;p102"/>
          <p:cNvPicPr preferRelativeResize="0"/>
          <p:nvPr/>
        </p:nvPicPr>
        <p:blipFill rotWithShape="1">
          <a:blip r:embed="rId3"/>
          <a:srcRect b="49648"/>
          <a:stretch>
            <a:fillRect/>
          </a:stretch>
        </p:blipFill>
        <p:spPr>
          <a:xfrm>
            <a:off x="1657900" y="2893575"/>
            <a:ext cx="1799600" cy="2589503"/>
          </a:xfrm>
          <a:prstGeom prst="rect">
            <a:avLst/>
          </a:prstGeom>
          <a:noFill/>
          <a:ln>
            <a:noFill/>
          </a:ln>
        </p:spPr>
      </p:pic>
      <p:pic>
        <p:nvPicPr>
          <p:cNvPr id="901" name="Google Shape;901;p102"/>
          <p:cNvPicPr preferRelativeResize="0"/>
          <p:nvPr/>
        </p:nvPicPr>
        <p:blipFill rotWithShape="1">
          <a:blip r:embed="rId3"/>
          <a:srcRect t="48238" b="-831"/>
          <a:stretch>
            <a:fillRect/>
          </a:stretch>
        </p:blipFill>
        <p:spPr>
          <a:xfrm>
            <a:off x="3734400" y="2893575"/>
            <a:ext cx="1508600" cy="2387601"/>
          </a:xfrm>
          <a:prstGeom prst="rect">
            <a:avLst/>
          </a:prstGeom>
          <a:noFill/>
          <a:ln>
            <a:noFill/>
          </a:ln>
        </p:spPr>
      </p:pic>
      <p:pic>
        <p:nvPicPr>
          <p:cNvPr id="902" name="Google Shape;902;p102"/>
          <p:cNvPicPr preferRelativeResize="0"/>
          <p:nvPr/>
        </p:nvPicPr>
        <p:blipFill>
          <a:blip r:embed="rId4"/>
          <a:stretch>
            <a:fillRect/>
          </a:stretch>
        </p:blipFill>
        <p:spPr>
          <a:xfrm>
            <a:off x="6959675" y="2976019"/>
            <a:ext cx="4749026" cy="330530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906" name="Shape 906"/>
        <p:cNvGrpSpPr/>
        <p:nvPr/>
      </p:nvGrpSpPr>
      <p:grpSpPr>
        <a:xfrm>
          <a:off x="0" y="0"/>
          <a:ext cx="0" cy="0"/>
          <a:chOff x="0" y="0"/>
          <a:chExt cx="0" cy="0"/>
        </a:xfrm>
      </p:grpSpPr>
      <p:sp>
        <p:nvSpPr>
          <p:cNvPr id="907" name="Google Shape;907;p103"/>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marketing awareness</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4: Sourcing &amp; IT</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908" name="Google Shape;908;p10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a:t>
            </a:r>
            <a:endParaRPr sz="1900" b="0" i="1">
              <a:solidFill>
                <a:schemeClr val="accent5"/>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912" name="Shape 912"/>
        <p:cNvGrpSpPr/>
        <p:nvPr/>
      </p:nvGrpSpPr>
      <p:grpSpPr>
        <a:xfrm>
          <a:off x="0" y="0"/>
          <a:ext cx="0" cy="0"/>
          <a:chOff x="0" y="0"/>
          <a:chExt cx="0" cy="0"/>
        </a:xfrm>
      </p:grpSpPr>
      <p:sp>
        <p:nvSpPr>
          <p:cNvPr id="913" name="Google Shape;913;p104"/>
          <p:cNvSpPr txBox="1"/>
          <p:nvPr>
            <p:ph type="title"/>
          </p:nvPr>
        </p:nvSpPr>
        <p:spPr>
          <a:xfrm>
            <a:off x="863600" y="784225"/>
            <a:ext cx="10694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Sourcing Teams &amp; IT</a:t>
            </a:r>
            <a:endParaRPr sz="3800">
              <a:solidFill>
                <a:schemeClr val="accent5"/>
              </a:solidFill>
              <a:latin typeface="Calibri"/>
              <a:ea typeface="Calibri"/>
              <a:cs typeface="Calibri"/>
              <a:sym typeface="Calibri"/>
            </a:endParaRPr>
          </a:p>
        </p:txBody>
      </p:sp>
      <p:sp>
        <p:nvSpPr>
          <p:cNvPr id="914" name="Google Shape;914;p104"/>
          <p:cNvSpPr txBox="1"/>
          <p:nvPr>
            <p:ph type="body" idx="1"/>
          </p:nvPr>
        </p:nvSpPr>
        <p:spPr>
          <a:xfrm>
            <a:off x="914400" y="1611500"/>
            <a:ext cx="68610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Sourcing Teams  </a:t>
            </a:r>
            <a:endParaRPr sz="2000" b="1">
              <a:solidFill>
                <a:schemeClr val="accent2"/>
              </a:solidFill>
            </a:endParaRPr>
          </a:p>
          <a:p>
            <a:pPr marL="400050" lvl="1" indent="-231775" algn="l" rtl="0">
              <a:lnSpc>
                <a:spcPct val="100000"/>
              </a:lnSpc>
              <a:spcBef>
                <a:spcPts val="1000"/>
              </a:spcBef>
              <a:spcAft>
                <a:spcPts val="0"/>
              </a:spcAft>
              <a:buClr>
                <a:schemeClr val="accent2"/>
              </a:buClr>
              <a:buSzPts val="1850"/>
              <a:buFont typeface="Noto Sans Symbols"/>
              <a:buChar char="✔"/>
            </a:pPr>
            <a:r>
              <a:rPr lang="en-US" sz="1750"/>
              <a:t>Section on website:</a:t>
            </a:r>
            <a:endParaRPr sz="1750"/>
          </a:p>
          <a:p>
            <a:pPr marL="800100" lvl="2" indent="-231775" algn="l" rtl="0">
              <a:lnSpc>
                <a:spcPct val="100000"/>
              </a:lnSpc>
              <a:spcBef>
                <a:spcPts val="1000"/>
              </a:spcBef>
              <a:spcAft>
                <a:spcPts val="0"/>
              </a:spcAft>
              <a:buClr>
                <a:schemeClr val="accent2"/>
              </a:buClr>
              <a:buSzPts val="1850"/>
              <a:buFont typeface="Noto Sans Symbols"/>
              <a:buChar char="•"/>
            </a:pPr>
            <a:r>
              <a:rPr lang="en-US" sz="1750"/>
              <a:t>Dedicated page to answer procurement/sourcing questions. Written in more “plain” language than the rest of the pages as this audience is not </a:t>
            </a:r>
            <a:r>
              <a:rPr lang="en-US" sz="1750"/>
              <a:t>familiar</a:t>
            </a:r>
            <a:r>
              <a:rPr lang="en-US" sz="1750"/>
              <a:t> with marketing</a:t>
            </a:r>
            <a:endParaRPr sz="1750"/>
          </a:p>
          <a:p>
            <a:pPr marL="800100" lvl="2" indent="-231775" algn="l" rtl="0">
              <a:lnSpc>
                <a:spcPct val="100000"/>
              </a:lnSpc>
              <a:spcBef>
                <a:spcPts val="1000"/>
              </a:spcBef>
              <a:spcAft>
                <a:spcPts val="0"/>
              </a:spcAft>
              <a:buClr>
                <a:schemeClr val="accent2"/>
              </a:buClr>
              <a:buSzPts val="1850"/>
              <a:buFont typeface="Noto Sans Symbols"/>
              <a:buChar char="•"/>
            </a:pPr>
            <a:r>
              <a:rPr lang="en-US" sz="1750"/>
              <a:t>FAQ written to a sourcing/procurement team</a:t>
            </a:r>
            <a:endParaRPr sz="1750"/>
          </a:p>
          <a:p>
            <a:pPr marL="800100" lvl="2" indent="-231775" algn="l" rtl="0">
              <a:lnSpc>
                <a:spcPct val="100000"/>
              </a:lnSpc>
              <a:spcBef>
                <a:spcPts val="1000"/>
              </a:spcBef>
              <a:spcAft>
                <a:spcPts val="0"/>
              </a:spcAft>
              <a:buClr>
                <a:schemeClr val="accent2"/>
              </a:buClr>
              <a:buSzPts val="1850"/>
              <a:buFont typeface="Noto Sans Symbols"/>
              <a:buChar char="•"/>
            </a:pPr>
            <a:r>
              <a:rPr lang="en-US" sz="1750"/>
              <a:t>Downloads of key documents sourcing can take back to their internal customers</a:t>
            </a:r>
            <a:endParaRPr sz="1750"/>
          </a:p>
          <a:p>
            <a:pPr marL="800100" lvl="3" indent="-231775" algn="l" rtl="0">
              <a:lnSpc>
                <a:spcPct val="100000"/>
              </a:lnSpc>
              <a:spcBef>
                <a:spcPts val="1000"/>
              </a:spcBef>
              <a:spcAft>
                <a:spcPts val="0"/>
              </a:spcAft>
              <a:buClr>
                <a:schemeClr val="accent2"/>
              </a:buClr>
              <a:buSzPts val="1850"/>
              <a:buFont typeface="Noto Sans Symbols"/>
              <a:buChar char="•"/>
            </a:pPr>
            <a:r>
              <a:rPr lang="en-US" sz="1750"/>
              <a:t>FAQ, Case Studies, Capabilities Statement</a:t>
            </a:r>
            <a:endParaRPr sz="2000">
              <a:solidFill>
                <a:schemeClr val="accent2"/>
              </a:solidFill>
            </a:endParaRPr>
          </a:p>
          <a:p>
            <a:pPr marL="68580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600" b="1"/>
          </a:p>
        </p:txBody>
      </p:sp>
      <p:pic>
        <p:nvPicPr>
          <p:cNvPr id="915" name="Google Shape;915;p104"/>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916" name="Google Shape;916;p104"/>
          <p:cNvSpPr txBox="1"/>
          <p:nvPr/>
        </p:nvSpPr>
        <p:spPr>
          <a:xfrm>
            <a:off x="8282300" y="1816950"/>
            <a:ext cx="2983800" cy="23550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Actions</a:t>
            </a:r>
            <a:r>
              <a:rPr lang="en-US" sz="1700" b="1">
                <a:solidFill>
                  <a:srgbClr val="434343"/>
                </a:solidFill>
                <a:latin typeface="Calibri"/>
                <a:ea typeface="Calibri"/>
                <a:cs typeface="Calibri"/>
                <a:sym typeface="Calibri"/>
              </a:rPr>
              <a:t>:</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Section on website directs these early influencers to self serve via the website</a:t>
            </a:r>
            <a:endParaRPr sz="1600">
              <a:solidFill>
                <a:srgbClr val="434343"/>
              </a:solidFill>
              <a:latin typeface="Calibri"/>
              <a:ea typeface="Calibri"/>
              <a:cs typeface="Calibri"/>
              <a:sym typeface="Calibri"/>
            </a:endParaRPr>
          </a:p>
          <a:p>
            <a:pPr marL="45720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917" name="Google Shape;917;p10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sourcing teams</a:t>
            </a:r>
            <a:endParaRPr sz="1900" b="0" i="1">
              <a:solidFill>
                <a:schemeClr val="accent5"/>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921" name="Shape 921"/>
        <p:cNvGrpSpPr/>
        <p:nvPr/>
      </p:nvGrpSpPr>
      <p:grpSpPr>
        <a:xfrm>
          <a:off x="0" y="0"/>
          <a:ext cx="0" cy="0"/>
          <a:chOff x="0" y="0"/>
          <a:chExt cx="0" cy="0"/>
        </a:xfrm>
      </p:grpSpPr>
      <p:sp>
        <p:nvSpPr>
          <p:cNvPr id="922" name="Google Shape;922;p105"/>
          <p:cNvSpPr txBox="1"/>
          <p:nvPr>
            <p:ph type="body" idx="1"/>
          </p:nvPr>
        </p:nvSpPr>
        <p:spPr>
          <a:xfrm>
            <a:off x="574850" y="1611500"/>
            <a:ext cx="72006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IT Focus  </a:t>
            </a:r>
            <a:r>
              <a:rPr lang="en-US" sz="2000" b="1">
                <a:solidFill>
                  <a:schemeClr val="accent2"/>
                </a:solidFill>
              </a:rPr>
              <a:t>  </a:t>
            </a:r>
            <a:endParaRPr sz="2000" b="1">
              <a:solidFill>
                <a:schemeClr val="accent2"/>
              </a:solidFill>
            </a:endParaRPr>
          </a:p>
          <a:p>
            <a:pPr marL="400050" lvl="1" indent="-231775" algn="l" rtl="0">
              <a:lnSpc>
                <a:spcPct val="100000"/>
              </a:lnSpc>
              <a:spcBef>
                <a:spcPts val="1000"/>
              </a:spcBef>
              <a:spcAft>
                <a:spcPts val="0"/>
              </a:spcAft>
              <a:buClr>
                <a:schemeClr val="accent2"/>
              </a:buClr>
              <a:buSzPts val="1850"/>
              <a:buFont typeface="Noto Sans Symbols"/>
              <a:buChar char="✔"/>
            </a:pPr>
            <a:r>
              <a:rPr lang="en-US" sz="1750"/>
              <a:t>Section on website</a:t>
            </a:r>
            <a:endParaRPr sz="1750"/>
          </a:p>
          <a:p>
            <a:pPr marL="1143000" lvl="2" indent="-231775" algn="l" rtl="0">
              <a:lnSpc>
                <a:spcPct val="100000"/>
              </a:lnSpc>
              <a:spcBef>
                <a:spcPts val="1000"/>
              </a:spcBef>
              <a:spcAft>
                <a:spcPts val="0"/>
              </a:spcAft>
              <a:buClr>
                <a:schemeClr val="accent2"/>
              </a:buClr>
              <a:buSzPts val="1850"/>
              <a:buFont typeface="Noto Sans Symbols"/>
              <a:buChar char="•"/>
            </a:pPr>
            <a:r>
              <a:rPr lang="en-US" sz="1750"/>
              <a:t>We learned from the insights interviews that the second internal group the marketing team would consult when finding software is their IT department. </a:t>
            </a:r>
            <a:endParaRPr sz="1750"/>
          </a:p>
          <a:p>
            <a:pPr marL="1143000" lvl="2" indent="-231775" algn="l" rtl="0">
              <a:lnSpc>
                <a:spcPct val="100000"/>
              </a:lnSpc>
              <a:spcBef>
                <a:spcPts val="1000"/>
              </a:spcBef>
              <a:spcAft>
                <a:spcPts val="0"/>
              </a:spcAft>
              <a:buClr>
                <a:schemeClr val="accent2"/>
              </a:buClr>
              <a:buSzPts val="1850"/>
              <a:buFont typeface="Noto Sans Symbols"/>
              <a:buChar char="•"/>
            </a:pPr>
            <a:r>
              <a:rPr lang="en-US" sz="1750"/>
              <a:t>IT may be tasked with finding marketing software that works with the current </a:t>
            </a:r>
            <a:r>
              <a:rPr lang="en-US" sz="1750"/>
              <a:t>enterprise</a:t>
            </a:r>
            <a:r>
              <a:rPr lang="en-US" sz="1750"/>
              <a:t> software. For this reason, we want to make it easy for IT to </a:t>
            </a:r>
            <a:r>
              <a:rPr lang="en-US" sz="1750"/>
              <a:t>gather</a:t>
            </a:r>
            <a:r>
              <a:rPr lang="en-US" sz="1750"/>
              <a:t> technical requirements about CrossCap software</a:t>
            </a:r>
            <a:endParaRPr sz="1750"/>
          </a:p>
          <a:p>
            <a:pPr marL="1143000" lvl="2" indent="-231775" algn="l" rtl="0">
              <a:lnSpc>
                <a:spcPct val="100000"/>
              </a:lnSpc>
              <a:spcBef>
                <a:spcPts val="1000"/>
              </a:spcBef>
              <a:spcAft>
                <a:spcPts val="0"/>
              </a:spcAft>
              <a:buClr>
                <a:schemeClr val="accent2"/>
              </a:buClr>
              <a:buSzPts val="1850"/>
              <a:buFont typeface="Noto Sans Symbols"/>
              <a:buChar char="•"/>
            </a:pPr>
            <a:r>
              <a:rPr lang="en-US" sz="1750"/>
              <a:t>Dedicated page to answer IT </a:t>
            </a:r>
            <a:r>
              <a:rPr lang="en-US" sz="1750"/>
              <a:t>compatibility</a:t>
            </a:r>
            <a:r>
              <a:rPr lang="en-US" sz="1750"/>
              <a:t> questions</a:t>
            </a:r>
            <a:endParaRPr sz="1750"/>
          </a:p>
          <a:p>
            <a:pPr marL="1143000" lvl="2" indent="-231775" algn="l" rtl="0">
              <a:lnSpc>
                <a:spcPct val="100000"/>
              </a:lnSpc>
              <a:spcBef>
                <a:spcPts val="1000"/>
              </a:spcBef>
              <a:spcAft>
                <a:spcPts val="0"/>
              </a:spcAft>
              <a:buClr>
                <a:schemeClr val="accent2"/>
              </a:buClr>
              <a:buSzPts val="1850"/>
              <a:buFont typeface="Noto Sans Symbols"/>
              <a:buChar char="•"/>
            </a:pPr>
            <a:r>
              <a:rPr lang="en-US" sz="1750"/>
              <a:t>Downloads of key documents sourcing can take back to their internal customers</a:t>
            </a:r>
            <a:endParaRPr sz="1750"/>
          </a:p>
          <a:p>
            <a:pPr marL="1600200" lvl="3" indent="-231775" algn="l" rtl="0">
              <a:lnSpc>
                <a:spcPct val="100000"/>
              </a:lnSpc>
              <a:spcBef>
                <a:spcPts val="1000"/>
              </a:spcBef>
              <a:spcAft>
                <a:spcPts val="0"/>
              </a:spcAft>
              <a:buClr>
                <a:schemeClr val="accent2"/>
              </a:buClr>
              <a:buSzPts val="1850"/>
              <a:buFont typeface="Noto Sans Symbols"/>
              <a:buChar char="•"/>
            </a:pPr>
            <a:r>
              <a:rPr lang="en-US" sz="1750"/>
              <a:t>Technical FAQs, Data Sheets</a:t>
            </a:r>
            <a:endParaRPr sz="1650"/>
          </a:p>
          <a:p>
            <a:pPr marL="0" marR="0" lvl="0" indent="0" algn="l" rtl="0">
              <a:lnSpc>
                <a:spcPct val="100000"/>
              </a:lnSpc>
              <a:spcBef>
                <a:spcPts val="1000"/>
              </a:spcBef>
              <a:spcAft>
                <a:spcPts val="0"/>
              </a:spcAft>
              <a:buNone/>
            </a:pPr>
            <a:endParaRPr sz="1600" b="1"/>
          </a:p>
        </p:txBody>
      </p:sp>
      <p:pic>
        <p:nvPicPr>
          <p:cNvPr id="923" name="Google Shape;923;p105"/>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924" name="Google Shape;924;p105"/>
          <p:cNvSpPr txBox="1"/>
          <p:nvPr/>
        </p:nvSpPr>
        <p:spPr>
          <a:xfrm>
            <a:off x="8282300" y="1816950"/>
            <a:ext cx="2983800" cy="23550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Action</a:t>
            </a:r>
            <a:r>
              <a:rPr lang="en-US" sz="1700" b="1">
                <a:solidFill>
                  <a:srgbClr val="434343"/>
                </a:solidFill>
                <a:latin typeface="Calibri"/>
                <a:ea typeface="Calibri"/>
                <a:cs typeface="Calibri"/>
                <a:sym typeface="Calibri"/>
              </a:rPr>
              <a: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Section on website directs these early influencers to self serve via the website</a:t>
            </a:r>
            <a:endParaRPr sz="1600">
              <a:solidFill>
                <a:srgbClr val="434343"/>
              </a:solidFill>
              <a:latin typeface="Calibri"/>
              <a:ea typeface="Calibri"/>
              <a:cs typeface="Calibri"/>
              <a:sym typeface="Calibri"/>
            </a:endParaRPr>
          </a:p>
          <a:p>
            <a:pPr marL="45720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925" name="Google Shape;925;p105"/>
          <p:cNvSpPr txBox="1"/>
          <p:nvPr>
            <p:ph type="title"/>
          </p:nvPr>
        </p:nvSpPr>
        <p:spPr>
          <a:xfrm>
            <a:off x="863600" y="784225"/>
            <a:ext cx="10694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Sourcing Teams &amp; IT</a:t>
            </a:r>
            <a:endParaRPr sz="3800">
              <a:solidFill>
                <a:schemeClr val="accent5"/>
              </a:solidFill>
              <a:latin typeface="Calibri"/>
              <a:ea typeface="Calibri"/>
              <a:cs typeface="Calibri"/>
              <a:sym typeface="Calibri"/>
            </a:endParaRPr>
          </a:p>
        </p:txBody>
      </p:sp>
      <p:sp>
        <p:nvSpPr>
          <p:cNvPr id="926" name="Google Shape;926;p10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sourcing teams</a:t>
            </a:r>
            <a:endParaRPr sz="1900" b="0" i="1">
              <a:solidFill>
                <a:schemeClr val="accent5"/>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930" name="Shape 930"/>
        <p:cNvGrpSpPr/>
        <p:nvPr/>
      </p:nvGrpSpPr>
      <p:grpSpPr>
        <a:xfrm>
          <a:off x="0" y="0"/>
          <a:ext cx="0" cy="0"/>
          <a:chOff x="0" y="0"/>
          <a:chExt cx="0" cy="0"/>
        </a:xfrm>
      </p:grpSpPr>
      <p:sp>
        <p:nvSpPr>
          <p:cNvPr id="931" name="Google Shape;931;p106"/>
          <p:cNvSpPr txBox="1"/>
          <p:nvPr>
            <p:ph type="body" idx="1"/>
          </p:nvPr>
        </p:nvSpPr>
        <p:spPr>
          <a:xfrm>
            <a:off x="574850" y="1611500"/>
            <a:ext cx="72006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 </a:t>
            </a:r>
            <a:endParaRPr sz="2000" b="1">
              <a:solidFill>
                <a:schemeClr val="accent2"/>
              </a:solidFill>
            </a:endParaRPr>
          </a:p>
          <a:p>
            <a:pPr marL="0" lvl="0" indent="0" algn="l" rtl="0">
              <a:lnSpc>
                <a:spcPct val="100000"/>
              </a:lnSpc>
              <a:spcBef>
                <a:spcPts val="1000"/>
              </a:spcBef>
              <a:spcAft>
                <a:spcPts val="0"/>
              </a:spcAft>
              <a:buNone/>
            </a:pPr>
            <a:endParaRPr sz="2000" b="1">
              <a:solidFill>
                <a:schemeClr val="accent2"/>
              </a:solidFill>
            </a:endParaRPr>
          </a:p>
          <a:p>
            <a:pPr marL="68580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600" b="1"/>
          </a:p>
        </p:txBody>
      </p:sp>
      <p:pic>
        <p:nvPicPr>
          <p:cNvPr id="932" name="Google Shape;932;p106"/>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933" name="Google Shape;933;p106"/>
          <p:cNvSpPr txBox="1"/>
          <p:nvPr/>
        </p:nvSpPr>
        <p:spPr>
          <a:xfrm>
            <a:off x="8282300" y="1816950"/>
            <a:ext cx="2983800" cy="39867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Actions</a:t>
            </a:r>
            <a:r>
              <a:rPr lang="en-US" sz="1700" b="1">
                <a:solidFill>
                  <a:srgbClr val="434343"/>
                </a:solidFill>
                <a:latin typeface="Calibri"/>
                <a:ea typeface="Calibri"/>
                <a:cs typeface="Calibri"/>
                <a:sym typeface="Calibri"/>
              </a:rPr>
              <a:t>:</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Section on website directs these early influencers to self serve via the website</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All the specific information to sourcing/procurement and IT concerns are in one spot</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Makes it easy for them to find and to start considering CrossCap</a:t>
            </a:r>
            <a:endParaRPr sz="1600">
              <a:solidFill>
                <a:srgbClr val="434343"/>
              </a:solidFill>
              <a:latin typeface="Calibri"/>
              <a:ea typeface="Calibri"/>
              <a:cs typeface="Calibri"/>
              <a:sym typeface="Calibri"/>
            </a:endParaRPr>
          </a:p>
          <a:p>
            <a:pPr marL="45720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pic>
        <p:nvPicPr>
          <p:cNvPr id="934" name="Google Shape;934;p106"/>
          <p:cNvPicPr preferRelativeResize="0"/>
          <p:nvPr/>
        </p:nvPicPr>
        <p:blipFill>
          <a:blip r:embed="rId2"/>
          <a:stretch>
            <a:fillRect/>
          </a:stretch>
        </p:blipFill>
        <p:spPr>
          <a:xfrm>
            <a:off x="956900" y="2231475"/>
            <a:ext cx="3067602" cy="3048075"/>
          </a:xfrm>
          <a:prstGeom prst="rect">
            <a:avLst/>
          </a:prstGeom>
          <a:noFill/>
          <a:ln w="9525" cap="flat" cmpd="sng">
            <a:solidFill>
              <a:schemeClr val="dk2"/>
            </a:solidFill>
            <a:prstDash val="dot"/>
            <a:round/>
            <a:headEnd type="none" w="sm" len="sm"/>
            <a:tailEnd type="none" w="sm" len="sm"/>
          </a:ln>
        </p:spPr>
      </p:pic>
      <p:pic>
        <p:nvPicPr>
          <p:cNvPr id="935" name="Google Shape;935;p106"/>
          <p:cNvPicPr preferRelativeResize="0"/>
          <p:nvPr/>
        </p:nvPicPr>
        <p:blipFill>
          <a:blip r:embed="rId3"/>
          <a:stretch>
            <a:fillRect/>
          </a:stretch>
        </p:blipFill>
        <p:spPr>
          <a:xfrm>
            <a:off x="4374849" y="1678697"/>
            <a:ext cx="3067600" cy="4036850"/>
          </a:xfrm>
          <a:prstGeom prst="rect">
            <a:avLst/>
          </a:prstGeom>
          <a:noFill/>
          <a:ln w="9525" cap="flat" cmpd="sng">
            <a:solidFill>
              <a:schemeClr val="dk2"/>
            </a:solidFill>
            <a:prstDash val="dot"/>
            <a:round/>
            <a:headEnd type="none" w="sm" len="sm"/>
            <a:tailEnd type="none" w="sm" len="sm"/>
          </a:ln>
        </p:spPr>
      </p:pic>
      <p:sp>
        <p:nvSpPr>
          <p:cNvPr id="936" name="Google Shape;936;p106"/>
          <p:cNvSpPr txBox="1"/>
          <p:nvPr>
            <p:ph type="title"/>
          </p:nvPr>
        </p:nvSpPr>
        <p:spPr>
          <a:xfrm>
            <a:off x="863600" y="784225"/>
            <a:ext cx="106941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Sourcing Teams &amp; IT</a:t>
            </a:r>
            <a:endParaRPr sz="3800">
              <a:solidFill>
                <a:schemeClr val="accent5"/>
              </a:solidFill>
              <a:latin typeface="Calibri"/>
              <a:ea typeface="Calibri"/>
              <a:cs typeface="Calibri"/>
              <a:sym typeface="Calibri"/>
            </a:endParaRPr>
          </a:p>
        </p:txBody>
      </p:sp>
      <p:sp>
        <p:nvSpPr>
          <p:cNvPr id="937" name="Google Shape;937;p10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sourcing teams</a:t>
            </a:r>
            <a:endParaRPr sz="1900" b="0" i="1">
              <a:solidFill>
                <a:schemeClr val="accent5"/>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941" name="Shape 941"/>
        <p:cNvGrpSpPr/>
        <p:nvPr/>
      </p:nvGrpSpPr>
      <p:grpSpPr>
        <a:xfrm>
          <a:off x="0" y="0"/>
          <a:ext cx="0" cy="0"/>
          <a:chOff x="0" y="0"/>
          <a:chExt cx="0" cy="0"/>
        </a:xfrm>
      </p:grpSpPr>
      <p:sp>
        <p:nvSpPr>
          <p:cNvPr id="942" name="Google Shape;942;p107"/>
          <p:cNvSpPr txBox="1"/>
          <p:nvPr>
            <p:ph type="title"/>
          </p:nvPr>
        </p:nvSpPr>
        <p:spPr>
          <a:xfrm>
            <a:off x="680400" y="200600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b="0">
                <a:solidFill>
                  <a:schemeClr val="accent5"/>
                </a:solidFill>
                <a:latin typeface="Calibri"/>
                <a:ea typeface="Calibri"/>
                <a:cs typeface="Calibri"/>
                <a:sym typeface="Calibri"/>
              </a:rPr>
              <a:t>Section 3:</a:t>
            </a:r>
            <a:br>
              <a:rPr lang="en-US">
                <a:solidFill>
                  <a:schemeClr val="accent5"/>
                </a:solidFill>
              </a:rPr>
            </a:br>
            <a:r>
              <a:rPr lang="en-US">
                <a:solidFill>
                  <a:schemeClr val="accent5"/>
                </a:solidFill>
              </a:rPr>
              <a:t>Marketing Lead Generation (inbound)</a:t>
            </a:r>
            <a:endParaRPr>
              <a:solidFill>
                <a:schemeClr val="accent5"/>
              </a:solidFill>
            </a:endParaRPr>
          </a:p>
          <a:p>
            <a:pPr marL="0" lvl="0" indent="0" algn="ctr" rtl="0">
              <a:lnSpc>
                <a:spcPct val="90000"/>
              </a:lnSpc>
              <a:spcBef>
                <a:spcPts val="0"/>
              </a:spcBef>
              <a:spcAft>
                <a:spcPts val="0"/>
              </a:spcAft>
              <a:buClr>
                <a:schemeClr val="accent2"/>
              </a:buClr>
              <a:buSzPct val="100000"/>
              <a:buFont typeface="Calibri"/>
              <a:buNone/>
            </a:pPr>
            <a:r>
              <a:rPr lang="en-US">
                <a:solidFill>
                  <a:schemeClr val="accent5"/>
                </a:solidFill>
              </a:rPr>
              <a:t>Actions</a:t>
            </a:r>
            <a:endParaRPr>
              <a:solidFill>
                <a:schemeClr val="accent5"/>
              </a:solidFill>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946" name="Shape 946"/>
        <p:cNvGrpSpPr/>
        <p:nvPr/>
      </p:nvGrpSpPr>
      <p:grpSpPr>
        <a:xfrm>
          <a:off x="0" y="0"/>
          <a:ext cx="0" cy="0"/>
          <a:chOff x="0" y="0"/>
          <a:chExt cx="0" cy="0"/>
        </a:xfrm>
      </p:grpSpPr>
      <p:sp>
        <p:nvSpPr>
          <p:cNvPr id="947" name="Google Shape;947;p108"/>
          <p:cNvSpPr txBox="1"/>
          <p:nvPr>
            <p:ph type="title"/>
          </p:nvPr>
        </p:nvSpPr>
        <p:spPr>
          <a:xfrm>
            <a:off x="842700" y="763900"/>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Marketing Inbound Lead Generation </a:t>
            </a:r>
            <a:r>
              <a:rPr lang="en-US" sz="3800" b="0" i="1">
                <a:solidFill>
                  <a:schemeClr val="accent5"/>
                </a:solidFill>
                <a:latin typeface="Calibri"/>
                <a:ea typeface="Calibri"/>
                <a:cs typeface="Calibri"/>
                <a:sym typeface="Calibri"/>
              </a:rPr>
              <a:t>Goals</a:t>
            </a:r>
            <a:endParaRPr sz="3800" b="0" i="1">
              <a:solidFill>
                <a:schemeClr val="accent5"/>
              </a:solidFill>
              <a:latin typeface="Calibri"/>
              <a:ea typeface="Calibri"/>
              <a:cs typeface="Calibri"/>
              <a:sym typeface="Calibri"/>
            </a:endParaRPr>
          </a:p>
        </p:txBody>
      </p:sp>
      <p:sp>
        <p:nvSpPr>
          <p:cNvPr id="948" name="Google Shape;948;p108"/>
          <p:cNvSpPr txBox="1"/>
          <p:nvPr>
            <p:ph type="body" idx="1"/>
          </p:nvPr>
        </p:nvSpPr>
        <p:spPr>
          <a:xfrm>
            <a:off x="647000" y="1810675"/>
            <a:ext cx="7386600" cy="4630200"/>
          </a:xfrm>
          <a:prstGeom prst="rect">
            <a:avLst/>
          </a:prstGeom>
          <a:noFill/>
          <a:ln>
            <a:noFill/>
          </a:ln>
        </p:spPr>
        <p:txBody>
          <a:bodyPr spcFirstLastPara="1" wrap="square" lIns="91425" tIns="45700" rIns="91425" bIns="45700" anchor="t" anchorCtr="0">
            <a:noAutofit/>
          </a:bodyPr>
          <a:lstStyle/>
          <a:p>
            <a:pPr marL="800100" lvl="1" indent="-355600" algn="l" rtl="0">
              <a:lnSpc>
                <a:spcPct val="130000"/>
              </a:lnSpc>
              <a:spcBef>
                <a:spcPts val="1000"/>
              </a:spcBef>
              <a:spcAft>
                <a:spcPts val="0"/>
              </a:spcAft>
              <a:buClr>
                <a:schemeClr val="accent2"/>
              </a:buClr>
              <a:buSzPts val="1800"/>
              <a:buChar char="✔"/>
            </a:pPr>
            <a:r>
              <a:rPr lang="en-US" sz="1800" b="1"/>
              <a:t>Goals:</a:t>
            </a:r>
            <a:r>
              <a:rPr lang="en-US" sz="1800"/>
              <a:t> Get more ideal client traffic to the CrossCap website </a:t>
            </a:r>
            <a:endParaRPr sz="1800"/>
          </a:p>
          <a:p>
            <a:pPr marL="1143000" lvl="2" indent="-222250" algn="l" rtl="0">
              <a:lnSpc>
                <a:spcPct val="130000"/>
              </a:lnSpc>
              <a:spcBef>
                <a:spcPts val="1000"/>
              </a:spcBef>
              <a:spcAft>
                <a:spcPts val="0"/>
              </a:spcAft>
              <a:buClr>
                <a:schemeClr val="accent2"/>
              </a:buClr>
              <a:buSzPts val="1700"/>
              <a:buChar char="•"/>
            </a:pPr>
            <a:r>
              <a:rPr lang="en-US" sz="1800"/>
              <a:t>Increase inbound marketing traffic to the website through SEO, hub pages, content marketing, Google Ads and social ads</a:t>
            </a:r>
            <a:endParaRPr sz="1800"/>
          </a:p>
          <a:p>
            <a:pPr marL="1143000" lvl="2" indent="-222250" algn="l" rtl="0">
              <a:lnSpc>
                <a:spcPct val="130000"/>
              </a:lnSpc>
              <a:spcBef>
                <a:spcPts val="1000"/>
              </a:spcBef>
              <a:spcAft>
                <a:spcPts val="0"/>
              </a:spcAft>
              <a:buClr>
                <a:schemeClr val="accent2"/>
              </a:buClr>
              <a:buSzPts val="1700"/>
              <a:buChar char="•"/>
            </a:pPr>
            <a:r>
              <a:rPr lang="en-US" sz="1800"/>
              <a:t>Increase the number of sites referring traffic back to the CrossCap website, including software review sites</a:t>
            </a:r>
            <a:endParaRPr sz="1800"/>
          </a:p>
          <a:p>
            <a:pPr marL="1600200" lvl="3" indent="-215900" algn="l" rtl="0">
              <a:lnSpc>
                <a:spcPct val="130000"/>
              </a:lnSpc>
              <a:spcBef>
                <a:spcPts val="1000"/>
              </a:spcBef>
              <a:spcAft>
                <a:spcPts val="0"/>
              </a:spcAft>
              <a:buSzPts val="1600"/>
              <a:buChar char="•"/>
            </a:pPr>
            <a:r>
              <a:rPr lang="en-US" sz="1600"/>
              <a:t>Encourage more customers to leave reviews</a:t>
            </a:r>
            <a:endParaRPr lang="en-US" sz="1600"/>
          </a:p>
          <a:p>
            <a:pPr marL="685800" lvl="0" indent="0" algn="l" rtl="0">
              <a:lnSpc>
                <a:spcPct val="130000"/>
              </a:lnSpc>
              <a:spcBef>
                <a:spcPts val="1000"/>
              </a:spcBef>
              <a:spcAft>
                <a:spcPts val="0"/>
              </a:spcAft>
              <a:buNone/>
            </a:pPr>
            <a:endParaRPr sz="1800"/>
          </a:p>
          <a:p>
            <a:pPr marL="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650"/>
          </a:p>
        </p:txBody>
      </p:sp>
      <p:pic>
        <p:nvPicPr>
          <p:cNvPr id="949" name="Google Shape;949;p108"/>
          <p:cNvPicPr preferRelativeResize="0"/>
          <p:nvPr/>
        </p:nvPicPr>
        <p:blipFill rotWithShape="1">
          <a:blip r:embed="rId1"/>
          <a:srcRect/>
          <a:stretch>
            <a:fillRect/>
          </a:stretch>
        </p:blipFill>
        <p:spPr>
          <a:xfrm>
            <a:off x="8232075" y="1612650"/>
            <a:ext cx="3271025" cy="3945999"/>
          </a:xfrm>
          <a:prstGeom prst="rect">
            <a:avLst/>
          </a:prstGeom>
          <a:noFill/>
          <a:ln>
            <a:noFill/>
          </a:ln>
        </p:spPr>
      </p:pic>
      <p:sp>
        <p:nvSpPr>
          <p:cNvPr id="950" name="Google Shape;950;p108"/>
          <p:cNvSpPr txBox="1"/>
          <p:nvPr/>
        </p:nvSpPr>
        <p:spPr>
          <a:xfrm>
            <a:off x="8472975" y="2002200"/>
            <a:ext cx="2814900" cy="3012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Action Steps:</a:t>
            </a:r>
            <a:endParaRPr sz="1800">
              <a:solidFill>
                <a:srgbClr val="434343"/>
              </a:solidFill>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Keyword Research &amp; SEO</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SEO Hub Pages</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Online Review Sites &amp; Online Listings</a:t>
            </a:r>
            <a:endParaRPr sz="1500">
              <a:solidFill>
                <a:srgbClr val="434343"/>
              </a:solidFill>
              <a:latin typeface="Calibri"/>
              <a:ea typeface="Calibri"/>
              <a:cs typeface="Calibri"/>
              <a:sym typeface="Calibri"/>
            </a:endParaRPr>
          </a:p>
          <a:p>
            <a:pPr marL="285750" marR="0" lvl="0" indent="-20955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Content Marketing &amp; Social Media</a:t>
            </a:r>
            <a:endParaRPr sz="1500">
              <a:solidFill>
                <a:srgbClr val="434343"/>
              </a:solidFill>
              <a:latin typeface="Calibri"/>
              <a:ea typeface="Calibri"/>
              <a:cs typeface="Calibri"/>
              <a:sym typeface="Calibri"/>
            </a:endParaRPr>
          </a:p>
          <a:p>
            <a:pPr marL="0" marR="0" lvl="0" indent="0" algn="l" rtl="0">
              <a:lnSpc>
                <a:spcPct val="115000"/>
              </a:lnSpc>
              <a:spcBef>
                <a:spcPts val="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951" name="Google Shape;951;p10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a:t>
            </a:r>
            <a:r>
              <a:rPr lang="en-US" sz="1900" b="0" i="1">
                <a:solidFill>
                  <a:schemeClr val="accent5"/>
                </a:solidFill>
                <a:latin typeface="Calibri"/>
                <a:ea typeface="Calibri"/>
                <a:cs typeface="Calibri"/>
                <a:sym typeface="Calibri"/>
              </a:rPr>
              <a:t> - overview</a:t>
            </a:r>
            <a:endParaRPr sz="1900" b="0" i="1">
              <a:solidFill>
                <a:schemeClr val="accent5"/>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955" name="Shape 955"/>
        <p:cNvGrpSpPr/>
        <p:nvPr/>
      </p:nvGrpSpPr>
      <p:grpSpPr>
        <a:xfrm>
          <a:off x="0" y="0"/>
          <a:ext cx="0" cy="0"/>
          <a:chOff x="0" y="0"/>
          <a:chExt cx="0" cy="0"/>
        </a:xfrm>
      </p:grpSpPr>
      <p:sp>
        <p:nvSpPr>
          <p:cNvPr id="956" name="Google Shape;956;p109"/>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3: lead generation (inbound)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1: Keyword Research</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957" name="Google Shape;957;p10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keyword research</a:t>
            </a:r>
            <a:endParaRPr sz="1900" b="0" i="1">
              <a:solidFill>
                <a:schemeClr val="accent5"/>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961" name="Shape 961"/>
        <p:cNvGrpSpPr/>
        <p:nvPr/>
      </p:nvGrpSpPr>
      <p:grpSpPr>
        <a:xfrm>
          <a:off x="0" y="0"/>
          <a:ext cx="0" cy="0"/>
          <a:chOff x="0" y="0"/>
          <a:chExt cx="0" cy="0"/>
        </a:xfrm>
      </p:grpSpPr>
      <p:sp>
        <p:nvSpPr>
          <p:cNvPr id="962" name="Google Shape;962;p110"/>
          <p:cNvSpPr txBox="1"/>
          <p:nvPr>
            <p:ph type="title"/>
          </p:nvPr>
        </p:nvSpPr>
        <p:spPr>
          <a:xfrm>
            <a:off x="833125" y="784225"/>
            <a:ext cx="107247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Keywords &amp; SEO: </a:t>
            </a:r>
            <a:r>
              <a:rPr lang="en-US" sz="3800" b="0" i="1">
                <a:solidFill>
                  <a:schemeClr val="accent5"/>
                </a:solidFill>
                <a:latin typeface="Calibri"/>
                <a:ea typeface="Calibri"/>
                <a:cs typeface="Calibri"/>
                <a:sym typeface="Calibri"/>
              </a:rPr>
              <a:t>Distro</a:t>
            </a:r>
            <a:endParaRPr sz="3800" b="0" i="1">
              <a:solidFill>
                <a:schemeClr val="accent5"/>
              </a:solidFill>
              <a:latin typeface="Calibri"/>
              <a:ea typeface="Calibri"/>
              <a:cs typeface="Calibri"/>
              <a:sym typeface="Calibri"/>
            </a:endParaRPr>
          </a:p>
        </p:txBody>
      </p:sp>
      <p:sp>
        <p:nvSpPr>
          <p:cNvPr id="963" name="Google Shape;963;p110"/>
          <p:cNvSpPr txBox="1"/>
          <p:nvPr>
            <p:ph type="body" idx="1"/>
          </p:nvPr>
        </p:nvSpPr>
        <p:spPr>
          <a:xfrm>
            <a:off x="862300" y="1611500"/>
            <a:ext cx="6942300" cy="4768200"/>
          </a:xfrm>
          <a:prstGeom prst="rect">
            <a:avLst/>
          </a:prstGeom>
          <a:noFill/>
          <a:ln>
            <a:noFill/>
          </a:ln>
        </p:spPr>
        <p:txBody>
          <a:bodyPr spcFirstLastPara="1" wrap="square" lIns="91425" tIns="45700" rIns="91425" bIns="45700" anchor="t" anchorCtr="0">
            <a:noAutofit/>
          </a:bodyPr>
          <a:lstStyle/>
          <a:p>
            <a:pPr marL="1143000" marR="0" lvl="2" indent="-209550" algn="l" rtl="0">
              <a:lnSpc>
                <a:spcPct val="120000"/>
              </a:lnSpc>
              <a:spcBef>
                <a:spcPts val="0"/>
              </a:spcBef>
              <a:spcAft>
                <a:spcPts val="0"/>
              </a:spcAft>
              <a:buClr>
                <a:srgbClr val="FF9900"/>
              </a:buClr>
              <a:buSzPts val="1500"/>
              <a:buFont typeface="Noto Sans Symbols"/>
              <a:buChar char="•"/>
            </a:pPr>
            <a:r>
              <a:rPr lang="en-US" sz="1500"/>
              <a:t>Store profiling/Store profiling software</a:t>
            </a:r>
            <a:endParaRPr sz="1500"/>
          </a:p>
          <a:p>
            <a:pPr marL="1143000" lvl="2" indent="-209550" algn="l" rtl="0">
              <a:lnSpc>
                <a:spcPct val="120000"/>
              </a:lnSpc>
              <a:spcBef>
                <a:spcPts val="0"/>
              </a:spcBef>
              <a:spcAft>
                <a:spcPts val="0"/>
              </a:spcAft>
              <a:buClr>
                <a:srgbClr val="FF9900"/>
              </a:buClr>
              <a:buSzPts val="1500"/>
              <a:buFont typeface="Noto Sans Symbols"/>
              <a:buChar char="•"/>
            </a:pPr>
            <a:r>
              <a:rPr lang="en-US" sz="1500"/>
              <a:t>Retail signage software</a:t>
            </a:r>
            <a:endParaRPr sz="1500"/>
          </a:p>
          <a:p>
            <a:pPr marL="1143000" lvl="2" indent="-209550" algn="l" rtl="0">
              <a:lnSpc>
                <a:spcPct val="120000"/>
              </a:lnSpc>
              <a:spcBef>
                <a:spcPts val="0"/>
              </a:spcBef>
              <a:spcAft>
                <a:spcPts val="0"/>
              </a:spcAft>
              <a:buClr>
                <a:srgbClr val="FF9900"/>
              </a:buClr>
              <a:buSzPts val="1500"/>
              <a:buFont typeface="Noto Sans Symbols"/>
              <a:buChar char="•"/>
            </a:pPr>
            <a:r>
              <a:rPr lang="en-US" sz="1500"/>
              <a:t>In-store signage software</a:t>
            </a:r>
            <a:endParaRPr sz="1500"/>
          </a:p>
          <a:p>
            <a:pPr marL="1143000" lvl="2" indent="-209550" algn="l" rtl="0">
              <a:lnSpc>
                <a:spcPct val="120000"/>
              </a:lnSpc>
              <a:spcBef>
                <a:spcPts val="0"/>
              </a:spcBef>
              <a:spcAft>
                <a:spcPts val="0"/>
              </a:spcAft>
              <a:buClr>
                <a:srgbClr val="FF9900"/>
              </a:buClr>
              <a:buSzPts val="1500"/>
              <a:buFont typeface="Noto Sans Symbols"/>
              <a:buChar char="•"/>
            </a:pPr>
            <a:r>
              <a:rPr lang="en-US" sz="1500"/>
              <a:t>In-store Profiling</a:t>
            </a:r>
            <a:endParaRPr sz="1500"/>
          </a:p>
          <a:p>
            <a:pPr marL="1143000" lvl="2" indent="-209550" algn="l" rtl="0">
              <a:lnSpc>
                <a:spcPct val="120000"/>
              </a:lnSpc>
              <a:spcBef>
                <a:spcPts val="0"/>
              </a:spcBef>
              <a:spcAft>
                <a:spcPts val="0"/>
              </a:spcAft>
              <a:buClr>
                <a:srgbClr val="FF9900"/>
              </a:buClr>
              <a:buSzPts val="1500"/>
              <a:buFont typeface="Noto Sans Symbols"/>
              <a:buChar char="•"/>
            </a:pPr>
            <a:r>
              <a:rPr lang="en-US" sz="1500"/>
              <a:t>In-store Marketing Solutions</a:t>
            </a:r>
            <a:endParaRPr sz="1500"/>
          </a:p>
          <a:p>
            <a:pPr marL="1143000" marR="0" lvl="2" indent="-209550" algn="l" rtl="0">
              <a:lnSpc>
                <a:spcPct val="120000"/>
              </a:lnSpc>
              <a:spcBef>
                <a:spcPts val="0"/>
              </a:spcBef>
              <a:spcAft>
                <a:spcPts val="0"/>
              </a:spcAft>
              <a:buClr>
                <a:srgbClr val="FF9900"/>
              </a:buClr>
              <a:buSzPts val="1500"/>
              <a:buFont typeface="Noto Sans Symbols"/>
              <a:buChar char="•"/>
            </a:pPr>
            <a:r>
              <a:rPr lang="en-US" sz="1500"/>
              <a:t>Promotional Planning Platform</a:t>
            </a:r>
            <a:endParaRPr sz="1500"/>
          </a:p>
          <a:p>
            <a:pPr marL="1143000" marR="0" lvl="2" indent="-209550" algn="l" rtl="0">
              <a:lnSpc>
                <a:spcPct val="120000"/>
              </a:lnSpc>
              <a:spcBef>
                <a:spcPts val="0"/>
              </a:spcBef>
              <a:spcAft>
                <a:spcPts val="0"/>
              </a:spcAft>
              <a:buClr>
                <a:srgbClr val="FF9900"/>
              </a:buClr>
              <a:buSzPts val="1500"/>
              <a:buFont typeface="Noto Sans Symbols"/>
              <a:buChar char="•"/>
            </a:pPr>
            <a:r>
              <a:rPr lang="en-US" sz="1500"/>
              <a:t>Merchandise Promotional Planning System</a:t>
            </a:r>
            <a:endParaRPr sz="1500"/>
          </a:p>
          <a:p>
            <a:pPr marL="1143000" marR="0" lvl="2" indent="-209550" algn="l" rtl="0">
              <a:lnSpc>
                <a:spcPct val="120000"/>
              </a:lnSpc>
              <a:spcBef>
                <a:spcPts val="0"/>
              </a:spcBef>
              <a:spcAft>
                <a:spcPts val="0"/>
              </a:spcAft>
              <a:buClr>
                <a:srgbClr val="FF9900"/>
              </a:buClr>
              <a:buSzPts val="1500"/>
              <a:buFont typeface="Noto Sans Symbols"/>
              <a:buChar char="•"/>
            </a:pPr>
            <a:r>
              <a:rPr lang="en-US" sz="1500"/>
              <a:t>In-store Marketing Solutions</a:t>
            </a:r>
            <a:endParaRPr sz="1500"/>
          </a:p>
          <a:p>
            <a:pPr marL="1143000" marR="0" lvl="2" indent="-209550" algn="l" rtl="0">
              <a:lnSpc>
                <a:spcPct val="120000"/>
              </a:lnSpc>
              <a:spcBef>
                <a:spcPts val="0"/>
              </a:spcBef>
              <a:spcAft>
                <a:spcPts val="0"/>
              </a:spcAft>
              <a:buClr>
                <a:srgbClr val="FF9900"/>
              </a:buClr>
              <a:buSzPts val="1500"/>
              <a:buChar char="•"/>
            </a:pPr>
            <a:r>
              <a:rPr lang="en-US" sz="1500"/>
              <a:t>POP signage software</a:t>
            </a:r>
            <a:endParaRPr sz="1500"/>
          </a:p>
          <a:p>
            <a:pPr marL="1143000" lvl="2" indent="-209550" algn="l" rtl="0">
              <a:lnSpc>
                <a:spcPct val="120000"/>
              </a:lnSpc>
              <a:spcBef>
                <a:spcPts val="0"/>
              </a:spcBef>
              <a:spcAft>
                <a:spcPts val="0"/>
              </a:spcAft>
              <a:buClr>
                <a:srgbClr val="FF9900"/>
              </a:buClr>
              <a:buSzPts val="1500"/>
              <a:buFont typeface="Noto Sans Symbols"/>
              <a:buChar char="•"/>
            </a:pPr>
            <a:r>
              <a:rPr lang="en-US" sz="1500"/>
              <a:t>Enterprise Marketing Management</a:t>
            </a:r>
            <a:endParaRPr sz="1500"/>
          </a:p>
          <a:p>
            <a:pPr marL="1143000" lvl="2" indent="-209550" algn="l" rtl="0">
              <a:lnSpc>
                <a:spcPct val="120000"/>
              </a:lnSpc>
              <a:spcBef>
                <a:spcPts val="0"/>
              </a:spcBef>
              <a:spcAft>
                <a:spcPts val="0"/>
              </a:spcAft>
              <a:buClr>
                <a:srgbClr val="FF9900"/>
              </a:buClr>
              <a:buSzPts val="1500"/>
              <a:buChar char="•"/>
            </a:pPr>
            <a:r>
              <a:rPr lang="en-US" sz="1500"/>
              <a:t>Inventory fulfillment and management</a:t>
            </a:r>
            <a:endParaRPr sz="1500"/>
          </a:p>
          <a:p>
            <a:pPr marL="1143000" marR="0" lvl="2" indent="-209550" algn="l" rtl="0">
              <a:lnSpc>
                <a:spcPct val="120000"/>
              </a:lnSpc>
              <a:spcBef>
                <a:spcPts val="0"/>
              </a:spcBef>
              <a:spcAft>
                <a:spcPts val="0"/>
              </a:spcAft>
              <a:buClr>
                <a:srgbClr val="FF9900"/>
              </a:buClr>
              <a:buSzPts val="1500"/>
              <a:buChar char="•"/>
            </a:pPr>
            <a:r>
              <a:rPr lang="en-US" sz="1500"/>
              <a:t>Others???</a:t>
            </a:r>
            <a:endParaRPr sz="1500"/>
          </a:p>
          <a:p>
            <a:pPr marL="228600" lvl="0" indent="-203200" algn="l" rtl="0">
              <a:lnSpc>
                <a:spcPct val="120000"/>
              </a:lnSpc>
              <a:spcBef>
                <a:spcPts val="0"/>
              </a:spcBef>
              <a:spcAft>
                <a:spcPts val="0"/>
              </a:spcAft>
              <a:buClr>
                <a:schemeClr val="accent2"/>
              </a:buClr>
              <a:buSzPts val="1400"/>
              <a:buFont typeface="Noto Sans Symbols"/>
              <a:buChar char="•"/>
            </a:pPr>
            <a:r>
              <a:rPr lang="en-US" sz="1400"/>
              <a:t>Next steps</a:t>
            </a:r>
            <a:endParaRPr sz="1400"/>
          </a:p>
          <a:p>
            <a:pPr marL="685800" lvl="1" indent="-203200" algn="l" rtl="0">
              <a:lnSpc>
                <a:spcPct val="100000"/>
              </a:lnSpc>
              <a:spcBef>
                <a:spcPts val="0"/>
              </a:spcBef>
              <a:spcAft>
                <a:spcPts val="0"/>
              </a:spcAft>
              <a:buClr>
                <a:schemeClr val="accent2"/>
              </a:buClr>
              <a:buSzPts val="1400"/>
              <a:buFont typeface="Noto Sans Symbols"/>
              <a:buChar char="✔"/>
            </a:pPr>
            <a:r>
              <a:rPr lang="en-US" sz="1400"/>
              <a:t>SEO - keyword research and strategy recommended. Then with the </a:t>
            </a:r>
            <a:r>
              <a:rPr lang="en-US" sz="1400" i="1" u="sng"/>
              <a:t>researched and vetted recommended keywords</a:t>
            </a:r>
            <a:r>
              <a:rPr lang="en-US" sz="1400"/>
              <a:t>: update onpage SEO and meta information per page; use the keywords in blog/article content;use these keywords as #hashtags (use them as a basis for hashtag research as hashtags are different than keywords) - once chosen, please add appropriate hashtags to all social media posts</a:t>
            </a:r>
            <a:endParaRPr sz="1400" b="1"/>
          </a:p>
        </p:txBody>
      </p:sp>
      <p:pic>
        <p:nvPicPr>
          <p:cNvPr id="964" name="Google Shape;964;p110"/>
          <p:cNvPicPr preferRelativeResize="0"/>
          <p:nvPr/>
        </p:nvPicPr>
        <p:blipFill rotWithShape="1">
          <a:blip r:embed="rId1"/>
          <a:srcRect/>
          <a:stretch>
            <a:fillRect/>
          </a:stretch>
        </p:blipFill>
        <p:spPr>
          <a:xfrm>
            <a:off x="7876175" y="1559375"/>
            <a:ext cx="3566725" cy="3987425"/>
          </a:xfrm>
          <a:prstGeom prst="rect">
            <a:avLst/>
          </a:prstGeom>
          <a:noFill/>
          <a:ln>
            <a:noFill/>
          </a:ln>
        </p:spPr>
      </p:pic>
      <p:sp>
        <p:nvSpPr>
          <p:cNvPr id="965" name="Google Shape;965;p110"/>
          <p:cNvSpPr txBox="1"/>
          <p:nvPr/>
        </p:nvSpPr>
        <p:spPr>
          <a:xfrm>
            <a:off x="8167638" y="1931600"/>
            <a:ext cx="2983800" cy="29883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CrossCap is currently not well known as an option with ideal clients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Significant opportunity to build awareness, which will increase conversions for lead generation &amp; direct sales activities</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966" name="Google Shape;966;p11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keywords &amp; SEO </a:t>
            </a:r>
            <a:endParaRPr sz="1900" b="0" i="1">
              <a:solidFill>
                <a:schemeClr val="accent5"/>
              </a:solidFill>
              <a:latin typeface="Calibri"/>
              <a:ea typeface="Calibri"/>
              <a:cs typeface="Calibri"/>
              <a:sym typeface="Calibri"/>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970" name="Shape 970"/>
        <p:cNvGrpSpPr/>
        <p:nvPr/>
      </p:nvGrpSpPr>
      <p:grpSpPr>
        <a:xfrm>
          <a:off x="0" y="0"/>
          <a:ext cx="0" cy="0"/>
          <a:chOff x="0" y="0"/>
          <a:chExt cx="0" cy="0"/>
        </a:xfrm>
      </p:grpSpPr>
      <p:sp>
        <p:nvSpPr>
          <p:cNvPr id="971" name="Google Shape;971;p111"/>
          <p:cNvSpPr txBox="1"/>
          <p:nvPr>
            <p:ph type="title"/>
          </p:nvPr>
        </p:nvSpPr>
        <p:spPr>
          <a:xfrm>
            <a:off x="762000" y="885825"/>
            <a:ext cx="111606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latin typeface="Calibri"/>
                <a:ea typeface="Calibri"/>
                <a:cs typeface="Calibri"/>
                <a:sym typeface="Calibri"/>
              </a:rPr>
              <a:t>Keyword Research </a:t>
            </a:r>
            <a:r>
              <a:rPr lang="en-US" sz="3800" b="0" i="1">
                <a:solidFill>
                  <a:schemeClr val="accent5"/>
                </a:solidFill>
                <a:latin typeface="Calibri"/>
                <a:ea typeface="Calibri"/>
                <a:cs typeface="Calibri"/>
                <a:sym typeface="Calibri"/>
              </a:rPr>
              <a:t>Marketing Calendar</a:t>
            </a:r>
            <a:endParaRPr sz="3800">
              <a:solidFill>
                <a:schemeClr val="accent5"/>
              </a:solidFill>
              <a:latin typeface="Calibri"/>
              <a:ea typeface="Calibri"/>
              <a:cs typeface="Calibri"/>
              <a:sym typeface="Calibri"/>
            </a:endParaRPr>
          </a:p>
        </p:txBody>
      </p:sp>
      <p:sp>
        <p:nvSpPr>
          <p:cNvPr id="972" name="Google Shape;972;p111"/>
          <p:cNvSpPr txBox="1"/>
          <p:nvPr>
            <p:ph type="body" idx="1"/>
          </p:nvPr>
        </p:nvSpPr>
        <p:spPr>
          <a:xfrm>
            <a:off x="862300" y="1611500"/>
            <a:ext cx="69132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Marketing Planning Software</a:t>
            </a: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Marketing Calendar Software</a:t>
            </a: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Enterprise  Marketing Planning Software</a:t>
            </a: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International Marketing Planning Software</a:t>
            </a: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Global Marketing Planning Software</a:t>
            </a: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Cloud based calendar tool</a:t>
            </a:r>
            <a:endParaRPr sz="1550"/>
          </a:p>
          <a:p>
            <a:pPr marL="1143000" marR="0" lvl="2" indent="-212725" algn="l" rtl="0">
              <a:lnSpc>
                <a:spcPct val="120000"/>
              </a:lnSpc>
              <a:spcBef>
                <a:spcPts val="0"/>
              </a:spcBef>
              <a:spcAft>
                <a:spcPts val="0"/>
              </a:spcAft>
              <a:buClr>
                <a:schemeClr val="accent2"/>
              </a:buClr>
              <a:buSzPts val="1550"/>
              <a:buFont typeface="Noto Sans Symbols"/>
              <a:buChar char="•"/>
            </a:pPr>
            <a:r>
              <a:rPr lang="en-US" sz="1550"/>
              <a:t>Calendar planning</a:t>
            </a:r>
            <a:endParaRPr sz="1550"/>
          </a:p>
          <a:p>
            <a:pPr marL="1143000" marR="0" lvl="2" indent="-212725" algn="l" rtl="0">
              <a:lnSpc>
                <a:spcPct val="120000"/>
              </a:lnSpc>
              <a:spcBef>
                <a:spcPts val="0"/>
              </a:spcBef>
              <a:spcAft>
                <a:spcPts val="0"/>
              </a:spcAft>
              <a:buSzPts val="1550"/>
              <a:buChar char="•"/>
            </a:pPr>
            <a:r>
              <a:rPr lang="en-US" sz="1550"/>
              <a:t>Others??</a:t>
            </a:r>
            <a:endParaRPr sz="1550"/>
          </a:p>
          <a:p>
            <a:pPr marL="400050" marR="0" lvl="1" indent="-225425" algn="l" rtl="0">
              <a:lnSpc>
                <a:spcPct val="120000"/>
              </a:lnSpc>
              <a:spcBef>
                <a:spcPts val="0"/>
              </a:spcBef>
              <a:spcAft>
                <a:spcPts val="0"/>
              </a:spcAft>
              <a:buClr>
                <a:schemeClr val="accent2"/>
              </a:buClr>
              <a:buSzPts val="1750"/>
              <a:buFont typeface="Noto Sans Symbols"/>
              <a:buChar char="✔"/>
            </a:pPr>
            <a:r>
              <a:rPr lang="en-US" sz="1550"/>
              <a:t>Next steps</a:t>
            </a:r>
            <a:endParaRPr sz="1550"/>
          </a:p>
          <a:p>
            <a:pPr marL="1143000" marR="0" lvl="2" indent="-212725" algn="l" rtl="0">
              <a:lnSpc>
                <a:spcPct val="100000"/>
              </a:lnSpc>
              <a:spcBef>
                <a:spcPts val="0"/>
              </a:spcBef>
              <a:spcAft>
                <a:spcPts val="0"/>
              </a:spcAft>
              <a:buClr>
                <a:schemeClr val="accent2"/>
              </a:buClr>
              <a:buSzPts val="1550"/>
              <a:buFont typeface="Noto Sans Symbols"/>
              <a:buChar char="•"/>
            </a:pPr>
            <a:r>
              <a:rPr lang="en-US" sz="1550"/>
              <a:t>SEO - keyword research and strategy recommended. Then with the </a:t>
            </a:r>
            <a:r>
              <a:rPr lang="en-US" sz="1550" i="1" u="sng"/>
              <a:t>researched and vetted recommended keywords</a:t>
            </a:r>
            <a:r>
              <a:rPr lang="en-US" sz="1550"/>
              <a:t>: update onpage SEO and meta information per page; use the keywords in blog/article content;use these keywords as #hashtags (use them as a basis for hashtag research as hashtags are different than keywords) - once chosen, please add appropriate hashtags to all social media posts</a:t>
            </a:r>
            <a:endParaRPr sz="1550"/>
          </a:p>
          <a:p>
            <a:pPr marL="6858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pic>
        <p:nvPicPr>
          <p:cNvPr id="973" name="Google Shape;973;p111"/>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974" name="Google Shape;974;p111"/>
          <p:cNvSpPr txBox="1"/>
          <p:nvPr/>
        </p:nvSpPr>
        <p:spPr>
          <a:xfrm>
            <a:off x="8282300" y="1816950"/>
            <a:ext cx="2983800" cy="1890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Key for discovery - people who don’t yet know about CrossCap</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975" name="Google Shape;975;p11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keyword research</a:t>
            </a:r>
            <a:endParaRPr sz="1900" b="0" i="1">
              <a:solidFill>
                <a:schemeClr val="accent5"/>
              </a:solidFill>
              <a:latin typeface="Calibri"/>
              <a:ea typeface="Calibri"/>
              <a:cs typeface="Calibri"/>
              <a:sym typeface="Calibri"/>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979" name="Shape 979"/>
        <p:cNvGrpSpPr/>
        <p:nvPr/>
      </p:nvGrpSpPr>
      <p:grpSpPr>
        <a:xfrm>
          <a:off x="0" y="0"/>
          <a:ext cx="0" cy="0"/>
          <a:chOff x="0" y="0"/>
          <a:chExt cx="0" cy="0"/>
        </a:xfrm>
      </p:grpSpPr>
      <p:sp>
        <p:nvSpPr>
          <p:cNvPr id="980" name="Google Shape;980;p112"/>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lead generation (inbound)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2: Hub Pages</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981" name="Google Shape;981;p11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986" name="Shape 986"/>
        <p:cNvGrpSpPr/>
        <p:nvPr/>
      </p:nvGrpSpPr>
      <p:grpSpPr>
        <a:xfrm>
          <a:off x="0" y="0"/>
          <a:ext cx="0" cy="0"/>
          <a:chOff x="0" y="0"/>
          <a:chExt cx="0" cy="0"/>
        </a:xfrm>
      </p:grpSpPr>
      <p:grpSp>
        <p:nvGrpSpPr>
          <p:cNvPr id="987" name="Google Shape;987;p113"/>
          <p:cNvGrpSpPr/>
          <p:nvPr/>
        </p:nvGrpSpPr>
        <p:grpSpPr>
          <a:xfrm>
            <a:off x="102425" y="366000"/>
            <a:ext cx="11887201" cy="6024861"/>
            <a:chOff x="304800" y="1119250"/>
            <a:chExt cx="11887201" cy="6024861"/>
          </a:xfrm>
        </p:grpSpPr>
        <p:pic>
          <p:nvPicPr>
            <p:cNvPr id="988" name="Google Shape;988;p113"/>
            <p:cNvPicPr preferRelativeResize="0"/>
            <p:nvPr/>
          </p:nvPicPr>
          <p:blipFill>
            <a:blip r:embed="rId1"/>
            <a:stretch>
              <a:fillRect/>
            </a:stretch>
          </p:blipFill>
          <p:spPr>
            <a:xfrm>
              <a:off x="304800" y="1119250"/>
              <a:ext cx="11887201" cy="6024861"/>
            </a:xfrm>
            <a:prstGeom prst="rect">
              <a:avLst/>
            </a:prstGeom>
            <a:noFill/>
            <a:ln>
              <a:noFill/>
            </a:ln>
          </p:spPr>
        </p:pic>
        <p:sp>
          <p:nvSpPr>
            <p:cNvPr id="989" name="Google Shape;989;p113"/>
            <p:cNvSpPr txBox="1"/>
            <p:nvPr/>
          </p:nvSpPr>
          <p:spPr>
            <a:xfrm>
              <a:off x="7903575" y="1263325"/>
              <a:ext cx="4098600" cy="16932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100" b="1">
                  <a:solidFill>
                    <a:srgbClr val="4A86E8"/>
                  </a:solidFill>
                  <a:latin typeface="Calibri"/>
                  <a:ea typeface="Calibri"/>
                  <a:cs typeface="Calibri"/>
                  <a:sym typeface="Calibri"/>
                </a:rPr>
                <a:t>The Ultimate Guide to National &amp; Global Marketing Planning and Promotion for Large Enterprise CMOs</a:t>
              </a:r>
              <a:endParaRPr sz="2100" b="1">
                <a:solidFill>
                  <a:srgbClr val="4A86E8"/>
                </a:solidFill>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p:txBody>
        </p:sp>
      </p:grpSp>
      <p:sp>
        <p:nvSpPr>
          <p:cNvPr id="990" name="Google Shape;990;p113"/>
          <p:cNvSpPr txBox="1"/>
          <p:nvPr/>
        </p:nvSpPr>
        <p:spPr>
          <a:xfrm>
            <a:off x="191125" y="5452675"/>
            <a:ext cx="2192400" cy="831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How to be More Efficient with Your Global Marketing Strategy </a:t>
            </a:r>
            <a:endParaRPr>
              <a:latin typeface="Calibri"/>
              <a:ea typeface="Calibri"/>
              <a:cs typeface="Calibri"/>
              <a:sym typeface="Calibri"/>
            </a:endParaRPr>
          </a:p>
        </p:txBody>
      </p:sp>
      <p:sp>
        <p:nvSpPr>
          <p:cNvPr id="991" name="Google Shape;991;p113"/>
          <p:cNvSpPr txBox="1"/>
          <p:nvPr/>
        </p:nvSpPr>
        <p:spPr>
          <a:xfrm>
            <a:off x="2513350" y="5452675"/>
            <a:ext cx="1545300" cy="831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KPIs Key to Profitable National Campaigns</a:t>
            </a:r>
            <a:endParaRPr>
              <a:latin typeface="Calibri"/>
              <a:ea typeface="Calibri"/>
              <a:cs typeface="Calibri"/>
              <a:sym typeface="Calibri"/>
            </a:endParaRPr>
          </a:p>
        </p:txBody>
      </p:sp>
      <p:sp>
        <p:nvSpPr>
          <p:cNvPr id="992" name="Google Shape;992;p113"/>
          <p:cNvSpPr txBox="1"/>
          <p:nvPr/>
        </p:nvSpPr>
        <p:spPr>
          <a:xfrm>
            <a:off x="4126050" y="5368975"/>
            <a:ext cx="2046000" cy="1046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Enterprise Marketing - Coaching Your Team to Deliver the Marketing Insights That Matter</a:t>
            </a:r>
            <a:endParaRPr>
              <a:latin typeface="Calibri"/>
              <a:ea typeface="Calibri"/>
              <a:cs typeface="Calibri"/>
              <a:sym typeface="Calibri"/>
            </a:endParaRPr>
          </a:p>
        </p:txBody>
      </p:sp>
      <p:sp>
        <p:nvSpPr>
          <p:cNvPr id="993" name="Google Shape;993;p113"/>
          <p:cNvSpPr txBox="1"/>
          <p:nvPr/>
        </p:nvSpPr>
        <p:spPr>
          <a:xfrm>
            <a:off x="6096000" y="5344975"/>
            <a:ext cx="2046000" cy="1046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Strategies for When One Region Consistently Outperforms Other Country Markets</a:t>
            </a:r>
            <a:endParaRPr>
              <a:latin typeface="Calibri"/>
              <a:ea typeface="Calibri"/>
              <a:cs typeface="Calibri"/>
              <a:sym typeface="Calibri"/>
            </a:endParaRPr>
          </a:p>
        </p:txBody>
      </p:sp>
      <p:sp>
        <p:nvSpPr>
          <p:cNvPr id="994" name="Google Shape;994;p113"/>
          <p:cNvSpPr txBox="1"/>
          <p:nvPr/>
        </p:nvSpPr>
        <p:spPr>
          <a:xfrm>
            <a:off x="8142000" y="5368975"/>
            <a:ext cx="1616700" cy="1046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Changing Marketing Strategy In National Retail Organizations</a:t>
            </a:r>
            <a:endParaRPr>
              <a:latin typeface="Calibri"/>
              <a:ea typeface="Calibri"/>
              <a:cs typeface="Calibri"/>
              <a:sym typeface="Calibri"/>
            </a:endParaRPr>
          </a:p>
        </p:txBody>
      </p:sp>
      <p:sp>
        <p:nvSpPr>
          <p:cNvPr id="995" name="Google Shape;995;p113"/>
          <p:cNvSpPr txBox="1"/>
          <p:nvPr/>
        </p:nvSpPr>
        <p:spPr>
          <a:xfrm>
            <a:off x="9935825" y="5285275"/>
            <a:ext cx="1869000" cy="831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latin typeface="Calibri"/>
                <a:ea typeface="Calibri"/>
                <a:cs typeface="Calibri"/>
                <a:sym typeface="Calibri"/>
              </a:rPr>
              <a:t>Are Your Regions’ Customers Really That Different?</a:t>
            </a:r>
            <a:endParaRPr>
              <a:latin typeface="Calibri"/>
              <a:ea typeface="Calibri"/>
              <a:cs typeface="Calibri"/>
              <a:sym typeface="Calibri"/>
            </a:endParaRPr>
          </a:p>
        </p:txBody>
      </p:sp>
      <p:sp>
        <p:nvSpPr>
          <p:cNvPr id="996" name="Google Shape;996;p113"/>
          <p:cNvSpPr txBox="1"/>
          <p:nvPr>
            <p:ph type="title"/>
          </p:nvPr>
        </p:nvSpPr>
        <p:spPr>
          <a:xfrm>
            <a:off x="191125" y="1345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000" name="Shape 1000"/>
        <p:cNvGrpSpPr/>
        <p:nvPr/>
      </p:nvGrpSpPr>
      <p:grpSpPr>
        <a:xfrm>
          <a:off x="0" y="0"/>
          <a:ext cx="0" cy="0"/>
          <a:chOff x="0" y="0"/>
          <a:chExt cx="0" cy="0"/>
        </a:xfrm>
      </p:grpSpPr>
      <p:pic>
        <p:nvPicPr>
          <p:cNvPr id="1001" name="Google Shape;1001;p114"/>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02" name="Google Shape;1002;p114"/>
          <p:cNvSpPr txBox="1"/>
          <p:nvPr>
            <p:ph type="title"/>
          </p:nvPr>
        </p:nvSpPr>
        <p:spPr>
          <a:xfrm>
            <a:off x="862250"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Example</a:t>
            </a:r>
            <a:endParaRPr sz="3800" b="0" i="1">
              <a:solidFill>
                <a:schemeClr val="accent5"/>
              </a:solidFill>
              <a:latin typeface="Calibri"/>
              <a:ea typeface="Calibri"/>
              <a:cs typeface="Calibri"/>
              <a:sym typeface="Calibri"/>
            </a:endParaRPr>
          </a:p>
        </p:txBody>
      </p:sp>
      <p:pic>
        <p:nvPicPr>
          <p:cNvPr id="1003" name="Google Shape;1003;p114"/>
          <p:cNvPicPr preferRelativeResize="0"/>
          <p:nvPr/>
        </p:nvPicPr>
        <p:blipFill>
          <a:blip r:embed="rId2"/>
          <a:stretch>
            <a:fillRect/>
          </a:stretch>
        </p:blipFill>
        <p:spPr>
          <a:xfrm>
            <a:off x="848425" y="1566300"/>
            <a:ext cx="6488504" cy="4443274"/>
          </a:xfrm>
          <a:prstGeom prst="rect">
            <a:avLst/>
          </a:prstGeom>
          <a:noFill/>
          <a:ln>
            <a:noFill/>
          </a:ln>
        </p:spPr>
      </p:pic>
      <p:sp>
        <p:nvSpPr>
          <p:cNvPr id="1004" name="Google Shape;1004;p114"/>
          <p:cNvSpPr txBox="1"/>
          <p:nvPr/>
        </p:nvSpPr>
        <p:spPr>
          <a:xfrm>
            <a:off x="1595650" y="6009575"/>
            <a:ext cx="6980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https://polytechtalent.com/guide-to-hiring-executive-talent/</a:t>
            </a:r>
            <a:endParaRPr lang="en-US"/>
          </a:p>
        </p:txBody>
      </p:sp>
      <p:sp>
        <p:nvSpPr>
          <p:cNvPr id="1005" name="Google Shape;1005;p114"/>
          <p:cNvSpPr txBox="1"/>
          <p:nvPr/>
        </p:nvSpPr>
        <p:spPr>
          <a:xfrm>
            <a:off x="8327275" y="1805700"/>
            <a:ext cx="2983800" cy="37293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Hubpages are a way to </a:t>
            </a:r>
            <a:r>
              <a:rPr lang="en-US" sz="1500">
                <a:solidFill>
                  <a:srgbClr val="434343"/>
                </a:solidFill>
                <a:latin typeface="Calibri"/>
                <a:ea typeface="Calibri"/>
                <a:cs typeface="Calibri"/>
                <a:sym typeface="Calibri"/>
              </a:rPr>
              <a:t>organize your content. It makes it easy for your persona to find all the information </a:t>
            </a:r>
            <a:r>
              <a:rPr lang="en-US" sz="1500" b="1">
                <a:solidFill>
                  <a:srgbClr val="434343"/>
                </a:solidFill>
                <a:latin typeface="Calibri"/>
                <a:ea typeface="Calibri"/>
                <a:cs typeface="Calibri"/>
                <a:sym typeface="Calibri"/>
              </a:rPr>
              <a:t>applicable to them </a:t>
            </a:r>
            <a:r>
              <a:rPr lang="en-US" sz="1500">
                <a:solidFill>
                  <a:srgbClr val="434343"/>
                </a:solidFill>
                <a:latin typeface="Calibri"/>
                <a:ea typeface="Calibri"/>
                <a:cs typeface="Calibri"/>
                <a:sym typeface="Calibri"/>
              </a:rPr>
              <a:t>in one spot. </a:t>
            </a:r>
            <a:endParaRPr sz="15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The alternative is leaving them to search through your site for content applicable to them. Which unfortunately, they will not do. </a:t>
            </a:r>
            <a:endParaRPr sz="15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Make it easy for your persona to know CrossCap supports them, “gets” them, can help them.</a:t>
            </a:r>
            <a:endParaRPr sz="15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1006" name="Google Shape;1006;p11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010" name="Shape 1010"/>
        <p:cNvGrpSpPr/>
        <p:nvPr/>
      </p:nvGrpSpPr>
      <p:grpSpPr>
        <a:xfrm>
          <a:off x="0" y="0"/>
          <a:ext cx="0" cy="0"/>
          <a:chOff x="0" y="0"/>
          <a:chExt cx="0" cy="0"/>
        </a:xfrm>
      </p:grpSpPr>
      <p:sp>
        <p:nvSpPr>
          <p:cNvPr id="1011" name="Google Shape;1011;p115"/>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CMO - Distro</a:t>
            </a:r>
            <a:endParaRPr sz="3800" b="0" i="1">
              <a:solidFill>
                <a:schemeClr val="accent5"/>
              </a:solidFill>
              <a:latin typeface="Calibri"/>
              <a:ea typeface="Calibri"/>
              <a:cs typeface="Calibri"/>
              <a:sym typeface="Calibri"/>
            </a:endParaRPr>
          </a:p>
        </p:txBody>
      </p:sp>
      <p:sp>
        <p:nvSpPr>
          <p:cNvPr id="1012" name="Google Shape;1012;p115"/>
          <p:cNvSpPr txBox="1"/>
          <p:nvPr>
            <p:ph type="body" idx="1"/>
          </p:nvPr>
        </p:nvSpPr>
        <p:spPr>
          <a:xfrm>
            <a:off x="879650" y="1611500"/>
            <a:ext cx="7200600" cy="4768200"/>
          </a:xfrm>
          <a:prstGeom prst="rect">
            <a:avLst/>
          </a:prstGeom>
          <a:noFill/>
          <a:ln>
            <a:noFill/>
          </a:ln>
        </p:spPr>
        <p:txBody>
          <a:bodyPr spcFirstLastPara="1" wrap="square" lIns="91425" tIns="45700" rIns="91425" bIns="45700" anchor="t" anchorCtr="0">
            <a:noAutofit/>
          </a:bodyPr>
          <a:lstStyle/>
          <a:p>
            <a:pPr marL="400050" marR="0" lvl="1" indent="-219075" algn="l" rtl="0">
              <a:lnSpc>
                <a:spcPct val="100000"/>
              </a:lnSpc>
              <a:spcBef>
                <a:spcPts val="0"/>
              </a:spcBef>
              <a:spcAft>
                <a:spcPts val="0"/>
              </a:spcAft>
              <a:buClr>
                <a:schemeClr val="accent2"/>
              </a:buClr>
              <a:buSzPts val="1650"/>
              <a:buFont typeface="Noto Sans Symbols"/>
              <a:buChar char="✔"/>
            </a:pPr>
            <a:r>
              <a:rPr lang="en-US" sz="1650" b="1"/>
              <a:t>The Ultimate Guide to Multi-Location In-store Marketing for </a:t>
            </a:r>
            <a:br>
              <a:rPr lang="en-US" sz="1650" b="1"/>
            </a:br>
            <a:r>
              <a:rPr lang="en-US" sz="1650" b="1"/>
              <a:t>Large Enterprise CMOs</a:t>
            </a:r>
            <a:br>
              <a:rPr lang="en-US" sz="1650" b="1"/>
            </a:br>
            <a:endParaRPr sz="1650" b="1"/>
          </a:p>
          <a:p>
            <a:pPr marL="914400" marR="0" lvl="0" indent="-333375" algn="l" rtl="0">
              <a:lnSpc>
                <a:spcPct val="120000"/>
              </a:lnSpc>
              <a:spcBef>
                <a:spcPts val="0"/>
              </a:spcBef>
              <a:spcAft>
                <a:spcPts val="0"/>
              </a:spcAft>
              <a:buSzPts val="1650"/>
              <a:buChar char="●"/>
            </a:pPr>
            <a:r>
              <a:rPr lang="en-US" sz="1650"/>
              <a:t>Company Growth</a:t>
            </a:r>
            <a:endParaRPr sz="1650"/>
          </a:p>
          <a:p>
            <a:pPr marL="1828800" marR="0" lvl="1" indent="-333375" algn="l" rtl="0">
              <a:lnSpc>
                <a:spcPct val="120000"/>
              </a:lnSpc>
              <a:spcBef>
                <a:spcPts val="0"/>
              </a:spcBef>
              <a:spcAft>
                <a:spcPts val="0"/>
              </a:spcAft>
              <a:buSzPts val="1650"/>
              <a:buChar char="○"/>
            </a:pPr>
            <a:r>
              <a:rPr lang="en-US" sz="1650"/>
              <a:t>CMO’s responsibility for the company growth</a:t>
            </a:r>
            <a:endParaRPr sz="1650"/>
          </a:p>
          <a:p>
            <a:pPr marL="914400" marR="0" lvl="0" indent="-333375" algn="l" rtl="0">
              <a:lnSpc>
                <a:spcPct val="120000"/>
              </a:lnSpc>
              <a:spcBef>
                <a:spcPts val="0"/>
              </a:spcBef>
              <a:spcAft>
                <a:spcPts val="0"/>
              </a:spcAft>
              <a:buSzPts val="1650"/>
              <a:buChar char="●"/>
            </a:pPr>
            <a:r>
              <a:rPr lang="en-US" sz="1650"/>
              <a:t>Technology</a:t>
            </a:r>
            <a:endParaRPr sz="1650"/>
          </a:p>
          <a:p>
            <a:pPr marL="1828800" lvl="1" indent="-333375" algn="l" rtl="0">
              <a:lnSpc>
                <a:spcPct val="120000"/>
              </a:lnSpc>
              <a:spcBef>
                <a:spcPts val="0"/>
              </a:spcBef>
              <a:spcAft>
                <a:spcPts val="0"/>
              </a:spcAft>
              <a:buSzPts val="1650"/>
              <a:buChar char="○"/>
            </a:pPr>
            <a:r>
              <a:rPr lang="en-US" sz="1650"/>
              <a:t>CMO’s responsibility to get their team the right tools</a:t>
            </a:r>
            <a:endParaRPr sz="1150" i="1"/>
          </a:p>
          <a:p>
            <a:pPr marL="914400" marR="0" lvl="0" indent="-333375" algn="l" rtl="0">
              <a:lnSpc>
                <a:spcPct val="120000"/>
              </a:lnSpc>
              <a:spcBef>
                <a:spcPts val="0"/>
              </a:spcBef>
              <a:spcAft>
                <a:spcPts val="0"/>
              </a:spcAft>
              <a:buSzPts val="1650"/>
              <a:buChar char="●"/>
            </a:pPr>
            <a:r>
              <a:rPr lang="en-US" sz="1650"/>
              <a:t>Customer Experience (CX)</a:t>
            </a:r>
            <a:endParaRPr sz="1650"/>
          </a:p>
          <a:p>
            <a:pPr marL="1828800" marR="0" lvl="1" indent="-333375" algn="l" rtl="0">
              <a:lnSpc>
                <a:spcPct val="120000"/>
              </a:lnSpc>
              <a:spcBef>
                <a:spcPts val="0"/>
              </a:spcBef>
              <a:spcAft>
                <a:spcPts val="0"/>
              </a:spcAft>
              <a:buSzPts val="1650"/>
              <a:buChar char="○"/>
            </a:pPr>
            <a:r>
              <a:rPr lang="en-US" sz="1650"/>
              <a:t>CMO’s responsibility for the customer experience</a:t>
            </a:r>
            <a:endParaRPr sz="1650"/>
          </a:p>
          <a:p>
            <a:pPr marL="914400" marR="0" lvl="0" indent="-333375" algn="l" rtl="0">
              <a:lnSpc>
                <a:spcPct val="120000"/>
              </a:lnSpc>
              <a:spcBef>
                <a:spcPts val="0"/>
              </a:spcBef>
              <a:spcAft>
                <a:spcPts val="0"/>
              </a:spcAft>
              <a:buSzPts val="1650"/>
              <a:buChar char="●"/>
            </a:pPr>
            <a:r>
              <a:rPr lang="en-US" sz="1650"/>
              <a:t>Regional-Specific Marketing</a:t>
            </a:r>
            <a:endParaRPr sz="1650"/>
          </a:p>
          <a:p>
            <a:pPr marL="1828800" marR="0" lvl="1" indent="-333375" algn="l" rtl="0">
              <a:lnSpc>
                <a:spcPct val="120000"/>
              </a:lnSpc>
              <a:spcBef>
                <a:spcPts val="0"/>
              </a:spcBef>
              <a:spcAft>
                <a:spcPts val="0"/>
              </a:spcAft>
              <a:buSzPts val="1650"/>
              <a:buChar char="○"/>
            </a:pPr>
            <a:r>
              <a:rPr lang="en-US" sz="1650"/>
              <a:t>CMO’s responsibility for marketing: regional differences </a:t>
            </a:r>
            <a:endParaRPr sz="1650"/>
          </a:p>
          <a:p>
            <a:pPr marL="914400" marR="0" lvl="0" indent="-333375" algn="l" rtl="0">
              <a:lnSpc>
                <a:spcPct val="120000"/>
              </a:lnSpc>
              <a:spcBef>
                <a:spcPts val="0"/>
              </a:spcBef>
              <a:spcAft>
                <a:spcPts val="0"/>
              </a:spcAft>
              <a:buSzPts val="1650"/>
              <a:buChar char="●"/>
            </a:pPr>
            <a:r>
              <a:rPr lang="en-US" sz="1650"/>
              <a:t>Internal Teams &amp; Suppliers</a:t>
            </a:r>
            <a:endParaRPr sz="1650"/>
          </a:p>
          <a:p>
            <a:pPr marL="1828800" marR="0" lvl="1" indent="-333375" algn="l" rtl="0">
              <a:lnSpc>
                <a:spcPct val="120000"/>
              </a:lnSpc>
              <a:spcBef>
                <a:spcPts val="0"/>
              </a:spcBef>
              <a:spcAft>
                <a:spcPts val="0"/>
              </a:spcAft>
              <a:buSzPts val="1650"/>
              <a:buChar char="○"/>
            </a:pPr>
            <a:r>
              <a:rPr lang="en-US" sz="1650"/>
              <a:t>CMO’s responsibility for right team/vendors</a:t>
            </a:r>
            <a:endParaRPr sz="1650"/>
          </a:p>
          <a:p>
            <a:pPr marL="914400" marR="0" lvl="0" indent="-333375" algn="l" rtl="0">
              <a:lnSpc>
                <a:spcPct val="120000"/>
              </a:lnSpc>
              <a:spcBef>
                <a:spcPts val="0"/>
              </a:spcBef>
              <a:spcAft>
                <a:spcPts val="0"/>
              </a:spcAft>
              <a:buSzPts val="1650"/>
              <a:buChar char="●"/>
            </a:pPr>
            <a:r>
              <a:rPr lang="en-US" sz="1650"/>
              <a:t>Sales Enablement</a:t>
            </a:r>
            <a:endParaRPr sz="1650"/>
          </a:p>
          <a:p>
            <a:pPr marL="1828800" marR="0" lvl="1" indent="-333375" algn="l" rtl="0">
              <a:lnSpc>
                <a:spcPct val="120000"/>
              </a:lnSpc>
              <a:spcBef>
                <a:spcPts val="0"/>
              </a:spcBef>
              <a:spcAft>
                <a:spcPts val="0"/>
              </a:spcAft>
              <a:buSzPts val="1650"/>
              <a:buChar char="○"/>
            </a:pPr>
            <a:r>
              <a:rPr lang="en-US" sz="1650"/>
              <a:t>CMO’s responsibility to set up sales for success</a:t>
            </a:r>
            <a:endParaRPr sz="1650"/>
          </a:p>
          <a:p>
            <a:pPr marL="1600200" marR="0" lvl="0" indent="0" algn="l" rtl="0">
              <a:lnSpc>
                <a:spcPct val="120000"/>
              </a:lnSpc>
              <a:spcBef>
                <a:spcPts val="0"/>
              </a:spcBef>
              <a:spcAft>
                <a:spcPts val="0"/>
              </a:spcAft>
              <a:buNone/>
            </a:pPr>
            <a:endParaRPr sz="1550"/>
          </a:p>
          <a:p>
            <a:pPr marL="0" marR="0" lvl="0" indent="0" algn="l" rtl="0">
              <a:lnSpc>
                <a:spcPct val="100000"/>
              </a:lnSpc>
              <a:spcBef>
                <a:spcPts val="1000"/>
              </a:spcBef>
              <a:spcAft>
                <a:spcPts val="0"/>
              </a:spcAft>
              <a:buNone/>
            </a:pPr>
            <a:endParaRPr sz="1500" b="1"/>
          </a:p>
        </p:txBody>
      </p:sp>
      <p:pic>
        <p:nvPicPr>
          <p:cNvPr id="1013" name="Google Shape;1013;p115"/>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14" name="Google Shape;1014;p115"/>
          <p:cNvSpPr txBox="1"/>
          <p:nvPr/>
        </p:nvSpPr>
        <p:spPr>
          <a:xfrm>
            <a:off x="8214875" y="1826363"/>
            <a:ext cx="2983800" cy="41274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Blogs are w</a:t>
            </a:r>
            <a:r>
              <a:rPr lang="en-US" sz="1600">
                <a:solidFill>
                  <a:schemeClr val="dk1"/>
                </a:solidFill>
                <a:latin typeface="Calibri"/>
                <a:ea typeface="Calibri"/>
                <a:cs typeface="Calibri"/>
                <a:sym typeface="Calibri"/>
              </a:rPr>
              <a:t>ritten at the strategic level to show CMOs CrossCap is a strategic </a:t>
            </a:r>
            <a:r>
              <a:rPr lang="en-US" sz="1600">
                <a:solidFill>
                  <a:schemeClr val="dk1"/>
                </a:solidFill>
                <a:latin typeface="Calibri"/>
                <a:ea typeface="Calibri"/>
                <a:cs typeface="Calibri"/>
                <a:sym typeface="Calibri"/>
              </a:rPr>
              <a:t>must have solution</a:t>
            </a:r>
            <a:endParaRPr sz="1600">
              <a:solidFill>
                <a:schemeClr val="dk1"/>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Demonstrates deeper understanding of your CMO’s problems that CrossCap helps solve</a:t>
            </a:r>
            <a:endParaRPr sz="1600">
              <a:solidFill>
                <a:schemeClr val="dk1"/>
              </a:solidFill>
              <a:latin typeface="Calibri"/>
              <a:ea typeface="Calibri"/>
              <a:cs typeface="Calibri"/>
              <a:sym typeface="Calibri"/>
            </a:endParaRPr>
          </a:p>
          <a:p>
            <a:pPr marL="45720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15" name="Google Shape;1015;p11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019" name="Shape 1019"/>
        <p:cNvGrpSpPr/>
        <p:nvPr/>
      </p:nvGrpSpPr>
      <p:grpSpPr>
        <a:xfrm>
          <a:off x="0" y="0"/>
          <a:ext cx="0" cy="0"/>
          <a:chOff x="0" y="0"/>
          <a:chExt cx="0" cy="0"/>
        </a:xfrm>
      </p:grpSpPr>
      <p:sp>
        <p:nvSpPr>
          <p:cNvPr id="1020" name="Google Shape;1020;p116"/>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CMO - Distro (in detail) </a:t>
            </a:r>
            <a:endParaRPr sz="3800" b="0" i="1">
              <a:solidFill>
                <a:schemeClr val="accent5"/>
              </a:solidFill>
              <a:latin typeface="Calibri"/>
              <a:ea typeface="Calibri"/>
              <a:cs typeface="Calibri"/>
              <a:sym typeface="Calibri"/>
            </a:endParaRPr>
          </a:p>
        </p:txBody>
      </p:sp>
      <p:sp>
        <p:nvSpPr>
          <p:cNvPr id="1021" name="Google Shape;1021;p116"/>
          <p:cNvSpPr txBox="1"/>
          <p:nvPr>
            <p:ph type="body" idx="1"/>
          </p:nvPr>
        </p:nvSpPr>
        <p:spPr>
          <a:xfrm>
            <a:off x="879650" y="1459100"/>
            <a:ext cx="7200600" cy="4768200"/>
          </a:xfrm>
          <a:prstGeom prst="rect">
            <a:avLst/>
          </a:prstGeom>
          <a:noFill/>
          <a:ln>
            <a:noFill/>
          </a:ln>
        </p:spPr>
        <p:txBody>
          <a:bodyPr spcFirstLastPara="1" wrap="square" lIns="91425" tIns="45700" rIns="91425" bIns="45700" anchor="t" anchorCtr="0">
            <a:noAutofit/>
          </a:bodyPr>
          <a:lstStyle/>
          <a:p>
            <a:pPr marL="685800" marR="0" lvl="1" indent="-219075" algn="l" rtl="0">
              <a:lnSpc>
                <a:spcPct val="120000"/>
              </a:lnSpc>
              <a:spcBef>
                <a:spcPts val="0"/>
              </a:spcBef>
              <a:spcAft>
                <a:spcPts val="0"/>
              </a:spcAft>
              <a:buSzPts val="1650"/>
              <a:buChar char="○"/>
            </a:pPr>
            <a:r>
              <a:rPr lang="en-US" sz="1650"/>
              <a:t>Company Growth</a:t>
            </a:r>
            <a:endParaRPr sz="1650"/>
          </a:p>
          <a:p>
            <a:pPr marL="1143000" marR="0" lvl="2" indent="-200025" algn="l" rtl="0">
              <a:lnSpc>
                <a:spcPct val="120000"/>
              </a:lnSpc>
              <a:spcBef>
                <a:spcPts val="0"/>
              </a:spcBef>
              <a:spcAft>
                <a:spcPts val="0"/>
              </a:spcAft>
              <a:buClr>
                <a:schemeClr val="accent2"/>
              </a:buClr>
              <a:buSzPts val="1350"/>
              <a:buChar char="■"/>
            </a:pPr>
            <a:r>
              <a:rPr lang="en-US" sz="1350"/>
              <a:t>Ensuring in-store campaigns lead to bottom-line growth for the organization</a:t>
            </a:r>
            <a:endParaRPr sz="1350"/>
          </a:p>
          <a:p>
            <a:pPr marL="1143000" marR="0" lvl="2" indent="-200025" algn="l" rtl="0">
              <a:lnSpc>
                <a:spcPct val="120000"/>
              </a:lnSpc>
              <a:spcBef>
                <a:spcPts val="0"/>
              </a:spcBef>
              <a:spcAft>
                <a:spcPts val="0"/>
              </a:spcAft>
              <a:buClr>
                <a:schemeClr val="accent2"/>
              </a:buClr>
              <a:buSzPts val="1350"/>
              <a:buChar char="■"/>
            </a:pPr>
            <a:r>
              <a:rPr lang="en-US" sz="1350"/>
              <a:t>ebook: The all new Retail Marketing Essentials for the CMO</a:t>
            </a:r>
            <a:endParaRPr sz="1650"/>
          </a:p>
          <a:p>
            <a:pPr marL="685800" marR="0" lvl="1" indent="-219075" algn="l" rtl="0">
              <a:lnSpc>
                <a:spcPct val="120000"/>
              </a:lnSpc>
              <a:spcBef>
                <a:spcPts val="0"/>
              </a:spcBef>
              <a:spcAft>
                <a:spcPts val="0"/>
              </a:spcAft>
              <a:buSzPts val="1650"/>
              <a:buChar char="○"/>
            </a:pPr>
            <a:r>
              <a:rPr lang="en-US" sz="1650"/>
              <a:t>Technology</a:t>
            </a:r>
            <a:endParaRPr sz="1650"/>
          </a:p>
          <a:p>
            <a:pPr marL="1143000" marR="0" lvl="2" indent="-200025" algn="l" rtl="0">
              <a:lnSpc>
                <a:spcPct val="120000"/>
              </a:lnSpc>
              <a:spcBef>
                <a:spcPts val="0"/>
              </a:spcBef>
              <a:spcAft>
                <a:spcPts val="0"/>
              </a:spcAft>
              <a:buClr>
                <a:schemeClr val="accent2"/>
              </a:buClr>
              <a:buSzPts val="1350"/>
              <a:buChar char="■"/>
            </a:pPr>
            <a:r>
              <a:rPr lang="en-US" sz="1350"/>
              <a:t>Is controlled access delaying your team’s ability to perform?</a:t>
            </a:r>
            <a:endParaRPr sz="1350"/>
          </a:p>
          <a:p>
            <a:pPr marL="1143000" marR="0" lvl="2" indent="-200025" algn="l" rtl="0">
              <a:lnSpc>
                <a:spcPct val="120000"/>
              </a:lnSpc>
              <a:spcBef>
                <a:spcPts val="0"/>
              </a:spcBef>
              <a:spcAft>
                <a:spcPts val="0"/>
              </a:spcAft>
              <a:buClr>
                <a:schemeClr val="accent2"/>
              </a:buClr>
              <a:buSzPts val="1350"/>
              <a:buChar char="■"/>
            </a:pPr>
            <a:r>
              <a:rPr lang="en-US" sz="1350"/>
              <a:t>Marketing inventory eating away at your bottom line?</a:t>
            </a:r>
            <a:endParaRPr sz="1650"/>
          </a:p>
          <a:p>
            <a:pPr marL="685800" marR="0" lvl="1" indent="-219075" algn="l" rtl="0">
              <a:lnSpc>
                <a:spcPct val="120000"/>
              </a:lnSpc>
              <a:spcBef>
                <a:spcPts val="0"/>
              </a:spcBef>
              <a:spcAft>
                <a:spcPts val="0"/>
              </a:spcAft>
              <a:buSzPts val="1650"/>
              <a:buChar char="○"/>
            </a:pPr>
            <a:r>
              <a:rPr lang="en-US" sz="1650"/>
              <a:t>Customer Experience (CX)</a:t>
            </a:r>
            <a:endParaRPr sz="1650"/>
          </a:p>
          <a:p>
            <a:pPr marL="1143000" marR="0" lvl="2" indent="-200025" algn="l" rtl="0">
              <a:lnSpc>
                <a:spcPct val="120000"/>
              </a:lnSpc>
              <a:spcBef>
                <a:spcPts val="0"/>
              </a:spcBef>
              <a:spcAft>
                <a:spcPts val="0"/>
              </a:spcAft>
              <a:buClr>
                <a:schemeClr val="accent2"/>
              </a:buClr>
              <a:buSzPts val="1350"/>
              <a:buChar char="■"/>
            </a:pPr>
            <a:r>
              <a:rPr lang="en-US" sz="1350"/>
              <a:t>The value of the CMOs store walk</a:t>
            </a:r>
            <a:endParaRPr sz="1350"/>
          </a:p>
          <a:p>
            <a:pPr marL="1143000" marR="0" lvl="2" indent="-200025" algn="l" rtl="0">
              <a:lnSpc>
                <a:spcPct val="120000"/>
              </a:lnSpc>
              <a:spcBef>
                <a:spcPts val="0"/>
              </a:spcBef>
              <a:spcAft>
                <a:spcPts val="0"/>
              </a:spcAft>
              <a:buClr>
                <a:schemeClr val="accent2"/>
              </a:buClr>
              <a:buSzPts val="1350"/>
              <a:buChar char="■"/>
            </a:pPr>
            <a:r>
              <a:rPr lang="en-US" sz="1350"/>
              <a:t>Digital signage and accessibility for your customers</a:t>
            </a:r>
            <a:endParaRPr sz="1350"/>
          </a:p>
          <a:p>
            <a:pPr marL="685800" marR="0" lvl="1" indent="-219075" algn="l" rtl="0">
              <a:lnSpc>
                <a:spcPct val="120000"/>
              </a:lnSpc>
              <a:spcBef>
                <a:spcPts val="0"/>
              </a:spcBef>
              <a:spcAft>
                <a:spcPts val="0"/>
              </a:spcAft>
              <a:buSzPts val="1650"/>
              <a:buChar char="○"/>
            </a:pPr>
            <a:r>
              <a:rPr lang="en-US" sz="1650"/>
              <a:t>Regional-Specific Marketing</a:t>
            </a:r>
            <a:endParaRPr sz="1650"/>
          </a:p>
          <a:p>
            <a:pPr marL="1143000" marR="0" lvl="2" indent="-200025" algn="l" rtl="0">
              <a:lnSpc>
                <a:spcPct val="120000"/>
              </a:lnSpc>
              <a:spcBef>
                <a:spcPts val="0"/>
              </a:spcBef>
              <a:spcAft>
                <a:spcPts val="0"/>
              </a:spcAft>
              <a:buClr>
                <a:schemeClr val="accent2"/>
              </a:buClr>
              <a:buSzPts val="1350"/>
              <a:buChar char="■"/>
            </a:pPr>
            <a:r>
              <a:rPr lang="en-US" sz="1350"/>
              <a:t>Keeping up with your regional marketing team</a:t>
            </a:r>
            <a:endParaRPr sz="1350"/>
          </a:p>
          <a:p>
            <a:pPr marL="1143000" marR="0" lvl="2" indent="-200025" algn="l" rtl="0">
              <a:lnSpc>
                <a:spcPct val="120000"/>
              </a:lnSpc>
              <a:spcBef>
                <a:spcPts val="0"/>
              </a:spcBef>
              <a:spcAft>
                <a:spcPts val="0"/>
              </a:spcAft>
              <a:buClr>
                <a:schemeClr val="accent2"/>
              </a:buClr>
              <a:buSzPts val="1350"/>
              <a:buChar char="■"/>
            </a:pPr>
            <a:r>
              <a:rPr lang="en-US" sz="1350"/>
              <a:t>Does your regional in-store marketing need to be so regionally specific?</a:t>
            </a:r>
            <a:endParaRPr sz="1650"/>
          </a:p>
          <a:p>
            <a:pPr marL="685800" marR="0" lvl="1" indent="-219075" algn="l" rtl="0">
              <a:lnSpc>
                <a:spcPct val="120000"/>
              </a:lnSpc>
              <a:spcBef>
                <a:spcPts val="0"/>
              </a:spcBef>
              <a:spcAft>
                <a:spcPts val="0"/>
              </a:spcAft>
              <a:buSzPts val="1650"/>
              <a:buChar char="○"/>
            </a:pPr>
            <a:r>
              <a:rPr lang="en-US" sz="1650"/>
              <a:t>Internal Teams &amp; Suppliers</a:t>
            </a:r>
            <a:endParaRPr sz="1650"/>
          </a:p>
          <a:p>
            <a:pPr marL="1143000" marR="0" lvl="2" indent="-200025" algn="l" rtl="0">
              <a:lnSpc>
                <a:spcPct val="120000"/>
              </a:lnSpc>
              <a:spcBef>
                <a:spcPts val="0"/>
              </a:spcBef>
              <a:spcAft>
                <a:spcPts val="0"/>
              </a:spcAft>
              <a:buClr>
                <a:schemeClr val="accent2"/>
              </a:buClr>
              <a:buSzPts val="1350"/>
              <a:buChar char="■"/>
            </a:pPr>
            <a:r>
              <a:rPr lang="en-US" sz="1350"/>
              <a:t>Running multi-team collaboration in web &amp; mobile </a:t>
            </a:r>
            <a:endParaRPr sz="1350"/>
          </a:p>
          <a:p>
            <a:pPr marL="1143000" marR="0" lvl="2" indent="-200025" algn="l" rtl="0">
              <a:lnSpc>
                <a:spcPct val="120000"/>
              </a:lnSpc>
              <a:spcBef>
                <a:spcPts val="0"/>
              </a:spcBef>
              <a:spcAft>
                <a:spcPts val="0"/>
              </a:spcAft>
              <a:buClr>
                <a:schemeClr val="accent2"/>
              </a:buClr>
              <a:buSzPts val="1350"/>
              <a:buChar char="■"/>
            </a:pPr>
            <a:r>
              <a:rPr lang="en-US" sz="1350"/>
              <a:t>Collaborate with multiple suppliers on project tasks</a:t>
            </a:r>
            <a:endParaRPr sz="1350"/>
          </a:p>
          <a:p>
            <a:pPr marL="685800" lvl="1" indent="-219075" algn="l" rtl="0">
              <a:lnSpc>
                <a:spcPct val="120000"/>
              </a:lnSpc>
              <a:spcBef>
                <a:spcPts val="0"/>
              </a:spcBef>
              <a:spcAft>
                <a:spcPts val="0"/>
              </a:spcAft>
              <a:buSzPts val="1650"/>
              <a:buChar char="○"/>
            </a:pPr>
            <a:r>
              <a:rPr lang="en-US" sz="1650"/>
              <a:t>Sales Enablement</a:t>
            </a:r>
            <a:endParaRPr sz="1650"/>
          </a:p>
          <a:p>
            <a:pPr marL="1143000" lvl="2" indent="-219075" algn="l" rtl="0">
              <a:lnSpc>
                <a:spcPct val="120000"/>
              </a:lnSpc>
              <a:spcBef>
                <a:spcPts val="0"/>
              </a:spcBef>
              <a:spcAft>
                <a:spcPts val="0"/>
              </a:spcAft>
              <a:buClr>
                <a:schemeClr val="accent2"/>
              </a:buClr>
              <a:buSzPts val="1650"/>
              <a:buChar char="■"/>
            </a:pPr>
            <a:r>
              <a:rPr lang="en-US" sz="1650"/>
              <a:t> </a:t>
            </a:r>
            <a:r>
              <a:rPr lang="en-US" sz="1350"/>
              <a:t>How to save millions on in-store signage and still drive profitable sales</a:t>
            </a:r>
            <a:endParaRPr sz="1350"/>
          </a:p>
          <a:p>
            <a:pPr marL="1143000" lvl="2" indent="-219075" algn="l" rtl="0">
              <a:lnSpc>
                <a:spcPct val="120000"/>
              </a:lnSpc>
              <a:spcBef>
                <a:spcPts val="0"/>
              </a:spcBef>
              <a:spcAft>
                <a:spcPts val="0"/>
              </a:spcAft>
              <a:buClr>
                <a:schemeClr val="accent2"/>
              </a:buClr>
              <a:buSzPts val="1650"/>
              <a:buChar char="■"/>
            </a:pPr>
            <a:r>
              <a:rPr lang="en-US" sz="1350"/>
              <a:t>How to Measure Sales Lift in a National Retail Promotion</a:t>
            </a:r>
            <a:endParaRPr sz="1350"/>
          </a:p>
          <a:p>
            <a:pPr marL="0" lvl="0" indent="0" algn="l" rtl="0">
              <a:lnSpc>
                <a:spcPct val="120000"/>
              </a:lnSpc>
              <a:spcBef>
                <a:spcPts val="0"/>
              </a:spcBef>
              <a:spcAft>
                <a:spcPts val="0"/>
              </a:spcAft>
              <a:buNone/>
            </a:pPr>
            <a:endParaRPr sz="1650"/>
          </a:p>
          <a:p>
            <a:pPr marL="20574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pic>
        <p:nvPicPr>
          <p:cNvPr id="1022" name="Google Shape;1022;p116"/>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23" name="Google Shape;1023;p116"/>
          <p:cNvSpPr txBox="1"/>
          <p:nvPr/>
        </p:nvSpPr>
        <p:spPr>
          <a:xfrm>
            <a:off x="8214875" y="1826363"/>
            <a:ext cx="2983800" cy="46968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Written at the strategic level to show CMOs CrossCap is a strategic must have solution</a:t>
            </a:r>
            <a:endParaRPr sz="1600">
              <a:solidFill>
                <a:schemeClr val="dk1"/>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This is a content outline of recommended blog topics, this information is already known internally - now share it.</a:t>
            </a:r>
            <a:endParaRPr sz="1600">
              <a:solidFill>
                <a:schemeClr val="dk1"/>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More topics added each month, living page on website</a:t>
            </a:r>
            <a:endParaRPr sz="1600">
              <a:solidFill>
                <a:schemeClr val="dk1"/>
              </a:solidFill>
              <a:latin typeface="Calibri"/>
              <a:ea typeface="Calibri"/>
              <a:cs typeface="Calibri"/>
              <a:sym typeface="Calibri"/>
            </a:endParaRPr>
          </a:p>
          <a:p>
            <a:pPr marL="45720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24" name="Google Shape;1024;p11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028" name="Shape 1028"/>
        <p:cNvGrpSpPr/>
        <p:nvPr/>
      </p:nvGrpSpPr>
      <p:grpSpPr>
        <a:xfrm>
          <a:off x="0" y="0"/>
          <a:ext cx="0" cy="0"/>
          <a:chOff x="0" y="0"/>
          <a:chExt cx="0" cy="0"/>
        </a:xfrm>
      </p:grpSpPr>
      <p:sp>
        <p:nvSpPr>
          <p:cNvPr id="1029" name="Google Shape;1029;p117"/>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CMO - Marketing Calendar</a:t>
            </a:r>
            <a:endParaRPr sz="3800" b="0" i="1">
              <a:solidFill>
                <a:schemeClr val="accent5"/>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a:solidFill>
                <a:schemeClr val="accent5"/>
              </a:solidFill>
            </a:endParaRPr>
          </a:p>
        </p:txBody>
      </p:sp>
      <p:pic>
        <p:nvPicPr>
          <p:cNvPr id="1030" name="Google Shape;1030;p117"/>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31" name="Google Shape;1031;p117"/>
          <p:cNvSpPr txBox="1"/>
          <p:nvPr/>
        </p:nvSpPr>
        <p:spPr>
          <a:xfrm>
            <a:off x="8214875" y="1826363"/>
            <a:ext cx="2983800" cy="40503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457200" lvl="0" indent="-330200" algn="l" rtl="0">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a:t>
            </a:r>
            <a:endParaRPr sz="1600">
              <a:solidFill>
                <a:srgbClr val="434343"/>
              </a:solidFill>
              <a:latin typeface="Calibri"/>
              <a:ea typeface="Calibri"/>
              <a:cs typeface="Calibri"/>
              <a:sym typeface="Calibri"/>
            </a:endParaRPr>
          </a:p>
          <a:p>
            <a:pPr marL="457200" lvl="0" indent="-330200" algn="l" rtl="0">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Blogs are written at the strategic level to show CMOs CrossCap is a strategic must have solution</a:t>
            </a:r>
            <a:endParaRPr sz="1600">
              <a:solidFill>
                <a:schemeClr val="dk1"/>
              </a:solidFill>
              <a:latin typeface="Calibri"/>
              <a:ea typeface="Calibri"/>
              <a:cs typeface="Calibri"/>
              <a:sym typeface="Calibri"/>
            </a:endParaRPr>
          </a:p>
          <a:p>
            <a:pPr marL="457200" lvl="0" indent="-330200" algn="l" rtl="0">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Demonstrates deeper understanding of your CMO’s problems that CrossCap helps solve</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32" name="Google Shape;1032;p11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
        <p:nvSpPr>
          <p:cNvPr id="1033" name="Google Shape;1033;p117"/>
          <p:cNvSpPr txBox="1"/>
          <p:nvPr>
            <p:ph type="body" idx="1"/>
          </p:nvPr>
        </p:nvSpPr>
        <p:spPr>
          <a:xfrm>
            <a:off x="731625" y="1611500"/>
            <a:ext cx="7200600" cy="4768200"/>
          </a:xfrm>
          <a:prstGeom prst="rect">
            <a:avLst/>
          </a:prstGeom>
          <a:noFill/>
          <a:ln>
            <a:noFill/>
          </a:ln>
        </p:spPr>
        <p:txBody>
          <a:bodyPr spcFirstLastPara="1" wrap="square" lIns="91425" tIns="45700" rIns="91425" bIns="45700" anchor="t" anchorCtr="0">
            <a:noAutofit/>
          </a:bodyPr>
          <a:lstStyle/>
          <a:p>
            <a:pPr marL="685800" lvl="1" indent="-225425" algn="l" rtl="0">
              <a:lnSpc>
                <a:spcPct val="100000"/>
              </a:lnSpc>
              <a:spcBef>
                <a:spcPts val="0"/>
              </a:spcBef>
              <a:spcAft>
                <a:spcPts val="0"/>
              </a:spcAft>
              <a:buClr>
                <a:schemeClr val="accent2"/>
              </a:buClr>
              <a:buSzPts val="1750"/>
              <a:buFont typeface="Noto Sans Symbols"/>
              <a:buChar char="✔"/>
            </a:pPr>
            <a:r>
              <a:rPr lang="en-US" sz="1750" b="1"/>
              <a:t>The Ultimate Guide to National &amp; Global Marketing Planning and Promotion for Large Enterprise CMOs</a:t>
            </a:r>
            <a:br>
              <a:rPr lang="en-US" sz="1750" b="1"/>
            </a:br>
            <a:endParaRPr sz="1750" b="1"/>
          </a:p>
          <a:p>
            <a:pPr marL="914400" marR="0" lvl="0" indent="-339725" algn="l" rtl="0">
              <a:lnSpc>
                <a:spcPct val="120000"/>
              </a:lnSpc>
              <a:spcBef>
                <a:spcPts val="0"/>
              </a:spcBef>
              <a:spcAft>
                <a:spcPts val="0"/>
              </a:spcAft>
              <a:buSzPts val="1750"/>
              <a:buChar char="●"/>
            </a:pPr>
            <a:r>
              <a:rPr lang="en-US" sz="1750"/>
              <a:t>Company Growth</a:t>
            </a:r>
            <a:endParaRPr sz="1750"/>
          </a:p>
          <a:p>
            <a:pPr marL="1828800" marR="0" lvl="1" indent="-339725" algn="l" rtl="0">
              <a:lnSpc>
                <a:spcPct val="120000"/>
              </a:lnSpc>
              <a:spcBef>
                <a:spcPts val="0"/>
              </a:spcBef>
              <a:spcAft>
                <a:spcPts val="0"/>
              </a:spcAft>
              <a:buSzPts val="1750"/>
              <a:buChar char="○"/>
            </a:pPr>
            <a:r>
              <a:rPr lang="en-US" sz="1750"/>
              <a:t>CMO’s responsibility for the company growth</a:t>
            </a:r>
            <a:endParaRPr sz="1750"/>
          </a:p>
          <a:p>
            <a:pPr marL="914400" marR="0" lvl="0" indent="-339725" algn="l" rtl="0">
              <a:lnSpc>
                <a:spcPct val="120000"/>
              </a:lnSpc>
              <a:spcBef>
                <a:spcPts val="0"/>
              </a:spcBef>
              <a:spcAft>
                <a:spcPts val="0"/>
              </a:spcAft>
              <a:buSzPts val="1750"/>
              <a:buChar char="●"/>
            </a:pPr>
            <a:r>
              <a:rPr lang="en-US" sz="1750"/>
              <a:t>Technology</a:t>
            </a:r>
            <a:endParaRPr sz="1750"/>
          </a:p>
          <a:p>
            <a:pPr marL="1828800" lvl="1" indent="-339725" algn="l" rtl="0">
              <a:lnSpc>
                <a:spcPct val="120000"/>
              </a:lnSpc>
              <a:spcBef>
                <a:spcPts val="0"/>
              </a:spcBef>
              <a:spcAft>
                <a:spcPts val="0"/>
              </a:spcAft>
              <a:buSzPts val="1750"/>
              <a:buChar char="○"/>
            </a:pPr>
            <a:r>
              <a:rPr lang="en-US" sz="1750"/>
              <a:t>CMO’s responsibility to get their team the right tools</a:t>
            </a:r>
            <a:endParaRPr sz="1250" i="1"/>
          </a:p>
          <a:p>
            <a:pPr marL="914400" marR="0" lvl="0" indent="-339725" algn="l" rtl="0">
              <a:lnSpc>
                <a:spcPct val="120000"/>
              </a:lnSpc>
              <a:spcBef>
                <a:spcPts val="0"/>
              </a:spcBef>
              <a:spcAft>
                <a:spcPts val="0"/>
              </a:spcAft>
              <a:buSzPts val="1750"/>
              <a:buChar char="●"/>
            </a:pPr>
            <a:r>
              <a:rPr lang="en-US" sz="1750"/>
              <a:t>Customer Experience (CX)</a:t>
            </a:r>
            <a:endParaRPr sz="1750"/>
          </a:p>
          <a:p>
            <a:pPr marL="1828800" marR="0" lvl="1" indent="-339725" algn="l" rtl="0">
              <a:lnSpc>
                <a:spcPct val="120000"/>
              </a:lnSpc>
              <a:spcBef>
                <a:spcPts val="0"/>
              </a:spcBef>
              <a:spcAft>
                <a:spcPts val="0"/>
              </a:spcAft>
              <a:buSzPts val="1750"/>
              <a:buChar char="○"/>
            </a:pPr>
            <a:r>
              <a:rPr lang="en-US" sz="1750"/>
              <a:t>CMO’s responsibility for the customer experience</a:t>
            </a:r>
            <a:endParaRPr sz="1750"/>
          </a:p>
          <a:p>
            <a:pPr marL="914400" marR="0" lvl="0" indent="-339725" algn="l" rtl="0">
              <a:lnSpc>
                <a:spcPct val="120000"/>
              </a:lnSpc>
              <a:spcBef>
                <a:spcPts val="0"/>
              </a:spcBef>
              <a:spcAft>
                <a:spcPts val="0"/>
              </a:spcAft>
              <a:buSzPts val="1750"/>
              <a:buChar char="●"/>
            </a:pPr>
            <a:r>
              <a:rPr lang="en-US" sz="1750"/>
              <a:t>Regional-Specific Marketing</a:t>
            </a:r>
            <a:endParaRPr sz="1750"/>
          </a:p>
          <a:p>
            <a:pPr marL="1828800" marR="0" lvl="1" indent="-339725" algn="l" rtl="0">
              <a:lnSpc>
                <a:spcPct val="120000"/>
              </a:lnSpc>
              <a:spcBef>
                <a:spcPts val="0"/>
              </a:spcBef>
              <a:spcAft>
                <a:spcPts val="0"/>
              </a:spcAft>
              <a:buSzPts val="1750"/>
              <a:buChar char="○"/>
            </a:pPr>
            <a:r>
              <a:rPr lang="en-US" sz="1750"/>
              <a:t>CMO’s responsibility for marketing: regional differences </a:t>
            </a:r>
            <a:endParaRPr sz="1750"/>
          </a:p>
          <a:p>
            <a:pPr marL="914400" marR="0" lvl="0" indent="-339725" algn="l" rtl="0">
              <a:lnSpc>
                <a:spcPct val="120000"/>
              </a:lnSpc>
              <a:spcBef>
                <a:spcPts val="0"/>
              </a:spcBef>
              <a:spcAft>
                <a:spcPts val="0"/>
              </a:spcAft>
              <a:buSzPts val="1750"/>
              <a:buChar char="●"/>
            </a:pPr>
            <a:r>
              <a:rPr lang="en-US" sz="1750"/>
              <a:t>Internal Teams &amp; Suppliers</a:t>
            </a:r>
            <a:endParaRPr sz="1750"/>
          </a:p>
          <a:p>
            <a:pPr marL="1828800" marR="0" lvl="1" indent="-339725" algn="l" rtl="0">
              <a:lnSpc>
                <a:spcPct val="120000"/>
              </a:lnSpc>
              <a:spcBef>
                <a:spcPts val="0"/>
              </a:spcBef>
              <a:spcAft>
                <a:spcPts val="0"/>
              </a:spcAft>
              <a:buSzPts val="1750"/>
              <a:buChar char="○"/>
            </a:pPr>
            <a:r>
              <a:rPr lang="en-US" sz="1750"/>
              <a:t>CMO’s responsibility for right team/vendors</a:t>
            </a:r>
            <a:endParaRPr sz="1750"/>
          </a:p>
          <a:p>
            <a:pPr marL="914400" marR="0" lvl="0" indent="-339725" algn="l" rtl="0">
              <a:lnSpc>
                <a:spcPct val="120000"/>
              </a:lnSpc>
              <a:spcBef>
                <a:spcPts val="0"/>
              </a:spcBef>
              <a:spcAft>
                <a:spcPts val="0"/>
              </a:spcAft>
              <a:buSzPts val="1750"/>
              <a:buChar char="●"/>
            </a:pPr>
            <a:r>
              <a:rPr lang="en-US" sz="1750"/>
              <a:t>Sales Enablement</a:t>
            </a:r>
            <a:endParaRPr sz="1750"/>
          </a:p>
          <a:p>
            <a:pPr marL="1828800" marR="0" lvl="1" indent="-339725" algn="l" rtl="0">
              <a:lnSpc>
                <a:spcPct val="120000"/>
              </a:lnSpc>
              <a:spcBef>
                <a:spcPts val="0"/>
              </a:spcBef>
              <a:spcAft>
                <a:spcPts val="0"/>
              </a:spcAft>
              <a:buSzPts val="1750"/>
              <a:buChar char="○"/>
            </a:pPr>
            <a:r>
              <a:rPr lang="en-US" sz="1750"/>
              <a:t>CMO’s responsibility to set up sales for success</a:t>
            </a:r>
            <a:endParaRPr sz="1750"/>
          </a:p>
          <a:p>
            <a:pPr marL="16002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037" name="Shape 1037"/>
        <p:cNvGrpSpPr/>
        <p:nvPr/>
      </p:nvGrpSpPr>
      <p:grpSpPr>
        <a:xfrm>
          <a:off x="0" y="0"/>
          <a:ext cx="0" cy="0"/>
          <a:chOff x="0" y="0"/>
          <a:chExt cx="0" cy="0"/>
        </a:xfrm>
      </p:grpSpPr>
      <p:sp>
        <p:nvSpPr>
          <p:cNvPr id="1038" name="Google Shape;1038;p118"/>
          <p:cNvSpPr txBox="1"/>
          <p:nvPr>
            <p:ph type="title"/>
          </p:nvPr>
        </p:nvSpPr>
        <p:spPr>
          <a:xfrm>
            <a:off x="8020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CMO - Marketing Calendar (in detail) </a:t>
            </a:r>
            <a:endParaRPr sz="3800" b="0" i="1">
              <a:solidFill>
                <a:schemeClr val="accent5"/>
              </a:solidFill>
              <a:latin typeface="Calibri"/>
              <a:ea typeface="Calibri"/>
              <a:cs typeface="Calibri"/>
              <a:sym typeface="Calibri"/>
            </a:endParaRPr>
          </a:p>
        </p:txBody>
      </p:sp>
      <p:sp>
        <p:nvSpPr>
          <p:cNvPr id="1039" name="Google Shape;1039;p118"/>
          <p:cNvSpPr txBox="1"/>
          <p:nvPr>
            <p:ph type="body" idx="1"/>
          </p:nvPr>
        </p:nvSpPr>
        <p:spPr>
          <a:xfrm>
            <a:off x="879650" y="1459100"/>
            <a:ext cx="7200600" cy="4768200"/>
          </a:xfrm>
          <a:prstGeom prst="rect">
            <a:avLst/>
          </a:prstGeom>
          <a:noFill/>
          <a:ln>
            <a:noFill/>
          </a:ln>
        </p:spPr>
        <p:txBody>
          <a:bodyPr spcFirstLastPara="1" wrap="square" lIns="91425" tIns="45700" rIns="91425" bIns="45700" anchor="t" anchorCtr="0">
            <a:noAutofit/>
          </a:bodyPr>
          <a:lstStyle/>
          <a:p>
            <a:pPr marL="685800" marR="0" lvl="1" indent="-219075" algn="l" rtl="0">
              <a:lnSpc>
                <a:spcPct val="120000"/>
              </a:lnSpc>
              <a:spcBef>
                <a:spcPts val="0"/>
              </a:spcBef>
              <a:spcAft>
                <a:spcPts val="0"/>
              </a:spcAft>
              <a:buSzPts val="1650"/>
              <a:buChar char="○"/>
            </a:pPr>
            <a:r>
              <a:rPr lang="en-US" sz="1650"/>
              <a:t>Company Growth</a:t>
            </a:r>
            <a:endParaRPr sz="1650"/>
          </a:p>
          <a:p>
            <a:pPr marL="1143000" marR="0" lvl="2" indent="-200025" algn="l" rtl="0">
              <a:lnSpc>
                <a:spcPct val="120000"/>
              </a:lnSpc>
              <a:spcBef>
                <a:spcPts val="0"/>
              </a:spcBef>
              <a:spcAft>
                <a:spcPts val="0"/>
              </a:spcAft>
              <a:buClr>
                <a:schemeClr val="accent2"/>
              </a:buClr>
              <a:buSzPts val="1350"/>
              <a:buChar char="■"/>
            </a:pPr>
            <a:r>
              <a:rPr lang="en-US" sz="1350"/>
              <a:t>How to keep your organization aligned towards the same marketing goals</a:t>
            </a:r>
            <a:endParaRPr sz="1350"/>
          </a:p>
          <a:p>
            <a:pPr marL="1143000" marR="0" lvl="2" indent="-200025" algn="l" rtl="0">
              <a:lnSpc>
                <a:spcPct val="120000"/>
              </a:lnSpc>
              <a:spcBef>
                <a:spcPts val="0"/>
              </a:spcBef>
              <a:spcAft>
                <a:spcPts val="0"/>
              </a:spcAft>
              <a:buClr>
                <a:schemeClr val="accent2"/>
              </a:buClr>
              <a:buSzPts val="1350"/>
              <a:buChar char="■"/>
            </a:pPr>
            <a:r>
              <a:rPr lang="en-US" sz="1350"/>
              <a:t>Visibility to orchestrate your marketing campaigns &amp; tactics</a:t>
            </a:r>
            <a:endParaRPr sz="1350"/>
          </a:p>
          <a:p>
            <a:pPr marL="685800" marR="0" lvl="1" indent="-219075" algn="l" rtl="0">
              <a:lnSpc>
                <a:spcPct val="120000"/>
              </a:lnSpc>
              <a:spcBef>
                <a:spcPts val="0"/>
              </a:spcBef>
              <a:spcAft>
                <a:spcPts val="0"/>
              </a:spcAft>
              <a:buSzPts val="1650"/>
              <a:buChar char="○"/>
            </a:pPr>
            <a:r>
              <a:rPr lang="en-US" sz="1650"/>
              <a:t>Technology</a:t>
            </a:r>
            <a:endParaRPr sz="1650"/>
          </a:p>
          <a:p>
            <a:pPr marL="1143000" marR="0" lvl="2" indent="-200025" algn="l" rtl="0">
              <a:lnSpc>
                <a:spcPct val="120000"/>
              </a:lnSpc>
              <a:spcBef>
                <a:spcPts val="0"/>
              </a:spcBef>
              <a:spcAft>
                <a:spcPts val="0"/>
              </a:spcAft>
              <a:buClr>
                <a:schemeClr val="accent2"/>
              </a:buClr>
              <a:buSzPts val="1350"/>
              <a:buChar char="■"/>
            </a:pPr>
            <a:r>
              <a:rPr lang="en-US" sz="1350"/>
              <a:t>Explaining marketing data in multiple ways for key stakeholders</a:t>
            </a:r>
            <a:endParaRPr sz="1350"/>
          </a:p>
          <a:p>
            <a:pPr marL="1143000" marR="0" lvl="2" indent="-200025" algn="l" rtl="0">
              <a:lnSpc>
                <a:spcPct val="120000"/>
              </a:lnSpc>
              <a:spcBef>
                <a:spcPts val="0"/>
              </a:spcBef>
              <a:spcAft>
                <a:spcPts val="0"/>
              </a:spcAft>
              <a:buClr>
                <a:schemeClr val="accent2"/>
              </a:buClr>
              <a:buSzPts val="1350"/>
              <a:buChar char="■"/>
            </a:pPr>
            <a:r>
              <a:rPr lang="en-US" sz="1350"/>
              <a:t>Improving  data quality for informed strategic marketing decisions</a:t>
            </a:r>
            <a:endParaRPr sz="1650"/>
          </a:p>
          <a:p>
            <a:pPr marL="685800" marR="0" lvl="1" indent="-219075" algn="l" rtl="0">
              <a:lnSpc>
                <a:spcPct val="120000"/>
              </a:lnSpc>
              <a:spcBef>
                <a:spcPts val="0"/>
              </a:spcBef>
              <a:spcAft>
                <a:spcPts val="0"/>
              </a:spcAft>
              <a:buSzPts val="1650"/>
              <a:buChar char="○"/>
            </a:pPr>
            <a:r>
              <a:rPr lang="en-US" sz="1650"/>
              <a:t>Customer Experience (CX)</a:t>
            </a:r>
            <a:endParaRPr sz="1650"/>
          </a:p>
          <a:p>
            <a:pPr marL="1143000" marR="0" lvl="2" indent="-200025" algn="l" rtl="0">
              <a:lnSpc>
                <a:spcPct val="120000"/>
              </a:lnSpc>
              <a:spcBef>
                <a:spcPts val="0"/>
              </a:spcBef>
              <a:spcAft>
                <a:spcPts val="0"/>
              </a:spcAft>
              <a:buClr>
                <a:schemeClr val="accent2"/>
              </a:buClr>
              <a:buSzPts val="1350"/>
              <a:buChar char="■"/>
            </a:pPr>
            <a:r>
              <a:rPr lang="en-US" sz="1350"/>
              <a:t>How to quickly assess performance KPIs and year-over-year comparisons</a:t>
            </a:r>
            <a:endParaRPr sz="1350"/>
          </a:p>
          <a:p>
            <a:pPr marL="1143000" marR="0" lvl="2" indent="-200025" algn="l" rtl="0">
              <a:lnSpc>
                <a:spcPct val="120000"/>
              </a:lnSpc>
              <a:spcBef>
                <a:spcPts val="0"/>
              </a:spcBef>
              <a:spcAft>
                <a:spcPts val="0"/>
              </a:spcAft>
              <a:buClr>
                <a:schemeClr val="accent2"/>
              </a:buClr>
              <a:buSzPts val="1350"/>
              <a:buChar char="■"/>
            </a:pPr>
            <a:r>
              <a:rPr lang="en-US" sz="1350"/>
              <a:t>Why adaptable marketing planning benefits your customer</a:t>
            </a:r>
            <a:endParaRPr sz="1350"/>
          </a:p>
          <a:p>
            <a:pPr marL="685800" marR="0" lvl="1" indent="-219075" algn="l" rtl="0">
              <a:lnSpc>
                <a:spcPct val="120000"/>
              </a:lnSpc>
              <a:spcBef>
                <a:spcPts val="0"/>
              </a:spcBef>
              <a:spcAft>
                <a:spcPts val="0"/>
              </a:spcAft>
              <a:buSzPts val="1650"/>
              <a:buChar char="○"/>
            </a:pPr>
            <a:r>
              <a:rPr lang="en-US" sz="1650"/>
              <a:t>Regional-Specific Marketing</a:t>
            </a:r>
            <a:endParaRPr sz="1650"/>
          </a:p>
          <a:p>
            <a:pPr marL="1143000" marR="0" lvl="2" indent="-200025" algn="l" rtl="0">
              <a:lnSpc>
                <a:spcPct val="120000"/>
              </a:lnSpc>
              <a:spcBef>
                <a:spcPts val="0"/>
              </a:spcBef>
              <a:spcAft>
                <a:spcPts val="0"/>
              </a:spcAft>
              <a:buClr>
                <a:schemeClr val="accent2"/>
              </a:buClr>
              <a:buSzPts val="1350"/>
              <a:buChar char="■"/>
            </a:pPr>
            <a:r>
              <a:rPr lang="en-US" sz="1350"/>
              <a:t>Expertly define the marketing mix for customer/regional segments</a:t>
            </a:r>
            <a:endParaRPr sz="1350"/>
          </a:p>
          <a:p>
            <a:pPr marL="1143000" marR="0" lvl="2" indent="-200025" algn="l" rtl="0">
              <a:lnSpc>
                <a:spcPct val="120000"/>
              </a:lnSpc>
              <a:spcBef>
                <a:spcPts val="0"/>
              </a:spcBef>
              <a:spcAft>
                <a:spcPts val="0"/>
              </a:spcAft>
              <a:buClr>
                <a:schemeClr val="accent2"/>
              </a:buClr>
              <a:buSzPts val="1350"/>
              <a:buChar char="■"/>
            </a:pPr>
            <a:r>
              <a:rPr lang="en-US" sz="1350"/>
              <a:t>How to get global visibility on marketing campaigns and why it matters</a:t>
            </a:r>
            <a:endParaRPr sz="1650"/>
          </a:p>
          <a:p>
            <a:pPr marL="685800" marR="0" lvl="1" indent="-219075" algn="l" rtl="0">
              <a:lnSpc>
                <a:spcPct val="120000"/>
              </a:lnSpc>
              <a:spcBef>
                <a:spcPts val="0"/>
              </a:spcBef>
              <a:spcAft>
                <a:spcPts val="0"/>
              </a:spcAft>
              <a:buSzPts val="1650"/>
              <a:buChar char="○"/>
            </a:pPr>
            <a:r>
              <a:rPr lang="en-US" sz="1650"/>
              <a:t>Internal Teams &amp; Suppliers</a:t>
            </a:r>
            <a:endParaRPr sz="1650"/>
          </a:p>
          <a:p>
            <a:pPr marL="1143000" marR="0" lvl="2" indent="-200025" algn="l" rtl="0">
              <a:lnSpc>
                <a:spcPct val="120000"/>
              </a:lnSpc>
              <a:spcBef>
                <a:spcPts val="0"/>
              </a:spcBef>
              <a:spcAft>
                <a:spcPts val="0"/>
              </a:spcAft>
              <a:buClr>
                <a:schemeClr val="accent2"/>
              </a:buClr>
              <a:buSzPts val="1350"/>
              <a:buChar char="■"/>
            </a:pPr>
            <a:r>
              <a:rPr lang="en-US" sz="1350"/>
              <a:t>Which marketing insight are right for which team members?</a:t>
            </a:r>
            <a:endParaRPr sz="1350"/>
          </a:p>
          <a:p>
            <a:pPr marL="1143000" marR="0" lvl="2" indent="-200025" algn="l" rtl="0">
              <a:lnSpc>
                <a:spcPct val="120000"/>
              </a:lnSpc>
              <a:spcBef>
                <a:spcPts val="0"/>
              </a:spcBef>
              <a:spcAft>
                <a:spcPts val="0"/>
              </a:spcAft>
              <a:buClr>
                <a:schemeClr val="accent2"/>
              </a:buClr>
              <a:buSzPts val="1350"/>
              <a:buChar char="■"/>
            </a:pPr>
            <a:r>
              <a:rPr lang="en-US" sz="1350"/>
              <a:t>When vendors become partners - how much information helps or hurts?</a:t>
            </a:r>
            <a:endParaRPr sz="1350"/>
          </a:p>
          <a:p>
            <a:pPr marL="685800" lvl="1" indent="-219075" algn="l" rtl="0">
              <a:lnSpc>
                <a:spcPct val="120000"/>
              </a:lnSpc>
              <a:spcBef>
                <a:spcPts val="0"/>
              </a:spcBef>
              <a:spcAft>
                <a:spcPts val="0"/>
              </a:spcAft>
              <a:buSzPts val="1650"/>
              <a:buChar char="○"/>
            </a:pPr>
            <a:r>
              <a:rPr lang="en-US" sz="1650"/>
              <a:t>Sales Enablement</a:t>
            </a:r>
            <a:endParaRPr sz="1650"/>
          </a:p>
          <a:p>
            <a:pPr marL="1143000" lvl="2" indent="-219075" algn="l" rtl="0">
              <a:lnSpc>
                <a:spcPct val="120000"/>
              </a:lnSpc>
              <a:spcBef>
                <a:spcPts val="0"/>
              </a:spcBef>
              <a:spcAft>
                <a:spcPts val="0"/>
              </a:spcAft>
              <a:buClr>
                <a:schemeClr val="accent2"/>
              </a:buClr>
              <a:buSzPts val="1650"/>
              <a:buChar char="■"/>
            </a:pPr>
            <a:r>
              <a:rPr lang="en-US" sz="1350"/>
              <a:t>Marketing speak - supporting sales and the customer journey</a:t>
            </a:r>
            <a:endParaRPr sz="1350"/>
          </a:p>
          <a:p>
            <a:pPr marL="1143000" lvl="0" indent="0" algn="l" rtl="0">
              <a:lnSpc>
                <a:spcPct val="120000"/>
              </a:lnSpc>
              <a:spcBef>
                <a:spcPts val="0"/>
              </a:spcBef>
              <a:spcAft>
                <a:spcPts val="0"/>
              </a:spcAft>
              <a:buNone/>
            </a:pPr>
            <a:endParaRPr sz="1350"/>
          </a:p>
          <a:p>
            <a:pPr marL="0" lvl="0" indent="0" algn="l" rtl="0">
              <a:lnSpc>
                <a:spcPct val="120000"/>
              </a:lnSpc>
              <a:spcBef>
                <a:spcPts val="0"/>
              </a:spcBef>
              <a:spcAft>
                <a:spcPts val="0"/>
              </a:spcAft>
              <a:buNone/>
            </a:pPr>
            <a:endParaRPr sz="1650"/>
          </a:p>
          <a:p>
            <a:pPr marL="20574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pic>
        <p:nvPicPr>
          <p:cNvPr id="1040" name="Google Shape;1040;p118"/>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41" name="Google Shape;1041;p118"/>
          <p:cNvSpPr txBox="1"/>
          <p:nvPr/>
        </p:nvSpPr>
        <p:spPr>
          <a:xfrm>
            <a:off x="8214875" y="1826363"/>
            <a:ext cx="2983800" cy="46968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Written at the strategic level to show CMOs CrossCap is a strategic must have solution</a:t>
            </a:r>
            <a:endParaRPr sz="1600">
              <a:solidFill>
                <a:schemeClr val="dk1"/>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This is a content outline of recommended blog topics, this information is already known internally - now share it.</a:t>
            </a:r>
            <a:endParaRPr sz="1600">
              <a:solidFill>
                <a:schemeClr val="dk1"/>
              </a:solidFill>
              <a:latin typeface="Calibri"/>
              <a:ea typeface="Calibri"/>
              <a:cs typeface="Calibri"/>
              <a:sym typeface="Calibri"/>
            </a:endParaRPr>
          </a:p>
          <a:p>
            <a:pPr marL="285750" marR="0" lvl="0" indent="-298450" algn="l" rtl="0">
              <a:lnSpc>
                <a:spcPct val="100000"/>
              </a:lnSpc>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More topics added each month, living page on website</a:t>
            </a:r>
            <a:endParaRPr sz="1600">
              <a:solidFill>
                <a:schemeClr val="dk1"/>
              </a:solidFill>
              <a:latin typeface="Calibri"/>
              <a:ea typeface="Calibri"/>
              <a:cs typeface="Calibri"/>
              <a:sym typeface="Calibri"/>
            </a:endParaRPr>
          </a:p>
          <a:p>
            <a:pPr marL="45720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42" name="Google Shape;1042;p11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046" name="Shape 1046"/>
        <p:cNvGrpSpPr/>
        <p:nvPr/>
      </p:nvGrpSpPr>
      <p:grpSpPr>
        <a:xfrm>
          <a:off x="0" y="0"/>
          <a:ext cx="0" cy="0"/>
          <a:chOff x="0" y="0"/>
          <a:chExt cx="0" cy="0"/>
        </a:xfrm>
      </p:grpSpPr>
      <p:sp>
        <p:nvSpPr>
          <p:cNvPr id="1047" name="Google Shape;1047;p119"/>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Marketing Operations - Distro</a:t>
            </a:r>
            <a:endParaRPr sz="3800" b="0" i="1">
              <a:solidFill>
                <a:schemeClr val="accent5"/>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a:solidFill>
                <a:schemeClr val="accent5"/>
              </a:solidFill>
            </a:endParaRPr>
          </a:p>
        </p:txBody>
      </p:sp>
      <p:pic>
        <p:nvPicPr>
          <p:cNvPr id="1048" name="Google Shape;1048;p119"/>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49" name="Google Shape;1049;p119"/>
          <p:cNvSpPr txBox="1"/>
          <p:nvPr/>
        </p:nvSpPr>
        <p:spPr>
          <a:xfrm>
            <a:off x="8214875" y="1826363"/>
            <a:ext cx="2983800" cy="30651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Written at the operational level - talking directly to the daily users of the software</a:t>
            </a:r>
            <a:endParaRPr sz="1600">
              <a:solidFill>
                <a:srgbClr val="FF0000"/>
              </a:solidFill>
              <a:latin typeface="Calibri"/>
              <a:ea typeface="Calibri"/>
              <a:cs typeface="Calibri"/>
              <a:sym typeface="Calibri"/>
            </a:endParaRPr>
          </a:p>
          <a:p>
            <a:pPr marL="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50" name="Google Shape;1050;p11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
        <p:nvSpPr>
          <p:cNvPr id="1051" name="Google Shape;1051;p119"/>
          <p:cNvSpPr txBox="1"/>
          <p:nvPr>
            <p:ph type="body" idx="1"/>
          </p:nvPr>
        </p:nvSpPr>
        <p:spPr>
          <a:xfrm>
            <a:off x="790225" y="1433075"/>
            <a:ext cx="7200600" cy="4768200"/>
          </a:xfrm>
          <a:prstGeom prst="rect">
            <a:avLst/>
          </a:prstGeom>
          <a:noFill/>
          <a:ln>
            <a:noFill/>
          </a:ln>
        </p:spPr>
        <p:txBody>
          <a:bodyPr spcFirstLastPara="1" wrap="square" lIns="91425" tIns="45700" rIns="91425" bIns="45700" anchor="t" anchorCtr="0">
            <a:noAutofit/>
          </a:bodyPr>
          <a:lstStyle/>
          <a:p>
            <a:pPr marL="685800" lvl="1" indent="-225425" algn="l" rtl="0">
              <a:lnSpc>
                <a:spcPct val="100000"/>
              </a:lnSpc>
              <a:spcBef>
                <a:spcPts val="0"/>
              </a:spcBef>
              <a:spcAft>
                <a:spcPts val="0"/>
              </a:spcAft>
              <a:buClr>
                <a:schemeClr val="accent2"/>
              </a:buClr>
              <a:buSzPts val="1750"/>
              <a:buFont typeface="Noto Sans Symbols"/>
              <a:buChar char="✔"/>
            </a:pPr>
            <a:r>
              <a:rPr lang="en-US" sz="1750" b="1"/>
              <a:t>The Ultimate Guide to Large Enterprise Marketing Operations for Multi-Location In-store Signage</a:t>
            </a:r>
            <a:br>
              <a:rPr lang="en-US" sz="1750" b="1"/>
            </a:br>
            <a:endParaRPr sz="1750" b="1"/>
          </a:p>
          <a:p>
            <a:pPr marL="914400" marR="0" lvl="0" indent="-339725" algn="l" rtl="0">
              <a:lnSpc>
                <a:spcPct val="120000"/>
              </a:lnSpc>
              <a:spcBef>
                <a:spcPts val="0"/>
              </a:spcBef>
              <a:spcAft>
                <a:spcPts val="0"/>
              </a:spcAft>
              <a:buSzPts val="1750"/>
              <a:buChar char="●"/>
            </a:pPr>
            <a:r>
              <a:rPr lang="en-US" sz="1750"/>
              <a:t>People</a:t>
            </a:r>
            <a:endParaRPr sz="1750"/>
          </a:p>
          <a:p>
            <a:pPr marL="1828800" marR="0" lvl="1" indent="-339725" algn="l" rtl="0">
              <a:lnSpc>
                <a:spcPct val="120000"/>
              </a:lnSpc>
              <a:spcBef>
                <a:spcPts val="0"/>
              </a:spcBef>
              <a:spcAft>
                <a:spcPts val="0"/>
              </a:spcAft>
              <a:buSzPts val="1750"/>
              <a:buChar char="○"/>
            </a:pPr>
            <a:r>
              <a:rPr lang="en-US" sz="1750"/>
              <a:t>M. Ops responsibility for team/vendors</a:t>
            </a:r>
            <a:br>
              <a:rPr lang="en-US" sz="1750"/>
            </a:br>
            <a:endParaRPr sz="1750"/>
          </a:p>
          <a:p>
            <a:pPr marL="914400" marR="0" lvl="0" indent="-339725" algn="l" rtl="0">
              <a:lnSpc>
                <a:spcPct val="120000"/>
              </a:lnSpc>
              <a:spcBef>
                <a:spcPts val="0"/>
              </a:spcBef>
              <a:spcAft>
                <a:spcPts val="0"/>
              </a:spcAft>
              <a:buSzPts val="1750"/>
              <a:buChar char="●"/>
            </a:pPr>
            <a:r>
              <a:rPr lang="en-US" sz="1750"/>
              <a:t>Planning/Process/Delivery/Execution</a:t>
            </a:r>
            <a:endParaRPr sz="1750"/>
          </a:p>
          <a:p>
            <a:pPr marL="1828800" lvl="1" indent="-339725" algn="l" rtl="0">
              <a:lnSpc>
                <a:spcPct val="120000"/>
              </a:lnSpc>
              <a:spcBef>
                <a:spcPts val="0"/>
              </a:spcBef>
              <a:spcAft>
                <a:spcPts val="0"/>
              </a:spcAft>
              <a:buSzPts val="1750"/>
              <a:buChar char="○"/>
            </a:pPr>
            <a:r>
              <a:rPr lang="en-US" sz="1750"/>
              <a:t>M. Ops responsibility for the work getting done</a:t>
            </a:r>
            <a:br>
              <a:rPr lang="en-US" sz="1750"/>
            </a:br>
            <a:endParaRPr sz="1250" i="1"/>
          </a:p>
          <a:p>
            <a:pPr marL="914400" marR="0" lvl="0" indent="-339725" algn="l" rtl="0">
              <a:lnSpc>
                <a:spcPct val="120000"/>
              </a:lnSpc>
              <a:spcBef>
                <a:spcPts val="0"/>
              </a:spcBef>
              <a:spcAft>
                <a:spcPts val="0"/>
              </a:spcAft>
              <a:buSzPts val="1750"/>
              <a:buChar char="●"/>
            </a:pPr>
            <a:r>
              <a:rPr lang="en-US" sz="1750"/>
              <a:t>Technology</a:t>
            </a:r>
            <a:endParaRPr sz="1750"/>
          </a:p>
          <a:p>
            <a:pPr marL="1828800" marR="0" lvl="1" indent="-339725" algn="l" rtl="0">
              <a:lnSpc>
                <a:spcPct val="120000"/>
              </a:lnSpc>
              <a:spcBef>
                <a:spcPts val="0"/>
              </a:spcBef>
              <a:spcAft>
                <a:spcPts val="0"/>
              </a:spcAft>
              <a:buSzPts val="1750"/>
              <a:buChar char="○"/>
            </a:pPr>
            <a:r>
              <a:rPr lang="en-US" sz="1750"/>
              <a:t>M. Ops use technology for work completion</a:t>
            </a:r>
            <a:br>
              <a:rPr lang="en-US" sz="1750"/>
            </a:br>
            <a:endParaRPr sz="1750"/>
          </a:p>
          <a:p>
            <a:pPr marL="914400" marR="0" lvl="0" indent="-339725" algn="l" rtl="0">
              <a:lnSpc>
                <a:spcPct val="120000"/>
              </a:lnSpc>
              <a:spcBef>
                <a:spcPts val="0"/>
              </a:spcBef>
              <a:spcAft>
                <a:spcPts val="0"/>
              </a:spcAft>
              <a:buSzPts val="1750"/>
              <a:buChar char="●"/>
            </a:pPr>
            <a:r>
              <a:rPr lang="en-US" sz="1750"/>
              <a:t>Marketing</a:t>
            </a:r>
            <a:endParaRPr sz="1750"/>
          </a:p>
          <a:p>
            <a:pPr marL="1828800" marR="0" lvl="1" indent="-339725" algn="l" rtl="0">
              <a:lnSpc>
                <a:spcPct val="120000"/>
              </a:lnSpc>
              <a:spcBef>
                <a:spcPts val="0"/>
              </a:spcBef>
              <a:spcAft>
                <a:spcPts val="0"/>
              </a:spcAft>
              <a:buSzPts val="1750"/>
              <a:buChar char="○"/>
            </a:pPr>
            <a:r>
              <a:rPr lang="en-US" sz="1750"/>
              <a:t>M. Ops balance of execution vs. strategic thinking</a:t>
            </a:r>
            <a:endParaRPr sz="1750"/>
          </a:p>
          <a:p>
            <a:pPr marL="16002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055" name="Shape 1055"/>
        <p:cNvGrpSpPr/>
        <p:nvPr/>
      </p:nvGrpSpPr>
      <p:grpSpPr>
        <a:xfrm>
          <a:off x="0" y="0"/>
          <a:ext cx="0" cy="0"/>
          <a:chOff x="0" y="0"/>
          <a:chExt cx="0" cy="0"/>
        </a:xfrm>
      </p:grpSpPr>
      <p:sp>
        <p:nvSpPr>
          <p:cNvPr id="1056" name="Google Shape;1056;p120"/>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Marketing Operations - Distro (in detail)</a:t>
            </a:r>
            <a:endParaRPr sz="3800" b="0" i="1">
              <a:solidFill>
                <a:schemeClr val="accent5"/>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a:solidFill>
                <a:schemeClr val="accent5"/>
              </a:solidFill>
            </a:endParaRPr>
          </a:p>
        </p:txBody>
      </p:sp>
      <p:pic>
        <p:nvPicPr>
          <p:cNvPr id="1057" name="Google Shape;1057;p120"/>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58" name="Google Shape;1058;p120"/>
          <p:cNvSpPr txBox="1"/>
          <p:nvPr/>
        </p:nvSpPr>
        <p:spPr>
          <a:xfrm>
            <a:off x="8214875" y="1826363"/>
            <a:ext cx="2983800" cy="30651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Written at the operational level - talking directly to the daily users of the software</a:t>
            </a:r>
            <a:endParaRPr sz="1600">
              <a:solidFill>
                <a:srgbClr val="FF0000"/>
              </a:solidFill>
              <a:latin typeface="Calibri"/>
              <a:ea typeface="Calibri"/>
              <a:cs typeface="Calibri"/>
              <a:sym typeface="Calibri"/>
            </a:endParaRPr>
          </a:p>
          <a:p>
            <a:pPr marL="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59" name="Google Shape;1059;p12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
        <p:nvSpPr>
          <p:cNvPr id="1060" name="Google Shape;1060;p120"/>
          <p:cNvSpPr txBox="1"/>
          <p:nvPr>
            <p:ph type="body" idx="1"/>
          </p:nvPr>
        </p:nvSpPr>
        <p:spPr>
          <a:xfrm>
            <a:off x="690075" y="1611500"/>
            <a:ext cx="7200600" cy="4768200"/>
          </a:xfrm>
          <a:prstGeom prst="rect">
            <a:avLst/>
          </a:prstGeom>
          <a:noFill/>
          <a:ln>
            <a:noFill/>
          </a:ln>
        </p:spPr>
        <p:txBody>
          <a:bodyPr spcFirstLastPara="1" wrap="square" lIns="91425" tIns="45700" rIns="91425" bIns="45700" anchor="t" anchorCtr="0">
            <a:noAutofit/>
          </a:bodyPr>
          <a:lstStyle/>
          <a:p>
            <a:pPr marL="685800" marR="0" lvl="1" indent="-225425" algn="l" rtl="0">
              <a:lnSpc>
                <a:spcPct val="120000"/>
              </a:lnSpc>
              <a:spcBef>
                <a:spcPts val="0"/>
              </a:spcBef>
              <a:spcAft>
                <a:spcPts val="0"/>
              </a:spcAft>
              <a:buSzPts val="1750"/>
              <a:buChar char="○"/>
            </a:pPr>
            <a:r>
              <a:rPr lang="en-US" sz="1750"/>
              <a:t>People</a:t>
            </a:r>
            <a:endParaRPr sz="1750"/>
          </a:p>
          <a:p>
            <a:pPr marL="1143000" marR="0" lvl="2" indent="-206375" algn="l" rtl="0">
              <a:lnSpc>
                <a:spcPct val="120000"/>
              </a:lnSpc>
              <a:spcBef>
                <a:spcPts val="0"/>
              </a:spcBef>
              <a:spcAft>
                <a:spcPts val="0"/>
              </a:spcAft>
              <a:buClr>
                <a:schemeClr val="accent2"/>
              </a:buClr>
              <a:buSzPts val="1450"/>
              <a:buChar char="■"/>
            </a:pPr>
            <a:r>
              <a:rPr lang="en-US" sz="1450"/>
              <a:t>How to collaborate with multiple suppliers on project tasks</a:t>
            </a:r>
            <a:endParaRPr sz="1450"/>
          </a:p>
          <a:p>
            <a:pPr marL="1143000" marR="0" lvl="2" indent="-206375" algn="l" rtl="0">
              <a:lnSpc>
                <a:spcPct val="120000"/>
              </a:lnSpc>
              <a:spcBef>
                <a:spcPts val="0"/>
              </a:spcBef>
              <a:spcAft>
                <a:spcPts val="0"/>
              </a:spcAft>
              <a:buClr>
                <a:schemeClr val="accent2"/>
              </a:buClr>
              <a:buSzPts val="1450"/>
              <a:buChar char="■"/>
            </a:pPr>
            <a:r>
              <a:rPr lang="en-US" sz="1450"/>
              <a:t>Most efficiently manage the entire commercial print vendor process.</a:t>
            </a:r>
            <a:endParaRPr sz="1450"/>
          </a:p>
          <a:p>
            <a:pPr marL="1143000" marR="0" lvl="2" indent="-206375" algn="l" rtl="0">
              <a:lnSpc>
                <a:spcPct val="120000"/>
              </a:lnSpc>
              <a:spcBef>
                <a:spcPts val="0"/>
              </a:spcBef>
              <a:spcAft>
                <a:spcPts val="0"/>
              </a:spcAft>
              <a:buClr>
                <a:schemeClr val="accent2"/>
              </a:buClr>
              <a:buSzPts val="1450"/>
              <a:buChar char="■"/>
            </a:pPr>
            <a:r>
              <a:rPr lang="en-US" sz="1450"/>
              <a:t>Is low cost best? How to compare bids and select preferred vendor</a:t>
            </a:r>
            <a:br>
              <a:rPr lang="en-US" sz="1450"/>
            </a:br>
            <a:endParaRPr sz="1450"/>
          </a:p>
          <a:p>
            <a:pPr marL="685800" marR="0" lvl="1" indent="-225425" algn="l" rtl="0">
              <a:lnSpc>
                <a:spcPct val="120000"/>
              </a:lnSpc>
              <a:spcBef>
                <a:spcPts val="0"/>
              </a:spcBef>
              <a:spcAft>
                <a:spcPts val="0"/>
              </a:spcAft>
              <a:buSzPts val="1750"/>
              <a:buChar char="○"/>
            </a:pPr>
            <a:r>
              <a:rPr lang="en-US" sz="1750"/>
              <a:t>Planning/Process/Delivery/Execution - Managing the Beast</a:t>
            </a:r>
            <a:endParaRPr sz="1750"/>
          </a:p>
          <a:p>
            <a:pPr marL="1143000" marR="0" lvl="2" indent="-206375" algn="l" rtl="0">
              <a:lnSpc>
                <a:spcPct val="120000"/>
              </a:lnSpc>
              <a:spcBef>
                <a:spcPts val="0"/>
              </a:spcBef>
              <a:spcAft>
                <a:spcPts val="0"/>
              </a:spcAft>
              <a:buClr>
                <a:schemeClr val="accent2"/>
              </a:buClr>
              <a:buSzPts val="1450"/>
              <a:buChar char="■"/>
            </a:pPr>
            <a:r>
              <a:rPr lang="en-US" sz="1450"/>
              <a:t>Leading multi-team collaboration in web &amp; mobile </a:t>
            </a:r>
            <a:endParaRPr sz="1450"/>
          </a:p>
          <a:p>
            <a:pPr marL="1143000" marR="0" lvl="2" indent="-206375" algn="l" rtl="0">
              <a:lnSpc>
                <a:spcPct val="120000"/>
              </a:lnSpc>
              <a:spcBef>
                <a:spcPts val="0"/>
              </a:spcBef>
              <a:spcAft>
                <a:spcPts val="0"/>
              </a:spcAft>
              <a:buClr>
                <a:schemeClr val="accent2"/>
              </a:buClr>
              <a:buSzPts val="1450"/>
              <a:buChar char="■"/>
            </a:pPr>
            <a:r>
              <a:rPr lang="en-US" sz="1450"/>
              <a:t>Tips for integrated workflows between regions</a:t>
            </a:r>
            <a:endParaRPr sz="1450"/>
          </a:p>
          <a:p>
            <a:pPr marL="1143000" marR="0" lvl="2" indent="-206375" algn="l" rtl="0">
              <a:lnSpc>
                <a:spcPct val="120000"/>
              </a:lnSpc>
              <a:spcBef>
                <a:spcPts val="0"/>
              </a:spcBef>
              <a:spcAft>
                <a:spcPts val="0"/>
              </a:spcAft>
              <a:buClr>
                <a:schemeClr val="accent2"/>
              </a:buClr>
              <a:buSzPts val="1450"/>
              <a:buChar char="■"/>
            </a:pPr>
            <a:r>
              <a:rPr lang="en-US" sz="1450"/>
              <a:t>Reorder chaos - how to ensure accurate reorders and inventory tracking</a:t>
            </a:r>
            <a:br>
              <a:rPr lang="en-US" sz="1450"/>
            </a:br>
            <a:endParaRPr sz="1450"/>
          </a:p>
          <a:p>
            <a:pPr marL="685800" marR="0" lvl="1" indent="-225425" algn="l" rtl="0">
              <a:lnSpc>
                <a:spcPct val="120000"/>
              </a:lnSpc>
              <a:spcBef>
                <a:spcPts val="0"/>
              </a:spcBef>
              <a:spcAft>
                <a:spcPts val="0"/>
              </a:spcAft>
              <a:buSzPts val="1750"/>
              <a:buChar char="○"/>
            </a:pPr>
            <a:r>
              <a:rPr lang="en-US" sz="1750"/>
              <a:t>Technology</a:t>
            </a:r>
            <a:endParaRPr sz="1750"/>
          </a:p>
          <a:p>
            <a:pPr marL="1143000" marR="0" lvl="2" indent="-206375" algn="l" rtl="0">
              <a:lnSpc>
                <a:spcPct val="120000"/>
              </a:lnSpc>
              <a:spcBef>
                <a:spcPts val="0"/>
              </a:spcBef>
              <a:spcAft>
                <a:spcPts val="0"/>
              </a:spcAft>
              <a:buClr>
                <a:schemeClr val="accent2"/>
              </a:buClr>
              <a:buSzPts val="1450"/>
              <a:buChar char="■"/>
            </a:pPr>
            <a:r>
              <a:rPr lang="en-US" sz="1450"/>
              <a:t>Managing smart location profiling and kitting</a:t>
            </a:r>
            <a:endParaRPr sz="1450"/>
          </a:p>
          <a:p>
            <a:pPr marL="1143000" marR="0" lvl="2" indent="-206375" algn="l" rtl="0">
              <a:lnSpc>
                <a:spcPct val="120000"/>
              </a:lnSpc>
              <a:spcBef>
                <a:spcPts val="0"/>
              </a:spcBef>
              <a:spcAft>
                <a:spcPts val="0"/>
              </a:spcAft>
              <a:buClr>
                <a:schemeClr val="accent2"/>
              </a:buClr>
              <a:buSzPts val="1450"/>
              <a:buChar char="■"/>
            </a:pPr>
            <a:r>
              <a:rPr lang="en-US" sz="1450"/>
              <a:t>Renovations/openings/closing managing change with technology</a:t>
            </a:r>
            <a:br>
              <a:rPr lang="en-US" sz="1450"/>
            </a:br>
            <a:endParaRPr sz="1450"/>
          </a:p>
          <a:p>
            <a:pPr marL="685800" marR="0" lvl="1" indent="-225425" algn="l" rtl="0">
              <a:lnSpc>
                <a:spcPct val="120000"/>
              </a:lnSpc>
              <a:spcBef>
                <a:spcPts val="0"/>
              </a:spcBef>
              <a:spcAft>
                <a:spcPts val="0"/>
              </a:spcAft>
              <a:buSzPts val="1750"/>
              <a:buChar char="○"/>
            </a:pPr>
            <a:r>
              <a:rPr lang="en-US" sz="1750"/>
              <a:t>Marketing</a:t>
            </a:r>
            <a:endParaRPr sz="1750"/>
          </a:p>
          <a:p>
            <a:pPr marL="1143000" marR="0" lvl="2" indent="-206375" algn="l" rtl="0">
              <a:lnSpc>
                <a:spcPct val="120000"/>
              </a:lnSpc>
              <a:spcBef>
                <a:spcPts val="0"/>
              </a:spcBef>
              <a:spcAft>
                <a:spcPts val="0"/>
              </a:spcAft>
              <a:buClr>
                <a:schemeClr val="accent2"/>
              </a:buClr>
              <a:buSzPts val="1450"/>
              <a:buChar char="■"/>
            </a:pPr>
            <a:r>
              <a:rPr lang="en-US" sz="1450"/>
              <a:t>Manage and executive store walks with ease - what they need to know</a:t>
            </a:r>
            <a:endParaRPr sz="1450"/>
          </a:p>
          <a:p>
            <a:pPr marL="1143000" marR="0" lvl="2" indent="-206375" algn="l" rtl="0">
              <a:lnSpc>
                <a:spcPct val="120000"/>
              </a:lnSpc>
              <a:spcBef>
                <a:spcPts val="0"/>
              </a:spcBef>
              <a:spcAft>
                <a:spcPts val="0"/>
              </a:spcAft>
              <a:buClr>
                <a:schemeClr val="accent2"/>
              </a:buClr>
              <a:buSzPts val="1450"/>
              <a:buChar char="■"/>
            </a:pPr>
            <a:r>
              <a:rPr lang="en-US" sz="1450"/>
              <a:t>Keeping on budget - how to track and analyze costs for signage</a:t>
            </a:r>
            <a:r>
              <a:rPr lang="en-US" sz="1450"/>
              <a:t>t matters</a:t>
            </a:r>
            <a:endParaRPr sz="1750"/>
          </a:p>
          <a:p>
            <a:pPr marL="1143000" lvl="0" indent="0" algn="l" rtl="0">
              <a:lnSpc>
                <a:spcPct val="120000"/>
              </a:lnSpc>
              <a:spcBef>
                <a:spcPts val="0"/>
              </a:spcBef>
              <a:spcAft>
                <a:spcPts val="0"/>
              </a:spcAft>
              <a:buNone/>
            </a:pPr>
            <a:endParaRPr sz="1450"/>
          </a:p>
          <a:p>
            <a:pPr marL="0" lvl="0" indent="0" algn="l" rtl="0">
              <a:lnSpc>
                <a:spcPct val="120000"/>
              </a:lnSpc>
              <a:spcBef>
                <a:spcPts val="0"/>
              </a:spcBef>
              <a:spcAft>
                <a:spcPts val="0"/>
              </a:spcAft>
              <a:buNone/>
            </a:pPr>
            <a:endParaRPr sz="1750"/>
          </a:p>
          <a:p>
            <a:pPr marL="20574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064" name="Shape 1064"/>
        <p:cNvGrpSpPr/>
        <p:nvPr/>
      </p:nvGrpSpPr>
      <p:grpSpPr>
        <a:xfrm>
          <a:off x="0" y="0"/>
          <a:ext cx="0" cy="0"/>
          <a:chOff x="0" y="0"/>
          <a:chExt cx="0" cy="0"/>
        </a:xfrm>
      </p:grpSpPr>
      <p:sp>
        <p:nvSpPr>
          <p:cNvPr id="1065" name="Google Shape;1065;p121"/>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1160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Marketing Operations - Marketing Calendar</a:t>
            </a:r>
            <a:endParaRPr sz="3800" b="0" i="1">
              <a:solidFill>
                <a:schemeClr val="accent5"/>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ct val="100000"/>
              <a:buFont typeface="Calibri"/>
              <a:buNone/>
            </a:pPr>
            <a:endParaRPr>
              <a:solidFill>
                <a:schemeClr val="accent5"/>
              </a:solidFill>
            </a:endParaRPr>
          </a:p>
        </p:txBody>
      </p:sp>
      <p:pic>
        <p:nvPicPr>
          <p:cNvPr id="1066" name="Google Shape;1066;p121"/>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67" name="Google Shape;1067;p121"/>
          <p:cNvSpPr txBox="1"/>
          <p:nvPr/>
        </p:nvSpPr>
        <p:spPr>
          <a:xfrm>
            <a:off x="8214875" y="1826363"/>
            <a:ext cx="2983800" cy="30651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Written at the operational level - talking directly to the daily users of the software</a:t>
            </a:r>
            <a:endParaRPr sz="1600">
              <a:solidFill>
                <a:srgbClr val="FF0000"/>
              </a:solidFill>
              <a:latin typeface="Calibri"/>
              <a:ea typeface="Calibri"/>
              <a:cs typeface="Calibri"/>
              <a:sym typeface="Calibri"/>
            </a:endParaRPr>
          </a:p>
          <a:p>
            <a:pPr marL="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68" name="Google Shape;1068;p12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
        <p:nvSpPr>
          <p:cNvPr id="1069" name="Google Shape;1069;p121"/>
          <p:cNvSpPr txBox="1"/>
          <p:nvPr>
            <p:ph type="body" idx="1"/>
          </p:nvPr>
        </p:nvSpPr>
        <p:spPr>
          <a:xfrm>
            <a:off x="790225" y="1433075"/>
            <a:ext cx="7200600" cy="4768200"/>
          </a:xfrm>
          <a:prstGeom prst="rect">
            <a:avLst/>
          </a:prstGeom>
          <a:noFill/>
          <a:ln>
            <a:noFill/>
          </a:ln>
        </p:spPr>
        <p:txBody>
          <a:bodyPr spcFirstLastPara="1" wrap="square" lIns="91425" tIns="45700" rIns="91425" bIns="45700" anchor="t" anchorCtr="0">
            <a:noAutofit/>
          </a:bodyPr>
          <a:lstStyle/>
          <a:p>
            <a:pPr marL="685800" lvl="1" indent="-225425" algn="l" rtl="0">
              <a:lnSpc>
                <a:spcPct val="100000"/>
              </a:lnSpc>
              <a:spcBef>
                <a:spcPts val="0"/>
              </a:spcBef>
              <a:spcAft>
                <a:spcPts val="0"/>
              </a:spcAft>
              <a:buClr>
                <a:schemeClr val="accent2"/>
              </a:buClr>
              <a:buSzPts val="1750"/>
              <a:buFont typeface="Noto Sans Symbols"/>
              <a:buChar char="✔"/>
            </a:pPr>
            <a:r>
              <a:rPr lang="en-US" sz="1750" b="1"/>
              <a:t>The Ultimate Guide to National &amp; Global Marketing Planning and Promotion for Large Enterprise Marketing Operations Leaders</a:t>
            </a:r>
            <a:br>
              <a:rPr lang="en-US" sz="1750" b="1"/>
            </a:br>
            <a:endParaRPr sz="1750" b="1"/>
          </a:p>
          <a:p>
            <a:pPr marL="914400" marR="0" lvl="0" indent="-339725" algn="l" rtl="0">
              <a:lnSpc>
                <a:spcPct val="120000"/>
              </a:lnSpc>
              <a:spcBef>
                <a:spcPts val="0"/>
              </a:spcBef>
              <a:spcAft>
                <a:spcPts val="0"/>
              </a:spcAft>
              <a:buSzPts val="1750"/>
              <a:buChar char="●"/>
            </a:pPr>
            <a:r>
              <a:rPr lang="en-US" sz="1750"/>
              <a:t>People</a:t>
            </a:r>
            <a:endParaRPr sz="1750"/>
          </a:p>
          <a:p>
            <a:pPr marL="1828800" marR="0" lvl="1" indent="-339725" algn="l" rtl="0">
              <a:lnSpc>
                <a:spcPct val="120000"/>
              </a:lnSpc>
              <a:spcBef>
                <a:spcPts val="0"/>
              </a:spcBef>
              <a:spcAft>
                <a:spcPts val="0"/>
              </a:spcAft>
              <a:buSzPts val="1750"/>
              <a:buChar char="○"/>
            </a:pPr>
            <a:r>
              <a:rPr lang="en-US" sz="1750"/>
              <a:t>M. Ops responsibility for team/vendors</a:t>
            </a:r>
            <a:br>
              <a:rPr lang="en-US" sz="1750"/>
            </a:br>
            <a:endParaRPr sz="1750"/>
          </a:p>
          <a:p>
            <a:pPr marL="914400" marR="0" lvl="0" indent="-339725" algn="l" rtl="0">
              <a:lnSpc>
                <a:spcPct val="120000"/>
              </a:lnSpc>
              <a:spcBef>
                <a:spcPts val="0"/>
              </a:spcBef>
              <a:spcAft>
                <a:spcPts val="0"/>
              </a:spcAft>
              <a:buSzPts val="1750"/>
              <a:buChar char="●"/>
            </a:pPr>
            <a:r>
              <a:rPr lang="en-US" sz="1750"/>
              <a:t>Planning/Process/Delivery/Execution</a:t>
            </a:r>
            <a:endParaRPr sz="1750"/>
          </a:p>
          <a:p>
            <a:pPr marL="1828800" lvl="1" indent="-339725" algn="l" rtl="0">
              <a:lnSpc>
                <a:spcPct val="120000"/>
              </a:lnSpc>
              <a:spcBef>
                <a:spcPts val="0"/>
              </a:spcBef>
              <a:spcAft>
                <a:spcPts val="0"/>
              </a:spcAft>
              <a:buSzPts val="1750"/>
              <a:buChar char="○"/>
            </a:pPr>
            <a:r>
              <a:rPr lang="en-US" sz="1750"/>
              <a:t>M. Ops responsibility for the work getting done</a:t>
            </a:r>
            <a:br>
              <a:rPr lang="en-US" sz="1750"/>
            </a:br>
            <a:endParaRPr sz="1250" i="1"/>
          </a:p>
          <a:p>
            <a:pPr marL="914400" marR="0" lvl="0" indent="-339725" algn="l" rtl="0">
              <a:lnSpc>
                <a:spcPct val="120000"/>
              </a:lnSpc>
              <a:spcBef>
                <a:spcPts val="0"/>
              </a:spcBef>
              <a:spcAft>
                <a:spcPts val="0"/>
              </a:spcAft>
              <a:buSzPts val="1750"/>
              <a:buChar char="●"/>
            </a:pPr>
            <a:r>
              <a:rPr lang="en-US" sz="1750"/>
              <a:t>Technology</a:t>
            </a:r>
            <a:endParaRPr sz="1750"/>
          </a:p>
          <a:p>
            <a:pPr marL="1828800" lvl="1" indent="-339725" algn="l" rtl="0">
              <a:lnSpc>
                <a:spcPct val="120000"/>
              </a:lnSpc>
              <a:spcBef>
                <a:spcPts val="0"/>
              </a:spcBef>
              <a:spcAft>
                <a:spcPts val="0"/>
              </a:spcAft>
              <a:buSzPts val="1750"/>
              <a:buChar char="○"/>
            </a:pPr>
            <a:r>
              <a:rPr lang="en-US" sz="1750"/>
              <a:t>M. Ops use technology for work completion</a:t>
            </a:r>
            <a:br>
              <a:rPr lang="en-US" sz="1750"/>
            </a:br>
            <a:endParaRPr sz="1750"/>
          </a:p>
          <a:p>
            <a:pPr marL="914400" marR="0" lvl="0" indent="-339725" algn="l" rtl="0">
              <a:lnSpc>
                <a:spcPct val="120000"/>
              </a:lnSpc>
              <a:spcBef>
                <a:spcPts val="0"/>
              </a:spcBef>
              <a:spcAft>
                <a:spcPts val="0"/>
              </a:spcAft>
              <a:buSzPts val="1750"/>
              <a:buChar char="●"/>
            </a:pPr>
            <a:r>
              <a:rPr lang="en-US" sz="1750"/>
              <a:t>Marketing</a:t>
            </a:r>
            <a:endParaRPr sz="1750"/>
          </a:p>
          <a:p>
            <a:pPr marL="1828800" marR="0" lvl="1" indent="-339725" algn="l" rtl="0">
              <a:lnSpc>
                <a:spcPct val="120000"/>
              </a:lnSpc>
              <a:spcBef>
                <a:spcPts val="0"/>
              </a:spcBef>
              <a:spcAft>
                <a:spcPts val="0"/>
              </a:spcAft>
              <a:buSzPts val="1750"/>
              <a:buChar char="○"/>
            </a:pPr>
            <a:r>
              <a:rPr lang="en-US" sz="1750"/>
              <a:t>M. Ops balance of execution vs. strategic thinking</a:t>
            </a:r>
            <a:endParaRPr sz="1750"/>
          </a:p>
          <a:p>
            <a:pPr marL="16002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073" name="Shape 1073"/>
        <p:cNvGrpSpPr/>
        <p:nvPr/>
      </p:nvGrpSpPr>
      <p:grpSpPr>
        <a:xfrm>
          <a:off x="0" y="0"/>
          <a:ext cx="0" cy="0"/>
          <a:chOff x="0" y="0"/>
          <a:chExt cx="0" cy="0"/>
        </a:xfrm>
      </p:grpSpPr>
      <p:sp>
        <p:nvSpPr>
          <p:cNvPr id="1074" name="Google Shape;1074;p122"/>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116000"/>
              <a:buFont typeface="Calibri"/>
              <a:buNone/>
            </a:pPr>
            <a:r>
              <a:rPr lang="en-US" sz="3800">
                <a:solidFill>
                  <a:schemeClr val="accent5"/>
                </a:solidFill>
              </a:rPr>
              <a:t>Hub Page: </a:t>
            </a:r>
            <a:r>
              <a:rPr lang="en-US" sz="3800" b="0" i="1">
                <a:solidFill>
                  <a:schemeClr val="accent5"/>
                </a:solidFill>
                <a:latin typeface="Calibri"/>
                <a:ea typeface="Calibri"/>
                <a:cs typeface="Calibri"/>
                <a:sym typeface="Calibri"/>
              </a:rPr>
              <a:t>Marketing Ops - Marketing Calendar (in detail)</a:t>
            </a:r>
            <a:endParaRPr sz="3800" b="0" i="1">
              <a:solidFill>
                <a:schemeClr val="accent5"/>
              </a:solidFill>
              <a:latin typeface="Calibri"/>
              <a:ea typeface="Calibri"/>
              <a:cs typeface="Calibri"/>
              <a:sym typeface="Calibri"/>
            </a:endParaRPr>
          </a:p>
          <a:p>
            <a:pPr marL="0" lvl="0" indent="0" algn="l" rtl="0">
              <a:spcBef>
                <a:spcPts val="0"/>
              </a:spcBef>
              <a:spcAft>
                <a:spcPts val="0"/>
              </a:spcAft>
              <a:buClr>
                <a:schemeClr val="accent2"/>
              </a:buClr>
              <a:buSzPct val="116000"/>
              <a:buFont typeface="Calibri"/>
              <a:buNone/>
            </a:pPr>
            <a:endParaRPr sz="3800">
              <a:solidFill>
                <a:schemeClr val="accent5"/>
              </a:solidFill>
            </a:endParaRPr>
          </a:p>
          <a:p>
            <a:pPr marL="0" lvl="0" indent="0" algn="l" rtl="0">
              <a:lnSpc>
                <a:spcPct val="90000"/>
              </a:lnSpc>
              <a:spcBef>
                <a:spcPts val="0"/>
              </a:spcBef>
              <a:spcAft>
                <a:spcPts val="0"/>
              </a:spcAft>
              <a:buClr>
                <a:schemeClr val="accent2"/>
              </a:buClr>
              <a:buSzPct val="100000"/>
              <a:buFont typeface="Calibri"/>
              <a:buNone/>
            </a:pPr>
            <a:endParaRPr>
              <a:solidFill>
                <a:schemeClr val="accent5"/>
              </a:solidFill>
            </a:endParaRPr>
          </a:p>
        </p:txBody>
      </p:sp>
      <p:pic>
        <p:nvPicPr>
          <p:cNvPr id="1075" name="Google Shape;1075;p122"/>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76" name="Google Shape;1076;p122"/>
          <p:cNvSpPr txBox="1"/>
          <p:nvPr/>
        </p:nvSpPr>
        <p:spPr>
          <a:xfrm>
            <a:off x="8214875" y="1826363"/>
            <a:ext cx="2983800" cy="30651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Highlights: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Written at the operational level - talking directly to the daily users of the software</a:t>
            </a:r>
            <a:endParaRPr sz="1600">
              <a:solidFill>
                <a:srgbClr val="FF0000"/>
              </a:solidFill>
              <a:latin typeface="Calibri"/>
              <a:ea typeface="Calibri"/>
              <a:cs typeface="Calibri"/>
              <a:sym typeface="Calibri"/>
            </a:endParaRPr>
          </a:p>
          <a:p>
            <a:pPr marL="0" marR="0" lvl="0" indent="0" algn="l" rtl="0">
              <a:lnSpc>
                <a:spcPct val="100000"/>
              </a:lnSpc>
              <a:spcBef>
                <a:spcPts val="600"/>
              </a:spcBef>
              <a:spcAft>
                <a:spcPts val="0"/>
              </a:spcAft>
              <a:buNone/>
            </a:pPr>
            <a:endParaRPr sz="1600">
              <a:solidFill>
                <a:srgbClr val="FF0000"/>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rgbClr val="FFFFFF"/>
              </a:solidFill>
              <a:latin typeface="Calibri"/>
              <a:ea typeface="Calibri"/>
              <a:cs typeface="Calibri"/>
              <a:sym typeface="Calibri"/>
            </a:endParaRPr>
          </a:p>
        </p:txBody>
      </p:sp>
      <p:sp>
        <p:nvSpPr>
          <p:cNvPr id="1077" name="Google Shape;1077;p12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hub pages</a:t>
            </a:r>
            <a:endParaRPr sz="1900" b="0" i="1">
              <a:solidFill>
                <a:schemeClr val="accent5"/>
              </a:solidFill>
              <a:latin typeface="Calibri"/>
              <a:ea typeface="Calibri"/>
              <a:cs typeface="Calibri"/>
              <a:sym typeface="Calibri"/>
            </a:endParaRPr>
          </a:p>
        </p:txBody>
      </p:sp>
      <p:sp>
        <p:nvSpPr>
          <p:cNvPr id="1078" name="Google Shape;1078;p122"/>
          <p:cNvSpPr txBox="1"/>
          <p:nvPr>
            <p:ph type="body" idx="1"/>
          </p:nvPr>
        </p:nvSpPr>
        <p:spPr>
          <a:xfrm>
            <a:off x="690075" y="1611500"/>
            <a:ext cx="7200600" cy="4768200"/>
          </a:xfrm>
          <a:prstGeom prst="rect">
            <a:avLst/>
          </a:prstGeom>
          <a:noFill/>
          <a:ln>
            <a:noFill/>
          </a:ln>
        </p:spPr>
        <p:txBody>
          <a:bodyPr spcFirstLastPara="1" wrap="square" lIns="91425" tIns="45700" rIns="91425" bIns="45700" anchor="t" anchorCtr="0">
            <a:noAutofit/>
          </a:bodyPr>
          <a:lstStyle/>
          <a:p>
            <a:pPr marL="685800" marR="0" lvl="1" indent="-225425" algn="l" rtl="0">
              <a:lnSpc>
                <a:spcPct val="120000"/>
              </a:lnSpc>
              <a:spcBef>
                <a:spcPts val="0"/>
              </a:spcBef>
              <a:spcAft>
                <a:spcPts val="0"/>
              </a:spcAft>
              <a:buSzPts val="1750"/>
              <a:buChar char="○"/>
            </a:pPr>
            <a:r>
              <a:rPr lang="en-US" sz="1750"/>
              <a:t>People</a:t>
            </a:r>
            <a:endParaRPr sz="1750"/>
          </a:p>
          <a:p>
            <a:pPr marL="1143000" marR="0" lvl="2" indent="-206375" algn="l" rtl="0">
              <a:lnSpc>
                <a:spcPct val="120000"/>
              </a:lnSpc>
              <a:spcBef>
                <a:spcPts val="0"/>
              </a:spcBef>
              <a:spcAft>
                <a:spcPts val="0"/>
              </a:spcAft>
              <a:buClr>
                <a:schemeClr val="accent2"/>
              </a:buClr>
              <a:buSzPts val="1450"/>
              <a:buChar char="■"/>
            </a:pPr>
            <a:r>
              <a:rPr lang="en-US" sz="1450"/>
              <a:t>How to better explain marketing campaign plans to your team</a:t>
            </a:r>
            <a:endParaRPr sz="1450"/>
          </a:p>
          <a:p>
            <a:pPr marL="1143000" marR="0" lvl="2" indent="-206375" algn="l" rtl="0">
              <a:lnSpc>
                <a:spcPct val="120000"/>
              </a:lnSpc>
              <a:spcBef>
                <a:spcPts val="0"/>
              </a:spcBef>
              <a:spcAft>
                <a:spcPts val="0"/>
              </a:spcAft>
              <a:buClr>
                <a:schemeClr val="accent2"/>
              </a:buClr>
              <a:buSzPts val="1450"/>
              <a:buChar char="■"/>
            </a:pPr>
            <a:r>
              <a:rPr lang="en-US" sz="1450"/>
              <a:t>Managing change - how to keep on top of global marketing deliverables</a:t>
            </a:r>
            <a:endParaRPr sz="1450"/>
          </a:p>
          <a:p>
            <a:pPr marL="1143000" marR="0" lvl="2" indent="-206375" algn="l" rtl="0">
              <a:lnSpc>
                <a:spcPct val="120000"/>
              </a:lnSpc>
              <a:spcBef>
                <a:spcPts val="0"/>
              </a:spcBef>
              <a:spcAft>
                <a:spcPts val="0"/>
              </a:spcAft>
              <a:buClr>
                <a:schemeClr val="accent2"/>
              </a:buClr>
              <a:buSzPts val="1450"/>
              <a:buChar char="■"/>
            </a:pPr>
            <a:r>
              <a:rPr lang="en-US" sz="1450"/>
              <a:t>Who does what - how to control access without limiting productivity</a:t>
            </a:r>
            <a:br>
              <a:rPr lang="en-US" sz="1450"/>
            </a:br>
            <a:endParaRPr sz="1450"/>
          </a:p>
          <a:p>
            <a:pPr marL="685800" marR="0" lvl="1" indent="-225425" algn="l" rtl="0">
              <a:lnSpc>
                <a:spcPct val="120000"/>
              </a:lnSpc>
              <a:spcBef>
                <a:spcPts val="0"/>
              </a:spcBef>
              <a:spcAft>
                <a:spcPts val="0"/>
              </a:spcAft>
              <a:buSzPts val="1750"/>
              <a:buChar char="○"/>
            </a:pPr>
            <a:r>
              <a:rPr lang="en-US" sz="1750"/>
              <a:t>Planning/Process/Delivery/Execution - </a:t>
            </a:r>
            <a:r>
              <a:rPr lang="en-US" sz="1750"/>
              <a:t>Managing the Beast</a:t>
            </a:r>
            <a:endParaRPr sz="1450"/>
          </a:p>
          <a:p>
            <a:pPr marL="1143000" marR="0" lvl="2" indent="-206375" algn="l" rtl="0">
              <a:lnSpc>
                <a:spcPct val="120000"/>
              </a:lnSpc>
              <a:spcBef>
                <a:spcPts val="0"/>
              </a:spcBef>
              <a:spcAft>
                <a:spcPts val="0"/>
              </a:spcAft>
              <a:buClr>
                <a:schemeClr val="accent2"/>
              </a:buClr>
              <a:buSzPts val="1450"/>
              <a:buChar char="■"/>
            </a:pPr>
            <a:r>
              <a:rPr lang="en-US" sz="1450"/>
              <a:t>2023 social media</a:t>
            </a:r>
            <a:endParaRPr sz="1450"/>
          </a:p>
          <a:p>
            <a:pPr marL="1143000" marR="0" lvl="2" indent="-206375" algn="l" rtl="0">
              <a:lnSpc>
                <a:spcPct val="120000"/>
              </a:lnSpc>
              <a:spcBef>
                <a:spcPts val="0"/>
              </a:spcBef>
              <a:spcAft>
                <a:spcPts val="0"/>
              </a:spcAft>
              <a:buClr>
                <a:schemeClr val="accent2"/>
              </a:buClr>
              <a:buSzPts val="1450"/>
              <a:buChar char="■"/>
            </a:pPr>
            <a:r>
              <a:rPr lang="en-US" sz="1450"/>
              <a:t>2023 marketing calendar</a:t>
            </a:r>
            <a:endParaRPr sz="1450"/>
          </a:p>
          <a:p>
            <a:pPr marL="1143000" marR="0" lvl="2" indent="-206375" algn="l" rtl="0">
              <a:lnSpc>
                <a:spcPct val="120000"/>
              </a:lnSpc>
              <a:spcBef>
                <a:spcPts val="0"/>
              </a:spcBef>
              <a:spcAft>
                <a:spcPts val="0"/>
              </a:spcAft>
              <a:buClr>
                <a:schemeClr val="accent2"/>
              </a:buClr>
              <a:buSzPts val="1450"/>
              <a:buChar char="■"/>
            </a:pPr>
            <a:r>
              <a:rPr lang="en-US" sz="1450"/>
              <a:t>(ebook) how to choose the best marketing calendar software</a:t>
            </a:r>
            <a:endParaRPr sz="1450"/>
          </a:p>
          <a:p>
            <a:pPr marL="1143000" marR="0" lvl="0" indent="0" algn="l" rtl="0">
              <a:lnSpc>
                <a:spcPct val="120000"/>
              </a:lnSpc>
              <a:spcBef>
                <a:spcPts val="0"/>
              </a:spcBef>
              <a:spcAft>
                <a:spcPts val="0"/>
              </a:spcAft>
              <a:buNone/>
            </a:pPr>
            <a:endParaRPr sz="1450"/>
          </a:p>
          <a:p>
            <a:pPr marL="685800" marR="0" lvl="1" indent="-225425" algn="l" rtl="0">
              <a:lnSpc>
                <a:spcPct val="120000"/>
              </a:lnSpc>
              <a:spcBef>
                <a:spcPts val="0"/>
              </a:spcBef>
              <a:spcAft>
                <a:spcPts val="0"/>
              </a:spcAft>
              <a:buSzPts val="1750"/>
              <a:buChar char="○"/>
            </a:pPr>
            <a:r>
              <a:rPr lang="en-US" sz="1750"/>
              <a:t>Technology</a:t>
            </a:r>
            <a:endParaRPr sz="1750"/>
          </a:p>
          <a:p>
            <a:pPr marL="1143000" marR="0" lvl="2" indent="-206375" algn="l" rtl="0">
              <a:lnSpc>
                <a:spcPct val="120000"/>
              </a:lnSpc>
              <a:spcBef>
                <a:spcPts val="0"/>
              </a:spcBef>
              <a:spcAft>
                <a:spcPts val="0"/>
              </a:spcAft>
              <a:buClr>
                <a:schemeClr val="accent2"/>
              </a:buClr>
              <a:buSzPts val="1450"/>
              <a:buChar char="■"/>
            </a:pPr>
            <a:r>
              <a:rPr lang="en-US" sz="1450"/>
              <a:t>Tame the complexity how to manage multiple campaign calendars for brands, geographic regions, or marketing channels</a:t>
            </a:r>
            <a:endParaRPr sz="1450"/>
          </a:p>
          <a:p>
            <a:pPr marL="1143000" marR="0" lvl="2" indent="-206375" algn="l" rtl="0">
              <a:lnSpc>
                <a:spcPct val="120000"/>
              </a:lnSpc>
              <a:spcBef>
                <a:spcPts val="0"/>
              </a:spcBef>
              <a:spcAft>
                <a:spcPts val="0"/>
              </a:spcAft>
              <a:buClr>
                <a:schemeClr val="accent2"/>
              </a:buClr>
              <a:buSzPts val="1450"/>
              <a:buChar char="■"/>
            </a:pPr>
            <a:r>
              <a:rPr lang="en-US" sz="1450"/>
              <a:t>Using dashboards for quick metrics views</a:t>
            </a:r>
            <a:endParaRPr sz="1450"/>
          </a:p>
          <a:p>
            <a:pPr marL="685800" marR="0" lvl="1" indent="-225425" algn="l" rtl="0">
              <a:lnSpc>
                <a:spcPct val="120000"/>
              </a:lnSpc>
              <a:spcBef>
                <a:spcPts val="0"/>
              </a:spcBef>
              <a:spcAft>
                <a:spcPts val="0"/>
              </a:spcAft>
              <a:buSzPts val="1750"/>
              <a:buChar char="○"/>
            </a:pPr>
            <a:r>
              <a:rPr lang="en-US" sz="1750"/>
              <a:t>Marketing</a:t>
            </a:r>
            <a:endParaRPr sz="1750"/>
          </a:p>
          <a:p>
            <a:pPr marL="1143000" marR="0" lvl="2" indent="-206375" algn="l" rtl="0">
              <a:lnSpc>
                <a:spcPct val="120000"/>
              </a:lnSpc>
              <a:spcBef>
                <a:spcPts val="0"/>
              </a:spcBef>
              <a:spcAft>
                <a:spcPts val="0"/>
              </a:spcAft>
              <a:buClr>
                <a:schemeClr val="accent2"/>
              </a:buClr>
              <a:buSzPts val="1450"/>
              <a:buChar char="■"/>
            </a:pPr>
            <a:r>
              <a:rPr lang="en-US" sz="1450"/>
              <a:t>Export data for key stakeholders and elevate your achievements</a:t>
            </a:r>
            <a:endParaRPr sz="1450"/>
          </a:p>
          <a:p>
            <a:pPr marL="1143000" lvl="0" indent="0" algn="l" rtl="0">
              <a:lnSpc>
                <a:spcPct val="120000"/>
              </a:lnSpc>
              <a:spcBef>
                <a:spcPts val="0"/>
              </a:spcBef>
              <a:spcAft>
                <a:spcPts val="0"/>
              </a:spcAft>
              <a:buNone/>
            </a:pPr>
            <a:endParaRPr sz="1450"/>
          </a:p>
          <a:p>
            <a:pPr marL="0" lvl="0" indent="0" algn="l" rtl="0">
              <a:lnSpc>
                <a:spcPct val="120000"/>
              </a:lnSpc>
              <a:spcBef>
                <a:spcPts val="0"/>
              </a:spcBef>
              <a:spcAft>
                <a:spcPts val="0"/>
              </a:spcAft>
              <a:buNone/>
            </a:pPr>
            <a:endParaRPr sz="1750"/>
          </a:p>
          <a:p>
            <a:pPr marL="2057400" marR="0" lvl="0" indent="0" algn="l" rtl="0">
              <a:lnSpc>
                <a:spcPct val="120000"/>
              </a:lnSpc>
              <a:spcBef>
                <a:spcPts val="0"/>
              </a:spcBef>
              <a:spcAft>
                <a:spcPts val="0"/>
              </a:spcAft>
              <a:buNone/>
            </a:pPr>
            <a:endParaRPr sz="1650"/>
          </a:p>
          <a:p>
            <a:pPr marL="0" marR="0" lvl="0" indent="0" algn="l" rtl="0">
              <a:lnSpc>
                <a:spcPct val="100000"/>
              </a:lnSpc>
              <a:spcBef>
                <a:spcPts val="1000"/>
              </a:spcBef>
              <a:spcAft>
                <a:spcPts val="0"/>
              </a:spcAft>
              <a:buNone/>
            </a:pPr>
            <a:endParaRPr sz="1600" b="1"/>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082" name="Shape 1082"/>
        <p:cNvGrpSpPr/>
        <p:nvPr/>
      </p:nvGrpSpPr>
      <p:grpSpPr>
        <a:xfrm>
          <a:off x="0" y="0"/>
          <a:ext cx="0" cy="0"/>
          <a:chOff x="0" y="0"/>
          <a:chExt cx="0" cy="0"/>
        </a:xfrm>
      </p:grpSpPr>
      <p:sp>
        <p:nvSpPr>
          <p:cNvPr id="1083" name="Google Shape;1083;p123"/>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lead generation (inbound)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3: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Online Listings &amp; Review Sites</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1084" name="Google Shape;1084;p12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088" name="Shape 1088"/>
        <p:cNvGrpSpPr/>
        <p:nvPr/>
      </p:nvGrpSpPr>
      <p:grpSpPr>
        <a:xfrm>
          <a:off x="0" y="0"/>
          <a:ext cx="0" cy="0"/>
          <a:chOff x="0" y="0"/>
          <a:chExt cx="0" cy="0"/>
        </a:xfrm>
      </p:grpSpPr>
      <p:sp>
        <p:nvSpPr>
          <p:cNvPr id="1089" name="Google Shape;1089;p124"/>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SAAS </a:t>
            </a:r>
            <a:r>
              <a:rPr lang="en-US" sz="3800">
                <a:solidFill>
                  <a:schemeClr val="accent5"/>
                </a:solidFill>
                <a:latin typeface="Calibri"/>
                <a:ea typeface="Calibri"/>
                <a:cs typeface="Calibri"/>
                <a:sym typeface="Calibri"/>
              </a:rPr>
              <a:t>Review Site &amp; Online Listings</a:t>
            </a:r>
            <a:endParaRPr sz="3800">
              <a:solidFill>
                <a:schemeClr val="accent5"/>
              </a:solidFill>
              <a:latin typeface="Calibri"/>
              <a:ea typeface="Calibri"/>
              <a:cs typeface="Calibri"/>
              <a:sym typeface="Calibri"/>
            </a:endParaRPr>
          </a:p>
        </p:txBody>
      </p:sp>
      <p:sp>
        <p:nvSpPr>
          <p:cNvPr id="1090" name="Google Shape;1090;p124"/>
          <p:cNvSpPr txBox="1"/>
          <p:nvPr>
            <p:ph type="body" idx="1"/>
          </p:nvPr>
        </p:nvSpPr>
        <p:spPr>
          <a:xfrm>
            <a:off x="862575" y="1529475"/>
            <a:ext cx="67308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SaaS Review Sites &amp; Online Listings (citations)</a:t>
            </a:r>
            <a:endParaRPr sz="1650" b="1"/>
          </a:p>
          <a:p>
            <a:pPr marL="457200" marR="0" lvl="1" indent="-225425" algn="l" rtl="0">
              <a:lnSpc>
                <a:spcPct val="100000"/>
              </a:lnSpc>
              <a:spcBef>
                <a:spcPts val="1000"/>
              </a:spcBef>
              <a:spcAft>
                <a:spcPts val="0"/>
              </a:spcAft>
              <a:buClr>
                <a:srgbClr val="FF9900"/>
              </a:buClr>
              <a:buSzPts val="1750"/>
              <a:buFont typeface="Noto Sans Symbols"/>
              <a:buChar char="✔"/>
            </a:pPr>
            <a:r>
              <a:rPr lang="en-US" sz="1400"/>
              <a:t>So</a:t>
            </a:r>
            <a:r>
              <a:rPr lang="en-US" sz="1350"/>
              <a:t>ftware review sites: Capterra, G2, GetApp - you already appear on these sites.</a:t>
            </a:r>
            <a:endParaRPr sz="1350"/>
          </a:p>
          <a:p>
            <a:pPr marL="1143000" marR="0" lvl="2" indent="-200025" algn="l" rtl="0">
              <a:lnSpc>
                <a:spcPct val="100000"/>
              </a:lnSpc>
              <a:spcBef>
                <a:spcPts val="1000"/>
              </a:spcBef>
              <a:spcAft>
                <a:spcPts val="0"/>
              </a:spcAft>
              <a:buSzPts val="1350"/>
              <a:buChar char="•"/>
            </a:pPr>
            <a:r>
              <a:rPr lang="en-US" sz="1350"/>
              <a:t>Update messaging and descriptions of all products</a:t>
            </a:r>
            <a:endParaRPr sz="1350"/>
          </a:p>
          <a:p>
            <a:pPr marL="1143000" marR="0" lvl="2" indent="-200025" algn="l" rtl="0">
              <a:lnSpc>
                <a:spcPct val="100000"/>
              </a:lnSpc>
              <a:spcBef>
                <a:spcPts val="1000"/>
              </a:spcBef>
              <a:spcAft>
                <a:spcPts val="0"/>
              </a:spcAft>
              <a:buSzPts val="1350"/>
              <a:buChar char="•"/>
            </a:pPr>
            <a:r>
              <a:rPr lang="en-US" sz="1350"/>
              <a:t>Two phases</a:t>
            </a:r>
            <a:endParaRPr sz="1350"/>
          </a:p>
          <a:p>
            <a:pPr marL="1600200" marR="0" lvl="3" indent="-200025" algn="l" rtl="0">
              <a:lnSpc>
                <a:spcPct val="100000"/>
              </a:lnSpc>
              <a:spcBef>
                <a:spcPts val="1000"/>
              </a:spcBef>
              <a:spcAft>
                <a:spcPts val="0"/>
              </a:spcAft>
              <a:buSzPts val="1350"/>
              <a:buChar char="•"/>
            </a:pPr>
            <a:r>
              <a:rPr lang="en-US" sz="1350"/>
              <a:t>update/correct listing</a:t>
            </a:r>
            <a:endParaRPr sz="1350"/>
          </a:p>
          <a:p>
            <a:pPr marL="1600200" marR="0" lvl="3" indent="-200025" algn="l" rtl="0">
              <a:lnSpc>
                <a:spcPct val="100000"/>
              </a:lnSpc>
              <a:spcBef>
                <a:spcPts val="1000"/>
              </a:spcBef>
              <a:spcAft>
                <a:spcPts val="0"/>
              </a:spcAft>
              <a:buSzPts val="1350"/>
              <a:buChar char="•"/>
            </a:pPr>
            <a:r>
              <a:rPr lang="en-US" sz="1350"/>
              <a:t>request reviews</a:t>
            </a:r>
            <a:endParaRPr sz="1350"/>
          </a:p>
          <a:p>
            <a:pPr marL="457200" marR="0" lvl="1" indent="-200025" algn="l" rtl="0">
              <a:lnSpc>
                <a:spcPct val="100000"/>
              </a:lnSpc>
              <a:spcBef>
                <a:spcPts val="1000"/>
              </a:spcBef>
              <a:spcAft>
                <a:spcPts val="0"/>
              </a:spcAft>
              <a:buClr>
                <a:srgbClr val="FF9900"/>
              </a:buClr>
              <a:buSzPts val="1350"/>
              <a:buChar char="✔"/>
            </a:pPr>
            <a:r>
              <a:rPr lang="en-US" sz="1350"/>
              <a:t>If you want to know which review sites to prioritize, search for “[your category] + reviews,” “Best + [your category],” or “List of [your category] companies.” The higher a review site appears in the organic search engine results, the more likely your audience goes there to seek reviews on your software and others in your category. Most software buyers find review sites by online search.</a:t>
            </a:r>
            <a:endParaRPr sz="1350"/>
          </a:p>
          <a:p>
            <a:pPr marL="685800" lvl="1" indent="-200025" algn="l" rtl="0">
              <a:lnSpc>
                <a:spcPct val="100000"/>
              </a:lnSpc>
              <a:spcBef>
                <a:spcPts val="1000"/>
              </a:spcBef>
              <a:spcAft>
                <a:spcPts val="0"/>
              </a:spcAft>
              <a:buClr>
                <a:srgbClr val="FF9900"/>
              </a:buClr>
              <a:buSzPts val="1350"/>
              <a:buChar char="✔"/>
            </a:pPr>
            <a:r>
              <a:rPr lang="en-US" sz="1350"/>
              <a:t>Gartner Digital Markets: Capterra, GetApp, and SoftwareAdvice </a:t>
            </a:r>
            <a:endParaRPr sz="1350"/>
          </a:p>
          <a:p>
            <a:pPr marL="685800" lvl="1" indent="-200025" algn="l" rtl="0">
              <a:lnSpc>
                <a:spcPct val="100000"/>
              </a:lnSpc>
              <a:spcBef>
                <a:spcPts val="1000"/>
              </a:spcBef>
              <a:spcAft>
                <a:spcPts val="0"/>
              </a:spcAft>
              <a:buClr>
                <a:srgbClr val="FF9900"/>
              </a:buClr>
              <a:buSzPts val="1350"/>
              <a:buChar char="✔"/>
            </a:pPr>
            <a:r>
              <a:rPr lang="en-US" sz="1350"/>
              <a:t>Capterra		Software Advice		GetApp</a:t>
            </a:r>
            <a:endParaRPr sz="1350"/>
          </a:p>
          <a:p>
            <a:pPr marL="685800" lvl="1" indent="-200025" algn="l" rtl="0">
              <a:lnSpc>
                <a:spcPct val="100000"/>
              </a:lnSpc>
              <a:spcBef>
                <a:spcPts val="1000"/>
              </a:spcBef>
              <a:spcAft>
                <a:spcPts val="0"/>
              </a:spcAft>
              <a:buClr>
                <a:srgbClr val="FF9900"/>
              </a:buClr>
              <a:buSzPts val="1350"/>
              <a:buChar char="✔"/>
            </a:pPr>
            <a:r>
              <a:rPr lang="en-US" sz="1350"/>
              <a:t>Gartner Peer Insights	TrustRadius		PeerSpot (Formerly IT Central Station)</a:t>
            </a:r>
            <a:endParaRPr sz="1350"/>
          </a:p>
          <a:p>
            <a:pPr marL="685800" lvl="1" indent="-200025" algn="l" rtl="0">
              <a:lnSpc>
                <a:spcPct val="100000"/>
              </a:lnSpc>
              <a:spcBef>
                <a:spcPts val="1000"/>
              </a:spcBef>
              <a:spcAft>
                <a:spcPts val="0"/>
              </a:spcAft>
              <a:buClr>
                <a:srgbClr val="FF9900"/>
              </a:buClr>
              <a:buSzPts val="1350"/>
              <a:buChar char="✔"/>
            </a:pPr>
            <a:r>
              <a:rPr lang="en-US" sz="1350"/>
              <a:t>Trustpilot		SoftwareReviews</a:t>
            </a:r>
            <a:endParaRPr sz="1350"/>
          </a:p>
          <a:p>
            <a:pPr marL="685800" marR="0" lvl="0" indent="0" algn="l" rtl="0">
              <a:lnSpc>
                <a:spcPct val="100000"/>
              </a:lnSpc>
              <a:spcBef>
                <a:spcPts val="1000"/>
              </a:spcBef>
              <a:spcAft>
                <a:spcPts val="0"/>
              </a:spcAft>
              <a:buNone/>
            </a:pPr>
            <a:endParaRPr sz="1350"/>
          </a:p>
          <a:p>
            <a:pPr marL="1143000" marR="0" lvl="0" indent="0" algn="l" rtl="0">
              <a:lnSpc>
                <a:spcPct val="100000"/>
              </a:lnSpc>
              <a:spcBef>
                <a:spcPts val="1000"/>
              </a:spcBef>
              <a:spcAft>
                <a:spcPts val="0"/>
              </a:spcAft>
              <a:buNone/>
            </a:pPr>
            <a:endParaRPr sz="1250"/>
          </a:p>
        </p:txBody>
      </p:sp>
      <p:pic>
        <p:nvPicPr>
          <p:cNvPr id="1091" name="Google Shape;1091;p124"/>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092" name="Google Shape;1092;p124"/>
          <p:cNvSpPr txBox="1"/>
          <p:nvPr/>
        </p:nvSpPr>
        <p:spPr>
          <a:xfrm>
            <a:off x="8282300" y="1816950"/>
            <a:ext cx="2983800" cy="26013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Correct listings are key</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Review campaigns need be ongoing and owned by someone in the company to ensure consistency </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1093" name="Google Shape;1093;p12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a:t>
            </a:r>
            <a:r>
              <a:rPr lang="en-US" sz="1900" b="0" i="1">
                <a:solidFill>
                  <a:schemeClr val="accent5"/>
                </a:solidFill>
                <a:latin typeface="Calibri"/>
                <a:ea typeface="Calibri"/>
                <a:cs typeface="Calibri"/>
                <a:sym typeface="Calibri"/>
              </a:rPr>
              <a:t> - review sites &amp; online listings</a:t>
            </a:r>
            <a:endParaRPr sz="1900" b="0" i="1">
              <a:solidFill>
                <a:schemeClr val="accent5"/>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097" name="Shape 1097"/>
        <p:cNvGrpSpPr/>
        <p:nvPr/>
      </p:nvGrpSpPr>
      <p:grpSpPr>
        <a:xfrm>
          <a:off x="0" y="0"/>
          <a:ext cx="0" cy="0"/>
          <a:chOff x="0" y="0"/>
          <a:chExt cx="0" cy="0"/>
        </a:xfrm>
      </p:grpSpPr>
      <p:sp>
        <p:nvSpPr>
          <p:cNvPr id="1098" name="Google Shape;1098;p125"/>
          <p:cNvSpPr txBox="1"/>
          <p:nvPr>
            <p:ph type="body" idx="1"/>
          </p:nvPr>
        </p:nvSpPr>
        <p:spPr>
          <a:xfrm>
            <a:off x="862575" y="1664975"/>
            <a:ext cx="67308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SaaS Review Sites &amp; Requesting Reviews</a:t>
            </a:r>
            <a:endParaRPr sz="1650" b="1"/>
          </a:p>
          <a:p>
            <a:pPr marL="0" marR="0" lvl="0" indent="0" algn="l" rtl="0">
              <a:lnSpc>
                <a:spcPct val="100000"/>
              </a:lnSpc>
              <a:spcBef>
                <a:spcPts val="1000"/>
              </a:spcBef>
              <a:spcAft>
                <a:spcPts val="0"/>
              </a:spcAft>
              <a:buNone/>
            </a:pPr>
            <a:r>
              <a:rPr lang="en-US" sz="1400"/>
              <a:t>Software reviews need a strategy. Answer the following before starting:</a:t>
            </a:r>
            <a:endParaRPr sz="14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Which team or function owns review generation ownership? Customer marketing, product marketing, or another team?</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 ask all of your users for reviews or your happiest users only?</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 generate reviews with an always-on approach or with a campaign approach?</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your review generation be review-site driven or vendor-driven? </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 manually send review requests or automate review requests?</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 incentivize reviewers?</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 ask your main point of contact or user for a review, or will you ask multiple people at a customer account for reviews?</a:t>
            </a:r>
            <a:endParaRPr sz="1300"/>
          </a:p>
          <a:p>
            <a:pPr marL="457200" marR="0" lvl="1" indent="-219075" algn="l" rtl="0">
              <a:lnSpc>
                <a:spcPct val="100000"/>
              </a:lnSpc>
              <a:spcBef>
                <a:spcPts val="1000"/>
              </a:spcBef>
              <a:spcAft>
                <a:spcPts val="0"/>
              </a:spcAft>
              <a:buClr>
                <a:schemeClr val="accent2"/>
              </a:buClr>
              <a:buSzPts val="1650"/>
              <a:buFont typeface="Noto Sans Symbols"/>
              <a:buChar char="✔"/>
            </a:pPr>
            <a:r>
              <a:rPr lang="en-US" sz="1300"/>
              <a:t>Will you keep it simple with an email-driven review generation approach, or will you try multiple channels?</a:t>
            </a:r>
            <a:endParaRPr sz="1250"/>
          </a:p>
          <a:p>
            <a:pPr marL="1143000" marR="0" lvl="0" indent="0" algn="l" rtl="0">
              <a:lnSpc>
                <a:spcPct val="100000"/>
              </a:lnSpc>
              <a:spcBef>
                <a:spcPts val="1000"/>
              </a:spcBef>
              <a:spcAft>
                <a:spcPts val="0"/>
              </a:spcAft>
              <a:buNone/>
            </a:pPr>
            <a:endParaRPr sz="1250"/>
          </a:p>
        </p:txBody>
      </p:sp>
      <p:pic>
        <p:nvPicPr>
          <p:cNvPr id="1099" name="Google Shape;1099;p125"/>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100" name="Google Shape;1100;p125"/>
          <p:cNvSpPr txBox="1"/>
          <p:nvPr/>
        </p:nvSpPr>
        <p:spPr>
          <a:xfrm>
            <a:off x="8282300" y="1816950"/>
            <a:ext cx="2983800" cy="42330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Correct listings are key</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SaaS Review Sites campaigns need be ongoing and owned by someone in the company to ensure consistency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This will involve upgrading your subscription (paid) to the SaaS review sites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Commit to a certain number of reviews per site by the end of the year</a:t>
            </a: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1101" name="Google Shape;1101;p12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232000"/>
              <a:buFont typeface="Calibri"/>
              <a:buNone/>
            </a:pPr>
            <a:r>
              <a:rPr lang="en-US" sz="1900" b="0" i="1">
                <a:solidFill>
                  <a:schemeClr val="accent5"/>
                </a:solidFill>
                <a:latin typeface="Calibri"/>
                <a:ea typeface="Calibri"/>
                <a:cs typeface="Calibri"/>
                <a:sym typeface="Calibri"/>
              </a:rPr>
              <a:t>lead generation (inbound) - review sites &amp; online listings</a:t>
            </a:r>
            <a:endParaRPr sz="1900" b="0" i="1">
              <a:solidFill>
                <a:schemeClr val="accent5"/>
              </a:solidFill>
              <a:latin typeface="Calibri"/>
              <a:ea typeface="Calibri"/>
              <a:cs typeface="Calibri"/>
              <a:sym typeface="Calibri"/>
            </a:endParaRPr>
          </a:p>
          <a:p>
            <a:pPr marL="0" lvl="0" indent="0" algn="l" rtl="0">
              <a:spcBef>
                <a:spcPts val="0"/>
              </a:spcBef>
              <a:spcAft>
                <a:spcPts val="0"/>
              </a:spcAft>
              <a:buClr>
                <a:schemeClr val="accent2"/>
              </a:buClr>
              <a:buSzPct val="232000"/>
              <a:buFont typeface="Calibri"/>
              <a:buNone/>
            </a:pPr>
            <a:endParaRPr sz="1900" b="0" i="1">
              <a:solidFill>
                <a:schemeClr val="accent5"/>
              </a:solidFill>
              <a:latin typeface="Calibri"/>
              <a:ea typeface="Calibri"/>
              <a:cs typeface="Calibri"/>
              <a:sym typeface="Calibri"/>
            </a:endParaRPr>
          </a:p>
        </p:txBody>
      </p:sp>
      <p:sp>
        <p:nvSpPr>
          <p:cNvPr id="1102" name="Google Shape;1102;p125"/>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SAAS Review Sites &amp; Requesting Reviews</a:t>
            </a:r>
            <a:endParaRPr sz="3800" b="0" i="1">
              <a:solidFill>
                <a:schemeClr val="accent5"/>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106" name="Shape 1106"/>
        <p:cNvGrpSpPr/>
        <p:nvPr/>
      </p:nvGrpSpPr>
      <p:grpSpPr>
        <a:xfrm>
          <a:off x="0" y="0"/>
          <a:ext cx="0" cy="0"/>
          <a:chOff x="0" y="0"/>
          <a:chExt cx="0" cy="0"/>
        </a:xfrm>
      </p:grpSpPr>
      <p:sp>
        <p:nvSpPr>
          <p:cNvPr id="1107" name="Google Shape;1107;p126"/>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“Regular” Online Listings</a:t>
            </a:r>
            <a:endParaRPr sz="3800">
              <a:solidFill>
                <a:schemeClr val="accent5"/>
              </a:solidFill>
            </a:endParaRPr>
          </a:p>
        </p:txBody>
      </p:sp>
      <p:sp>
        <p:nvSpPr>
          <p:cNvPr id="1108" name="Google Shape;1108;p126"/>
          <p:cNvSpPr txBox="1"/>
          <p:nvPr>
            <p:ph type="body" idx="1"/>
          </p:nvPr>
        </p:nvSpPr>
        <p:spPr>
          <a:xfrm>
            <a:off x="862575" y="1664975"/>
            <a:ext cx="67308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“Regular” Online Listings (directories, citations) </a:t>
            </a:r>
            <a:endParaRPr sz="1650" b="1"/>
          </a:p>
          <a:p>
            <a:pPr marL="457200" marR="0" lvl="1" indent="-225425" algn="l" rtl="0">
              <a:lnSpc>
                <a:spcPct val="100000"/>
              </a:lnSpc>
              <a:spcBef>
                <a:spcPts val="1000"/>
              </a:spcBef>
              <a:spcAft>
                <a:spcPts val="0"/>
              </a:spcAft>
              <a:buClr>
                <a:schemeClr val="accent2"/>
              </a:buClr>
              <a:buSzPts val="1750"/>
              <a:buFont typeface="Noto Sans Symbols"/>
              <a:buChar char="✔"/>
            </a:pPr>
            <a:r>
              <a:rPr lang="en-US" sz="1400"/>
              <a:t>Google pulls information about your company from websites other than your own company website</a:t>
            </a:r>
            <a:endParaRPr sz="1400"/>
          </a:p>
          <a:p>
            <a:pPr marL="457200" marR="0" lvl="1" indent="-225425" algn="l" rtl="0">
              <a:lnSpc>
                <a:spcPct val="100000"/>
              </a:lnSpc>
              <a:spcBef>
                <a:spcPts val="1000"/>
              </a:spcBef>
              <a:spcAft>
                <a:spcPts val="0"/>
              </a:spcAft>
              <a:buClr>
                <a:schemeClr val="accent2"/>
              </a:buClr>
              <a:buSzPts val="1750"/>
              <a:buFont typeface="Noto Sans Symbols"/>
              <a:buChar char="✔"/>
            </a:pPr>
            <a:r>
              <a:rPr lang="en-US" sz="1350"/>
              <a:t>In a sense Google “checks” how your company information shows up on other sites</a:t>
            </a:r>
            <a:endParaRPr sz="1350"/>
          </a:p>
          <a:p>
            <a:pPr marL="457200" marR="0" lvl="1" indent="-225425" algn="l" rtl="0">
              <a:lnSpc>
                <a:spcPct val="100000"/>
              </a:lnSpc>
              <a:spcBef>
                <a:spcPts val="1000"/>
              </a:spcBef>
              <a:spcAft>
                <a:spcPts val="0"/>
              </a:spcAft>
              <a:buClr>
                <a:schemeClr val="accent2"/>
              </a:buClr>
              <a:buSzPts val="1750"/>
              <a:buFont typeface="Noto Sans Symbols"/>
              <a:buChar char="✔"/>
            </a:pPr>
            <a:r>
              <a:rPr lang="en-US" sz="1350"/>
              <a:t>If information is not consistent (Business Name, Address, Phone no. - NAP being the first item checked) it makes Google “think” your business information may not be correct - Google doesn’t want to return sub par information in its searches</a:t>
            </a:r>
            <a:endParaRPr sz="1350"/>
          </a:p>
          <a:p>
            <a:pPr marL="457200" marR="0" lvl="1" indent="-225425" algn="l" rtl="0">
              <a:lnSpc>
                <a:spcPct val="100000"/>
              </a:lnSpc>
              <a:spcBef>
                <a:spcPts val="1000"/>
              </a:spcBef>
              <a:spcAft>
                <a:spcPts val="0"/>
              </a:spcAft>
              <a:buClr>
                <a:schemeClr val="accent2"/>
              </a:buClr>
              <a:buSzPts val="1750"/>
              <a:buFont typeface="Noto Sans Symbols"/>
              <a:buChar char="✔"/>
            </a:pPr>
            <a:r>
              <a:rPr lang="en-US" sz="1350"/>
              <a:t>Know that major social media sites are considered by Google to be directories - it is key that all the information fields are filled out to help Google, help your company</a:t>
            </a:r>
            <a:endParaRPr sz="1350"/>
          </a:p>
          <a:p>
            <a:pPr marL="457200" marR="0" lvl="1" indent="-225425" algn="l" rtl="0">
              <a:lnSpc>
                <a:spcPct val="100000"/>
              </a:lnSpc>
              <a:spcBef>
                <a:spcPts val="1000"/>
              </a:spcBef>
              <a:spcAft>
                <a:spcPts val="0"/>
              </a:spcAft>
              <a:buClr>
                <a:schemeClr val="accent2"/>
              </a:buClr>
              <a:buSzPts val="1750"/>
              <a:buFont typeface="Noto Sans Symbols"/>
              <a:buChar char="✔"/>
            </a:pPr>
            <a:r>
              <a:rPr lang="en-US" sz="1350"/>
              <a:t> These regular online listing sites often also have the review feature - for example Google Business Profile with Google Reviews, Facebook with Facebook Business reviews and so on</a:t>
            </a:r>
            <a:endParaRPr sz="1350"/>
          </a:p>
          <a:p>
            <a:pPr marL="685800" marR="0" lvl="0" indent="0" algn="l" rtl="0">
              <a:lnSpc>
                <a:spcPct val="100000"/>
              </a:lnSpc>
              <a:spcBef>
                <a:spcPts val="1000"/>
              </a:spcBef>
              <a:spcAft>
                <a:spcPts val="0"/>
              </a:spcAft>
              <a:buNone/>
            </a:pPr>
            <a:endParaRPr sz="1350"/>
          </a:p>
        </p:txBody>
      </p:sp>
      <p:pic>
        <p:nvPicPr>
          <p:cNvPr id="1109" name="Google Shape;1109;p126"/>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110" name="Google Shape;1110;p126"/>
          <p:cNvSpPr txBox="1"/>
          <p:nvPr/>
        </p:nvSpPr>
        <p:spPr>
          <a:xfrm>
            <a:off x="8282300" y="1816950"/>
            <a:ext cx="2983800" cy="327630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Google pulls/verifies your business information with other sites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Consistent company information on “non” SaaS sites matters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May be easier for company reviews</a:t>
            </a:r>
            <a:endParaRPr sz="1600">
              <a:solidFill>
                <a:srgbClr val="434343"/>
              </a:solidFill>
              <a:latin typeface="Calibri"/>
              <a:ea typeface="Calibri"/>
              <a:cs typeface="Calibri"/>
              <a:sym typeface="Calibri"/>
            </a:endParaRPr>
          </a:p>
          <a:p>
            <a:pPr marL="0" marR="0" lvl="0" indent="0" algn="l" rtl="0">
              <a:lnSpc>
                <a:spcPct val="100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1111" name="Google Shape;1111;p12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232000"/>
              <a:buFont typeface="Calibri"/>
              <a:buNone/>
            </a:pPr>
            <a:r>
              <a:rPr lang="en-US" sz="1900" b="0" i="1">
                <a:solidFill>
                  <a:schemeClr val="accent5"/>
                </a:solidFill>
                <a:latin typeface="Calibri"/>
                <a:ea typeface="Calibri"/>
                <a:cs typeface="Calibri"/>
                <a:sym typeface="Calibri"/>
              </a:rPr>
              <a:t>lead generation (inbound) - review sites &amp; online listings</a:t>
            </a:r>
            <a:endParaRPr sz="1900" b="0" i="1">
              <a:solidFill>
                <a:schemeClr val="accent5"/>
              </a:solidFill>
              <a:latin typeface="Calibri"/>
              <a:ea typeface="Calibri"/>
              <a:cs typeface="Calibri"/>
              <a:sym typeface="Calibri"/>
            </a:endParaRPr>
          </a:p>
          <a:p>
            <a:pPr marL="0" lvl="0" indent="0" algn="l" rtl="0">
              <a:spcBef>
                <a:spcPts val="0"/>
              </a:spcBef>
              <a:spcAft>
                <a:spcPts val="0"/>
              </a:spcAft>
              <a:buClr>
                <a:schemeClr val="accent2"/>
              </a:buClr>
              <a:buSzPct val="232000"/>
              <a:buFont typeface="Calibri"/>
              <a:buNone/>
            </a:pPr>
            <a:endParaRPr sz="1900" b="0" i="1">
              <a:solidFill>
                <a:schemeClr val="accent5"/>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115" name="Shape 1115"/>
        <p:cNvGrpSpPr/>
        <p:nvPr/>
      </p:nvGrpSpPr>
      <p:grpSpPr>
        <a:xfrm>
          <a:off x="0" y="0"/>
          <a:ext cx="0" cy="0"/>
          <a:chOff x="0" y="0"/>
          <a:chExt cx="0" cy="0"/>
        </a:xfrm>
      </p:grpSpPr>
      <p:sp>
        <p:nvSpPr>
          <p:cNvPr id="1116" name="Google Shape;1116;p127"/>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“Regular” Online Listings</a:t>
            </a:r>
            <a:endParaRPr sz="3800">
              <a:solidFill>
                <a:schemeClr val="accent5"/>
              </a:solidFill>
            </a:endParaRPr>
          </a:p>
          <a:p>
            <a:pPr marL="0" lvl="0" indent="0" algn="l" rtl="0">
              <a:lnSpc>
                <a:spcPct val="90000"/>
              </a:lnSpc>
              <a:spcBef>
                <a:spcPts val="0"/>
              </a:spcBef>
              <a:spcAft>
                <a:spcPts val="0"/>
              </a:spcAft>
              <a:buClr>
                <a:schemeClr val="accent2"/>
              </a:buClr>
              <a:buSzPts val="4400"/>
              <a:buFont typeface="Calibri"/>
              <a:buNone/>
            </a:pPr>
            <a:endParaRPr>
              <a:solidFill>
                <a:schemeClr val="accent5"/>
              </a:solidFill>
            </a:endParaRPr>
          </a:p>
        </p:txBody>
      </p:sp>
      <p:pic>
        <p:nvPicPr>
          <p:cNvPr id="1117" name="Google Shape;1117;p127"/>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118" name="Google Shape;1118;p127"/>
          <p:cNvSpPr txBox="1"/>
          <p:nvPr/>
        </p:nvSpPr>
        <p:spPr>
          <a:xfrm>
            <a:off x="8282300" y="1816950"/>
            <a:ext cx="2983800" cy="21438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Decide the name, full address and phone number for your business </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Clean up citations</a:t>
            </a:r>
            <a:endParaRPr sz="1600">
              <a:solidFill>
                <a:srgbClr val="434343"/>
              </a:solidFill>
              <a:latin typeface="Calibri"/>
              <a:ea typeface="Calibri"/>
              <a:cs typeface="Calibri"/>
              <a:sym typeface="Calibri"/>
            </a:endParaRPr>
          </a:p>
          <a:p>
            <a:pPr marL="457200" marR="0" lvl="0" indent="0" algn="l" rtl="0">
              <a:lnSpc>
                <a:spcPct val="100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pic>
        <p:nvPicPr>
          <p:cNvPr id="1119" name="Google Shape;1119;p127"/>
          <p:cNvPicPr preferRelativeResize="0"/>
          <p:nvPr/>
        </p:nvPicPr>
        <p:blipFill>
          <a:blip r:embed="rId2"/>
          <a:stretch>
            <a:fillRect/>
          </a:stretch>
        </p:blipFill>
        <p:spPr>
          <a:xfrm>
            <a:off x="1252500" y="1541713"/>
            <a:ext cx="6220573" cy="4783474"/>
          </a:xfrm>
          <a:prstGeom prst="rect">
            <a:avLst/>
          </a:prstGeom>
          <a:noFill/>
          <a:ln w="9525" cap="flat" cmpd="sng">
            <a:solidFill>
              <a:schemeClr val="dk2"/>
            </a:solidFill>
            <a:prstDash val="dot"/>
            <a:round/>
            <a:headEnd type="none" w="sm" len="sm"/>
            <a:tailEnd type="none" w="sm" len="sm"/>
          </a:ln>
        </p:spPr>
      </p:pic>
      <p:sp>
        <p:nvSpPr>
          <p:cNvPr id="1120" name="Google Shape;1120;p12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232000"/>
              <a:buFont typeface="Calibri"/>
              <a:buNone/>
            </a:pPr>
            <a:r>
              <a:rPr lang="en-US" sz="1900" b="0" i="1">
                <a:solidFill>
                  <a:schemeClr val="accent5"/>
                </a:solidFill>
                <a:latin typeface="Calibri"/>
                <a:ea typeface="Calibri"/>
                <a:cs typeface="Calibri"/>
                <a:sym typeface="Calibri"/>
              </a:rPr>
              <a:t>lead generation (inbound) - review sites &amp; online listings</a:t>
            </a:r>
            <a:endParaRPr sz="1900" b="0" i="1">
              <a:solidFill>
                <a:schemeClr val="accent5"/>
              </a:solidFill>
              <a:latin typeface="Calibri"/>
              <a:ea typeface="Calibri"/>
              <a:cs typeface="Calibri"/>
              <a:sym typeface="Calibri"/>
            </a:endParaRPr>
          </a:p>
          <a:p>
            <a:pPr marL="0" lvl="0" indent="0" algn="l" rtl="0">
              <a:spcBef>
                <a:spcPts val="0"/>
              </a:spcBef>
              <a:spcAft>
                <a:spcPts val="0"/>
              </a:spcAft>
              <a:buClr>
                <a:schemeClr val="accent2"/>
              </a:buClr>
              <a:buSzPct val="232000"/>
              <a:buFont typeface="Calibri"/>
              <a:buNone/>
            </a:pPr>
            <a:endParaRPr sz="1900" b="0" i="1">
              <a:solidFill>
                <a:schemeClr val="accent5"/>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124" name="Shape 1124"/>
        <p:cNvGrpSpPr/>
        <p:nvPr/>
      </p:nvGrpSpPr>
      <p:grpSpPr>
        <a:xfrm>
          <a:off x="0" y="0"/>
          <a:ext cx="0" cy="0"/>
          <a:chOff x="0" y="0"/>
          <a:chExt cx="0" cy="0"/>
        </a:xfrm>
      </p:grpSpPr>
      <p:sp>
        <p:nvSpPr>
          <p:cNvPr id="1125" name="Google Shape;1125;p128"/>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 “Regular” Online Listings</a:t>
            </a:r>
            <a:endParaRPr sz="3800">
              <a:solidFill>
                <a:schemeClr val="accent5"/>
              </a:solidFill>
            </a:endParaRPr>
          </a:p>
          <a:p>
            <a:pPr marL="0" lvl="0" indent="0" algn="l" rtl="0">
              <a:lnSpc>
                <a:spcPct val="90000"/>
              </a:lnSpc>
              <a:spcBef>
                <a:spcPts val="0"/>
              </a:spcBef>
              <a:spcAft>
                <a:spcPts val="0"/>
              </a:spcAft>
              <a:buClr>
                <a:schemeClr val="accent2"/>
              </a:buClr>
              <a:buSzPts val="4400"/>
              <a:buFont typeface="Calibri"/>
              <a:buNone/>
            </a:pPr>
            <a:endParaRPr>
              <a:solidFill>
                <a:schemeClr val="accent5"/>
              </a:solidFill>
            </a:endParaRPr>
          </a:p>
        </p:txBody>
      </p:sp>
      <p:sp>
        <p:nvSpPr>
          <p:cNvPr id="1126" name="Google Shape;1126;p128"/>
          <p:cNvSpPr txBox="1"/>
          <p:nvPr>
            <p:ph type="body" idx="1"/>
          </p:nvPr>
        </p:nvSpPr>
        <p:spPr>
          <a:xfrm>
            <a:off x="862575" y="1664975"/>
            <a:ext cx="67308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“Regular” Online Listings Reviews </a:t>
            </a:r>
            <a:endParaRPr sz="1650" b="1"/>
          </a:p>
          <a:p>
            <a:pPr marL="457200" marR="0" lvl="1" indent="-225425" algn="l" rtl="0">
              <a:lnSpc>
                <a:spcPct val="100000"/>
              </a:lnSpc>
              <a:spcBef>
                <a:spcPts val="1000"/>
              </a:spcBef>
              <a:spcAft>
                <a:spcPts val="0"/>
              </a:spcAft>
              <a:buClr>
                <a:srgbClr val="FF9900"/>
              </a:buClr>
              <a:buSzPts val="1750"/>
              <a:buFont typeface="Noto Sans Symbols"/>
              <a:buChar char="✔"/>
            </a:pPr>
            <a:r>
              <a:rPr lang="en-US" sz="1400"/>
              <a:t>Google reviews, Facebook reviews - perhaps easier to request - too compared to the SaaS sites which don’t do “general” company reviews</a:t>
            </a:r>
            <a:endParaRPr sz="1400"/>
          </a:p>
          <a:p>
            <a:pPr marL="457200" marR="0" lvl="1" indent="-203200" algn="l" rtl="0">
              <a:lnSpc>
                <a:spcPct val="100000"/>
              </a:lnSpc>
              <a:spcBef>
                <a:spcPts val="1000"/>
              </a:spcBef>
              <a:spcAft>
                <a:spcPts val="0"/>
              </a:spcAft>
              <a:buClr>
                <a:srgbClr val="FF9900"/>
              </a:buClr>
              <a:buSzPts val="1400"/>
              <a:buChar char="✔"/>
            </a:pPr>
            <a:r>
              <a:rPr lang="en-US" sz="1400"/>
              <a:t>Consider using Google and Facebook reviews for general company feedback, employee feedback (choice of here or Glassdoor)</a:t>
            </a:r>
            <a:endParaRPr sz="1400"/>
          </a:p>
          <a:p>
            <a:pPr marL="457200" marR="0" lvl="1" indent="-203200" algn="l" rtl="0">
              <a:lnSpc>
                <a:spcPct val="100000"/>
              </a:lnSpc>
              <a:spcBef>
                <a:spcPts val="1000"/>
              </a:spcBef>
              <a:spcAft>
                <a:spcPts val="0"/>
              </a:spcAft>
              <a:buClr>
                <a:srgbClr val="FF9900"/>
              </a:buClr>
              <a:buSzPts val="1400"/>
              <a:buChar char="✔"/>
            </a:pPr>
            <a:r>
              <a:rPr lang="en-US" sz="1400"/>
              <a:t>Can feel less daunting and less formal for the reviewer</a:t>
            </a:r>
            <a:endParaRPr sz="1400"/>
          </a:p>
          <a:p>
            <a:pPr marL="457200" marR="0" lvl="1" indent="-203200" algn="l" rtl="0">
              <a:lnSpc>
                <a:spcPct val="100000"/>
              </a:lnSpc>
              <a:spcBef>
                <a:spcPts val="1000"/>
              </a:spcBef>
              <a:spcAft>
                <a:spcPts val="0"/>
              </a:spcAft>
              <a:buClr>
                <a:srgbClr val="FF9900"/>
              </a:buClr>
              <a:buSzPts val="1400"/>
              <a:buChar char="✔"/>
            </a:pPr>
            <a:r>
              <a:rPr lang="en-US" sz="1400"/>
              <a:t>Still needs a strategy to implement, unfortunately online reviews don’t just happen.</a:t>
            </a:r>
            <a:endParaRPr sz="1400"/>
          </a:p>
          <a:p>
            <a:pPr marL="685800" marR="0" lvl="0" indent="0" algn="l" rtl="0">
              <a:lnSpc>
                <a:spcPct val="100000"/>
              </a:lnSpc>
              <a:spcBef>
                <a:spcPts val="1000"/>
              </a:spcBef>
              <a:spcAft>
                <a:spcPts val="0"/>
              </a:spcAft>
              <a:buNone/>
            </a:pPr>
            <a:endParaRPr sz="1350"/>
          </a:p>
        </p:txBody>
      </p:sp>
      <p:pic>
        <p:nvPicPr>
          <p:cNvPr id="1127" name="Google Shape;1127;p128"/>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128" name="Google Shape;1128;p128"/>
          <p:cNvSpPr txBox="1"/>
          <p:nvPr/>
        </p:nvSpPr>
        <p:spPr>
          <a:xfrm>
            <a:off x="8282300" y="1816950"/>
            <a:ext cx="3137400" cy="3276300"/>
          </a:xfrm>
          <a:prstGeom prst="rect">
            <a:avLst/>
          </a:prstGeom>
          <a:noFill/>
          <a:ln>
            <a:noFill/>
          </a:ln>
        </p:spPr>
        <p:txBody>
          <a:bodyPr spcFirstLastPara="1" wrap="square" lIns="0" tIns="45700" rIns="0" bIns="45700" anchor="t" anchorCtr="0">
            <a:spAutoFit/>
          </a:bodyPr>
          <a:lstStyle/>
          <a:p>
            <a:pPr marL="0" marR="0" lvl="0" indent="0" algn="l" rtl="0">
              <a:lnSpc>
                <a:spcPct val="100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Google pulls/verifies your business information w/other sites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Consistent company information on “non” SaaS sites matters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May be easier for company reviews</a:t>
            </a:r>
            <a:endParaRPr sz="1600">
              <a:solidFill>
                <a:srgbClr val="434343"/>
              </a:solidFill>
              <a:latin typeface="Calibri"/>
              <a:ea typeface="Calibri"/>
              <a:cs typeface="Calibri"/>
              <a:sym typeface="Calibri"/>
            </a:endParaRPr>
          </a:p>
          <a:p>
            <a:pPr marL="0" marR="0" lvl="0" indent="0" algn="l" rtl="0">
              <a:lnSpc>
                <a:spcPct val="100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pic>
        <p:nvPicPr>
          <p:cNvPr id="1129" name="Google Shape;1129;p128"/>
          <p:cNvPicPr preferRelativeResize="0"/>
          <p:nvPr/>
        </p:nvPicPr>
        <p:blipFill>
          <a:blip r:embed="rId2"/>
          <a:stretch>
            <a:fillRect/>
          </a:stretch>
        </p:blipFill>
        <p:spPr>
          <a:xfrm>
            <a:off x="1420750" y="4428475"/>
            <a:ext cx="3455201" cy="1884499"/>
          </a:xfrm>
          <a:prstGeom prst="rect">
            <a:avLst/>
          </a:prstGeom>
          <a:noFill/>
          <a:ln w="9525" cap="flat" cmpd="sng">
            <a:solidFill>
              <a:schemeClr val="dk2"/>
            </a:solidFill>
            <a:prstDash val="dot"/>
            <a:round/>
            <a:headEnd type="none" w="sm" len="sm"/>
            <a:tailEnd type="none" w="sm" len="sm"/>
          </a:ln>
        </p:spPr>
      </p:pic>
      <p:pic>
        <p:nvPicPr>
          <p:cNvPr id="1130" name="Google Shape;1130;p128"/>
          <p:cNvPicPr preferRelativeResize="0"/>
          <p:nvPr/>
        </p:nvPicPr>
        <p:blipFill>
          <a:blip r:embed="rId3"/>
          <a:stretch>
            <a:fillRect/>
          </a:stretch>
        </p:blipFill>
        <p:spPr>
          <a:xfrm>
            <a:off x="5446250" y="4428475"/>
            <a:ext cx="2265753" cy="1709876"/>
          </a:xfrm>
          <a:prstGeom prst="rect">
            <a:avLst/>
          </a:prstGeom>
          <a:noFill/>
          <a:ln w="9525" cap="flat" cmpd="sng">
            <a:solidFill>
              <a:schemeClr val="dk2"/>
            </a:solidFill>
            <a:prstDash val="dot"/>
            <a:round/>
            <a:headEnd type="none" w="sm" len="sm"/>
            <a:tailEnd type="none" w="sm" len="sm"/>
          </a:ln>
        </p:spPr>
      </p:pic>
      <p:sp>
        <p:nvSpPr>
          <p:cNvPr id="1131" name="Google Shape;1131;p12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232000"/>
              <a:buFont typeface="Calibri"/>
              <a:buNone/>
            </a:pPr>
            <a:r>
              <a:rPr lang="en-US" sz="1900" b="0" i="1">
                <a:solidFill>
                  <a:schemeClr val="accent5"/>
                </a:solidFill>
                <a:latin typeface="Calibri"/>
                <a:ea typeface="Calibri"/>
                <a:cs typeface="Calibri"/>
                <a:sym typeface="Calibri"/>
              </a:rPr>
              <a:t>lead generation (inbound) - review sites &amp; online listings</a:t>
            </a:r>
            <a:endParaRPr sz="1900" b="0" i="1">
              <a:solidFill>
                <a:schemeClr val="accent5"/>
              </a:solidFill>
              <a:latin typeface="Calibri"/>
              <a:ea typeface="Calibri"/>
              <a:cs typeface="Calibri"/>
              <a:sym typeface="Calibri"/>
            </a:endParaRPr>
          </a:p>
          <a:p>
            <a:pPr marL="0" lvl="0" indent="0" algn="l" rtl="0">
              <a:spcBef>
                <a:spcPts val="0"/>
              </a:spcBef>
              <a:spcAft>
                <a:spcPts val="0"/>
              </a:spcAft>
              <a:buClr>
                <a:schemeClr val="accent2"/>
              </a:buClr>
              <a:buSzPct val="232000"/>
              <a:buFont typeface="Calibri"/>
              <a:buNone/>
            </a:pPr>
            <a:endParaRPr sz="1900" b="0" i="1">
              <a:solidFill>
                <a:schemeClr val="accent5"/>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135" name="Shape 1135"/>
        <p:cNvGrpSpPr/>
        <p:nvPr/>
      </p:nvGrpSpPr>
      <p:grpSpPr>
        <a:xfrm>
          <a:off x="0" y="0"/>
          <a:ext cx="0" cy="0"/>
          <a:chOff x="0" y="0"/>
          <a:chExt cx="0" cy="0"/>
        </a:xfrm>
      </p:grpSpPr>
      <p:sp>
        <p:nvSpPr>
          <p:cNvPr id="1136" name="Google Shape;1136;p129"/>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solidFill>
                  <a:schemeClr val="accent5"/>
                </a:solidFill>
              </a:rPr>
              <a:t>Employer Review Sites</a:t>
            </a:r>
            <a:endParaRPr sz="3800">
              <a:solidFill>
                <a:schemeClr val="accent5"/>
              </a:solidFill>
            </a:endParaRPr>
          </a:p>
        </p:txBody>
      </p:sp>
      <p:sp>
        <p:nvSpPr>
          <p:cNvPr id="1137" name="Google Shape;1137;p129"/>
          <p:cNvSpPr txBox="1"/>
          <p:nvPr>
            <p:ph type="body" idx="1"/>
          </p:nvPr>
        </p:nvSpPr>
        <p:spPr>
          <a:xfrm>
            <a:off x="862575" y="1664975"/>
            <a:ext cx="6730800" cy="4768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2000" b="1">
                <a:solidFill>
                  <a:schemeClr val="accent2"/>
                </a:solidFill>
              </a:rPr>
              <a:t>Glassdoor</a:t>
            </a:r>
            <a:endParaRPr sz="1650" b="1"/>
          </a:p>
          <a:p>
            <a:pPr marL="0" marR="0" lvl="0" indent="0" algn="l" rtl="0">
              <a:lnSpc>
                <a:spcPct val="100000"/>
              </a:lnSpc>
              <a:spcBef>
                <a:spcPts val="1000"/>
              </a:spcBef>
              <a:spcAft>
                <a:spcPts val="0"/>
              </a:spcAft>
              <a:buNone/>
            </a:pPr>
            <a:endParaRPr sz="1250"/>
          </a:p>
        </p:txBody>
      </p:sp>
      <p:pic>
        <p:nvPicPr>
          <p:cNvPr id="1138" name="Google Shape;1138;p129"/>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139" name="Google Shape;1139;p129"/>
          <p:cNvSpPr txBox="1"/>
          <p:nvPr/>
        </p:nvSpPr>
        <p:spPr>
          <a:xfrm>
            <a:off x="8282300" y="1816950"/>
            <a:ext cx="2983800" cy="26781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People are already directing the conversation without your company’s input</a:t>
            </a:r>
            <a:endParaRPr sz="1600">
              <a:solidFill>
                <a:srgbClr val="434343"/>
              </a:solidFill>
              <a:latin typeface="Calibri"/>
              <a:ea typeface="Calibri"/>
              <a:cs typeface="Calibri"/>
              <a:sym typeface="Calibri"/>
            </a:endParaRPr>
          </a:p>
          <a:p>
            <a:pPr marL="285750" marR="0" lvl="0" indent="-298450" algn="l" rtl="0">
              <a:lnSpc>
                <a:spcPct val="143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Claim and take seriously </a:t>
            </a:r>
            <a:endParaRPr sz="1600">
              <a:solidFill>
                <a:srgbClr val="434343"/>
              </a:solidFill>
              <a:latin typeface="Calibri"/>
              <a:ea typeface="Calibri"/>
              <a:cs typeface="Calibri"/>
              <a:sym typeface="Calibri"/>
            </a:endParaRPr>
          </a:p>
          <a:p>
            <a:pPr marL="457200" marR="0" lvl="0" indent="0" algn="l" rtl="0">
              <a:lnSpc>
                <a:spcPct val="100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r>
              <a:rPr lang="en-US">
                <a:solidFill>
                  <a:schemeClr val="lt1"/>
                </a:solidFill>
                <a:latin typeface="Calibri"/>
                <a:ea typeface="Calibri"/>
                <a:cs typeface="Calibri"/>
                <a:sym typeface="Calibri"/>
              </a:rPr>
              <a:t>C</a:t>
            </a:r>
            <a:endParaRPr sz="1400">
              <a:solidFill>
                <a:schemeClr val="lt1"/>
              </a:solidFill>
              <a:latin typeface="Calibri"/>
              <a:ea typeface="Calibri"/>
              <a:cs typeface="Calibri"/>
              <a:sym typeface="Calibri"/>
            </a:endParaRPr>
          </a:p>
        </p:txBody>
      </p:sp>
      <p:pic>
        <p:nvPicPr>
          <p:cNvPr id="1140" name="Google Shape;1140;p129"/>
          <p:cNvPicPr preferRelativeResize="0"/>
          <p:nvPr/>
        </p:nvPicPr>
        <p:blipFill>
          <a:blip r:embed="rId2"/>
          <a:stretch>
            <a:fillRect/>
          </a:stretch>
        </p:blipFill>
        <p:spPr>
          <a:xfrm>
            <a:off x="913025" y="2109924"/>
            <a:ext cx="6730798" cy="3713776"/>
          </a:xfrm>
          <a:prstGeom prst="rect">
            <a:avLst/>
          </a:prstGeom>
          <a:noFill/>
          <a:ln>
            <a:noFill/>
          </a:ln>
        </p:spPr>
      </p:pic>
      <p:sp>
        <p:nvSpPr>
          <p:cNvPr id="1141" name="Google Shape;1141;p129"/>
          <p:cNvSpPr/>
          <p:nvPr/>
        </p:nvSpPr>
        <p:spPr>
          <a:xfrm>
            <a:off x="6263425" y="3229100"/>
            <a:ext cx="1250700" cy="297300"/>
          </a:xfrm>
          <a:prstGeom prst="rect">
            <a:avLst/>
          </a:prstGeom>
          <a:noFill/>
          <a:ln w="9525"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00FF"/>
              </a:highlight>
            </a:endParaRPr>
          </a:p>
        </p:txBody>
      </p:sp>
      <p:sp>
        <p:nvSpPr>
          <p:cNvPr id="1142" name="Google Shape;1142;p12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232000"/>
              <a:buFont typeface="Calibri"/>
              <a:buNone/>
            </a:pPr>
            <a:r>
              <a:rPr lang="en-US" sz="1900" b="0" i="1">
                <a:solidFill>
                  <a:schemeClr val="accent5"/>
                </a:solidFill>
                <a:latin typeface="Calibri"/>
                <a:ea typeface="Calibri"/>
                <a:cs typeface="Calibri"/>
                <a:sym typeface="Calibri"/>
              </a:rPr>
              <a:t>lead generation (inbound) - review sites &amp; online listings</a:t>
            </a:r>
            <a:endParaRPr sz="1900" b="0" i="1">
              <a:solidFill>
                <a:schemeClr val="accent5"/>
              </a:solidFill>
              <a:latin typeface="Calibri"/>
              <a:ea typeface="Calibri"/>
              <a:cs typeface="Calibri"/>
              <a:sym typeface="Calibri"/>
            </a:endParaRPr>
          </a:p>
          <a:p>
            <a:pPr marL="0" lvl="0" indent="0" algn="l" rtl="0">
              <a:spcBef>
                <a:spcPts val="0"/>
              </a:spcBef>
              <a:spcAft>
                <a:spcPts val="0"/>
              </a:spcAft>
              <a:buClr>
                <a:schemeClr val="accent2"/>
              </a:buClr>
              <a:buSzPct val="232000"/>
              <a:buFont typeface="Calibri"/>
              <a:buNone/>
            </a:pPr>
            <a:endParaRPr sz="1900" b="0" i="1">
              <a:solidFill>
                <a:schemeClr val="accent5"/>
              </a:solidFill>
              <a:latin typeface="Calibri"/>
              <a:ea typeface="Calibri"/>
              <a:cs typeface="Calibri"/>
              <a:sym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146" name="Shape 1146"/>
        <p:cNvGrpSpPr/>
        <p:nvPr/>
      </p:nvGrpSpPr>
      <p:grpSpPr>
        <a:xfrm>
          <a:off x="0" y="0"/>
          <a:ext cx="0" cy="0"/>
          <a:chOff x="0" y="0"/>
          <a:chExt cx="0" cy="0"/>
        </a:xfrm>
      </p:grpSpPr>
      <p:sp>
        <p:nvSpPr>
          <p:cNvPr id="1147" name="Google Shape;1147;p130"/>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2: lead generation (inbound)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4: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Content Marketing &amp; Social Media</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1148" name="Google Shape;1148;p13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152" name="Shape 1152"/>
        <p:cNvGrpSpPr/>
        <p:nvPr/>
      </p:nvGrpSpPr>
      <p:grpSpPr>
        <a:xfrm>
          <a:off x="0" y="0"/>
          <a:ext cx="0" cy="0"/>
          <a:chOff x="0" y="0"/>
          <a:chExt cx="0" cy="0"/>
        </a:xfrm>
      </p:grpSpPr>
      <p:sp>
        <p:nvSpPr>
          <p:cNvPr id="1153" name="Google Shape;1153;p131"/>
          <p:cNvSpPr txBox="1"/>
          <p:nvPr>
            <p:ph type="title"/>
          </p:nvPr>
        </p:nvSpPr>
        <p:spPr>
          <a:xfrm>
            <a:off x="960775" y="784225"/>
            <a:ext cx="105969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latin typeface="Calibri"/>
                <a:ea typeface="Calibri"/>
                <a:cs typeface="Calibri"/>
                <a:sym typeface="Calibri"/>
              </a:rPr>
              <a:t>Content Marketing </a:t>
            </a:r>
            <a:r>
              <a:rPr lang="en-US" sz="3800" b="0" i="1">
                <a:latin typeface="Calibri"/>
                <a:ea typeface="Calibri"/>
                <a:cs typeface="Calibri"/>
                <a:sym typeface="Calibri"/>
              </a:rPr>
              <a:t>Why</a:t>
            </a:r>
            <a:endParaRPr sz="3800" b="0" i="1">
              <a:latin typeface="Calibri"/>
              <a:ea typeface="Calibri"/>
              <a:cs typeface="Calibri"/>
              <a:sym typeface="Calibri"/>
            </a:endParaRPr>
          </a:p>
        </p:txBody>
      </p:sp>
      <p:sp>
        <p:nvSpPr>
          <p:cNvPr id="1154" name="Google Shape;1154;p131"/>
          <p:cNvSpPr txBox="1"/>
          <p:nvPr>
            <p:ph type="body" idx="1"/>
          </p:nvPr>
        </p:nvSpPr>
        <p:spPr>
          <a:xfrm>
            <a:off x="700850" y="1727325"/>
            <a:ext cx="10277400" cy="4630200"/>
          </a:xfrm>
          <a:prstGeom prst="rect">
            <a:avLst/>
          </a:prstGeom>
          <a:noFill/>
          <a:ln>
            <a:noFill/>
          </a:ln>
        </p:spPr>
        <p:txBody>
          <a:bodyPr spcFirstLastPara="1" wrap="square" lIns="91425" tIns="45700" rIns="91425" bIns="45700" anchor="t" anchorCtr="0">
            <a:noAutofit/>
          </a:bodyPr>
          <a:lstStyle/>
          <a:p>
            <a:pPr marL="800100" marR="0" lvl="1" indent="-371475" algn="l" rtl="0">
              <a:lnSpc>
                <a:spcPct val="100000"/>
              </a:lnSpc>
              <a:spcBef>
                <a:spcPts val="1000"/>
              </a:spcBef>
              <a:spcAft>
                <a:spcPts val="0"/>
              </a:spcAft>
              <a:buClr>
                <a:schemeClr val="accent2"/>
              </a:buClr>
              <a:buSzPts val="2050"/>
              <a:buFont typeface="Calibri"/>
              <a:buChar char="✔"/>
            </a:pPr>
            <a:r>
              <a:rPr lang="en-US" sz="2050" b="1"/>
              <a:t>Why? </a:t>
            </a:r>
            <a:r>
              <a:rPr lang="en-US" sz="2050"/>
              <a:t>Your ongoing content is the cornerstone of your marketing</a:t>
            </a:r>
            <a:endParaRPr sz="2050"/>
          </a:p>
          <a:p>
            <a:pPr marL="1143000" marR="0" lvl="2" indent="-244475" algn="l" rtl="0">
              <a:lnSpc>
                <a:spcPct val="100000"/>
              </a:lnSpc>
              <a:spcBef>
                <a:spcPts val="1000"/>
              </a:spcBef>
              <a:spcAft>
                <a:spcPts val="0"/>
              </a:spcAft>
              <a:buSzPts val="2050"/>
              <a:buChar char="•"/>
            </a:pPr>
            <a:r>
              <a:rPr lang="en-US" sz="2050"/>
              <a:t>Each piece of content can support your strategy through many levels from Know through Like, Trust and Try - as well as Repeat &amp; Refer</a:t>
            </a:r>
            <a:endParaRPr sz="2050"/>
          </a:p>
          <a:p>
            <a:pPr marL="1143000" marR="0" lvl="2" indent="-244475" algn="l" rtl="0">
              <a:lnSpc>
                <a:spcPct val="100000"/>
              </a:lnSpc>
              <a:spcBef>
                <a:spcPts val="1000"/>
              </a:spcBef>
              <a:spcAft>
                <a:spcPts val="0"/>
              </a:spcAft>
              <a:buSzPts val="2050"/>
              <a:buChar char="•"/>
            </a:pPr>
            <a:r>
              <a:rPr lang="en-US" sz="2050"/>
              <a:t>Your content can keep working for you over time and be repurposed</a:t>
            </a:r>
            <a:endParaRPr sz="2050"/>
          </a:p>
          <a:p>
            <a:pPr marL="1143000" marR="0" lvl="2" indent="-244475" algn="l" rtl="0">
              <a:lnSpc>
                <a:spcPct val="100000"/>
              </a:lnSpc>
              <a:spcBef>
                <a:spcPts val="1000"/>
              </a:spcBef>
              <a:spcAft>
                <a:spcPts val="0"/>
              </a:spcAft>
              <a:buSzPts val="2050"/>
              <a:buChar char="•"/>
            </a:pPr>
            <a:r>
              <a:rPr lang="en-US" sz="2050"/>
              <a:t>It gives you something to continually share with your prospects &amp; customers </a:t>
            </a:r>
            <a:endParaRPr sz="2050"/>
          </a:p>
          <a:p>
            <a:pPr marL="800100" marR="0" lvl="1" indent="-371475" algn="l" rtl="0">
              <a:lnSpc>
                <a:spcPct val="100000"/>
              </a:lnSpc>
              <a:spcBef>
                <a:spcPts val="1000"/>
              </a:spcBef>
              <a:spcAft>
                <a:spcPts val="0"/>
              </a:spcAft>
              <a:buClr>
                <a:schemeClr val="accent2"/>
              </a:buClr>
              <a:buSzPts val="2050"/>
              <a:buFont typeface="Calibri"/>
              <a:buChar char="✔"/>
            </a:pPr>
            <a:r>
              <a:rPr lang="en-US" sz="2050" b="1"/>
              <a:t>Who?</a:t>
            </a:r>
            <a:r>
              <a:rPr lang="en-US" sz="2050"/>
              <a:t> All Personas</a:t>
            </a:r>
            <a:endParaRPr sz="2050"/>
          </a:p>
          <a:p>
            <a:pPr marL="800100" marR="0" lvl="1" indent="-371475" algn="l" rtl="0">
              <a:lnSpc>
                <a:spcPct val="100000"/>
              </a:lnSpc>
              <a:spcBef>
                <a:spcPts val="1000"/>
              </a:spcBef>
              <a:spcAft>
                <a:spcPts val="0"/>
              </a:spcAft>
              <a:buClr>
                <a:schemeClr val="accent2"/>
              </a:buClr>
              <a:buSzPts val="2050"/>
              <a:buFont typeface="Calibri"/>
              <a:buChar char="✔"/>
            </a:pPr>
            <a:r>
              <a:rPr lang="en-US" sz="2050" b="1"/>
              <a:t>What?</a:t>
            </a:r>
            <a:r>
              <a:rPr lang="en-US" sz="2050"/>
              <a:t> Blog, Social Media, Videos, eBooks/guides/worksheets, Case Studies/Testimonials - Hub Pages</a:t>
            </a:r>
            <a:endParaRPr sz="2050"/>
          </a:p>
          <a:p>
            <a:pPr marL="800100" marR="0" lvl="1" indent="-371475" algn="l" rtl="0">
              <a:lnSpc>
                <a:spcPct val="100000"/>
              </a:lnSpc>
              <a:spcBef>
                <a:spcPts val="1000"/>
              </a:spcBef>
              <a:spcAft>
                <a:spcPts val="0"/>
              </a:spcAft>
              <a:buClr>
                <a:schemeClr val="accent2"/>
              </a:buClr>
              <a:buSzPts val="2050"/>
              <a:buFont typeface="Calibri"/>
              <a:buChar char="✔"/>
            </a:pPr>
            <a:r>
              <a:rPr lang="en-US" sz="2050" b="1"/>
              <a:t>Action Steps:</a:t>
            </a:r>
            <a:r>
              <a:rPr lang="en-US" sz="2050"/>
              <a:t> Ongoing Content Plan + Social Sharing + Hub Pages</a:t>
            </a:r>
            <a:endParaRPr sz="2050"/>
          </a:p>
        </p:txBody>
      </p:sp>
      <p:sp>
        <p:nvSpPr>
          <p:cNvPr id="1155" name="Google Shape;1155;p13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159" name="Shape 1159"/>
        <p:cNvGrpSpPr/>
        <p:nvPr/>
      </p:nvGrpSpPr>
      <p:grpSpPr>
        <a:xfrm>
          <a:off x="0" y="0"/>
          <a:ext cx="0" cy="0"/>
          <a:chOff x="0" y="0"/>
          <a:chExt cx="0" cy="0"/>
        </a:xfrm>
      </p:grpSpPr>
      <p:sp>
        <p:nvSpPr>
          <p:cNvPr id="1160" name="Google Shape;1160;p132"/>
          <p:cNvSpPr txBox="1"/>
          <p:nvPr>
            <p:ph type="title"/>
          </p:nvPr>
        </p:nvSpPr>
        <p:spPr>
          <a:xfrm>
            <a:off x="862375" y="784225"/>
            <a:ext cx="1069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latin typeface="Calibri"/>
                <a:ea typeface="Calibri"/>
                <a:cs typeface="Calibri"/>
                <a:sym typeface="Calibri"/>
              </a:rPr>
              <a:t>Content Marketing</a:t>
            </a:r>
            <a:r>
              <a:rPr lang="en-US" sz="3800" b="0" i="1">
                <a:latin typeface="Calibri"/>
                <a:ea typeface="Calibri"/>
                <a:cs typeface="Calibri"/>
                <a:sym typeface="Calibri"/>
              </a:rPr>
              <a:t> Action Steps</a:t>
            </a:r>
            <a:endParaRPr sz="3800"/>
          </a:p>
        </p:txBody>
      </p:sp>
      <p:sp>
        <p:nvSpPr>
          <p:cNvPr id="1161" name="Google Shape;1161;p132"/>
          <p:cNvSpPr txBox="1"/>
          <p:nvPr>
            <p:ph type="body" idx="1"/>
          </p:nvPr>
        </p:nvSpPr>
        <p:spPr>
          <a:xfrm>
            <a:off x="627875" y="1529300"/>
            <a:ext cx="10277400" cy="4630200"/>
          </a:xfrm>
          <a:prstGeom prst="rect">
            <a:avLst/>
          </a:prstGeom>
          <a:noFill/>
          <a:ln>
            <a:noFill/>
          </a:ln>
        </p:spPr>
        <p:txBody>
          <a:bodyPr spcFirstLastPara="1" wrap="square" lIns="91425" tIns="45700" rIns="91425" bIns="45700" anchor="t" anchorCtr="0">
            <a:noAutofit/>
          </a:bodyPr>
          <a:lstStyle/>
          <a:p>
            <a:pPr marL="800100" marR="0" lvl="1" indent="-346075" algn="l" rtl="0">
              <a:lnSpc>
                <a:spcPct val="100000"/>
              </a:lnSpc>
              <a:spcBef>
                <a:spcPts val="1000"/>
              </a:spcBef>
              <a:spcAft>
                <a:spcPts val="0"/>
              </a:spcAft>
              <a:buClr>
                <a:schemeClr val="accent2"/>
              </a:buClr>
              <a:buSzPts val="1650"/>
              <a:buChar char="✔"/>
            </a:pPr>
            <a:r>
              <a:rPr lang="en-US" sz="1650" b="1"/>
              <a:t>Content Calendar: </a:t>
            </a:r>
            <a:r>
              <a:rPr lang="en-US" sz="1650"/>
              <a:t>Create a six month to one year content calendar outlining monthly themes and content pieces</a:t>
            </a:r>
            <a:endParaRPr sz="1650"/>
          </a:p>
          <a:p>
            <a:pPr marL="800100" marR="0" lvl="1" indent="-346075" algn="l" rtl="0">
              <a:lnSpc>
                <a:spcPct val="100000"/>
              </a:lnSpc>
              <a:spcBef>
                <a:spcPts val="1000"/>
              </a:spcBef>
              <a:spcAft>
                <a:spcPts val="0"/>
              </a:spcAft>
              <a:buClr>
                <a:schemeClr val="accent2"/>
              </a:buClr>
              <a:buSzPts val="1650"/>
              <a:buChar char="✔"/>
            </a:pPr>
            <a:r>
              <a:rPr lang="en-US" sz="1650" b="1"/>
              <a:t>Core </a:t>
            </a:r>
            <a:r>
              <a:rPr lang="en-US" sz="1650" b="1"/>
              <a:t>Content Pieces</a:t>
            </a:r>
            <a:endParaRPr sz="1650" b="1"/>
          </a:p>
          <a:p>
            <a:pPr marL="1143000" marR="0" lvl="2" indent="-219075" algn="l" rtl="0">
              <a:lnSpc>
                <a:spcPct val="100000"/>
              </a:lnSpc>
              <a:spcBef>
                <a:spcPts val="0"/>
              </a:spcBef>
              <a:spcAft>
                <a:spcPts val="0"/>
              </a:spcAft>
              <a:buSzPts val="1650"/>
              <a:buChar char="•"/>
            </a:pPr>
            <a:r>
              <a:rPr lang="en-US" sz="1650"/>
              <a:t>The materials we create for your funnels and B2B content kits become your core content</a:t>
            </a:r>
            <a:endParaRPr sz="1650"/>
          </a:p>
          <a:p>
            <a:pPr marL="1143000" marR="0" lvl="2" indent="-219075" algn="l" rtl="0">
              <a:lnSpc>
                <a:spcPct val="100000"/>
              </a:lnSpc>
              <a:spcBef>
                <a:spcPts val="0"/>
              </a:spcBef>
              <a:spcAft>
                <a:spcPts val="0"/>
              </a:spcAft>
              <a:buSzPts val="1650"/>
              <a:buChar char="•"/>
            </a:pPr>
            <a:r>
              <a:rPr lang="en-US" sz="1650"/>
              <a:t>Share new content piece on Social Media &amp; use in Campaigns</a:t>
            </a:r>
            <a:endParaRPr sz="1650"/>
          </a:p>
          <a:p>
            <a:pPr marL="1143000" marR="0" lvl="2" indent="-219075" algn="l" rtl="0">
              <a:lnSpc>
                <a:spcPct val="100000"/>
              </a:lnSpc>
              <a:spcBef>
                <a:spcPts val="0"/>
              </a:spcBef>
              <a:spcAft>
                <a:spcPts val="0"/>
              </a:spcAft>
              <a:buSzPts val="1650"/>
              <a:buChar char="•"/>
            </a:pPr>
            <a:r>
              <a:rPr lang="en-US" sz="1650"/>
              <a:t>Use core content as inspiration for ongoing content sharing (blogs, videos, social posts, etc.)</a:t>
            </a:r>
            <a:endParaRPr sz="1650"/>
          </a:p>
          <a:p>
            <a:pPr marL="685800" marR="0" lvl="1" indent="-219075" algn="l" rtl="0">
              <a:lnSpc>
                <a:spcPct val="100000"/>
              </a:lnSpc>
              <a:spcBef>
                <a:spcPts val="1000"/>
              </a:spcBef>
              <a:spcAft>
                <a:spcPts val="0"/>
              </a:spcAft>
              <a:buClr>
                <a:schemeClr val="accent2"/>
              </a:buClr>
              <a:buSzPts val="1650"/>
              <a:buChar char="✔"/>
            </a:pPr>
            <a:r>
              <a:rPr lang="en-US" sz="1650" b="1"/>
              <a:t>Regular</a:t>
            </a:r>
            <a:r>
              <a:rPr lang="en-US" sz="1650" b="1"/>
              <a:t> Blog Posts:</a:t>
            </a:r>
            <a:endParaRPr sz="1650" b="1"/>
          </a:p>
          <a:p>
            <a:pPr marL="1143000" lvl="2" indent="-219075" algn="l" rtl="0">
              <a:lnSpc>
                <a:spcPct val="100000"/>
              </a:lnSpc>
              <a:spcBef>
                <a:spcPts val="0"/>
              </a:spcBef>
              <a:spcAft>
                <a:spcPts val="0"/>
              </a:spcAft>
              <a:buSzPts val="1650"/>
              <a:buChar char="•"/>
            </a:pPr>
            <a:r>
              <a:rPr lang="en-US" sz="1650"/>
              <a:t>Identify an SME and create one long form educational blog post monthly</a:t>
            </a:r>
            <a:endParaRPr sz="1650"/>
          </a:p>
          <a:p>
            <a:pPr marL="1143000" marR="0" lvl="2" indent="-219075" algn="l" rtl="0">
              <a:lnSpc>
                <a:spcPct val="100000"/>
              </a:lnSpc>
              <a:spcBef>
                <a:spcPts val="0"/>
              </a:spcBef>
              <a:spcAft>
                <a:spcPts val="0"/>
              </a:spcAft>
              <a:buSzPts val="1650"/>
              <a:buChar char="•"/>
            </a:pPr>
            <a:r>
              <a:rPr lang="en-US" sz="1650"/>
              <a:t>Create three additional blog posts related to the monthly themes </a:t>
            </a:r>
            <a:endParaRPr sz="1650"/>
          </a:p>
          <a:p>
            <a:pPr marL="1143000" marR="0" lvl="2" indent="-219075" algn="l" rtl="0">
              <a:lnSpc>
                <a:spcPct val="100000"/>
              </a:lnSpc>
              <a:spcBef>
                <a:spcPts val="0"/>
              </a:spcBef>
              <a:spcAft>
                <a:spcPts val="0"/>
              </a:spcAft>
              <a:buSzPts val="1650"/>
              <a:buChar char="•"/>
            </a:pPr>
            <a:r>
              <a:rPr lang="en-US" sz="1650"/>
              <a:t>In one year you can add 48 new pages to your website addressing key ideal client needs &amp; working for you in terms of SEO</a:t>
            </a:r>
            <a:endParaRPr sz="1650"/>
          </a:p>
          <a:p>
            <a:pPr marL="685800" marR="0" lvl="1" indent="-219075" algn="l" rtl="0">
              <a:lnSpc>
                <a:spcPct val="100000"/>
              </a:lnSpc>
              <a:spcBef>
                <a:spcPts val="1000"/>
              </a:spcBef>
              <a:spcAft>
                <a:spcPts val="0"/>
              </a:spcAft>
              <a:buClr>
                <a:schemeClr val="accent2"/>
              </a:buClr>
              <a:buSzPts val="1650"/>
              <a:buChar char="✔"/>
            </a:pPr>
            <a:r>
              <a:rPr lang="en-US" sz="1650" b="1"/>
              <a:t>Social Sharing:</a:t>
            </a:r>
            <a:endParaRPr sz="1650" b="1"/>
          </a:p>
          <a:p>
            <a:pPr marL="1143000" marR="0" lvl="2" indent="-219075" algn="l" rtl="0">
              <a:lnSpc>
                <a:spcPct val="100000"/>
              </a:lnSpc>
              <a:spcBef>
                <a:spcPts val="0"/>
              </a:spcBef>
              <a:spcAft>
                <a:spcPts val="0"/>
              </a:spcAft>
              <a:buSzPts val="1650"/>
              <a:buChar char="•"/>
            </a:pPr>
            <a:r>
              <a:rPr lang="en-US" sz="1650"/>
              <a:t>Share all content on Facebook, LinkedIn (Page/Group), and Instagram (four posts per blog and asset)</a:t>
            </a:r>
            <a:endParaRPr sz="1650"/>
          </a:p>
          <a:p>
            <a:pPr marL="685800" marR="0" lvl="1" indent="-219075" algn="l" rtl="0">
              <a:lnSpc>
                <a:spcPct val="100000"/>
              </a:lnSpc>
              <a:spcBef>
                <a:spcPts val="1000"/>
              </a:spcBef>
              <a:spcAft>
                <a:spcPts val="0"/>
              </a:spcAft>
              <a:buClr>
                <a:schemeClr val="accent2"/>
              </a:buClr>
              <a:buSzPts val="1650"/>
              <a:buChar char="✔"/>
            </a:pPr>
            <a:r>
              <a:rPr lang="en-US" sz="1650" b="1"/>
              <a:t>One LinkedIn Article Monthly</a:t>
            </a:r>
            <a:endParaRPr sz="1650" b="1"/>
          </a:p>
          <a:p>
            <a:pPr marL="685800" marR="0" lvl="1" indent="-219075" algn="l" rtl="0">
              <a:lnSpc>
                <a:spcPct val="100000"/>
              </a:lnSpc>
              <a:spcBef>
                <a:spcPts val="1000"/>
              </a:spcBef>
              <a:spcAft>
                <a:spcPts val="0"/>
              </a:spcAft>
              <a:buClr>
                <a:schemeClr val="accent2"/>
              </a:buClr>
              <a:buSzPts val="1650"/>
              <a:buChar char="✔"/>
            </a:pPr>
            <a:r>
              <a:rPr lang="en-US" sz="1650" b="1"/>
              <a:t>Monthly Newsletter- </a:t>
            </a:r>
            <a:r>
              <a:rPr lang="en-US" sz="1650"/>
              <a:t>get started and get consistent</a:t>
            </a:r>
            <a:endParaRPr sz="1650"/>
          </a:p>
          <a:p>
            <a:pPr marL="685800" marR="0" lvl="1" indent="-219075" algn="l" rtl="0">
              <a:lnSpc>
                <a:spcPct val="100000"/>
              </a:lnSpc>
              <a:spcBef>
                <a:spcPts val="1000"/>
              </a:spcBef>
              <a:spcAft>
                <a:spcPts val="0"/>
              </a:spcAft>
              <a:buClr>
                <a:schemeClr val="accent2"/>
              </a:buClr>
              <a:buSzPts val="1650"/>
              <a:buChar char="✔"/>
            </a:pPr>
            <a:r>
              <a:rPr lang="en-US" sz="1650" b="1"/>
              <a:t>Content Updated on Hub Pages</a:t>
            </a:r>
            <a:endParaRPr sz="1650" b="1"/>
          </a:p>
        </p:txBody>
      </p:sp>
      <p:sp>
        <p:nvSpPr>
          <p:cNvPr id="1162" name="Google Shape;1162;p13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166" name="Shape 1166"/>
        <p:cNvGrpSpPr/>
        <p:nvPr/>
      </p:nvGrpSpPr>
      <p:grpSpPr>
        <a:xfrm>
          <a:off x="0" y="0"/>
          <a:ext cx="0" cy="0"/>
          <a:chOff x="0" y="0"/>
          <a:chExt cx="0" cy="0"/>
        </a:xfrm>
      </p:grpSpPr>
      <p:sp>
        <p:nvSpPr>
          <p:cNvPr id="1167" name="Google Shape;1167;p133"/>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t>Better Content With Interviews:</a:t>
            </a:r>
            <a:r>
              <a:rPr lang="en-US" sz="3800" b="0" i="1">
                <a:latin typeface="Calibri"/>
                <a:ea typeface="Calibri"/>
                <a:cs typeface="Calibri"/>
                <a:sym typeface="Calibri"/>
              </a:rPr>
              <a:t> Our Process</a:t>
            </a:r>
            <a:endParaRPr sz="3800" b="0" i="1">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p>
        </p:txBody>
      </p:sp>
      <p:sp>
        <p:nvSpPr>
          <p:cNvPr id="1168" name="Google Shape;1168;p133"/>
          <p:cNvSpPr txBox="1"/>
          <p:nvPr/>
        </p:nvSpPr>
        <p:spPr>
          <a:xfrm>
            <a:off x="470850" y="1740100"/>
            <a:ext cx="10584000" cy="1786500"/>
          </a:xfrm>
          <a:prstGeom prst="rect">
            <a:avLst/>
          </a:prstGeom>
          <a:noFill/>
          <a:ln>
            <a:noFill/>
          </a:ln>
        </p:spPr>
        <p:txBody>
          <a:bodyPr spcFirstLastPara="1" wrap="square" lIns="91425" tIns="91425" rIns="91425" bIns="91425" anchor="t" anchorCtr="0">
            <a:spAutoFit/>
          </a:bodyPr>
          <a:lstStyle/>
          <a:p>
            <a:pPr marL="685800" lvl="1" indent="-234950" algn="l" rtl="0">
              <a:lnSpc>
                <a:spcPct val="115000"/>
              </a:lnSpc>
              <a:spcBef>
                <a:spcPts val="1000"/>
              </a:spcBef>
              <a:spcAft>
                <a:spcPts val="0"/>
              </a:spcAft>
              <a:buClr>
                <a:srgbClr val="FF9900"/>
              </a:buClr>
              <a:buSzPts val="1900"/>
              <a:buChar char="✔"/>
            </a:pPr>
            <a:r>
              <a:rPr lang="en-US" sz="1900" b="1">
                <a:solidFill>
                  <a:schemeClr val="dk1"/>
                </a:solidFill>
                <a:latin typeface="Calibri"/>
                <a:ea typeface="Calibri"/>
                <a:cs typeface="Calibri"/>
                <a:sym typeface="Calibri"/>
              </a:rPr>
              <a:t>Challenge:</a:t>
            </a:r>
            <a:r>
              <a:rPr lang="en-US" sz="1900" b="1">
                <a:solidFill>
                  <a:schemeClr val="accent1"/>
                </a:solidFill>
                <a:latin typeface="Calibri"/>
                <a:ea typeface="Calibri"/>
                <a:cs typeface="Calibri"/>
                <a:sym typeface="Calibri"/>
              </a:rPr>
              <a:t> </a:t>
            </a:r>
            <a:r>
              <a:rPr lang="en-US" sz="1900">
                <a:solidFill>
                  <a:schemeClr val="dk1"/>
                </a:solidFill>
                <a:latin typeface="Calibri"/>
                <a:ea typeface="Calibri"/>
                <a:cs typeface="Calibri"/>
                <a:sym typeface="Calibri"/>
              </a:rPr>
              <a:t>Create </a:t>
            </a:r>
            <a:r>
              <a:rPr lang="en-US" sz="1900" b="1">
                <a:solidFill>
                  <a:schemeClr val="dk1"/>
                </a:solidFill>
                <a:latin typeface="Calibri"/>
                <a:ea typeface="Calibri"/>
                <a:cs typeface="Calibri"/>
                <a:sym typeface="Calibri"/>
              </a:rPr>
              <a:t>large volume of content </a:t>
            </a:r>
            <a:r>
              <a:rPr lang="en-US" sz="1900">
                <a:solidFill>
                  <a:schemeClr val="dk1"/>
                </a:solidFill>
                <a:latin typeface="Calibri"/>
                <a:ea typeface="Calibri"/>
                <a:cs typeface="Calibri"/>
                <a:sym typeface="Calibri"/>
              </a:rPr>
              <a:t>consistently </a:t>
            </a:r>
            <a:endParaRPr sz="1900" b="1">
              <a:solidFill>
                <a:schemeClr val="dk1"/>
              </a:solidFill>
              <a:latin typeface="Calibri"/>
              <a:ea typeface="Calibri"/>
              <a:cs typeface="Calibri"/>
              <a:sym typeface="Calibri"/>
            </a:endParaRPr>
          </a:p>
          <a:p>
            <a:pPr marL="685800" lvl="1" indent="-234950" algn="l" rtl="0">
              <a:lnSpc>
                <a:spcPct val="130000"/>
              </a:lnSpc>
              <a:spcBef>
                <a:spcPts val="1000"/>
              </a:spcBef>
              <a:spcAft>
                <a:spcPts val="0"/>
              </a:spcAft>
              <a:buClr>
                <a:srgbClr val="FF9900"/>
              </a:buClr>
              <a:buSzPts val="1900"/>
              <a:buChar char="✔"/>
            </a:pPr>
            <a:r>
              <a:rPr lang="en-US" sz="1900" b="1">
                <a:solidFill>
                  <a:schemeClr val="dk1"/>
                </a:solidFill>
                <a:latin typeface="Calibri"/>
                <a:ea typeface="Calibri"/>
                <a:cs typeface="Calibri"/>
                <a:sym typeface="Calibri"/>
              </a:rPr>
              <a:t>Goal: </a:t>
            </a:r>
            <a:r>
              <a:rPr lang="en-US" sz="1900">
                <a:solidFill>
                  <a:schemeClr val="dk1"/>
                </a:solidFill>
                <a:latin typeface="Calibri"/>
                <a:ea typeface="Calibri"/>
                <a:cs typeface="Calibri"/>
                <a:sym typeface="Calibri"/>
              </a:rPr>
              <a:t>Integrate emotional messaging AND sophisticated, insightful SEO’d writing</a:t>
            </a:r>
            <a:endParaRPr sz="1900">
              <a:solidFill>
                <a:schemeClr val="accent1"/>
              </a:solidFill>
              <a:latin typeface="Calibri"/>
              <a:ea typeface="Calibri"/>
              <a:cs typeface="Calibri"/>
              <a:sym typeface="Calibri"/>
            </a:endParaRPr>
          </a:p>
          <a:p>
            <a:pPr marL="685800" lvl="1" indent="-234950" algn="l" rtl="0">
              <a:lnSpc>
                <a:spcPct val="115000"/>
              </a:lnSpc>
              <a:spcBef>
                <a:spcPts val="1000"/>
              </a:spcBef>
              <a:spcAft>
                <a:spcPts val="0"/>
              </a:spcAft>
              <a:buClr>
                <a:srgbClr val="FF9900"/>
              </a:buClr>
              <a:buSzPts val="1900"/>
              <a:buChar char="✔"/>
            </a:pPr>
            <a:r>
              <a:rPr lang="en-US" sz="1900" b="1">
                <a:solidFill>
                  <a:schemeClr val="dk1"/>
                </a:solidFill>
                <a:latin typeface="Calibri"/>
                <a:ea typeface="Calibri"/>
                <a:cs typeface="Calibri"/>
                <a:sym typeface="Calibri"/>
              </a:rPr>
              <a:t>Action Steps: </a:t>
            </a:r>
            <a:r>
              <a:rPr lang="en-US" sz="1900">
                <a:solidFill>
                  <a:schemeClr val="dk1"/>
                </a:solidFill>
                <a:latin typeface="Calibri"/>
                <a:ea typeface="Calibri"/>
                <a:cs typeface="Calibri"/>
                <a:sym typeface="Calibri"/>
              </a:rPr>
              <a:t>Use the blog interview method to achieve quantity goals while elevating CrossCap SMEs profile in the industry</a:t>
            </a:r>
            <a:endParaRPr lang="en-US" sz="1900">
              <a:solidFill>
                <a:schemeClr val="dk1"/>
              </a:solidFill>
              <a:latin typeface="Calibri"/>
              <a:ea typeface="Calibri"/>
              <a:cs typeface="Calibri"/>
              <a:sym typeface="Calibri"/>
            </a:endParaRPr>
          </a:p>
        </p:txBody>
      </p:sp>
      <p:sp>
        <p:nvSpPr>
          <p:cNvPr id="1169" name="Google Shape;1169;p13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173" name="Shape 1173"/>
        <p:cNvGrpSpPr/>
        <p:nvPr/>
      </p:nvGrpSpPr>
      <p:grpSpPr>
        <a:xfrm>
          <a:off x="0" y="0"/>
          <a:ext cx="0" cy="0"/>
          <a:chOff x="0" y="0"/>
          <a:chExt cx="0" cy="0"/>
        </a:xfrm>
      </p:grpSpPr>
      <p:sp>
        <p:nvSpPr>
          <p:cNvPr id="1174" name="Google Shape;1174;p134"/>
          <p:cNvSpPr txBox="1"/>
          <p:nvPr>
            <p:ph type="title"/>
          </p:nvPr>
        </p:nvSpPr>
        <p:spPr>
          <a:xfrm>
            <a:off x="838200" y="784225"/>
            <a:ext cx="105156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t>Better Blogs With Interviews </a:t>
            </a:r>
            <a:r>
              <a:rPr lang="en-US" sz="3800" b="0" i="1">
                <a:latin typeface="Calibri"/>
                <a:ea typeface="Calibri"/>
                <a:cs typeface="Calibri"/>
                <a:sym typeface="Calibri"/>
              </a:rPr>
              <a:t>Our Process</a:t>
            </a:r>
            <a:endParaRPr sz="3800" b="0" i="1">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p>
        </p:txBody>
      </p:sp>
      <p:sp>
        <p:nvSpPr>
          <p:cNvPr id="1175" name="Google Shape;1175;p134"/>
          <p:cNvSpPr txBox="1"/>
          <p:nvPr/>
        </p:nvSpPr>
        <p:spPr>
          <a:xfrm>
            <a:off x="470850" y="1740100"/>
            <a:ext cx="6602100" cy="4428000"/>
          </a:xfrm>
          <a:prstGeom prst="rect">
            <a:avLst/>
          </a:prstGeom>
          <a:noFill/>
          <a:ln>
            <a:noFill/>
          </a:ln>
        </p:spPr>
        <p:txBody>
          <a:bodyPr spcFirstLastPara="1" wrap="square" lIns="91425" tIns="91425" rIns="91425" bIns="91425" anchor="t" anchorCtr="0">
            <a:spAutoFit/>
          </a:bodyPr>
          <a:lstStyle/>
          <a:p>
            <a:pPr marL="685800" lvl="1" indent="-234950" algn="l" rtl="0">
              <a:lnSpc>
                <a:spcPct val="100000"/>
              </a:lnSpc>
              <a:spcBef>
                <a:spcPts val="1000"/>
              </a:spcBef>
              <a:spcAft>
                <a:spcPts val="0"/>
              </a:spcAft>
              <a:buClr>
                <a:srgbClr val="FF9900"/>
              </a:buClr>
              <a:buSzPts val="1900"/>
              <a:buChar char="✔"/>
            </a:pPr>
            <a:r>
              <a:rPr lang="en-US" sz="1900">
                <a:solidFill>
                  <a:schemeClr val="dk1"/>
                </a:solidFill>
                <a:latin typeface="Calibri"/>
                <a:ea typeface="Calibri"/>
                <a:cs typeface="Calibri"/>
                <a:sym typeface="Calibri"/>
              </a:rPr>
              <a:t>SME is interviewed by our writers over recorded Zoom call. 1hr = 2-3blogs/pcs of content</a:t>
            </a:r>
            <a:endParaRPr sz="1900">
              <a:solidFill>
                <a:schemeClr val="dk1"/>
              </a:solidFill>
              <a:latin typeface="Calibri"/>
              <a:ea typeface="Calibri"/>
              <a:cs typeface="Calibri"/>
              <a:sym typeface="Calibri"/>
            </a:endParaRPr>
          </a:p>
          <a:p>
            <a:pPr marL="685800" lvl="1" indent="-234950" algn="l" rtl="0">
              <a:lnSpc>
                <a:spcPct val="100000"/>
              </a:lnSpc>
              <a:spcBef>
                <a:spcPts val="1000"/>
              </a:spcBef>
              <a:spcAft>
                <a:spcPts val="0"/>
              </a:spcAft>
              <a:buClr>
                <a:srgbClr val="FF9900"/>
              </a:buClr>
              <a:buSzPts val="1900"/>
              <a:buFont typeface="Calibri"/>
              <a:buChar char="✔"/>
            </a:pPr>
            <a:r>
              <a:rPr lang="en-US" sz="1900">
                <a:solidFill>
                  <a:schemeClr val="dk1"/>
                </a:solidFill>
                <a:latin typeface="Calibri"/>
                <a:ea typeface="Calibri"/>
                <a:cs typeface="Calibri"/>
                <a:sym typeface="Calibri"/>
              </a:rPr>
              <a:t>Draft is reviewed/approved </a:t>
            </a:r>
            <a:endParaRPr sz="1900">
              <a:solidFill>
                <a:schemeClr val="dk1"/>
              </a:solidFill>
              <a:latin typeface="Calibri"/>
              <a:ea typeface="Calibri"/>
              <a:cs typeface="Calibri"/>
              <a:sym typeface="Calibri"/>
            </a:endParaRPr>
          </a:p>
          <a:p>
            <a:pPr marL="685800" lvl="1" indent="-234950" algn="l" rtl="0">
              <a:lnSpc>
                <a:spcPct val="100000"/>
              </a:lnSpc>
              <a:spcBef>
                <a:spcPts val="1000"/>
              </a:spcBef>
              <a:spcAft>
                <a:spcPts val="0"/>
              </a:spcAft>
              <a:buClr>
                <a:srgbClr val="FF9900"/>
              </a:buClr>
              <a:buSzPts val="1900"/>
              <a:buFont typeface="Calibri"/>
              <a:buChar char="✔"/>
            </a:pPr>
            <a:r>
              <a:rPr lang="en-US" sz="1900">
                <a:solidFill>
                  <a:schemeClr val="dk1"/>
                </a:solidFill>
                <a:latin typeface="Calibri"/>
                <a:ea typeface="Calibri"/>
                <a:cs typeface="Calibri"/>
                <a:sym typeface="Calibri"/>
              </a:rPr>
              <a:t>Posted on website as blog + image</a:t>
            </a:r>
            <a:endParaRPr sz="1900">
              <a:solidFill>
                <a:schemeClr val="dk1"/>
              </a:solidFill>
              <a:latin typeface="Calibri"/>
              <a:ea typeface="Calibri"/>
              <a:cs typeface="Calibri"/>
              <a:sym typeface="Calibri"/>
            </a:endParaRPr>
          </a:p>
          <a:p>
            <a:pPr marL="685800" lvl="1" indent="-234950" algn="l" rtl="0">
              <a:lnSpc>
                <a:spcPct val="100000"/>
              </a:lnSpc>
              <a:spcBef>
                <a:spcPts val="1000"/>
              </a:spcBef>
              <a:spcAft>
                <a:spcPts val="0"/>
              </a:spcAft>
              <a:buClr>
                <a:srgbClr val="FF9900"/>
              </a:buClr>
              <a:buSzPts val="1900"/>
              <a:buFont typeface="Calibri"/>
              <a:buChar char="✔"/>
            </a:pPr>
            <a:r>
              <a:rPr lang="en-US" sz="1900">
                <a:solidFill>
                  <a:schemeClr val="dk1"/>
                </a:solidFill>
                <a:latin typeface="Calibri"/>
                <a:ea typeface="Calibri"/>
                <a:cs typeface="Calibri"/>
                <a:sym typeface="Calibri"/>
              </a:rPr>
              <a:t>Posted on social media in rotation</a:t>
            </a:r>
            <a:endParaRPr sz="1900">
              <a:solidFill>
                <a:schemeClr val="dk1"/>
              </a:solidFill>
              <a:latin typeface="Calibri"/>
              <a:ea typeface="Calibri"/>
              <a:cs typeface="Calibri"/>
              <a:sym typeface="Calibri"/>
            </a:endParaRPr>
          </a:p>
          <a:p>
            <a:pPr marL="685800" lvl="1" indent="-234950" algn="l" rtl="0">
              <a:lnSpc>
                <a:spcPct val="100000"/>
              </a:lnSpc>
              <a:spcBef>
                <a:spcPts val="1000"/>
              </a:spcBef>
              <a:spcAft>
                <a:spcPts val="0"/>
              </a:spcAft>
              <a:buClr>
                <a:srgbClr val="FF9900"/>
              </a:buClr>
              <a:buSzPts val="1900"/>
              <a:buFont typeface="Calibri"/>
              <a:buChar char="✔"/>
            </a:pPr>
            <a:r>
              <a:rPr lang="en-US" sz="1900">
                <a:solidFill>
                  <a:schemeClr val="dk1"/>
                </a:solidFill>
                <a:latin typeface="Calibri"/>
                <a:ea typeface="Calibri"/>
                <a:cs typeface="Calibri"/>
                <a:sym typeface="Calibri"/>
              </a:rPr>
              <a:t>1 week later, posted on SME’s LinkedIn as article</a:t>
            </a:r>
            <a:endParaRPr sz="1900">
              <a:solidFill>
                <a:schemeClr val="dk1"/>
              </a:solidFill>
              <a:latin typeface="Calibri"/>
              <a:ea typeface="Calibri"/>
              <a:cs typeface="Calibri"/>
              <a:sym typeface="Calibri"/>
            </a:endParaRPr>
          </a:p>
          <a:p>
            <a:pPr marL="1143000" lvl="2" indent="-234950" algn="l" rtl="0">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Raises their professional profile with existing &amp; potential clients</a:t>
            </a:r>
            <a:endParaRPr sz="1900">
              <a:solidFill>
                <a:schemeClr val="dk1"/>
              </a:solidFill>
              <a:latin typeface="Calibri"/>
              <a:ea typeface="Calibri"/>
              <a:cs typeface="Calibri"/>
              <a:sym typeface="Calibri"/>
            </a:endParaRPr>
          </a:p>
          <a:p>
            <a:pPr marL="1143000" lvl="2" indent="-234950" algn="l" rtl="0">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SME builds thought leadership &amp; feels appreciated </a:t>
            </a:r>
            <a:endParaRPr sz="1900">
              <a:solidFill>
                <a:schemeClr val="dk1"/>
              </a:solidFill>
              <a:latin typeface="Calibri"/>
              <a:ea typeface="Calibri"/>
              <a:cs typeface="Calibri"/>
              <a:sym typeface="Calibri"/>
            </a:endParaRPr>
          </a:p>
          <a:p>
            <a:pPr marL="1143000" lvl="2" indent="-234950" algn="l" rtl="0">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Saves time, SMEs typically enjoy the process</a:t>
            </a:r>
            <a:endParaRPr sz="1900">
              <a:solidFill>
                <a:schemeClr val="dk1"/>
              </a:solidFill>
              <a:latin typeface="Calibri"/>
              <a:ea typeface="Calibri"/>
              <a:cs typeface="Calibri"/>
              <a:sym typeface="Calibri"/>
            </a:endParaRPr>
          </a:p>
          <a:p>
            <a:pPr marL="1143000" lvl="2" indent="-234950" algn="l" rtl="0">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SME retention, committed, invested in success</a:t>
            </a:r>
            <a:endParaRPr sz="1900">
              <a:solidFill>
                <a:schemeClr val="dk1"/>
              </a:solidFill>
              <a:latin typeface="Calibri"/>
              <a:ea typeface="Calibri"/>
              <a:cs typeface="Calibri"/>
              <a:sym typeface="Calibri"/>
            </a:endParaRPr>
          </a:p>
        </p:txBody>
      </p:sp>
      <p:pic>
        <p:nvPicPr>
          <p:cNvPr id="1176" name="Google Shape;1176;p134"/>
          <p:cNvPicPr preferRelativeResize="0"/>
          <p:nvPr/>
        </p:nvPicPr>
        <p:blipFill>
          <a:blip r:embed="rId1"/>
          <a:stretch>
            <a:fillRect/>
          </a:stretch>
        </p:blipFill>
        <p:spPr>
          <a:xfrm>
            <a:off x="7225350" y="1701388"/>
            <a:ext cx="4586310" cy="4084526"/>
          </a:xfrm>
          <a:prstGeom prst="rect">
            <a:avLst/>
          </a:prstGeom>
          <a:noFill/>
          <a:ln w="9525" cap="flat" cmpd="sng">
            <a:solidFill>
              <a:srgbClr val="CCCCCC"/>
            </a:solidFill>
            <a:prstDash val="dot"/>
            <a:round/>
            <a:headEnd type="none" w="sm" len="sm"/>
            <a:tailEnd type="none" w="sm" len="sm"/>
          </a:ln>
        </p:spPr>
      </p:pic>
      <p:sp>
        <p:nvSpPr>
          <p:cNvPr id="1177" name="Google Shape;1177;p13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(inbound) - content marketing &amp; social media</a:t>
            </a:r>
            <a:endParaRPr sz="1900" b="0" i="1">
              <a:solidFill>
                <a:schemeClr val="accent5"/>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181" name="Shape 1181"/>
        <p:cNvGrpSpPr/>
        <p:nvPr/>
      </p:nvGrpSpPr>
      <p:grpSpPr>
        <a:xfrm>
          <a:off x="0" y="0"/>
          <a:ext cx="0" cy="0"/>
          <a:chOff x="0" y="0"/>
          <a:chExt cx="0" cy="0"/>
        </a:xfrm>
      </p:grpSpPr>
      <p:sp>
        <p:nvSpPr>
          <p:cNvPr id="1182" name="Google Shape;1182;p135"/>
          <p:cNvSpPr txBox="1"/>
          <p:nvPr>
            <p:ph type="title"/>
          </p:nvPr>
        </p:nvSpPr>
        <p:spPr>
          <a:xfrm>
            <a:off x="8625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800"/>
              <a:t>Newsletter</a:t>
            </a:r>
            <a:endParaRPr sz="3800"/>
          </a:p>
        </p:txBody>
      </p:sp>
      <p:sp>
        <p:nvSpPr>
          <p:cNvPr id="1183" name="Google Shape;1183;p135"/>
          <p:cNvSpPr txBox="1"/>
          <p:nvPr>
            <p:ph type="body" idx="1"/>
          </p:nvPr>
        </p:nvSpPr>
        <p:spPr>
          <a:xfrm>
            <a:off x="862575" y="1664975"/>
            <a:ext cx="6730800" cy="4768200"/>
          </a:xfrm>
          <a:prstGeom prst="rect">
            <a:avLst/>
          </a:prstGeom>
          <a:noFill/>
          <a:ln>
            <a:noFill/>
          </a:ln>
        </p:spPr>
        <p:txBody>
          <a:bodyPr spcFirstLastPara="1" wrap="square" lIns="91425" tIns="45700" rIns="91425" bIns="45700" anchor="t" anchorCtr="0">
            <a:noAutofit/>
          </a:bodyPr>
          <a:lstStyle/>
          <a:p>
            <a:pPr marL="457200" marR="0" lvl="1" indent="-219075" algn="l" rtl="0">
              <a:lnSpc>
                <a:spcPct val="100000"/>
              </a:lnSpc>
              <a:spcBef>
                <a:spcPts val="1000"/>
              </a:spcBef>
              <a:spcAft>
                <a:spcPts val="0"/>
              </a:spcAft>
              <a:buClr>
                <a:schemeClr val="accent2"/>
              </a:buClr>
              <a:buSzPts val="1650"/>
              <a:buFont typeface="Noto Sans Symbols"/>
              <a:buChar char="✔"/>
            </a:pPr>
            <a:r>
              <a:rPr lang="en-US" sz="1650"/>
              <a:t>One newsletter - monthly </a:t>
            </a:r>
            <a:endParaRPr sz="1650"/>
          </a:p>
          <a:p>
            <a:pPr marL="457200" marR="0" lvl="1" indent="-219075" algn="l" rtl="0">
              <a:lnSpc>
                <a:spcPct val="100000"/>
              </a:lnSpc>
              <a:spcBef>
                <a:spcPts val="1000"/>
              </a:spcBef>
              <a:spcAft>
                <a:spcPts val="0"/>
              </a:spcAft>
              <a:buClr>
                <a:schemeClr val="accent2"/>
              </a:buClr>
              <a:buSzPts val="1650"/>
              <a:buFont typeface="Noto Sans Symbols"/>
              <a:buChar char="✔"/>
            </a:pPr>
            <a:r>
              <a:rPr lang="en-US" sz="1650"/>
              <a:t>Choose reliable email marketing software (Hubspot)</a:t>
            </a:r>
            <a:endParaRPr sz="1650"/>
          </a:p>
          <a:p>
            <a:pPr marL="457200" marR="0" lvl="1" indent="-219075" algn="l" rtl="0">
              <a:lnSpc>
                <a:spcPct val="100000"/>
              </a:lnSpc>
              <a:spcBef>
                <a:spcPts val="1000"/>
              </a:spcBef>
              <a:spcAft>
                <a:spcPts val="0"/>
              </a:spcAft>
              <a:buClr>
                <a:schemeClr val="accent2"/>
              </a:buClr>
              <a:buSzPts val="1650"/>
              <a:buFont typeface="Noto Sans Symbols"/>
              <a:buChar char="✔"/>
            </a:pPr>
            <a:r>
              <a:rPr lang="en-US" sz="1650"/>
              <a:t>Collect all active and prospect customers for list</a:t>
            </a:r>
            <a:endParaRPr sz="1650"/>
          </a:p>
          <a:p>
            <a:pPr marL="457200" marR="0" lvl="1" indent="-219075" algn="l" rtl="0">
              <a:lnSpc>
                <a:spcPct val="100000"/>
              </a:lnSpc>
              <a:spcBef>
                <a:spcPts val="1000"/>
              </a:spcBef>
              <a:spcAft>
                <a:spcPts val="0"/>
              </a:spcAft>
              <a:buClr>
                <a:schemeClr val="accent2"/>
              </a:buClr>
              <a:buSzPts val="1650"/>
              <a:buFont typeface="Noto Sans Symbols"/>
              <a:buChar char="✔"/>
            </a:pPr>
            <a:r>
              <a:rPr lang="en-US" sz="1650"/>
              <a:t>First issue - launch and explain - why we are doing this, why you are on the list, how to unsubscribe, what we mail about</a:t>
            </a:r>
            <a:endParaRPr sz="1650"/>
          </a:p>
          <a:p>
            <a:pPr marL="457200" lvl="1" indent="-219075" algn="l" rtl="0">
              <a:lnSpc>
                <a:spcPct val="100000"/>
              </a:lnSpc>
              <a:spcBef>
                <a:spcPts val="1000"/>
              </a:spcBef>
              <a:spcAft>
                <a:spcPts val="0"/>
              </a:spcAft>
              <a:buClr>
                <a:schemeClr val="accent2"/>
              </a:buClr>
              <a:buSzPts val="1650"/>
              <a:buFont typeface="Noto Sans Symbols"/>
              <a:buChar char="✔"/>
            </a:pPr>
            <a:r>
              <a:rPr lang="en-US" sz="1650"/>
              <a:t>Ongoing:</a:t>
            </a:r>
            <a:endParaRPr sz="1650"/>
          </a:p>
          <a:p>
            <a:pPr marL="1143000" lvl="2" indent="-219075" algn="l" rtl="0">
              <a:lnSpc>
                <a:spcPct val="100000"/>
              </a:lnSpc>
              <a:spcBef>
                <a:spcPts val="1000"/>
              </a:spcBef>
              <a:spcAft>
                <a:spcPts val="0"/>
              </a:spcAft>
              <a:buSzPts val="1650"/>
              <a:buChar char="•"/>
            </a:pPr>
            <a:r>
              <a:rPr lang="en-US" sz="1650"/>
              <a:t>Marketing Calendar - new tip each issue (new use case)</a:t>
            </a:r>
            <a:endParaRPr sz="1650"/>
          </a:p>
          <a:p>
            <a:pPr marL="1143000" lvl="2" indent="-219075" algn="l" rtl="0">
              <a:lnSpc>
                <a:spcPct val="100000"/>
              </a:lnSpc>
              <a:spcBef>
                <a:spcPts val="1000"/>
              </a:spcBef>
              <a:spcAft>
                <a:spcPts val="0"/>
              </a:spcAft>
              <a:buSzPts val="1650"/>
              <a:buChar char="•"/>
            </a:pPr>
            <a:r>
              <a:rPr lang="en-US" sz="1650"/>
              <a:t>Distro - new tip each issue (new use case)</a:t>
            </a:r>
            <a:endParaRPr sz="1650"/>
          </a:p>
          <a:p>
            <a:pPr marL="1143000" lvl="2" indent="-219075" algn="l" rtl="0">
              <a:lnSpc>
                <a:spcPct val="100000"/>
              </a:lnSpc>
              <a:spcBef>
                <a:spcPts val="1000"/>
              </a:spcBef>
              <a:spcAft>
                <a:spcPts val="0"/>
              </a:spcAft>
              <a:buSzPts val="1650"/>
              <a:buChar char="•"/>
            </a:pPr>
            <a:r>
              <a:rPr lang="en-US" sz="1650"/>
              <a:t>New customers</a:t>
            </a:r>
            <a:endParaRPr sz="1650"/>
          </a:p>
          <a:p>
            <a:pPr marL="1143000" lvl="2" indent="-219075" algn="l" rtl="0">
              <a:lnSpc>
                <a:spcPct val="100000"/>
              </a:lnSpc>
              <a:spcBef>
                <a:spcPts val="1000"/>
              </a:spcBef>
              <a:spcAft>
                <a:spcPts val="0"/>
              </a:spcAft>
              <a:buSzPts val="1650"/>
              <a:buChar char="•"/>
            </a:pPr>
            <a:r>
              <a:rPr lang="en-US" sz="1650"/>
              <a:t>New updates</a:t>
            </a:r>
            <a:endParaRPr sz="1650"/>
          </a:p>
          <a:p>
            <a:pPr marL="1143000" lvl="2" indent="-219075" algn="l" rtl="0">
              <a:lnSpc>
                <a:spcPct val="100000"/>
              </a:lnSpc>
              <a:spcBef>
                <a:spcPts val="1000"/>
              </a:spcBef>
              <a:spcAft>
                <a:spcPts val="0"/>
              </a:spcAft>
              <a:buSzPts val="1650"/>
              <a:buChar char="•"/>
            </a:pPr>
            <a:r>
              <a:rPr lang="en-US" sz="1650"/>
              <a:t>Employee feature</a:t>
            </a:r>
            <a:endParaRPr sz="1650"/>
          </a:p>
          <a:p>
            <a:pPr marL="1143000" lvl="2" indent="-219075" algn="l" rtl="0">
              <a:lnSpc>
                <a:spcPct val="100000"/>
              </a:lnSpc>
              <a:spcBef>
                <a:spcPts val="1000"/>
              </a:spcBef>
              <a:spcAft>
                <a:spcPts val="0"/>
              </a:spcAft>
              <a:buSzPts val="1650"/>
              <a:buChar char="•"/>
            </a:pPr>
            <a:r>
              <a:rPr lang="en-US" sz="1650"/>
              <a:t>Request a demo</a:t>
            </a:r>
            <a:endParaRPr sz="1650"/>
          </a:p>
          <a:p>
            <a:pPr marL="0" lvl="0" indent="0" algn="l" rtl="0">
              <a:lnSpc>
                <a:spcPct val="100000"/>
              </a:lnSpc>
              <a:spcBef>
                <a:spcPts val="1000"/>
              </a:spcBef>
              <a:spcAft>
                <a:spcPts val="0"/>
              </a:spcAft>
              <a:buNone/>
            </a:pPr>
            <a:endParaRPr sz="1750"/>
          </a:p>
          <a:p>
            <a:pPr marL="1143000" marR="0" lvl="0" indent="0" algn="l" rtl="0">
              <a:lnSpc>
                <a:spcPct val="100000"/>
              </a:lnSpc>
              <a:spcBef>
                <a:spcPts val="1000"/>
              </a:spcBef>
              <a:spcAft>
                <a:spcPts val="0"/>
              </a:spcAft>
              <a:buNone/>
            </a:pPr>
            <a:endParaRPr sz="1650"/>
          </a:p>
          <a:p>
            <a:pPr marL="1143000" marR="0" lvl="0" indent="0" algn="l" rtl="0">
              <a:lnSpc>
                <a:spcPct val="100000"/>
              </a:lnSpc>
              <a:spcBef>
                <a:spcPts val="1000"/>
              </a:spcBef>
              <a:spcAft>
                <a:spcPts val="0"/>
              </a:spcAft>
              <a:buNone/>
            </a:pPr>
            <a:endParaRPr sz="1650"/>
          </a:p>
        </p:txBody>
      </p:sp>
      <p:pic>
        <p:nvPicPr>
          <p:cNvPr id="1184" name="Google Shape;1184;p135"/>
          <p:cNvPicPr preferRelativeResize="0"/>
          <p:nvPr/>
        </p:nvPicPr>
        <p:blipFill rotWithShape="1">
          <a:blip r:embed="rId1"/>
          <a:srcRect/>
          <a:stretch>
            <a:fillRect/>
          </a:stretch>
        </p:blipFill>
        <p:spPr>
          <a:xfrm>
            <a:off x="7990825" y="1611500"/>
            <a:ext cx="3566725" cy="3987425"/>
          </a:xfrm>
          <a:prstGeom prst="rect">
            <a:avLst/>
          </a:prstGeom>
          <a:noFill/>
          <a:ln>
            <a:noFill/>
          </a:ln>
        </p:spPr>
      </p:pic>
      <p:sp>
        <p:nvSpPr>
          <p:cNvPr id="1185" name="Google Shape;1185;p135"/>
          <p:cNvSpPr txBox="1"/>
          <p:nvPr/>
        </p:nvSpPr>
        <p:spPr>
          <a:xfrm>
            <a:off x="8282300" y="1816950"/>
            <a:ext cx="2983800" cy="45276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700" b="1">
                <a:solidFill>
                  <a:srgbClr val="434343"/>
                </a:solidFill>
                <a:latin typeface="Calibri"/>
                <a:ea typeface="Calibri"/>
                <a:cs typeface="Calibri"/>
                <a:sym typeface="Calibri"/>
              </a:rPr>
              <a:t>Insights:</a:t>
            </a:r>
            <a:endParaRPr sz="1600">
              <a:solidFill>
                <a:srgbClr val="434343"/>
              </a:solidFill>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An additional touch point to those in the sales cycle</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Showcase other ways to use the software - request customers voiced in the insights interviews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Additional touch point to existing clients between calls</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Showcases your success &amp; expertise</a:t>
            </a:r>
            <a:endParaRPr sz="1600">
              <a:solidFill>
                <a:srgbClr val="434343"/>
              </a:solidFill>
              <a:latin typeface="Calibri"/>
              <a:ea typeface="Calibri"/>
              <a:cs typeface="Calibri"/>
              <a:sym typeface="Calibri"/>
            </a:endParaRPr>
          </a:p>
          <a:p>
            <a:pPr marL="285750" marR="0" lvl="0" indent="-298450" algn="l" rtl="0">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Start of a funnel into CrossCap - by those signing up via social</a:t>
            </a:r>
            <a:endParaRPr sz="1600">
              <a:solidFill>
                <a:srgbClr val="434343"/>
              </a:solidFill>
              <a:latin typeface="Calibri"/>
              <a:ea typeface="Calibri"/>
              <a:cs typeface="Calibri"/>
              <a:sym typeface="Calibri"/>
            </a:endParaRPr>
          </a:p>
          <a:p>
            <a:pPr marL="457200" marR="0" lvl="0" indent="0" algn="l" rtl="0">
              <a:lnSpc>
                <a:spcPct val="100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189" name="Shape 1189"/>
        <p:cNvGrpSpPr/>
        <p:nvPr/>
      </p:nvGrpSpPr>
      <p:grpSpPr>
        <a:xfrm>
          <a:off x="0" y="0"/>
          <a:ext cx="0" cy="0"/>
          <a:chOff x="0" y="0"/>
          <a:chExt cx="0" cy="0"/>
        </a:xfrm>
      </p:grpSpPr>
      <p:sp>
        <p:nvSpPr>
          <p:cNvPr id="1190" name="Google Shape;1190;p136"/>
          <p:cNvSpPr txBox="1"/>
          <p:nvPr>
            <p:ph type="title"/>
          </p:nvPr>
        </p:nvSpPr>
        <p:spPr>
          <a:xfrm>
            <a:off x="680400" y="200600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b="0">
                <a:solidFill>
                  <a:schemeClr val="accent5"/>
                </a:solidFill>
                <a:latin typeface="Calibri"/>
                <a:ea typeface="Calibri"/>
                <a:cs typeface="Calibri"/>
                <a:sym typeface="Calibri"/>
              </a:rPr>
              <a:t>Section 4:</a:t>
            </a:r>
            <a:br>
              <a:rPr lang="en-US">
                <a:solidFill>
                  <a:schemeClr val="accent5"/>
                </a:solidFill>
              </a:rPr>
            </a:br>
            <a:r>
              <a:rPr lang="en-US">
                <a:solidFill>
                  <a:schemeClr val="accent5"/>
                </a:solidFill>
              </a:rPr>
              <a:t>Marketing Lead Generation (outbound)</a:t>
            </a:r>
            <a:endParaRPr>
              <a:solidFill>
                <a:schemeClr val="accent5"/>
              </a:solidFill>
            </a:endParaRPr>
          </a:p>
          <a:p>
            <a:pPr marL="0" lvl="0" indent="0" algn="ctr" rtl="0">
              <a:lnSpc>
                <a:spcPct val="90000"/>
              </a:lnSpc>
              <a:spcBef>
                <a:spcPts val="0"/>
              </a:spcBef>
              <a:spcAft>
                <a:spcPts val="0"/>
              </a:spcAft>
              <a:buClr>
                <a:schemeClr val="accent2"/>
              </a:buClr>
              <a:buSzPct val="100000"/>
              <a:buFont typeface="Calibri"/>
              <a:buNone/>
            </a:pPr>
            <a:r>
              <a:rPr lang="en-US">
                <a:solidFill>
                  <a:schemeClr val="accent5"/>
                </a:solidFill>
              </a:rPr>
              <a:t>Actions</a:t>
            </a:r>
            <a:endParaRPr>
              <a:solidFill>
                <a:schemeClr val="accent5"/>
              </a:solidFill>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194" name="Shape 1194"/>
        <p:cNvGrpSpPr/>
        <p:nvPr/>
      </p:nvGrpSpPr>
      <p:grpSpPr>
        <a:xfrm>
          <a:off x="0" y="0"/>
          <a:ext cx="0" cy="0"/>
          <a:chOff x="0" y="0"/>
          <a:chExt cx="0" cy="0"/>
        </a:xfrm>
      </p:grpSpPr>
      <p:sp>
        <p:nvSpPr>
          <p:cNvPr id="1195" name="Google Shape;1195;p137"/>
          <p:cNvSpPr txBox="1"/>
          <p:nvPr>
            <p:ph type="title"/>
          </p:nvPr>
        </p:nvSpPr>
        <p:spPr>
          <a:xfrm>
            <a:off x="842700" y="763900"/>
            <a:ext cx="110604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Lead Generation (outbound)</a:t>
            </a:r>
            <a:r>
              <a:rPr lang="en-US" sz="3800">
                <a:solidFill>
                  <a:schemeClr val="accent5"/>
                </a:solidFill>
              </a:rPr>
              <a:t> </a:t>
            </a:r>
            <a:r>
              <a:rPr lang="en-US" sz="3800" b="0" i="1">
                <a:solidFill>
                  <a:schemeClr val="accent5"/>
                </a:solidFill>
                <a:latin typeface="Calibri"/>
                <a:ea typeface="Calibri"/>
                <a:cs typeface="Calibri"/>
                <a:sym typeface="Calibri"/>
              </a:rPr>
              <a:t>Goals</a:t>
            </a:r>
            <a:endParaRPr sz="3800" b="0" i="1">
              <a:solidFill>
                <a:schemeClr val="accent5"/>
              </a:solidFill>
              <a:latin typeface="Calibri"/>
              <a:ea typeface="Calibri"/>
              <a:cs typeface="Calibri"/>
              <a:sym typeface="Calibri"/>
            </a:endParaRPr>
          </a:p>
        </p:txBody>
      </p:sp>
      <p:sp>
        <p:nvSpPr>
          <p:cNvPr id="1196" name="Google Shape;1196;p137"/>
          <p:cNvSpPr txBox="1"/>
          <p:nvPr>
            <p:ph type="body" idx="1"/>
          </p:nvPr>
        </p:nvSpPr>
        <p:spPr>
          <a:xfrm>
            <a:off x="842700" y="1612650"/>
            <a:ext cx="7117800" cy="4630200"/>
          </a:xfrm>
          <a:prstGeom prst="rect">
            <a:avLst/>
          </a:prstGeom>
          <a:noFill/>
          <a:ln>
            <a:noFill/>
          </a:ln>
        </p:spPr>
        <p:txBody>
          <a:bodyPr spcFirstLastPara="1" wrap="square" lIns="91425" tIns="45700" rIns="91425" bIns="45700" anchor="t" anchorCtr="0">
            <a:noAutofit/>
          </a:bodyPr>
          <a:lstStyle/>
          <a:p>
            <a:pPr marL="685800" lvl="1" indent="-260350" algn="l" rtl="0">
              <a:lnSpc>
                <a:spcPct val="115000"/>
              </a:lnSpc>
              <a:spcBef>
                <a:spcPts val="1000"/>
              </a:spcBef>
              <a:spcAft>
                <a:spcPts val="0"/>
              </a:spcAft>
              <a:buClr>
                <a:schemeClr val="accent2"/>
              </a:buClr>
              <a:buSzPts val="2300"/>
              <a:buChar char="✔"/>
            </a:pPr>
            <a:r>
              <a:rPr lang="en-US" sz="2000" b="1"/>
              <a:t>Challenge:</a:t>
            </a:r>
            <a:r>
              <a:rPr lang="en-US" sz="2000"/>
              <a:t> CrossCap needs to significantly increase awareness &amp; leads for both the Marketing Calendar &amp; Distro products</a:t>
            </a:r>
            <a:endParaRPr sz="2000"/>
          </a:p>
          <a:p>
            <a:pPr marL="685800" lvl="1" indent="-241300" algn="l" rtl="0">
              <a:lnSpc>
                <a:spcPct val="130000"/>
              </a:lnSpc>
              <a:spcBef>
                <a:spcPts val="1000"/>
              </a:spcBef>
              <a:spcAft>
                <a:spcPts val="0"/>
              </a:spcAft>
              <a:buClr>
                <a:schemeClr val="accent2"/>
              </a:buClr>
              <a:buSzPts val="2000"/>
              <a:buChar char="✔"/>
            </a:pPr>
            <a:r>
              <a:rPr lang="en-US" sz="2000" b="1"/>
              <a:t>Goals:</a:t>
            </a:r>
            <a:r>
              <a:rPr lang="en-US" sz="2000"/>
              <a:t> Get more new marketing qualified leads into the email nurture sequence (so they will eventually convert to sales qualified leads)</a:t>
            </a:r>
            <a:endParaRPr sz="2000"/>
          </a:p>
          <a:p>
            <a:pPr marL="0" lvl="0" indent="0" algn="l" rtl="0">
              <a:lnSpc>
                <a:spcPct val="130000"/>
              </a:lnSpc>
              <a:spcBef>
                <a:spcPts val="1000"/>
              </a:spcBef>
              <a:spcAft>
                <a:spcPts val="0"/>
              </a:spcAft>
              <a:buNone/>
            </a:pPr>
            <a:endParaRPr sz="2000"/>
          </a:p>
          <a:p>
            <a:pPr marL="0" lvl="0" indent="0" algn="l" rtl="0">
              <a:lnSpc>
                <a:spcPct val="130000"/>
              </a:lnSpc>
              <a:spcBef>
                <a:spcPts val="1000"/>
              </a:spcBef>
              <a:spcAft>
                <a:spcPts val="0"/>
              </a:spcAft>
              <a:buNone/>
            </a:pPr>
            <a:endParaRPr sz="2000"/>
          </a:p>
          <a:p>
            <a:pPr marL="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pic>
        <p:nvPicPr>
          <p:cNvPr id="1197" name="Google Shape;1197;p137"/>
          <p:cNvPicPr preferRelativeResize="0"/>
          <p:nvPr/>
        </p:nvPicPr>
        <p:blipFill rotWithShape="1">
          <a:blip r:embed="rId1"/>
          <a:srcRect/>
          <a:stretch>
            <a:fillRect/>
          </a:stretch>
        </p:blipFill>
        <p:spPr>
          <a:xfrm>
            <a:off x="8232075" y="1612650"/>
            <a:ext cx="3271025" cy="3945999"/>
          </a:xfrm>
          <a:prstGeom prst="rect">
            <a:avLst/>
          </a:prstGeom>
          <a:noFill/>
          <a:ln>
            <a:noFill/>
          </a:ln>
        </p:spPr>
      </p:pic>
      <p:sp>
        <p:nvSpPr>
          <p:cNvPr id="1198" name="Google Shape;1198;p137"/>
          <p:cNvSpPr txBox="1"/>
          <p:nvPr/>
        </p:nvSpPr>
        <p:spPr>
          <a:xfrm>
            <a:off x="8472975" y="2002200"/>
            <a:ext cx="2814900" cy="27474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Action Steps:</a:t>
            </a:r>
            <a:endParaRPr sz="1800">
              <a:solidFill>
                <a:srgbClr val="434343"/>
              </a:solidFill>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Association &amp; Event Marketing</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Account Based Marketing Campaigns</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Social Advertising</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Google Search Advertising</a:t>
            </a:r>
            <a:endParaRPr sz="1500">
              <a:solidFill>
                <a:srgbClr val="434343"/>
              </a:solidFill>
              <a:latin typeface="Calibri"/>
              <a:ea typeface="Calibri"/>
              <a:cs typeface="Calibri"/>
              <a:sym typeface="Calibri"/>
            </a:endParaRPr>
          </a:p>
          <a:p>
            <a:pPr marL="457200" marR="0" lvl="0" indent="0" algn="l" rtl="0">
              <a:lnSpc>
                <a:spcPct val="115000"/>
              </a:lnSpc>
              <a:spcBef>
                <a:spcPts val="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
        <p:nvSpPr>
          <p:cNvPr id="1199" name="Google Shape;1199;p13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203" name="Shape 1203"/>
        <p:cNvGrpSpPr/>
        <p:nvPr/>
      </p:nvGrpSpPr>
      <p:grpSpPr>
        <a:xfrm>
          <a:off x="0" y="0"/>
          <a:ext cx="0" cy="0"/>
          <a:chOff x="0" y="0"/>
          <a:chExt cx="0" cy="0"/>
        </a:xfrm>
      </p:grpSpPr>
      <p:sp>
        <p:nvSpPr>
          <p:cNvPr id="1204" name="Google Shape;1204;p138"/>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4: lead generation (outbound)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1: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Association &amp; Event Marketing</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1205" name="Google Shape;1205;p13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209" name="Shape 1209"/>
        <p:cNvGrpSpPr/>
        <p:nvPr/>
      </p:nvGrpSpPr>
      <p:grpSpPr>
        <a:xfrm>
          <a:off x="0" y="0"/>
          <a:ext cx="0" cy="0"/>
          <a:chOff x="0" y="0"/>
          <a:chExt cx="0" cy="0"/>
        </a:xfrm>
      </p:grpSpPr>
      <p:sp>
        <p:nvSpPr>
          <p:cNvPr id="1210" name="Google Shape;1210;p139"/>
          <p:cNvSpPr txBox="1"/>
          <p:nvPr>
            <p:ph type="title"/>
          </p:nvPr>
        </p:nvSpPr>
        <p:spPr>
          <a:xfrm>
            <a:off x="960775" y="784225"/>
            <a:ext cx="105969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Associations/Events </a:t>
            </a:r>
            <a:r>
              <a:rPr lang="en-US" sz="3800" b="0" i="1">
                <a:solidFill>
                  <a:schemeClr val="accent5"/>
                </a:solidFill>
                <a:latin typeface="Calibri"/>
                <a:ea typeface="Calibri"/>
                <a:cs typeface="Calibri"/>
                <a:sym typeface="Calibri"/>
              </a:rPr>
              <a:t>Overview</a:t>
            </a:r>
            <a:endParaRPr sz="3800" b="0" i="1">
              <a:latin typeface="Calibri"/>
              <a:ea typeface="Calibri"/>
              <a:cs typeface="Calibri"/>
              <a:sym typeface="Calibri"/>
            </a:endParaRPr>
          </a:p>
        </p:txBody>
      </p:sp>
      <p:sp>
        <p:nvSpPr>
          <p:cNvPr id="1211" name="Google Shape;1211;p139"/>
          <p:cNvSpPr txBox="1"/>
          <p:nvPr>
            <p:ph type="body" idx="1"/>
          </p:nvPr>
        </p:nvSpPr>
        <p:spPr>
          <a:xfrm>
            <a:off x="548450" y="1727325"/>
            <a:ext cx="5717100" cy="4630200"/>
          </a:xfrm>
          <a:prstGeom prst="rect">
            <a:avLst/>
          </a:prstGeom>
          <a:noFill/>
          <a:ln>
            <a:noFill/>
          </a:ln>
        </p:spPr>
        <p:txBody>
          <a:bodyPr spcFirstLastPara="1" wrap="square" lIns="91425" tIns="45700" rIns="91425" bIns="45700" anchor="t" anchorCtr="0">
            <a:noAutofit/>
          </a:bodyPr>
          <a:lstStyle/>
          <a:p>
            <a:pPr marL="800100" marR="0" lvl="1" indent="-339725" algn="l" rtl="0">
              <a:lnSpc>
                <a:spcPct val="100000"/>
              </a:lnSpc>
              <a:spcBef>
                <a:spcPts val="1000"/>
              </a:spcBef>
              <a:spcAft>
                <a:spcPts val="0"/>
              </a:spcAft>
              <a:buClr>
                <a:schemeClr val="accent2"/>
              </a:buClr>
              <a:buSzPts val="1750"/>
              <a:buFont typeface="Noto Sans Symbols"/>
              <a:buChar char="✔"/>
            </a:pPr>
            <a:r>
              <a:rPr lang="en-US" sz="1750"/>
              <a:t>Industry associations and events are one of the fastest ways to build awareness &amp; generate leads with your ideal clients</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When you don’t have a large audience of your own, you can use associations and events </a:t>
            </a:r>
            <a:r>
              <a:rPr lang="en-US" sz="1750" i="1"/>
              <a:t>to access other people’s audiences (and your ideal clients)</a:t>
            </a:r>
            <a:endParaRPr sz="1750" i="1"/>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Use a strategic and integrated marketing approach - </a:t>
            </a:r>
            <a:r>
              <a:rPr lang="en-US" sz="1750" i="1"/>
              <a:t>this is not about showing up at a booth</a:t>
            </a:r>
            <a:endParaRPr sz="1750" i="1"/>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Associations &amp; events offer a large number of marketing opportunities - and we can integrate these with our internal marketing funnels to maximize results</a:t>
            </a:r>
            <a:endParaRPr sz="2050"/>
          </a:p>
          <a:p>
            <a:pPr marL="0" marR="0" lvl="0" indent="0" algn="l" rtl="0">
              <a:lnSpc>
                <a:spcPct val="100000"/>
              </a:lnSpc>
              <a:spcBef>
                <a:spcPts val="1000"/>
              </a:spcBef>
              <a:spcAft>
                <a:spcPts val="0"/>
              </a:spcAft>
              <a:buNone/>
            </a:pPr>
            <a:endParaRPr sz="2050"/>
          </a:p>
        </p:txBody>
      </p:sp>
      <p:sp>
        <p:nvSpPr>
          <p:cNvPr id="1212" name="Google Shape;1212;p139"/>
          <p:cNvSpPr txBox="1"/>
          <p:nvPr>
            <p:ph type="body" idx="1"/>
          </p:nvPr>
        </p:nvSpPr>
        <p:spPr>
          <a:xfrm>
            <a:off x="6171675" y="1557325"/>
            <a:ext cx="57171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r>
              <a:rPr lang="en-US" sz="1750"/>
              <a:t>	</a:t>
            </a:r>
            <a:r>
              <a:rPr lang="en-US" sz="1750" b="1"/>
              <a:t>Action Steps:</a:t>
            </a:r>
            <a:endParaRPr sz="1750" b="1"/>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Create an association &amp; event marketing kit, including templates</a:t>
            </a:r>
            <a:endParaRPr sz="1750"/>
          </a:p>
          <a:p>
            <a:pPr marL="800100" marR="0" lvl="1" indent="-352425" algn="l" rtl="0">
              <a:lnSpc>
                <a:spcPct val="100000"/>
              </a:lnSpc>
              <a:spcBef>
                <a:spcPts val="1000"/>
              </a:spcBef>
              <a:spcAft>
                <a:spcPts val="0"/>
              </a:spcAft>
              <a:buClr>
                <a:schemeClr val="accent2"/>
              </a:buClr>
              <a:buSzPts val="1750"/>
              <a:buFont typeface="Noto Sans Symbols"/>
              <a:buChar char="✔"/>
            </a:pPr>
            <a:r>
              <a:rPr lang="en-US" sz="1750"/>
              <a:t>Identify key associations and events for both Distro and Marketing Calendar</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Identify the best associations to join as members, and the best marketing opportunities to take advantage of</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Identify the best events to attend/sponsor and the best marketing opportunities to take advantage of</a:t>
            </a:r>
            <a:endParaRPr sz="1750"/>
          </a:p>
          <a:p>
            <a:pPr marL="800100" marR="0" lvl="1" indent="-339725" algn="l" rtl="0">
              <a:lnSpc>
                <a:spcPct val="100000"/>
              </a:lnSpc>
              <a:spcBef>
                <a:spcPts val="1000"/>
              </a:spcBef>
              <a:spcAft>
                <a:spcPts val="0"/>
              </a:spcAft>
              <a:buClr>
                <a:schemeClr val="accent2"/>
              </a:buClr>
              <a:buSzPts val="1750"/>
              <a:buFont typeface="Noto Sans Symbols"/>
              <a:buChar char="✔"/>
            </a:pPr>
            <a:r>
              <a:rPr lang="en-US" sz="1750"/>
              <a:t>Create integrated marketing campaigns for EACH of these opportunities - driving to CrossCap’s lead nurturing funnels.</a:t>
            </a:r>
            <a:endParaRPr sz="1750"/>
          </a:p>
          <a:p>
            <a:pPr marL="685800" marR="0" lvl="0" indent="0" algn="l" rtl="0">
              <a:lnSpc>
                <a:spcPct val="100000"/>
              </a:lnSpc>
              <a:spcBef>
                <a:spcPts val="1000"/>
              </a:spcBef>
              <a:spcAft>
                <a:spcPts val="0"/>
              </a:spcAft>
              <a:buNone/>
            </a:pPr>
            <a:endParaRPr sz="1750"/>
          </a:p>
        </p:txBody>
      </p:sp>
      <p:cxnSp>
        <p:nvCxnSpPr>
          <p:cNvPr id="1213" name="Google Shape;1213;p139"/>
          <p:cNvCxnSpPr/>
          <p:nvPr/>
        </p:nvCxnSpPr>
        <p:spPr>
          <a:xfrm>
            <a:off x="6429375" y="1709875"/>
            <a:ext cx="23100" cy="4622100"/>
          </a:xfrm>
          <a:prstGeom prst="straightConnector1">
            <a:avLst/>
          </a:prstGeom>
          <a:noFill/>
          <a:ln w="9525" cap="flat" cmpd="sng">
            <a:solidFill>
              <a:srgbClr val="62C9D7"/>
            </a:solidFill>
            <a:prstDash val="solid"/>
            <a:round/>
            <a:headEnd type="none" w="med" len="med"/>
            <a:tailEnd type="none" w="med" len="med"/>
          </a:ln>
        </p:spPr>
      </p:cxnSp>
      <p:sp>
        <p:nvSpPr>
          <p:cNvPr id="1214" name="Google Shape;1214;p13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awareness - media relations</a:t>
            </a:r>
            <a:endParaRPr sz="1900" b="0" i="1">
              <a:solidFill>
                <a:schemeClr val="accent5"/>
              </a:solidFill>
              <a:latin typeface="Calibri"/>
              <a:ea typeface="Calibri"/>
              <a:cs typeface="Calibri"/>
              <a:sym typeface="Calibri"/>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218" name="Shape 1218"/>
        <p:cNvGrpSpPr/>
        <p:nvPr/>
      </p:nvGrpSpPr>
      <p:grpSpPr>
        <a:xfrm>
          <a:off x="0" y="0"/>
          <a:ext cx="0" cy="0"/>
          <a:chOff x="0" y="0"/>
          <a:chExt cx="0" cy="0"/>
        </a:xfrm>
      </p:grpSpPr>
      <p:sp>
        <p:nvSpPr>
          <p:cNvPr id="1219" name="Google Shape;1219;p140"/>
          <p:cNvSpPr txBox="1"/>
          <p:nvPr>
            <p:ph type="title"/>
          </p:nvPr>
        </p:nvSpPr>
        <p:spPr>
          <a:xfrm>
            <a:off x="832300" y="1096900"/>
            <a:ext cx="10755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800">
                <a:solidFill>
                  <a:schemeClr val="accent5"/>
                </a:solidFill>
              </a:rPr>
              <a:t>Associations/Events </a:t>
            </a:r>
            <a:r>
              <a:rPr lang="en-US" sz="3800" b="0" i="1">
                <a:solidFill>
                  <a:schemeClr val="accent5"/>
                </a:solidFill>
                <a:latin typeface="Calibri"/>
                <a:ea typeface="Calibri"/>
                <a:cs typeface="Calibri"/>
                <a:sym typeface="Calibri"/>
              </a:rPr>
              <a:t>Create Marketing Kit</a:t>
            </a:r>
            <a:endParaRPr sz="3800" b="0" i="1">
              <a:solidFill>
                <a:schemeClr val="accent5"/>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sz="3800">
              <a:solidFill>
                <a:schemeClr val="accent5"/>
              </a:solidFill>
            </a:endParaRPr>
          </a:p>
        </p:txBody>
      </p:sp>
      <p:sp>
        <p:nvSpPr>
          <p:cNvPr id="1220" name="Google Shape;1220;p140"/>
          <p:cNvSpPr txBox="1"/>
          <p:nvPr>
            <p:ph type="body" idx="1"/>
          </p:nvPr>
        </p:nvSpPr>
        <p:spPr>
          <a:xfrm>
            <a:off x="832300" y="1855475"/>
            <a:ext cx="7122900" cy="4619700"/>
          </a:xfrm>
          <a:prstGeom prst="rect">
            <a:avLst/>
          </a:prstGeom>
          <a:noFill/>
          <a:ln>
            <a:noFill/>
          </a:ln>
        </p:spPr>
        <p:txBody>
          <a:bodyPr spcFirstLastPara="1" wrap="square" lIns="91425" tIns="45700" rIns="91425" bIns="45700" anchor="t" anchorCtr="0">
            <a:noAutofit/>
          </a:bodyPr>
          <a:lstStyle/>
          <a:p>
            <a:pPr marL="685800" lvl="1" indent="-247650" algn="l" rtl="0">
              <a:lnSpc>
                <a:spcPct val="115000"/>
              </a:lnSpc>
              <a:spcBef>
                <a:spcPts val="1000"/>
              </a:spcBef>
              <a:spcAft>
                <a:spcPts val="0"/>
              </a:spcAft>
              <a:buClr>
                <a:schemeClr val="accent2"/>
              </a:buClr>
              <a:buSzPts val="2100"/>
              <a:buChar char="✔"/>
            </a:pPr>
            <a:r>
              <a:rPr lang="en-US" sz="1800"/>
              <a:t>Create an association marketing kit for each of CrossCaps main products</a:t>
            </a:r>
            <a:endParaRPr sz="1800"/>
          </a:p>
          <a:p>
            <a:pPr marL="685800" lvl="1" indent="-228600" algn="l" rtl="0">
              <a:lnSpc>
                <a:spcPct val="115000"/>
              </a:lnSpc>
              <a:spcBef>
                <a:spcPts val="1000"/>
              </a:spcBef>
              <a:spcAft>
                <a:spcPts val="0"/>
              </a:spcAft>
              <a:buClr>
                <a:schemeClr val="accent2"/>
              </a:buClr>
              <a:buSzPts val="1800"/>
              <a:buFont typeface="Calibri"/>
              <a:buChar char="✔"/>
            </a:pPr>
            <a:r>
              <a:rPr lang="en-US" sz="1800"/>
              <a:t>Marketing kit will include:</a:t>
            </a:r>
            <a:endParaRPr sz="1800"/>
          </a:p>
          <a:p>
            <a:pPr marL="1143000" lvl="2" indent="-228600" algn="l" rtl="0">
              <a:lnSpc>
                <a:spcPct val="115000"/>
              </a:lnSpc>
              <a:spcBef>
                <a:spcPts val="1000"/>
              </a:spcBef>
              <a:spcAft>
                <a:spcPts val="0"/>
              </a:spcAft>
              <a:buSzPts val="1800"/>
              <a:buChar char="•"/>
            </a:pPr>
            <a:r>
              <a:rPr lang="en-US" sz="1800"/>
              <a:t>Messaging guide and key message snippets to use</a:t>
            </a:r>
            <a:endParaRPr sz="1800"/>
          </a:p>
          <a:p>
            <a:pPr marL="1143000" lvl="2" indent="-228600" algn="l" rtl="0">
              <a:lnSpc>
                <a:spcPct val="115000"/>
              </a:lnSpc>
              <a:spcBef>
                <a:spcPts val="1000"/>
              </a:spcBef>
              <a:spcAft>
                <a:spcPts val="0"/>
              </a:spcAft>
              <a:buSzPts val="1800"/>
              <a:buChar char="•"/>
            </a:pPr>
            <a:r>
              <a:rPr lang="en-US" sz="1800"/>
              <a:t>News release template</a:t>
            </a:r>
            <a:endParaRPr sz="1800"/>
          </a:p>
          <a:p>
            <a:pPr marL="1143000" lvl="2" indent="-228600" algn="l" rtl="0">
              <a:lnSpc>
                <a:spcPct val="115000"/>
              </a:lnSpc>
              <a:spcBef>
                <a:spcPts val="1000"/>
              </a:spcBef>
              <a:spcAft>
                <a:spcPts val="0"/>
              </a:spcAft>
              <a:buSzPts val="1800"/>
              <a:buChar char="•"/>
            </a:pPr>
            <a:r>
              <a:rPr lang="en-US" sz="1800"/>
              <a:t>Advertising template</a:t>
            </a:r>
            <a:endParaRPr sz="1800"/>
          </a:p>
          <a:p>
            <a:pPr marL="1143000" lvl="2" indent="-228600" algn="l" rtl="0">
              <a:lnSpc>
                <a:spcPct val="115000"/>
              </a:lnSpc>
              <a:spcBef>
                <a:spcPts val="1000"/>
              </a:spcBef>
              <a:spcAft>
                <a:spcPts val="0"/>
              </a:spcAft>
              <a:buSzPts val="1800"/>
              <a:buChar char="•"/>
            </a:pPr>
            <a:r>
              <a:rPr lang="en-US" sz="1800"/>
              <a:t>Event Marketing sheet template</a:t>
            </a:r>
            <a:endParaRPr sz="1800"/>
          </a:p>
          <a:p>
            <a:pPr marL="1143000" lvl="2" indent="-228600" algn="l" rtl="0">
              <a:lnSpc>
                <a:spcPct val="115000"/>
              </a:lnSpc>
              <a:spcBef>
                <a:spcPts val="1000"/>
              </a:spcBef>
              <a:spcAft>
                <a:spcPts val="0"/>
              </a:spcAft>
              <a:buSzPts val="1800"/>
              <a:buChar char="•"/>
            </a:pPr>
            <a:r>
              <a:rPr lang="en-US" sz="1800"/>
              <a:t>Advertising template</a:t>
            </a:r>
            <a:endParaRPr sz="1800"/>
          </a:p>
          <a:p>
            <a:pPr marL="1143000" lvl="2" indent="-228600" algn="l" rtl="0">
              <a:lnSpc>
                <a:spcPct val="115000"/>
              </a:lnSpc>
              <a:spcBef>
                <a:spcPts val="1000"/>
              </a:spcBef>
              <a:spcAft>
                <a:spcPts val="0"/>
              </a:spcAft>
              <a:buSzPts val="1800"/>
              <a:buChar char="•"/>
            </a:pPr>
            <a:r>
              <a:rPr lang="en-US" sz="1800"/>
              <a:t>Direct mail template</a:t>
            </a:r>
            <a:endParaRPr sz="1800"/>
          </a:p>
          <a:p>
            <a:pPr marL="1143000" lvl="2" indent="-228600" algn="l" rtl="0">
              <a:lnSpc>
                <a:spcPct val="115000"/>
              </a:lnSpc>
              <a:spcBef>
                <a:spcPts val="1000"/>
              </a:spcBef>
              <a:spcAft>
                <a:spcPts val="0"/>
              </a:spcAft>
              <a:buSzPts val="1800"/>
              <a:buChar char="•"/>
            </a:pPr>
            <a:r>
              <a:rPr lang="en-US" sz="1800"/>
              <a:t>Email template</a:t>
            </a:r>
            <a:endParaRPr sz="1800" b="1"/>
          </a:p>
          <a:p>
            <a:pPr marL="685800" marR="0" lvl="0" indent="0" algn="l" rtl="0">
              <a:lnSpc>
                <a:spcPct val="100000"/>
              </a:lnSpc>
              <a:spcBef>
                <a:spcPts val="1000"/>
              </a:spcBef>
              <a:spcAft>
                <a:spcPts val="0"/>
              </a:spcAft>
              <a:buNone/>
            </a:pPr>
            <a:endParaRPr sz="1650"/>
          </a:p>
          <a:p>
            <a:pPr marL="0" lvl="0" indent="0" algn="l" rtl="0">
              <a:lnSpc>
                <a:spcPct val="100000"/>
              </a:lnSpc>
              <a:spcBef>
                <a:spcPts val="1000"/>
              </a:spcBef>
              <a:spcAft>
                <a:spcPts val="0"/>
              </a:spcAft>
              <a:buNone/>
            </a:pPr>
            <a:endParaRPr sz="1650"/>
          </a:p>
        </p:txBody>
      </p:sp>
      <p:sp>
        <p:nvSpPr>
          <p:cNvPr id="1221" name="Google Shape;1221;p14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a:t>
            </a:r>
            <a:endParaRPr sz="1900" b="0" i="1">
              <a:solidFill>
                <a:schemeClr val="accent5"/>
              </a:solidFill>
              <a:latin typeface="Calibri"/>
              <a:ea typeface="Calibri"/>
              <a:cs typeface="Calibri"/>
              <a:sym typeface="Calibri"/>
            </a:endParaRPr>
          </a:p>
        </p:txBody>
      </p:sp>
      <p:pic>
        <p:nvPicPr>
          <p:cNvPr id="1222" name="Google Shape;1222;p140"/>
          <p:cNvPicPr preferRelativeResize="0"/>
          <p:nvPr/>
        </p:nvPicPr>
        <p:blipFill rotWithShape="1">
          <a:blip r:embed="rId1"/>
          <a:srcRect/>
          <a:stretch>
            <a:fillRect/>
          </a:stretch>
        </p:blipFill>
        <p:spPr>
          <a:xfrm>
            <a:off x="8232075" y="2002200"/>
            <a:ext cx="3271025" cy="3494351"/>
          </a:xfrm>
          <a:prstGeom prst="rect">
            <a:avLst/>
          </a:prstGeom>
          <a:noFill/>
          <a:ln>
            <a:noFill/>
          </a:ln>
        </p:spPr>
      </p:pic>
      <p:sp>
        <p:nvSpPr>
          <p:cNvPr id="1223" name="Google Shape;1223;p140"/>
          <p:cNvSpPr txBox="1"/>
          <p:nvPr/>
        </p:nvSpPr>
        <p:spPr>
          <a:xfrm>
            <a:off x="8460138" y="2296825"/>
            <a:ext cx="2814900" cy="38097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Insights:</a:t>
            </a:r>
            <a:endParaRPr sz="1800">
              <a:solidFill>
                <a:srgbClr val="434343"/>
              </a:solidFill>
            </a:endParaRPr>
          </a:p>
          <a:p>
            <a:pPr marL="285750" marR="0" lvl="0" indent="-29210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Creating a templated event &amp; association marketing kit ahead of time means:</a:t>
            </a:r>
            <a:endParaRPr sz="1500">
              <a:solidFill>
                <a:srgbClr val="434343"/>
              </a:solidFill>
              <a:latin typeface="Calibri"/>
              <a:ea typeface="Calibri"/>
              <a:cs typeface="Calibri"/>
              <a:sym typeface="Calibri"/>
            </a:endParaRPr>
          </a:p>
          <a:p>
            <a:pPr marL="514350" marR="0" lvl="1" indent="-20955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You can more quickly take advantage of opportunities</a:t>
            </a:r>
            <a:endParaRPr sz="1500">
              <a:solidFill>
                <a:srgbClr val="434343"/>
              </a:solidFill>
              <a:latin typeface="Calibri"/>
              <a:ea typeface="Calibri"/>
              <a:cs typeface="Calibri"/>
              <a:sym typeface="Calibri"/>
            </a:endParaRPr>
          </a:p>
          <a:p>
            <a:pPr marL="514350" marR="0" lvl="1" indent="-20955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You don’t have to recreate the wheel each time</a:t>
            </a:r>
            <a:endParaRPr sz="1500">
              <a:solidFill>
                <a:srgbClr val="434343"/>
              </a:solidFill>
              <a:latin typeface="Calibri"/>
              <a:ea typeface="Calibri"/>
              <a:cs typeface="Calibri"/>
              <a:sym typeface="Calibri"/>
            </a:endParaRPr>
          </a:p>
          <a:p>
            <a:pPr marL="514350" marR="0" lvl="1" indent="-20955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You keep your messaging &amp; marketing consistent</a:t>
            </a:r>
            <a:endParaRPr sz="1500">
              <a:solidFill>
                <a:srgbClr val="434343"/>
              </a:solidFill>
              <a:latin typeface="Calibri"/>
              <a:ea typeface="Calibri"/>
              <a:cs typeface="Calibri"/>
              <a:sym typeface="Calibri"/>
            </a:endParaRPr>
          </a:p>
          <a:p>
            <a:pPr marL="457200" marR="0" lvl="0" indent="0" algn="l" rtl="0">
              <a:lnSpc>
                <a:spcPct val="115000"/>
              </a:lnSpc>
              <a:spcBef>
                <a:spcPts val="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227" name="Shape 1227"/>
        <p:cNvGrpSpPr/>
        <p:nvPr/>
      </p:nvGrpSpPr>
      <p:grpSpPr>
        <a:xfrm>
          <a:off x="0" y="0"/>
          <a:ext cx="0" cy="0"/>
          <a:chOff x="0" y="0"/>
          <a:chExt cx="0" cy="0"/>
        </a:xfrm>
      </p:grpSpPr>
      <p:sp>
        <p:nvSpPr>
          <p:cNvPr id="1228" name="Google Shape;1228;p141"/>
          <p:cNvSpPr txBox="1"/>
          <p:nvPr>
            <p:ph type="title"/>
          </p:nvPr>
        </p:nvSpPr>
        <p:spPr>
          <a:xfrm>
            <a:off x="745425" y="784225"/>
            <a:ext cx="10812300" cy="1325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3300">
                <a:solidFill>
                  <a:srgbClr val="073763"/>
                </a:solidFill>
              </a:rPr>
              <a:t>Event/Association Marketing </a:t>
            </a:r>
            <a:r>
              <a:rPr lang="en-US" sz="3300" b="0" i="1">
                <a:solidFill>
                  <a:srgbClr val="073763"/>
                </a:solidFill>
                <a:latin typeface="Calibri"/>
                <a:ea typeface="Calibri"/>
                <a:cs typeface="Calibri"/>
                <a:sym typeface="Calibri"/>
              </a:rPr>
              <a:t>Research Example - Distro</a:t>
            </a:r>
            <a:endParaRPr b="0" i="1">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endParaRPr>
              <a:solidFill>
                <a:schemeClr val="accent5"/>
              </a:solidFill>
            </a:endParaRPr>
          </a:p>
        </p:txBody>
      </p:sp>
      <p:sp>
        <p:nvSpPr>
          <p:cNvPr id="1229" name="Google Shape;1229;p141"/>
          <p:cNvSpPr txBox="1"/>
          <p:nvPr>
            <p:ph type="body" idx="1"/>
          </p:nvPr>
        </p:nvSpPr>
        <p:spPr>
          <a:xfrm>
            <a:off x="183125" y="1776875"/>
            <a:ext cx="2547600" cy="4260600"/>
          </a:xfrm>
          <a:prstGeom prst="rect">
            <a:avLst/>
          </a:prstGeom>
          <a:noFill/>
          <a:ln>
            <a:noFill/>
          </a:ln>
        </p:spPr>
        <p:txBody>
          <a:bodyPr spcFirstLastPara="1" wrap="square" lIns="91425" tIns="45700" rIns="91425" bIns="45700" anchor="t" anchorCtr="0">
            <a:noAutofit/>
          </a:bodyPr>
          <a:lstStyle/>
          <a:p>
            <a:pPr marL="685800" lvl="1" indent="-228600" algn="l" rtl="0">
              <a:lnSpc>
                <a:spcPct val="130000"/>
              </a:lnSpc>
              <a:spcBef>
                <a:spcPts val="1000"/>
              </a:spcBef>
              <a:spcAft>
                <a:spcPts val="0"/>
              </a:spcAft>
              <a:buClr>
                <a:schemeClr val="accent2"/>
              </a:buClr>
              <a:buSzPts val="1800"/>
              <a:buFont typeface="Calibri"/>
              <a:buChar char="✔"/>
            </a:pPr>
            <a:r>
              <a:rPr lang="en-US" sz="1500"/>
              <a:t>Identify associations &amp; events focused on the Retail sector</a:t>
            </a:r>
            <a:endParaRPr sz="1500"/>
          </a:p>
          <a:p>
            <a:pPr marL="685800" lvl="1" indent="-209550" algn="l" rtl="0">
              <a:lnSpc>
                <a:spcPct val="130000"/>
              </a:lnSpc>
              <a:spcBef>
                <a:spcPts val="1000"/>
              </a:spcBef>
              <a:spcAft>
                <a:spcPts val="0"/>
              </a:spcAft>
              <a:buClr>
                <a:schemeClr val="accent2"/>
              </a:buClr>
              <a:buSzPts val="1500"/>
              <a:buFont typeface="Calibri"/>
              <a:buChar char="✔"/>
            </a:pPr>
            <a:r>
              <a:rPr lang="en-US" sz="1500"/>
              <a:t>Review opportunities &amp; fit to target market</a:t>
            </a:r>
            <a:endParaRPr sz="1500"/>
          </a:p>
          <a:p>
            <a:pPr marL="685800" lvl="1" indent="-209550" algn="l" rtl="0">
              <a:lnSpc>
                <a:spcPct val="130000"/>
              </a:lnSpc>
              <a:spcBef>
                <a:spcPts val="1000"/>
              </a:spcBef>
              <a:spcAft>
                <a:spcPts val="0"/>
              </a:spcAft>
              <a:buClr>
                <a:schemeClr val="accent2"/>
              </a:buClr>
              <a:buSzPts val="1500"/>
              <a:buFont typeface="Calibri"/>
              <a:buChar char="✔"/>
            </a:pPr>
            <a:r>
              <a:rPr lang="en-US" sz="1500"/>
              <a:t>Select associations to target</a:t>
            </a:r>
            <a:endParaRPr sz="1500"/>
          </a:p>
          <a:p>
            <a:pPr marL="0" lvl="0" indent="0" algn="l" rtl="0">
              <a:lnSpc>
                <a:spcPct val="130000"/>
              </a:lnSpc>
              <a:spcBef>
                <a:spcPts val="1000"/>
              </a:spcBef>
              <a:spcAft>
                <a:spcPts val="0"/>
              </a:spcAft>
              <a:buNone/>
            </a:pPr>
            <a:endParaRPr sz="1900"/>
          </a:p>
          <a:p>
            <a:pPr marL="685800" marR="0" lvl="0" indent="0" algn="l" rtl="0">
              <a:lnSpc>
                <a:spcPct val="100000"/>
              </a:lnSpc>
              <a:spcBef>
                <a:spcPts val="1000"/>
              </a:spcBef>
              <a:spcAft>
                <a:spcPts val="0"/>
              </a:spcAft>
              <a:buNone/>
            </a:pPr>
            <a:endParaRPr sz="1650"/>
          </a:p>
          <a:p>
            <a:pPr marL="0" lvl="0" indent="0" algn="l" rtl="0">
              <a:lnSpc>
                <a:spcPct val="100000"/>
              </a:lnSpc>
              <a:spcBef>
                <a:spcPts val="1000"/>
              </a:spcBef>
              <a:spcAft>
                <a:spcPts val="0"/>
              </a:spcAft>
              <a:buNone/>
            </a:pPr>
            <a:endParaRPr sz="1650"/>
          </a:p>
        </p:txBody>
      </p:sp>
      <p:graphicFrame>
        <p:nvGraphicFramePr>
          <p:cNvPr id="1230" name="Google Shape;1230;p141"/>
          <p:cNvGraphicFramePr/>
          <p:nvPr/>
        </p:nvGraphicFramePr>
        <p:xfrm>
          <a:off x="3159675" y="1476138"/>
          <a:ext cx="6748375" cy="4081450"/>
        </p:xfrm>
        <a:graphic>
          <a:graphicData uri="http://schemas.openxmlformats.org/drawingml/2006/table">
            <a:tbl>
              <a:tblPr>
                <a:noFill/>
                <a:tableStyleId>{72414FFC-F9EC-43E0-91B3-72DFC5CB316E}</a:tableStyleId>
              </a:tblPr>
              <a:tblGrid>
                <a:gridCol w="2531575"/>
                <a:gridCol w="4216800"/>
              </a:tblGrid>
              <a:tr h="365725">
                <a:tc>
                  <a:txBody>
                    <a:bodyPr/>
                    <a:lstStyle/>
                    <a:p>
                      <a:pPr marL="0" lvl="0" indent="0" algn="l" rtl="0">
                        <a:spcBef>
                          <a:spcPts val="0"/>
                        </a:spcBef>
                        <a:spcAft>
                          <a:spcPts val="0"/>
                        </a:spcAft>
                        <a:buNone/>
                      </a:pPr>
                      <a:r>
                        <a:rPr lang="en-US" sz="1200" b="1"/>
                        <a:t>Associations</a:t>
                      </a:r>
                      <a:endParaRPr sz="1200"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b="1"/>
                        <a:t>Events</a:t>
                      </a:r>
                      <a:endParaRPr sz="1200" b="1"/>
                    </a:p>
                  </a:txBody>
                  <a:tcPr marL="91425" marR="91425" marT="91425" marB="91425"/>
                </a:tc>
              </a:tr>
              <a:tr h="333050">
                <a:tc>
                  <a:txBody>
                    <a:bodyPr/>
                    <a:lstStyle/>
                    <a:p>
                      <a:pPr marL="0" lvl="0" indent="0" algn="l" rtl="0">
                        <a:spcBef>
                          <a:spcPts val="0"/>
                        </a:spcBef>
                        <a:spcAft>
                          <a:spcPts val="0"/>
                        </a:spcAft>
                        <a:buNone/>
                      </a:pPr>
                      <a:r>
                        <a:rPr lang="en-US" sz="1000"/>
                        <a:t>National Retail Federation:</a:t>
                      </a:r>
                      <a:endParaRPr sz="1000"/>
                    </a:p>
                    <a:p>
                      <a:pPr marL="457200" lvl="0" indent="-292100" algn="l" rtl="0">
                        <a:spcBef>
                          <a:spcPts val="0"/>
                        </a:spcBef>
                        <a:spcAft>
                          <a:spcPts val="0"/>
                        </a:spcAft>
                        <a:buSzPts val="1000"/>
                        <a:buChar char="-"/>
                      </a:pPr>
                      <a:r>
                        <a:rPr lang="en-US" sz="1000"/>
                        <a:t>National &amp; state level</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1000"/>
                        </a:spcBef>
                        <a:spcAft>
                          <a:spcPts val="0"/>
                        </a:spcAft>
                        <a:buNone/>
                      </a:pPr>
                      <a:r>
                        <a:rPr lang="en-US" sz="1000">
                          <a:solidFill>
                            <a:schemeClr val="dk1"/>
                          </a:solidFill>
                        </a:rPr>
                        <a:t>NRF: Big Show &amp; Retail Week - </a:t>
                      </a:r>
                      <a:r>
                        <a:rPr lang="en-US" sz="900" i="1">
                          <a:solidFill>
                            <a:schemeClr val="dk1"/>
                          </a:solidFill>
                        </a:rPr>
                        <a:t>New York - January</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267975">
                <a:tc>
                  <a:txBody>
                    <a:bodyPr/>
                    <a:lstStyle/>
                    <a:p>
                      <a:pPr marL="0" lvl="0" indent="0" algn="l" rtl="0">
                        <a:spcBef>
                          <a:spcPts val="0"/>
                        </a:spcBef>
                        <a:spcAft>
                          <a:spcPts val="0"/>
                        </a:spcAft>
                        <a:buNone/>
                      </a:pPr>
                      <a:r>
                        <a:rPr lang="en-US" sz="1000"/>
                        <a:t>Retail Industry Leaders Association</a:t>
                      </a:r>
                      <a:endParaRPr sz="1000"/>
                    </a:p>
                    <a:p>
                      <a:pPr marL="457200" lvl="0" indent="-292100" algn="l" rtl="0">
                        <a:spcBef>
                          <a:spcPts val="0"/>
                        </a:spcBef>
                        <a:spcAft>
                          <a:spcPts val="0"/>
                        </a:spcAft>
                        <a:buSzPts val="1000"/>
                        <a:buChar char="-"/>
                      </a:pPr>
                      <a:r>
                        <a:rPr lang="en-US" sz="1000"/>
                        <a:t>Retail Innovation Center</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1000"/>
                        </a:spcBef>
                        <a:spcAft>
                          <a:spcPts val="0"/>
                        </a:spcAft>
                        <a:buNone/>
                      </a:pPr>
                      <a:r>
                        <a:rPr lang="en-US" sz="1000">
                          <a:solidFill>
                            <a:schemeClr val="dk1"/>
                          </a:solidFill>
                        </a:rPr>
                        <a:t>NRF Nexus: </a:t>
                      </a:r>
                      <a:r>
                        <a:rPr lang="en-US" sz="900" i="1">
                          <a:solidFill>
                            <a:schemeClr val="dk1"/>
                          </a:solidFill>
                        </a:rPr>
                        <a:t>July</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229425">
                <a:tc>
                  <a:txBody>
                    <a:bodyPr/>
                    <a:lstStyle/>
                    <a:p>
                      <a:pPr marL="0" lvl="0" indent="0" algn="l" rtl="0">
                        <a:spcBef>
                          <a:spcPts val="0"/>
                        </a:spcBef>
                        <a:spcAft>
                          <a:spcPts val="0"/>
                        </a:spcAft>
                        <a:buNone/>
                      </a:pPr>
                      <a:r>
                        <a:rPr lang="en-US" sz="1000"/>
                        <a:t>National Grocers Association</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eTail: </a:t>
                      </a:r>
                      <a:r>
                        <a:rPr lang="en-US" sz="900" i="1">
                          <a:solidFill>
                            <a:schemeClr val="dk1"/>
                          </a:solidFill>
                        </a:rPr>
                        <a:t>Palm Springs Feb 27-March 2</a:t>
                      </a:r>
                      <a:endParaRPr sz="900" i="1"/>
                    </a:p>
                  </a:txBody>
                  <a:tcPr marL="91425" marR="91425" marT="91425" marB="91425">
                    <a:lnL w="9525" cap="flat" cmpd="sng">
                      <a:solidFill>
                        <a:srgbClr val="9E9E9E"/>
                      </a:solidFill>
                      <a:prstDash val="solid"/>
                      <a:round/>
                      <a:headEnd type="none" w="sm" len="sm"/>
                      <a:tailEnd type="none" w="sm" len="sm"/>
                    </a:lnL>
                  </a:tcPr>
                </a:tc>
              </a:tr>
              <a:tr h="365725">
                <a:tc>
                  <a:txBody>
                    <a:bodyPr/>
                    <a:lstStyle/>
                    <a:p>
                      <a:pPr marL="0" lvl="0" indent="0" algn="l" rtl="0">
                        <a:spcBef>
                          <a:spcPts val="0"/>
                        </a:spcBef>
                        <a:spcAft>
                          <a:spcPts val="0"/>
                        </a:spcAft>
                        <a:buNone/>
                      </a:pPr>
                      <a:r>
                        <a:rPr lang="en-US" sz="1000"/>
                        <a:t>National Shoe Retailers Association</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ShopTalk: </a:t>
                      </a:r>
                      <a:r>
                        <a:rPr lang="en-US" sz="900" i="1">
                          <a:solidFill>
                            <a:schemeClr val="dk1"/>
                          </a:solidFill>
                        </a:rPr>
                        <a:t>March 26-29 - Las Vegas</a:t>
                      </a:r>
                      <a:endParaRPr sz="1200"/>
                    </a:p>
                  </a:txBody>
                  <a:tcPr marL="91425" marR="91425" marT="91425" marB="91425">
                    <a:lnL w="9525" cap="flat" cmpd="sng">
                      <a:solidFill>
                        <a:srgbClr val="9E9E9E"/>
                      </a:solidFill>
                      <a:prstDash val="solid"/>
                      <a:round/>
                      <a:headEnd type="none" w="sm" len="sm"/>
                      <a:tailEnd type="none" w="sm" len="sm"/>
                    </a:lnL>
                  </a:tcPr>
                </a:tc>
              </a:tr>
              <a:tr h="365725">
                <a:tc>
                  <a:txBody>
                    <a:bodyPr/>
                    <a:lstStyle/>
                    <a:p>
                      <a:pPr marL="0" lvl="0" indent="0" algn="l" rtl="0">
                        <a:spcBef>
                          <a:spcPts val="0"/>
                        </a:spcBef>
                        <a:spcAft>
                          <a:spcPts val="0"/>
                        </a:spcAft>
                        <a:buNone/>
                      </a:pPr>
                      <a:r>
                        <a:rPr lang="en-US" sz="1000"/>
                        <a:t>Retail Council of Canada</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Retail Innovation Conference </a:t>
                      </a:r>
                      <a:r>
                        <a:rPr lang="en-US" sz="900" i="1">
                          <a:solidFill>
                            <a:schemeClr val="dk1"/>
                          </a:solidFill>
                        </a:rPr>
                        <a:t>June 13-15 - Chicago</a:t>
                      </a:r>
                      <a:endParaRPr sz="1200"/>
                    </a:p>
                  </a:txBody>
                  <a:tcPr marL="91425" marR="91425" marT="91425" marB="91425">
                    <a:lnL w="9525" cap="flat" cmpd="sng">
                      <a:solidFill>
                        <a:srgbClr val="9E9E9E"/>
                      </a:solidFill>
                      <a:prstDash val="solid"/>
                      <a:round/>
                      <a:headEnd type="none" w="sm" len="sm"/>
                      <a:tailEnd type="none" w="sm" len="sm"/>
                    </a:lnL>
                  </a:tcPr>
                </a:tc>
              </a:tr>
              <a:tr h="365725">
                <a:tc>
                  <a:txBody>
                    <a:bodyPr/>
                    <a:lstStyle/>
                    <a:p>
                      <a:pPr marL="0" lvl="0" indent="0" algn="l" rtl="0">
                        <a:spcBef>
                          <a:spcPts val="0"/>
                        </a:spcBef>
                        <a:spcAft>
                          <a:spcPts val="0"/>
                        </a:spcAft>
                        <a:buNone/>
                      </a:pPr>
                      <a:r>
                        <a:rPr lang="en-US" sz="1000"/>
                        <a:t>Terry J. Lundgren Center for Retailing</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World Retail Conference: </a:t>
                      </a:r>
                      <a:r>
                        <a:rPr lang="en-US" sz="900" i="1">
                          <a:solidFill>
                            <a:schemeClr val="dk1"/>
                          </a:solidFill>
                        </a:rPr>
                        <a:t>Barcelona - April 25-27</a:t>
                      </a:r>
                      <a:endParaRPr sz="1200"/>
                    </a:p>
                  </a:txBody>
                  <a:tcPr marL="91425" marR="91425" marT="91425" marB="91425">
                    <a:lnL w="9525" cap="flat" cmpd="sng">
                      <a:solidFill>
                        <a:srgbClr val="9E9E9E"/>
                      </a:solidFill>
                      <a:prstDash val="solid"/>
                      <a:round/>
                      <a:headEnd type="none" w="sm" len="sm"/>
                      <a:tailEnd type="none" w="sm" len="sm"/>
                    </a:lnL>
                  </a:tcPr>
                </a:tc>
              </a:tr>
              <a:tr h="291700">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Global Retailing Ideas Summit - </a:t>
                      </a:r>
                      <a:r>
                        <a:rPr lang="en-US" sz="1000" i="1">
                          <a:solidFill>
                            <a:schemeClr val="dk1"/>
                          </a:solidFill>
                        </a:rPr>
                        <a:t>San Francisco March 16-17</a:t>
                      </a:r>
                      <a:endParaRPr sz="1000" i="1">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423525">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Future Stores Miami - March 5-7</a:t>
                      </a:r>
                      <a:endParaRPr sz="1000">
                        <a:solidFill>
                          <a:schemeClr val="dk1"/>
                        </a:solidFill>
                      </a:endParaRPr>
                    </a:p>
                    <a:p>
                      <a:pPr marL="0" lvl="0" indent="0" algn="l" rtl="0">
                        <a:spcBef>
                          <a:spcPts val="0"/>
                        </a:spcBef>
                        <a:spcAft>
                          <a:spcPts val="0"/>
                        </a:spcAft>
                        <a:buNone/>
                      </a:pPr>
                      <a:r>
                        <a:rPr lang="en-US" sz="1000">
                          <a:solidFill>
                            <a:schemeClr val="dk1"/>
                          </a:solidFill>
                        </a:rPr>
                        <a:t>Future Stores Seattle June 20-22</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225825">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GroceryShop - Las Vegas - Sept 18-21</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423525">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RCC Store 23 (Canada) Toronto - May 30-31</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423525">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NACS (Convenience &amp; Fuel Stores) </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bl>
          </a:graphicData>
        </a:graphic>
      </p:graphicFrame>
      <p:sp>
        <p:nvSpPr>
          <p:cNvPr id="1231" name="Google Shape;1231;p14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235" name="Shape 1235"/>
        <p:cNvGrpSpPr/>
        <p:nvPr/>
      </p:nvGrpSpPr>
      <p:grpSpPr>
        <a:xfrm>
          <a:off x="0" y="0"/>
          <a:ext cx="0" cy="0"/>
          <a:chOff x="0" y="0"/>
          <a:chExt cx="0" cy="0"/>
        </a:xfrm>
      </p:grpSpPr>
      <p:sp>
        <p:nvSpPr>
          <p:cNvPr id="1236" name="Google Shape;1236;p142"/>
          <p:cNvSpPr txBox="1"/>
          <p:nvPr>
            <p:ph type="title"/>
          </p:nvPr>
        </p:nvSpPr>
        <p:spPr>
          <a:xfrm>
            <a:off x="745425" y="784225"/>
            <a:ext cx="11157000" cy="1325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2"/>
              </a:buClr>
              <a:buSzPct val="133000"/>
              <a:buFont typeface="Calibri"/>
              <a:buNone/>
            </a:pPr>
            <a:r>
              <a:rPr lang="en-US" sz="3300">
                <a:solidFill>
                  <a:srgbClr val="073763"/>
                </a:solidFill>
              </a:rPr>
              <a:t>Event/Association Marketing </a:t>
            </a:r>
            <a:r>
              <a:rPr lang="en-US" sz="3300" b="0" i="1">
                <a:solidFill>
                  <a:srgbClr val="073763"/>
                </a:solidFill>
                <a:latin typeface="Calibri"/>
                <a:ea typeface="Calibri"/>
                <a:cs typeface="Calibri"/>
                <a:sym typeface="Calibri"/>
              </a:rPr>
              <a:t>Research Example - Marketing Calendar</a:t>
            </a:r>
            <a:endParaRPr b="0" i="1">
              <a:latin typeface="Calibri"/>
              <a:ea typeface="Calibri"/>
              <a:cs typeface="Calibri"/>
              <a:sym typeface="Calibri"/>
            </a:endParaRPr>
          </a:p>
          <a:p>
            <a:pPr marL="0" lvl="0" indent="0" algn="l" rtl="0">
              <a:lnSpc>
                <a:spcPct val="90000"/>
              </a:lnSpc>
              <a:spcBef>
                <a:spcPts val="0"/>
              </a:spcBef>
              <a:spcAft>
                <a:spcPts val="0"/>
              </a:spcAft>
              <a:buClr>
                <a:schemeClr val="accent2"/>
              </a:buClr>
              <a:buSzPct val="100000"/>
              <a:buFont typeface="Calibri"/>
              <a:buNone/>
            </a:pPr>
            <a:endParaRPr>
              <a:solidFill>
                <a:schemeClr val="accent5"/>
              </a:solidFill>
            </a:endParaRPr>
          </a:p>
        </p:txBody>
      </p:sp>
      <p:sp>
        <p:nvSpPr>
          <p:cNvPr id="1237" name="Google Shape;1237;p142"/>
          <p:cNvSpPr txBox="1"/>
          <p:nvPr>
            <p:ph type="body" idx="1"/>
          </p:nvPr>
        </p:nvSpPr>
        <p:spPr>
          <a:xfrm>
            <a:off x="183125" y="1776875"/>
            <a:ext cx="2547600" cy="4260600"/>
          </a:xfrm>
          <a:prstGeom prst="rect">
            <a:avLst/>
          </a:prstGeom>
          <a:noFill/>
          <a:ln>
            <a:noFill/>
          </a:ln>
        </p:spPr>
        <p:txBody>
          <a:bodyPr spcFirstLastPara="1" wrap="square" lIns="91425" tIns="45700" rIns="91425" bIns="45700" anchor="t" anchorCtr="0">
            <a:noAutofit/>
          </a:bodyPr>
          <a:lstStyle/>
          <a:p>
            <a:pPr marL="685800" lvl="1" indent="-228600" algn="l" rtl="0">
              <a:lnSpc>
                <a:spcPct val="130000"/>
              </a:lnSpc>
              <a:spcBef>
                <a:spcPts val="1000"/>
              </a:spcBef>
              <a:spcAft>
                <a:spcPts val="0"/>
              </a:spcAft>
              <a:buClr>
                <a:schemeClr val="accent2"/>
              </a:buClr>
              <a:buSzPts val="1800"/>
              <a:buFont typeface="Calibri"/>
              <a:buChar char="✔"/>
            </a:pPr>
            <a:r>
              <a:rPr lang="en-US" sz="1500"/>
              <a:t>Identify associations &amp; events focused on the Retail sector</a:t>
            </a:r>
            <a:endParaRPr sz="1500"/>
          </a:p>
          <a:p>
            <a:pPr marL="685800" lvl="1" indent="-209550" algn="l" rtl="0">
              <a:lnSpc>
                <a:spcPct val="130000"/>
              </a:lnSpc>
              <a:spcBef>
                <a:spcPts val="1000"/>
              </a:spcBef>
              <a:spcAft>
                <a:spcPts val="0"/>
              </a:spcAft>
              <a:buClr>
                <a:schemeClr val="accent2"/>
              </a:buClr>
              <a:buSzPts val="1500"/>
              <a:buFont typeface="Calibri"/>
              <a:buChar char="✔"/>
            </a:pPr>
            <a:r>
              <a:rPr lang="en-US" sz="1500"/>
              <a:t>Review opportunities &amp; fit to target market</a:t>
            </a:r>
            <a:endParaRPr sz="1500"/>
          </a:p>
          <a:p>
            <a:pPr marL="685800" lvl="1" indent="-209550" algn="l" rtl="0">
              <a:lnSpc>
                <a:spcPct val="130000"/>
              </a:lnSpc>
              <a:spcBef>
                <a:spcPts val="1000"/>
              </a:spcBef>
              <a:spcAft>
                <a:spcPts val="0"/>
              </a:spcAft>
              <a:buClr>
                <a:schemeClr val="accent2"/>
              </a:buClr>
              <a:buSzPts val="1500"/>
              <a:buFont typeface="Calibri"/>
              <a:buChar char="✔"/>
            </a:pPr>
            <a:r>
              <a:rPr lang="en-US" sz="1500"/>
              <a:t>Select associations to target</a:t>
            </a:r>
            <a:endParaRPr sz="1500"/>
          </a:p>
          <a:p>
            <a:pPr marL="0" lvl="0" indent="0" algn="l" rtl="0">
              <a:lnSpc>
                <a:spcPct val="130000"/>
              </a:lnSpc>
              <a:spcBef>
                <a:spcPts val="1000"/>
              </a:spcBef>
              <a:spcAft>
                <a:spcPts val="0"/>
              </a:spcAft>
              <a:buNone/>
            </a:pPr>
            <a:endParaRPr sz="1900"/>
          </a:p>
          <a:p>
            <a:pPr marL="685800" marR="0" lvl="0" indent="0" algn="l" rtl="0">
              <a:lnSpc>
                <a:spcPct val="100000"/>
              </a:lnSpc>
              <a:spcBef>
                <a:spcPts val="1000"/>
              </a:spcBef>
              <a:spcAft>
                <a:spcPts val="0"/>
              </a:spcAft>
              <a:buNone/>
            </a:pPr>
            <a:endParaRPr sz="1650"/>
          </a:p>
          <a:p>
            <a:pPr marL="0" lvl="0" indent="0" algn="l" rtl="0">
              <a:lnSpc>
                <a:spcPct val="100000"/>
              </a:lnSpc>
              <a:spcBef>
                <a:spcPts val="1000"/>
              </a:spcBef>
              <a:spcAft>
                <a:spcPts val="0"/>
              </a:spcAft>
              <a:buNone/>
            </a:pPr>
            <a:endParaRPr sz="1650"/>
          </a:p>
        </p:txBody>
      </p:sp>
      <p:graphicFrame>
        <p:nvGraphicFramePr>
          <p:cNvPr id="1238" name="Google Shape;1238;p142"/>
          <p:cNvGraphicFramePr/>
          <p:nvPr/>
        </p:nvGraphicFramePr>
        <p:xfrm>
          <a:off x="3154450" y="1444863"/>
          <a:ext cx="6765150" cy="4628375"/>
        </p:xfrm>
        <a:graphic>
          <a:graphicData uri="http://schemas.openxmlformats.org/drawingml/2006/table">
            <a:tbl>
              <a:tblPr>
                <a:noFill/>
                <a:tableStyleId>{72414FFC-F9EC-43E0-91B3-72DFC5CB316E}</a:tableStyleId>
              </a:tblPr>
              <a:tblGrid>
                <a:gridCol w="3543325"/>
                <a:gridCol w="3221825"/>
              </a:tblGrid>
              <a:tr h="353600">
                <a:tc>
                  <a:txBody>
                    <a:bodyPr/>
                    <a:lstStyle/>
                    <a:p>
                      <a:pPr marL="0" lvl="0" indent="0" algn="l" rtl="0">
                        <a:spcBef>
                          <a:spcPts val="0"/>
                        </a:spcBef>
                        <a:spcAft>
                          <a:spcPts val="0"/>
                        </a:spcAft>
                        <a:buNone/>
                      </a:pPr>
                      <a:r>
                        <a:rPr lang="en-US" sz="1200" b="1"/>
                        <a:t>Associations</a:t>
                      </a:r>
                      <a:endParaRPr sz="1200"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b="1"/>
                        <a:t>Events</a:t>
                      </a:r>
                      <a:endParaRPr sz="1200" b="1"/>
                    </a:p>
                  </a:txBody>
                  <a:tcPr marL="91425" marR="91425" marT="91425" marB="91425">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t>AdWeek (CMO focus areas)</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AdWeek NexTech - December</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208250">
                <a:tc>
                  <a:txBody>
                    <a:bodyPr/>
                    <a:lstStyle/>
                    <a:p>
                      <a:pPr marL="0" lvl="0" indent="0" algn="l" rtl="0">
                        <a:spcBef>
                          <a:spcPts val="0"/>
                        </a:spcBef>
                        <a:spcAft>
                          <a:spcPts val="0"/>
                        </a:spcAft>
                        <a:buSzPts val="1000"/>
                        <a:buNone/>
                      </a:pPr>
                      <a:r>
                        <a:rPr lang="en-US" sz="1000"/>
                        <a:t>ANA - Global CMO Growth Council</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Martech</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Clr>
                          <a:schemeClr val="dk1"/>
                        </a:buClr>
                        <a:buSzPts val="1100"/>
                        <a:buFont typeface="Arial" panose="020B0704020202020204"/>
                        <a:buNone/>
                      </a:pPr>
                      <a:r>
                        <a:rPr lang="en-US" sz="1000">
                          <a:solidFill>
                            <a:schemeClr val="dk1"/>
                          </a:solidFill>
                        </a:rPr>
                        <a:t>WSJ CMO Network</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ANA Masters of Data and Technology</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t>International Association of Digital Marketing Professionals</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Adobe Summit</a:t>
                      </a:r>
                      <a:endParaRPr sz="11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solidFill>
                            <a:schemeClr val="dk1"/>
                          </a:solidFill>
                        </a:rPr>
                        <a:t>Canadian Marketing Association</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Strategic Marketing 2023 - May 8-9, San Diego</a:t>
                      </a:r>
                      <a:endParaRPr sz="11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t>American Advertising Federation</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Content Marketing World</a:t>
                      </a:r>
                      <a:endParaRPr sz="11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t>American Marketing Association</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B2B Marketing Summit</a:t>
                      </a:r>
                      <a:endParaRPr sz="11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t>Direct Marketing Association</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Forrester B2B Summit</a:t>
                      </a:r>
                      <a:endParaRPr sz="11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38875">
                <a:tc>
                  <a:txBody>
                    <a:bodyPr/>
                    <a:lstStyle/>
                    <a:p>
                      <a:pPr marL="0" lvl="0" indent="0" algn="l" rtl="0">
                        <a:spcBef>
                          <a:spcPts val="0"/>
                        </a:spcBef>
                        <a:spcAft>
                          <a:spcPts val="0"/>
                        </a:spcAft>
                        <a:buNone/>
                      </a:pPr>
                      <a:r>
                        <a:rPr lang="en-US" sz="1000"/>
                        <a:t>World Business Forum</a:t>
                      </a: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100"/>
                        <a:t>Connect CMO Leadership Summit</a:t>
                      </a:r>
                      <a:endParaRPr sz="11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83075">
                <a:tc>
                  <a:txBody>
                    <a:bodyPr/>
                    <a:lstStyle/>
                    <a:p>
                      <a:pPr marL="0" lvl="0" indent="0" algn="l" rtl="0">
                        <a:spcBef>
                          <a:spcPts val="0"/>
                        </a:spcBef>
                        <a:spcAft>
                          <a:spcPts val="0"/>
                        </a:spcAft>
                        <a:buNone/>
                      </a:p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World Business Forum Marketing Summit</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tcPr>
                </a:tc>
              </a:tr>
              <a:tr h="324150">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Gartner Marketing Symposium</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324150">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Inbound - Hubspot</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r h="324150">
                <a:tc>
                  <a:txBody>
                    <a:bodyPr/>
                    <a:lstStyle/>
                    <a:p>
                      <a:pPr marL="0" lvl="0" indent="0" algn="l" rtl="0">
                        <a:spcBef>
                          <a:spcPts val="0"/>
                        </a:spcBef>
                        <a:spcAft>
                          <a:spcPts val="0"/>
                        </a:spcAft>
                        <a:buNone/>
                      </a:pPr>
                      <a:endParaRPr sz="10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000">
                          <a:solidFill>
                            <a:schemeClr val="dk1"/>
                          </a:solidFill>
                        </a:rPr>
                        <a:t>Social Media Marketing World</a:t>
                      </a:r>
                      <a:endParaRPr sz="1000">
                        <a:solidFill>
                          <a:schemeClr val="dk1"/>
                        </a:solidFill>
                      </a:endParaRPr>
                    </a:p>
                  </a:txBody>
                  <a:tcPr marL="91425" marR="91425" marT="91425" marB="91425">
                    <a:lnL w="9525" cap="flat" cmpd="sng">
                      <a:solidFill>
                        <a:srgbClr val="9E9E9E"/>
                      </a:solidFill>
                      <a:prstDash val="solid"/>
                      <a:round/>
                      <a:headEnd type="none" w="sm" len="sm"/>
                      <a:tailEnd type="none" w="sm" len="sm"/>
                    </a:lnL>
                  </a:tcPr>
                </a:tc>
              </a:tr>
            </a:tbl>
          </a:graphicData>
        </a:graphic>
      </p:graphicFrame>
      <p:sp>
        <p:nvSpPr>
          <p:cNvPr id="1239" name="Google Shape;1239;p14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243" name="Shape 1243"/>
        <p:cNvGrpSpPr/>
        <p:nvPr/>
      </p:nvGrpSpPr>
      <p:grpSpPr>
        <a:xfrm>
          <a:off x="0" y="0"/>
          <a:ext cx="0" cy="0"/>
          <a:chOff x="0" y="0"/>
          <a:chExt cx="0" cy="0"/>
        </a:xfrm>
      </p:grpSpPr>
      <p:sp>
        <p:nvSpPr>
          <p:cNvPr id="1244" name="Google Shape;1244;p143"/>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Association Marketing </a:t>
            </a:r>
            <a:r>
              <a:rPr lang="en-US" sz="3300" b="0" i="1">
                <a:solidFill>
                  <a:srgbClr val="073763"/>
                </a:solidFill>
                <a:latin typeface="Calibri"/>
                <a:ea typeface="Calibri"/>
                <a:cs typeface="Calibri"/>
                <a:sym typeface="Calibri"/>
              </a:rPr>
              <a:t>Recommendation</a:t>
            </a:r>
            <a:endParaRPr sz="3300" b="0" i="1">
              <a:solidFill>
                <a:srgbClr val="073763"/>
              </a:solidFill>
              <a:latin typeface="Calibri"/>
              <a:ea typeface="Calibri"/>
              <a:cs typeface="Calibri"/>
              <a:sym typeface="Calibri"/>
            </a:endParaRPr>
          </a:p>
        </p:txBody>
      </p:sp>
      <p:sp>
        <p:nvSpPr>
          <p:cNvPr id="1245" name="Google Shape;1245;p143"/>
          <p:cNvSpPr txBox="1"/>
          <p:nvPr>
            <p:ph type="body" idx="1"/>
          </p:nvPr>
        </p:nvSpPr>
        <p:spPr>
          <a:xfrm>
            <a:off x="941700" y="1641900"/>
            <a:ext cx="6891600" cy="4630200"/>
          </a:xfrm>
          <a:prstGeom prst="rect">
            <a:avLst/>
          </a:prstGeom>
          <a:noFill/>
          <a:ln>
            <a:noFill/>
          </a:ln>
        </p:spPr>
        <p:txBody>
          <a:bodyPr spcFirstLastPara="1" wrap="square" lIns="91425" tIns="45700" rIns="91425" bIns="45700" anchor="t" anchorCtr="0">
            <a:noAutofit/>
          </a:bodyPr>
          <a:lstStyle/>
          <a:p>
            <a:pPr marL="685800" marR="0" lvl="1" indent="-225425" algn="l" rtl="0">
              <a:lnSpc>
                <a:spcPct val="100000"/>
              </a:lnSpc>
              <a:spcBef>
                <a:spcPts val="1000"/>
              </a:spcBef>
              <a:spcAft>
                <a:spcPts val="0"/>
              </a:spcAft>
              <a:buClr>
                <a:schemeClr val="accent2"/>
              </a:buClr>
              <a:buSzPts val="1750"/>
              <a:buFont typeface="Calibri"/>
              <a:buChar char="✔"/>
            </a:pPr>
            <a:r>
              <a:rPr lang="en-US" sz="1750" b="1"/>
              <a:t>Associations:</a:t>
            </a:r>
            <a:endParaRPr sz="1750" b="1"/>
          </a:p>
          <a:p>
            <a:pPr marL="1143000" marR="0" lvl="2" indent="-225425" algn="l" rtl="0">
              <a:lnSpc>
                <a:spcPct val="100000"/>
              </a:lnSpc>
              <a:spcBef>
                <a:spcPts val="1000"/>
              </a:spcBef>
              <a:spcAft>
                <a:spcPts val="0"/>
              </a:spcAft>
              <a:buSzPts val="1750"/>
              <a:buChar char="•"/>
            </a:pPr>
            <a:r>
              <a:rPr lang="en-US" sz="1750"/>
              <a:t>Join 1 to 2 associations this year</a:t>
            </a:r>
            <a:endParaRPr sz="1750"/>
          </a:p>
          <a:p>
            <a:pPr marL="1600200" marR="0" lvl="3" indent="-225425" algn="l" rtl="0">
              <a:lnSpc>
                <a:spcPct val="100000"/>
              </a:lnSpc>
              <a:spcBef>
                <a:spcPts val="1000"/>
              </a:spcBef>
              <a:spcAft>
                <a:spcPts val="0"/>
              </a:spcAft>
              <a:buSzPts val="1750"/>
              <a:buChar char="•"/>
            </a:pPr>
            <a:r>
              <a:rPr lang="en-US" sz="1750"/>
              <a:t>The NRF</a:t>
            </a:r>
            <a:endParaRPr sz="1750"/>
          </a:p>
          <a:p>
            <a:pPr marL="1600200" marR="0" lvl="3" indent="-225425" algn="l" rtl="0">
              <a:lnSpc>
                <a:spcPct val="100000"/>
              </a:lnSpc>
              <a:spcBef>
                <a:spcPts val="1000"/>
              </a:spcBef>
              <a:spcAft>
                <a:spcPts val="0"/>
              </a:spcAft>
              <a:buSzPts val="1750"/>
              <a:buChar char="•"/>
            </a:pPr>
            <a:r>
              <a:rPr lang="en-US" sz="1750"/>
              <a:t>Retail Industry Leaders Association </a:t>
            </a:r>
            <a:endParaRPr sz="1750"/>
          </a:p>
          <a:p>
            <a:pPr marL="1143000" marR="0" lvl="2" indent="-225425" algn="l" rtl="0">
              <a:lnSpc>
                <a:spcPct val="100000"/>
              </a:lnSpc>
              <a:spcBef>
                <a:spcPts val="1000"/>
              </a:spcBef>
              <a:spcAft>
                <a:spcPts val="0"/>
              </a:spcAft>
              <a:buSzPts val="1750"/>
              <a:buChar char="•"/>
            </a:pPr>
            <a:r>
              <a:rPr lang="en-US" sz="1750"/>
              <a:t>Choose 1 to 2 association marketing activities this year</a:t>
            </a:r>
            <a:endParaRPr sz="1750"/>
          </a:p>
          <a:p>
            <a:pPr marL="1600200" marR="0" lvl="3" indent="-225425" algn="l" rtl="0">
              <a:lnSpc>
                <a:spcPct val="100000"/>
              </a:lnSpc>
              <a:spcBef>
                <a:spcPts val="1000"/>
              </a:spcBef>
              <a:spcAft>
                <a:spcPts val="0"/>
              </a:spcAft>
              <a:buSzPts val="1750"/>
              <a:buChar char="•"/>
            </a:pPr>
            <a:r>
              <a:rPr lang="en-US" sz="1750"/>
              <a:t>Recommend:</a:t>
            </a:r>
            <a:endParaRPr sz="1750"/>
          </a:p>
          <a:p>
            <a:pPr marL="2057400" marR="0" lvl="4" indent="-225425" algn="l" rtl="0">
              <a:lnSpc>
                <a:spcPct val="100000"/>
              </a:lnSpc>
              <a:spcBef>
                <a:spcPts val="1000"/>
              </a:spcBef>
              <a:spcAft>
                <a:spcPts val="0"/>
              </a:spcAft>
              <a:buSzPts val="1750"/>
              <a:buChar char="•"/>
            </a:pPr>
            <a:r>
              <a:rPr lang="en-US" sz="1750"/>
              <a:t>Advertising in the newsletter using a direct response ad driving back to the CrossCap landing page and leading into the new lead nurturing funnel</a:t>
            </a:r>
            <a:endParaRPr sz="1750"/>
          </a:p>
          <a:p>
            <a:pPr marL="2057400" marR="0" lvl="4" indent="-225425" algn="l" rtl="0">
              <a:lnSpc>
                <a:spcPct val="100000"/>
              </a:lnSpc>
              <a:spcBef>
                <a:spcPts val="1000"/>
              </a:spcBef>
              <a:spcAft>
                <a:spcPts val="0"/>
              </a:spcAft>
              <a:buSzPts val="1750"/>
              <a:buChar char="•"/>
            </a:pPr>
            <a:r>
              <a:rPr lang="en-US" sz="1750"/>
              <a:t>Contributing a news release or whitepaper, if possible</a:t>
            </a:r>
            <a:endParaRPr sz="1750"/>
          </a:p>
          <a:p>
            <a:pPr marL="685800" marR="0" lvl="0" indent="0" algn="l" rtl="0">
              <a:lnSpc>
                <a:spcPct val="100000"/>
              </a:lnSpc>
              <a:spcBef>
                <a:spcPts val="1000"/>
              </a:spcBef>
              <a:spcAft>
                <a:spcPts val="0"/>
              </a:spcAft>
              <a:buNone/>
            </a:pPr>
            <a:endParaRPr sz="1750"/>
          </a:p>
        </p:txBody>
      </p:sp>
      <p:sp>
        <p:nvSpPr>
          <p:cNvPr id="1246" name="Google Shape;1246;p14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pic>
        <p:nvPicPr>
          <p:cNvPr id="1247" name="Google Shape;1247;p143"/>
          <p:cNvPicPr preferRelativeResize="0"/>
          <p:nvPr/>
        </p:nvPicPr>
        <p:blipFill rotWithShape="1">
          <a:blip r:embed="rId1"/>
          <a:srcRect/>
          <a:stretch>
            <a:fillRect/>
          </a:stretch>
        </p:blipFill>
        <p:spPr>
          <a:xfrm>
            <a:off x="8232075" y="2002200"/>
            <a:ext cx="3271025" cy="3494351"/>
          </a:xfrm>
          <a:prstGeom prst="rect">
            <a:avLst/>
          </a:prstGeom>
          <a:noFill/>
          <a:ln>
            <a:noFill/>
          </a:ln>
        </p:spPr>
      </p:pic>
      <p:sp>
        <p:nvSpPr>
          <p:cNvPr id="1248" name="Google Shape;1248;p143"/>
          <p:cNvSpPr txBox="1"/>
          <p:nvPr/>
        </p:nvSpPr>
        <p:spPr>
          <a:xfrm>
            <a:off x="8460138" y="2296825"/>
            <a:ext cx="2814900" cy="31152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Insights:</a:t>
            </a:r>
            <a:endParaRPr sz="1800">
              <a:solidFill>
                <a:srgbClr val="434343"/>
              </a:solidFill>
            </a:endParaRPr>
          </a:p>
          <a:p>
            <a:pPr marL="285750" marR="0" lvl="0" indent="-29210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Recommend focusing 2023 on Retail events &amp; associations</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Ideal clients for both main products attend these events</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Opportunity to test association marketing &amp; systems while promoting both products</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Char char="●"/>
            </a:pPr>
            <a:r>
              <a:rPr lang="en-US" sz="1500">
                <a:solidFill>
                  <a:srgbClr val="434343"/>
                </a:solidFill>
                <a:latin typeface="Calibri"/>
                <a:ea typeface="Calibri"/>
                <a:cs typeface="Calibri"/>
                <a:sym typeface="Calibri"/>
              </a:rPr>
              <a:t>Move into more marketing focused events in 2024</a:t>
            </a: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252" name="Shape 1252"/>
        <p:cNvGrpSpPr/>
        <p:nvPr/>
      </p:nvGrpSpPr>
      <p:grpSpPr>
        <a:xfrm>
          <a:off x="0" y="0"/>
          <a:ext cx="0" cy="0"/>
          <a:chOff x="0" y="0"/>
          <a:chExt cx="0" cy="0"/>
        </a:xfrm>
      </p:grpSpPr>
      <p:sp>
        <p:nvSpPr>
          <p:cNvPr id="1253" name="Google Shape;1253;p144"/>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Recommended 2023 Associations &amp; Events: </a:t>
            </a:r>
            <a:r>
              <a:rPr lang="en-US" sz="3300" b="0" i="1">
                <a:solidFill>
                  <a:srgbClr val="073763"/>
                </a:solidFill>
                <a:latin typeface="Calibri"/>
                <a:ea typeface="Calibri"/>
                <a:cs typeface="Calibri"/>
                <a:sym typeface="Calibri"/>
              </a:rPr>
              <a:t>NRF</a:t>
            </a:r>
            <a:endParaRPr sz="3300" b="0" i="1">
              <a:solidFill>
                <a:srgbClr val="073763"/>
              </a:solidFill>
              <a:latin typeface="Calibri"/>
              <a:ea typeface="Calibri"/>
              <a:cs typeface="Calibri"/>
              <a:sym typeface="Calibri"/>
            </a:endParaRPr>
          </a:p>
        </p:txBody>
      </p:sp>
      <p:sp>
        <p:nvSpPr>
          <p:cNvPr id="1254" name="Google Shape;1254;p144"/>
          <p:cNvSpPr txBox="1"/>
          <p:nvPr>
            <p:ph type="body" idx="1"/>
          </p:nvPr>
        </p:nvSpPr>
        <p:spPr>
          <a:xfrm>
            <a:off x="1021400" y="1516825"/>
            <a:ext cx="8823600" cy="4630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2250" b="1">
                <a:solidFill>
                  <a:schemeClr val="accent2"/>
                </a:solidFill>
              </a:rPr>
              <a:t>Association Marketing - NRF:</a:t>
            </a:r>
            <a:endParaRPr sz="2250" b="1">
              <a:solidFill>
                <a:schemeClr val="accent2"/>
              </a:solidFill>
            </a:endParaRPr>
          </a:p>
          <a:p>
            <a:pPr marL="685800" marR="0" lvl="1" indent="-238125" algn="l" rtl="0">
              <a:lnSpc>
                <a:spcPct val="115000"/>
              </a:lnSpc>
              <a:spcBef>
                <a:spcPts val="0"/>
              </a:spcBef>
              <a:spcAft>
                <a:spcPts val="0"/>
              </a:spcAft>
              <a:buClr>
                <a:schemeClr val="accent2"/>
              </a:buClr>
              <a:buSzPts val="1950"/>
              <a:buFont typeface="Calibri"/>
              <a:buChar char="✔"/>
            </a:pPr>
            <a:r>
              <a:rPr lang="en-US" sz="1950"/>
              <a:t>Join the National Retail Federation as an Industry Partner Member ($2500)</a:t>
            </a:r>
            <a:endParaRPr sz="1950"/>
          </a:p>
          <a:p>
            <a:pPr marL="1143000" marR="0" lvl="2" indent="-238125" algn="l" rtl="0">
              <a:lnSpc>
                <a:spcPct val="115000"/>
              </a:lnSpc>
              <a:spcBef>
                <a:spcPts val="0"/>
              </a:spcBef>
              <a:spcAft>
                <a:spcPts val="0"/>
              </a:spcAft>
              <a:buSzPts val="1950"/>
              <a:buChar char="•"/>
            </a:pPr>
            <a:r>
              <a:rPr lang="en-US" sz="1950"/>
              <a:t>Benefits:</a:t>
            </a:r>
            <a:endParaRPr sz="1950"/>
          </a:p>
          <a:p>
            <a:pPr marL="1600200" marR="0" lvl="3" indent="-238125" algn="l" rtl="0">
              <a:lnSpc>
                <a:spcPct val="115000"/>
              </a:lnSpc>
              <a:spcBef>
                <a:spcPts val="0"/>
              </a:spcBef>
              <a:spcAft>
                <a:spcPts val="0"/>
              </a:spcAft>
              <a:buSzPts val="1950"/>
              <a:buChar char="•"/>
            </a:pPr>
            <a:r>
              <a:rPr lang="en-US" sz="1950"/>
              <a:t>Submit news releases, </a:t>
            </a:r>
            <a:r>
              <a:rPr lang="en-US" sz="1950"/>
              <a:t>research &amp; white papers for consideration</a:t>
            </a:r>
            <a:endParaRPr sz="1950"/>
          </a:p>
          <a:p>
            <a:pPr marL="1600200" marR="0" lvl="3" indent="-238125" algn="l" rtl="0">
              <a:lnSpc>
                <a:spcPct val="115000"/>
              </a:lnSpc>
              <a:spcBef>
                <a:spcPts val="0"/>
              </a:spcBef>
              <a:spcAft>
                <a:spcPts val="0"/>
              </a:spcAft>
              <a:buSzPts val="1950"/>
              <a:buChar char="•"/>
            </a:pPr>
            <a:r>
              <a:rPr lang="en-US" sz="1950"/>
              <a:t>Advertise in the NRF newsletter ($5,000)</a:t>
            </a:r>
            <a:endParaRPr sz="1950"/>
          </a:p>
          <a:p>
            <a:pPr marL="1600200" marR="0" lvl="3" indent="-238125" algn="l" rtl="0">
              <a:lnSpc>
                <a:spcPct val="115000"/>
              </a:lnSpc>
              <a:spcBef>
                <a:spcPts val="0"/>
              </a:spcBef>
              <a:spcAft>
                <a:spcPts val="0"/>
              </a:spcAft>
              <a:buSzPts val="1950"/>
              <a:buChar char="•"/>
            </a:pPr>
            <a:r>
              <a:rPr lang="en-US" sz="1950"/>
              <a:t>Email targeted members</a:t>
            </a:r>
            <a:endParaRPr sz="1950"/>
          </a:p>
          <a:p>
            <a:pPr marL="1600200" marR="0" lvl="3" indent="-238125" algn="l" rtl="0">
              <a:lnSpc>
                <a:spcPct val="115000"/>
              </a:lnSpc>
              <a:spcBef>
                <a:spcPts val="0"/>
              </a:spcBef>
              <a:spcAft>
                <a:spcPts val="0"/>
              </a:spcAft>
              <a:buSzPts val="1950"/>
              <a:buChar char="•"/>
            </a:pPr>
            <a:r>
              <a:rPr lang="en-US" sz="1950"/>
              <a:t>Reduced fees for events &amp; partnerships</a:t>
            </a:r>
            <a:endParaRPr sz="1950"/>
          </a:p>
          <a:p>
            <a:pPr marL="1600200" marR="0" lvl="0" indent="0" algn="l" rtl="0">
              <a:lnSpc>
                <a:spcPct val="115000"/>
              </a:lnSpc>
              <a:spcBef>
                <a:spcPts val="0"/>
              </a:spcBef>
              <a:spcAft>
                <a:spcPts val="0"/>
              </a:spcAft>
              <a:buNone/>
            </a:pPr>
            <a:endParaRPr sz="1950"/>
          </a:p>
          <a:p>
            <a:pPr marL="685800" marR="0" lvl="1" indent="-238125" algn="l" rtl="0">
              <a:lnSpc>
                <a:spcPct val="115000"/>
              </a:lnSpc>
              <a:spcBef>
                <a:spcPts val="0"/>
              </a:spcBef>
              <a:spcAft>
                <a:spcPts val="0"/>
              </a:spcAft>
              <a:buClr>
                <a:schemeClr val="accent2"/>
              </a:buClr>
              <a:buSzPts val="1950"/>
              <a:buFont typeface="Calibri"/>
              <a:buChar char="✔"/>
            </a:pPr>
            <a:r>
              <a:rPr lang="en-US" sz="1950"/>
              <a:t>Sponsor the NRF Retail Industry Leadership Series (est. $5,000 to $15,000)</a:t>
            </a:r>
            <a:endParaRPr sz="1950"/>
          </a:p>
          <a:p>
            <a:pPr marL="1143000" marR="0" lvl="2" indent="-238125" algn="l" rtl="0">
              <a:lnSpc>
                <a:spcPct val="115000"/>
              </a:lnSpc>
              <a:spcBef>
                <a:spcPts val="0"/>
              </a:spcBef>
              <a:spcAft>
                <a:spcPts val="0"/>
              </a:spcAft>
              <a:buSzPts val="1950"/>
              <a:buChar char="•"/>
            </a:pPr>
            <a:r>
              <a:rPr lang="en-US" sz="1950"/>
              <a:t>Includes recognition by email, social media before and after event, and during webinar</a:t>
            </a:r>
            <a:endParaRPr sz="1950"/>
          </a:p>
          <a:p>
            <a:pPr marL="1143000" marR="0" lvl="0" indent="0" algn="l" rtl="0">
              <a:lnSpc>
                <a:spcPct val="100000"/>
              </a:lnSpc>
              <a:spcBef>
                <a:spcPts val="1000"/>
              </a:spcBef>
              <a:spcAft>
                <a:spcPts val="0"/>
              </a:spcAft>
              <a:buNone/>
            </a:pPr>
            <a:endParaRPr sz="1550"/>
          </a:p>
        </p:txBody>
      </p:sp>
      <p:sp>
        <p:nvSpPr>
          <p:cNvPr id="1255" name="Google Shape;1255;p14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259" name="Shape 1259"/>
        <p:cNvGrpSpPr/>
        <p:nvPr/>
      </p:nvGrpSpPr>
      <p:grpSpPr>
        <a:xfrm>
          <a:off x="0" y="0"/>
          <a:ext cx="0" cy="0"/>
          <a:chOff x="0" y="0"/>
          <a:chExt cx="0" cy="0"/>
        </a:xfrm>
      </p:grpSpPr>
      <p:sp>
        <p:nvSpPr>
          <p:cNvPr id="1260" name="Google Shape;1260;p145"/>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Event Marketing </a:t>
            </a:r>
            <a:r>
              <a:rPr lang="en-US" sz="3300" b="0" i="1">
                <a:solidFill>
                  <a:srgbClr val="073763"/>
                </a:solidFill>
                <a:latin typeface="Calibri"/>
                <a:ea typeface="Calibri"/>
                <a:cs typeface="Calibri"/>
                <a:sym typeface="Calibri"/>
              </a:rPr>
              <a:t>Recommendation</a:t>
            </a:r>
            <a:r>
              <a:rPr lang="en-US" sz="3300" b="0" i="1">
                <a:solidFill>
                  <a:srgbClr val="073763"/>
                </a:solidFill>
                <a:latin typeface="Calibri"/>
                <a:ea typeface="Calibri"/>
                <a:cs typeface="Calibri"/>
                <a:sym typeface="Calibri"/>
              </a:rPr>
              <a:t> </a:t>
            </a:r>
            <a:endParaRPr sz="3300" b="0" i="1">
              <a:solidFill>
                <a:srgbClr val="073763"/>
              </a:solidFill>
              <a:latin typeface="Calibri"/>
              <a:ea typeface="Calibri"/>
              <a:cs typeface="Calibri"/>
              <a:sym typeface="Calibri"/>
            </a:endParaRPr>
          </a:p>
        </p:txBody>
      </p:sp>
      <p:sp>
        <p:nvSpPr>
          <p:cNvPr id="1261" name="Google Shape;1261;p145"/>
          <p:cNvSpPr txBox="1"/>
          <p:nvPr>
            <p:ph type="body" idx="1"/>
          </p:nvPr>
        </p:nvSpPr>
        <p:spPr>
          <a:xfrm>
            <a:off x="920850" y="1440625"/>
            <a:ext cx="10695300" cy="4630200"/>
          </a:xfrm>
          <a:prstGeom prst="rect">
            <a:avLst/>
          </a:prstGeom>
          <a:noFill/>
          <a:ln>
            <a:noFill/>
          </a:ln>
        </p:spPr>
        <p:txBody>
          <a:bodyPr spcFirstLastPara="1" wrap="square" lIns="91425" tIns="45700" rIns="91425" bIns="45700" anchor="t" anchorCtr="0">
            <a:noAutofit/>
          </a:bodyPr>
          <a:lstStyle/>
          <a:p>
            <a:pPr marL="685800" marR="0" lvl="1" indent="-212725" algn="l" rtl="0">
              <a:lnSpc>
                <a:spcPct val="100000"/>
              </a:lnSpc>
              <a:spcBef>
                <a:spcPts val="1000"/>
              </a:spcBef>
              <a:spcAft>
                <a:spcPts val="0"/>
              </a:spcAft>
              <a:buClr>
                <a:schemeClr val="accent2"/>
              </a:buClr>
              <a:buSzPts val="1550"/>
              <a:buFont typeface="Calibri"/>
              <a:buChar char="✔"/>
            </a:pPr>
            <a:r>
              <a:rPr lang="en-US" sz="1550"/>
              <a:t>Events:</a:t>
            </a:r>
            <a:endParaRPr sz="1550"/>
          </a:p>
          <a:p>
            <a:pPr marL="1143000" marR="0" lvl="2" indent="-206375" algn="l" rtl="0">
              <a:lnSpc>
                <a:spcPct val="100000"/>
              </a:lnSpc>
              <a:spcBef>
                <a:spcPts val="1000"/>
              </a:spcBef>
              <a:spcAft>
                <a:spcPts val="0"/>
              </a:spcAft>
              <a:buSzPts val="1450"/>
              <a:buChar char="•"/>
            </a:pPr>
            <a:r>
              <a:rPr lang="en-US" sz="1450"/>
              <a:t>Attend 1 to 3 events this year</a:t>
            </a:r>
            <a:endParaRPr sz="1450"/>
          </a:p>
          <a:p>
            <a:pPr marL="1600200" marR="0" lvl="3" indent="-206375" algn="l" rtl="0">
              <a:lnSpc>
                <a:spcPct val="100000"/>
              </a:lnSpc>
              <a:spcBef>
                <a:spcPts val="1000"/>
              </a:spcBef>
              <a:spcAft>
                <a:spcPts val="0"/>
              </a:spcAft>
              <a:buSzPts val="1450"/>
              <a:buChar char="•"/>
            </a:pPr>
            <a:r>
              <a:rPr lang="en-US" sz="1450"/>
              <a:t>Recommend NRF Nexus (attendance + sponsorship) $15 to 35,000</a:t>
            </a:r>
            <a:endParaRPr sz="1450"/>
          </a:p>
          <a:p>
            <a:pPr marL="1600200" marR="0" lvl="3" indent="-206375" algn="l" rtl="0">
              <a:lnSpc>
                <a:spcPct val="100000"/>
              </a:lnSpc>
              <a:spcBef>
                <a:spcPts val="1000"/>
              </a:spcBef>
              <a:spcAft>
                <a:spcPts val="0"/>
              </a:spcAft>
              <a:buSzPts val="1450"/>
              <a:buChar char="•"/>
            </a:pPr>
            <a:r>
              <a:rPr lang="en-US" sz="1450"/>
              <a:t>Retail Innovation Expo (booth + marketing)</a:t>
            </a:r>
            <a:endParaRPr sz="1450"/>
          </a:p>
          <a:p>
            <a:pPr marL="1600200" marR="0" lvl="3" indent="-206375" algn="l" rtl="0">
              <a:lnSpc>
                <a:spcPct val="100000"/>
              </a:lnSpc>
              <a:spcBef>
                <a:spcPts val="1000"/>
              </a:spcBef>
              <a:spcAft>
                <a:spcPts val="0"/>
              </a:spcAft>
              <a:buSzPts val="1450"/>
              <a:buChar char="•"/>
            </a:pPr>
            <a:r>
              <a:rPr lang="en-US" sz="1450"/>
              <a:t>FutureStores (booth + marketing)</a:t>
            </a:r>
            <a:endParaRPr sz="1450"/>
          </a:p>
          <a:p>
            <a:pPr marL="1600200" marR="0" lvl="3" indent="-206375" algn="l" rtl="0">
              <a:lnSpc>
                <a:spcPct val="100000"/>
              </a:lnSpc>
              <a:spcBef>
                <a:spcPts val="1000"/>
              </a:spcBef>
              <a:spcAft>
                <a:spcPts val="0"/>
              </a:spcAft>
              <a:buSzPts val="1450"/>
              <a:buChar char="•"/>
            </a:pPr>
            <a:r>
              <a:rPr lang="en-US" sz="1450" i="1"/>
              <a:t>Note: the NRF Big Show is ideal but happening next week</a:t>
            </a:r>
            <a:endParaRPr sz="1450" i="1"/>
          </a:p>
          <a:p>
            <a:pPr marL="1143000" marR="0" lvl="2" indent="-206375" algn="l" rtl="0">
              <a:lnSpc>
                <a:spcPct val="100000"/>
              </a:lnSpc>
              <a:spcBef>
                <a:spcPts val="1000"/>
              </a:spcBef>
              <a:spcAft>
                <a:spcPts val="0"/>
              </a:spcAft>
              <a:buSzPts val="1450"/>
              <a:buChar char="•"/>
            </a:pPr>
            <a:r>
              <a:rPr lang="en-US" sz="1450"/>
              <a:t>Create an integrated event marketing strategy including:</a:t>
            </a:r>
            <a:endParaRPr sz="1450"/>
          </a:p>
          <a:p>
            <a:pPr marL="1600200" marR="0" lvl="3" indent="-212725" algn="l" rtl="0">
              <a:lnSpc>
                <a:spcPct val="100000"/>
              </a:lnSpc>
              <a:spcBef>
                <a:spcPts val="1000"/>
              </a:spcBef>
              <a:spcAft>
                <a:spcPts val="0"/>
              </a:spcAft>
              <a:buSzPts val="1550"/>
              <a:buChar char="•"/>
            </a:pPr>
            <a:r>
              <a:rPr lang="en-US" sz="1450"/>
              <a:t>Website marketing page for the conference (see example: </a:t>
            </a:r>
            <a:r>
              <a:rPr lang="en-US" sz="1250" u="sng">
                <a:solidFill>
                  <a:schemeClr val="hlink"/>
                </a:solidFill>
                <a:hlinkClick r:id="rId1"/>
              </a:rPr>
              <a:t>https://www.elasticpath.com/resources/events/nrf-2023</a:t>
            </a:r>
            <a:r>
              <a:rPr lang="en-US" sz="1450"/>
              <a:t>)</a:t>
            </a:r>
            <a:endParaRPr sz="1450"/>
          </a:p>
          <a:p>
            <a:pPr marL="1600200" marR="0" lvl="3" indent="-206375" algn="l" rtl="0">
              <a:lnSpc>
                <a:spcPct val="100000"/>
              </a:lnSpc>
              <a:spcBef>
                <a:spcPts val="1000"/>
              </a:spcBef>
              <a:spcAft>
                <a:spcPts val="0"/>
              </a:spcAft>
              <a:buSzPts val="1450"/>
              <a:buChar char="•"/>
            </a:pPr>
            <a:r>
              <a:rPr lang="en-US" sz="1450"/>
              <a:t>News release announcing conference sponsorship or attendance</a:t>
            </a:r>
            <a:endParaRPr sz="1450"/>
          </a:p>
          <a:p>
            <a:pPr marL="1600200" marR="0" lvl="3" indent="-206375" algn="l" rtl="0">
              <a:lnSpc>
                <a:spcPct val="100000"/>
              </a:lnSpc>
              <a:spcBef>
                <a:spcPts val="1000"/>
              </a:spcBef>
              <a:spcAft>
                <a:spcPts val="0"/>
              </a:spcAft>
              <a:buSzPts val="1450"/>
              <a:buChar char="•"/>
            </a:pPr>
            <a:r>
              <a:rPr lang="en-US" sz="1450"/>
              <a:t>Key call to action: Download an important whitepaper</a:t>
            </a:r>
            <a:endParaRPr sz="1450"/>
          </a:p>
          <a:p>
            <a:pPr marL="1600200" marR="0" lvl="3" indent="-206375" algn="l" rtl="0">
              <a:lnSpc>
                <a:spcPct val="100000"/>
              </a:lnSpc>
              <a:spcBef>
                <a:spcPts val="1000"/>
              </a:spcBef>
              <a:spcAft>
                <a:spcPts val="0"/>
              </a:spcAft>
              <a:buSzPts val="1450"/>
              <a:buChar char="•"/>
            </a:pPr>
            <a:r>
              <a:rPr lang="en-US" sz="1450"/>
              <a:t>Booth with B2B marketing materials and CTA (for Retail Innovation Expo - no booth for NRF Nexus)</a:t>
            </a:r>
            <a:endParaRPr sz="1450"/>
          </a:p>
          <a:p>
            <a:pPr marL="1600200" marR="0" lvl="3" indent="-206375" algn="l" rtl="0">
              <a:lnSpc>
                <a:spcPct val="100000"/>
              </a:lnSpc>
              <a:spcBef>
                <a:spcPts val="1000"/>
              </a:spcBef>
              <a:spcAft>
                <a:spcPts val="0"/>
              </a:spcAft>
              <a:buSzPts val="1450"/>
              <a:buChar char="•"/>
            </a:pPr>
            <a:r>
              <a:rPr lang="en-US" sz="1450"/>
              <a:t>Pre and post show mailing lists - driving to the website whitepaper download and nurture sequence</a:t>
            </a:r>
            <a:endParaRPr sz="1450"/>
          </a:p>
          <a:p>
            <a:pPr marL="1600200" marR="0" lvl="3" indent="-206375" algn="l" rtl="0">
              <a:lnSpc>
                <a:spcPct val="100000"/>
              </a:lnSpc>
              <a:spcBef>
                <a:spcPts val="1000"/>
              </a:spcBef>
              <a:spcAft>
                <a:spcPts val="0"/>
              </a:spcAft>
              <a:buSzPts val="1450"/>
              <a:buChar char="•"/>
            </a:pPr>
            <a:r>
              <a:rPr lang="en-US" sz="1450"/>
              <a:t>Brochure in attendee bag (driving back to whitepaper download &amp; nurture sequence)</a:t>
            </a:r>
            <a:endParaRPr sz="1450"/>
          </a:p>
          <a:p>
            <a:pPr marL="1600200" marR="0" lvl="3" indent="-206375" algn="l" rtl="0">
              <a:lnSpc>
                <a:spcPct val="100000"/>
              </a:lnSpc>
              <a:spcBef>
                <a:spcPts val="1000"/>
              </a:spcBef>
              <a:spcAft>
                <a:spcPts val="0"/>
              </a:spcAft>
              <a:buSzPts val="1450"/>
              <a:buChar char="•"/>
            </a:pPr>
            <a:r>
              <a:rPr lang="en-US" sz="1450"/>
              <a:t>Holding an event, if possible (NRF big show)</a:t>
            </a:r>
            <a:endParaRPr sz="1450"/>
          </a:p>
        </p:txBody>
      </p:sp>
      <p:sp>
        <p:nvSpPr>
          <p:cNvPr id="1262" name="Google Shape;1262;p14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266" name="Shape 1266"/>
        <p:cNvGrpSpPr/>
        <p:nvPr/>
      </p:nvGrpSpPr>
      <p:grpSpPr>
        <a:xfrm>
          <a:off x="0" y="0"/>
          <a:ext cx="0" cy="0"/>
          <a:chOff x="0" y="0"/>
          <a:chExt cx="0" cy="0"/>
        </a:xfrm>
      </p:grpSpPr>
      <p:sp>
        <p:nvSpPr>
          <p:cNvPr id="1267" name="Google Shape;1267;p146"/>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Recommended 2023 Associations &amp; Events: </a:t>
            </a:r>
            <a:r>
              <a:rPr lang="en-US" sz="3300" b="0" i="1">
                <a:solidFill>
                  <a:srgbClr val="073763"/>
                </a:solidFill>
                <a:latin typeface="Calibri"/>
                <a:ea typeface="Calibri"/>
                <a:cs typeface="Calibri"/>
                <a:sym typeface="Calibri"/>
              </a:rPr>
              <a:t>NRF</a:t>
            </a:r>
            <a:endParaRPr sz="3300" b="0" i="1">
              <a:solidFill>
                <a:srgbClr val="073763"/>
              </a:solidFill>
              <a:latin typeface="Calibri"/>
              <a:ea typeface="Calibri"/>
              <a:cs typeface="Calibri"/>
              <a:sym typeface="Calibri"/>
            </a:endParaRPr>
          </a:p>
        </p:txBody>
      </p:sp>
      <p:sp>
        <p:nvSpPr>
          <p:cNvPr id="1268" name="Google Shape;1268;p146"/>
          <p:cNvSpPr txBox="1"/>
          <p:nvPr>
            <p:ph type="body" idx="1"/>
          </p:nvPr>
        </p:nvSpPr>
        <p:spPr>
          <a:xfrm>
            <a:off x="456250" y="1491475"/>
            <a:ext cx="10607700" cy="4630200"/>
          </a:xfrm>
          <a:prstGeom prst="rect">
            <a:avLst/>
          </a:prstGeom>
          <a:noFill/>
          <a:ln>
            <a:noFill/>
          </a:ln>
        </p:spPr>
        <p:txBody>
          <a:bodyPr spcFirstLastPara="1" wrap="square" lIns="91425" tIns="45700" rIns="91425" bIns="45700" anchor="t" anchorCtr="0">
            <a:noAutofit/>
          </a:bodyPr>
          <a:lstStyle/>
          <a:p>
            <a:pPr marL="800100" marR="0" lvl="1" indent="-212725" algn="l" rtl="0">
              <a:lnSpc>
                <a:spcPct val="100000"/>
              </a:lnSpc>
              <a:spcBef>
                <a:spcPts val="1000"/>
              </a:spcBef>
              <a:spcAft>
                <a:spcPts val="0"/>
              </a:spcAft>
              <a:buClr>
                <a:schemeClr val="accent2"/>
              </a:buClr>
              <a:buSzPts val="1550"/>
              <a:buFont typeface="Calibri"/>
              <a:buChar char="✔"/>
            </a:pPr>
            <a:r>
              <a:rPr lang="en-US" sz="1550"/>
              <a:t>Sponsor the NRF Nexus Event (July 10-12 - Rancho Palos Verdes, California)</a:t>
            </a:r>
            <a:endParaRPr sz="1550"/>
          </a:p>
          <a:p>
            <a:pPr marL="1143000" lvl="2" indent="-212725" algn="l" rtl="0">
              <a:lnSpc>
                <a:spcPct val="115000"/>
              </a:lnSpc>
              <a:spcBef>
                <a:spcPts val="0"/>
              </a:spcBef>
              <a:spcAft>
                <a:spcPts val="0"/>
              </a:spcAft>
              <a:buSzPts val="1550"/>
              <a:buChar char="•"/>
            </a:pPr>
            <a:r>
              <a:rPr lang="en-US" sz="1550"/>
              <a:t>NRF Nexus represents a unique gathering of 300 decision-makers from leading retail organizations across marketing, technology and digital.</a:t>
            </a:r>
            <a:endParaRPr sz="1550"/>
          </a:p>
          <a:p>
            <a:pPr marL="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1143000" marR="0" lvl="0" indent="0" algn="l" rtl="0">
              <a:lnSpc>
                <a:spcPct val="115000"/>
              </a:lnSpc>
              <a:spcBef>
                <a:spcPts val="0"/>
              </a:spcBef>
              <a:spcAft>
                <a:spcPts val="0"/>
              </a:spcAft>
              <a:buNone/>
            </a:pPr>
            <a:endParaRPr sz="1550"/>
          </a:p>
          <a:p>
            <a:pPr marL="685800" marR="0" lvl="1" indent="-200025" algn="l" rtl="0">
              <a:lnSpc>
                <a:spcPct val="115000"/>
              </a:lnSpc>
              <a:spcBef>
                <a:spcPts val="0"/>
              </a:spcBef>
              <a:spcAft>
                <a:spcPts val="0"/>
              </a:spcAft>
              <a:buClr>
                <a:schemeClr val="accent2"/>
              </a:buClr>
              <a:buSzPts val="1350"/>
              <a:buFont typeface="Calibri"/>
              <a:buChar char="✔"/>
            </a:pPr>
            <a:r>
              <a:rPr lang="en-US" sz="1350" i="1"/>
              <a:t>Note: the NRF Big Show is ideal </a:t>
            </a:r>
            <a:br>
              <a:rPr lang="en-US" sz="1350" i="1"/>
            </a:br>
            <a:r>
              <a:rPr lang="en-US" sz="1350" i="1"/>
              <a:t>but happening next week - </a:t>
            </a:r>
            <a:br>
              <a:rPr lang="en-US" sz="1350" i="1"/>
            </a:br>
            <a:r>
              <a:rPr lang="en-US" sz="1350" i="1"/>
              <a:t>recommend attending in January 2024</a:t>
            </a:r>
            <a:endParaRPr sz="1350" i="1"/>
          </a:p>
          <a:p>
            <a:pPr marL="1143000" marR="0" lvl="0" indent="0" algn="l" rtl="0">
              <a:lnSpc>
                <a:spcPct val="100000"/>
              </a:lnSpc>
              <a:spcBef>
                <a:spcPts val="1000"/>
              </a:spcBef>
              <a:spcAft>
                <a:spcPts val="0"/>
              </a:spcAft>
              <a:buNone/>
            </a:pPr>
            <a:endParaRPr sz="1550"/>
          </a:p>
        </p:txBody>
      </p:sp>
      <p:sp>
        <p:nvSpPr>
          <p:cNvPr id="1269" name="Google Shape;1269;p14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pic>
        <p:nvPicPr>
          <p:cNvPr id="1270" name="Google Shape;1270;p146"/>
          <p:cNvPicPr preferRelativeResize="0"/>
          <p:nvPr/>
        </p:nvPicPr>
        <p:blipFill>
          <a:blip r:embed="rId1"/>
          <a:stretch>
            <a:fillRect/>
          </a:stretch>
        </p:blipFill>
        <p:spPr>
          <a:xfrm>
            <a:off x="8359075" y="2690950"/>
            <a:ext cx="3721322" cy="3664400"/>
          </a:xfrm>
          <a:prstGeom prst="rect">
            <a:avLst/>
          </a:prstGeom>
          <a:noFill/>
          <a:ln>
            <a:noFill/>
          </a:ln>
        </p:spPr>
      </p:pic>
      <p:pic>
        <p:nvPicPr>
          <p:cNvPr id="1271" name="Google Shape;1271;p146"/>
          <p:cNvPicPr preferRelativeResize="0"/>
          <p:nvPr/>
        </p:nvPicPr>
        <p:blipFill>
          <a:blip r:embed="rId2"/>
          <a:stretch>
            <a:fillRect/>
          </a:stretch>
        </p:blipFill>
        <p:spPr>
          <a:xfrm>
            <a:off x="3933300" y="2675475"/>
            <a:ext cx="4247124" cy="36644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275" name="Shape 1275"/>
        <p:cNvGrpSpPr/>
        <p:nvPr/>
      </p:nvGrpSpPr>
      <p:grpSpPr>
        <a:xfrm>
          <a:off x="0" y="0"/>
          <a:ext cx="0" cy="0"/>
          <a:chOff x="0" y="0"/>
          <a:chExt cx="0" cy="0"/>
        </a:xfrm>
      </p:grpSpPr>
      <p:sp>
        <p:nvSpPr>
          <p:cNvPr id="1276" name="Google Shape;1276;p147"/>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NRF Nexus Sample Marketing Plan:</a:t>
            </a:r>
            <a:endParaRPr sz="3300" b="0" i="1">
              <a:solidFill>
                <a:srgbClr val="073763"/>
              </a:solidFill>
              <a:latin typeface="Calibri"/>
              <a:ea typeface="Calibri"/>
              <a:cs typeface="Calibri"/>
              <a:sym typeface="Calibri"/>
            </a:endParaRPr>
          </a:p>
        </p:txBody>
      </p:sp>
      <p:sp>
        <p:nvSpPr>
          <p:cNvPr id="1277" name="Google Shape;1277;p147"/>
          <p:cNvSpPr txBox="1"/>
          <p:nvPr>
            <p:ph type="body" idx="1"/>
          </p:nvPr>
        </p:nvSpPr>
        <p:spPr>
          <a:xfrm>
            <a:off x="456250" y="1339075"/>
            <a:ext cx="10607700" cy="4630200"/>
          </a:xfrm>
          <a:prstGeom prst="rect">
            <a:avLst/>
          </a:prstGeom>
          <a:noFill/>
          <a:ln>
            <a:noFill/>
          </a:ln>
        </p:spPr>
        <p:txBody>
          <a:bodyPr spcFirstLastPara="1" wrap="square" lIns="91425" tIns="45700" rIns="91425" bIns="45700" anchor="t" anchorCtr="0">
            <a:noAutofit/>
          </a:bodyPr>
          <a:lstStyle/>
          <a:p>
            <a:pPr marL="0" lvl="0" indent="457200" algn="l" rtl="0">
              <a:lnSpc>
                <a:spcPct val="115000"/>
              </a:lnSpc>
              <a:spcBef>
                <a:spcPts val="0"/>
              </a:spcBef>
              <a:spcAft>
                <a:spcPts val="0"/>
              </a:spcAft>
              <a:buNone/>
            </a:pPr>
            <a:endParaRPr sz="1850" b="1">
              <a:solidFill>
                <a:schemeClr val="accent2"/>
              </a:solidFill>
            </a:endParaRPr>
          </a:p>
          <a:p>
            <a:pPr marL="1143000" lvl="0" indent="0" algn="l" rtl="0">
              <a:lnSpc>
                <a:spcPct val="115000"/>
              </a:lnSpc>
              <a:spcBef>
                <a:spcPts val="0"/>
              </a:spcBef>
              <a:spcAft>
                <a:spcPts val="0"/>
              </a:spcAft>
              <a:buNone/>
            </a:pPr>
            <a:endParaRPr sz="1350" i="1"/>
          </a:p>
          <a:p>
            <a:pPr marL="1143000" marR="0" lvl="0" indent="0" algn="l" rtl="0">
              <a:lnSpc>
                <a:spcPct val="100000"/>
              </a:lnSpc>
              <a:spcBef>
                <a:spcPts val="1000"/>
              </a:spcBef>
              <a:spcAft>
                <a:spcPts val="0"/>
              </a:spcAft>
              <a:buNone/>
            </a:pPr>
            <a:endParaRPr sz="1550"/>
          </a:p>
        </p:txBody>
      </p:sp>
      <p:sp>
        <p:nvSpPr>
          <p:cNvPr id="1278" name="Google Shape;1278;p14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sp>
        <p:nvSpPr>
          <p:cNvPr id="1279" name="Google Shape;1279;p147"/>
          <p:cNvSpPr txBox="1"/>
          <p:nvPr>
            <p:ph type="body" idx="1"/>
          </p:nvPr>
        </p:nvSpPr>
        <p:spPr>
          <a:xfrm>
            <a:off x="1042525" y="2578588"/>
            <a:ext cx="10607700" cy="67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650" b="1">
                <a:solidFill>
                  <a:srgbClr val="F36E25"/>
                </a:solidFill>
              </a:rPr>
              <a:t>Pre-Show</a:t>
            </a:r>
            <a:r>
              <a:rPr lang="en-US" sz="1650" b="1"/>
              <a:t>                                                </a:t>
            </a:r>
            <a:r>
              <a:rPr lang="en-US" sz="1650" b="1">
                <a:solidFill>
                  <a:schemeClr val="accent1"/>
                </a:solidFill>
              </a:rPr>
              <a:t>    At Show                                     Post Show</a:t>
            </a:r>
            <a:endParaRPr sz="1650" b="1">
              <a:solidFill>
                <a:schemeClr val="accent1"/>
              </a:solidFill>
            </a:endParaRPr>
          </a:p>
          <a:p>
            <a:pPr marL="0" marR="0" lvl="0" indent="0" algn="l" rtl="0">
              <a:lnSpc>
                <a:spcPct val="100000"/>
              </a:lnSpc>
              <a:spcBef>
                <a:spcPts val="1000"/>
              </a:spcBef>
              <a:spcAft>
                <a:spcPts val="0"/>
              </a:spcAft>
              <a:buNone/>
            </a:pPr>
            <a:endParaRPr sz="1650"/>
          </a:p>
          <a:p>
            <a:pPr marL="0" marR="0" lvl="0" indent="0" algn="l" rtl="0">
              <a:lnSpc>
                <a:spcPct val="100000"/>
              </a:lnSpc>
              <a:spcBef>
                <a:spcPts val="1000"/>
              </a:spcBef>
              <a:spcAft>
                <a:spcPts val="0"/>
              </a:spcAft>
              <a:buNone/>
            </a:pPr>
            <a:endParaRPr sz="1850"/>
          </a:p>
          <a:p>
            <a:pPr marL="685800" marR="0" lvl="0" indent="0" algn="l" rtl="0">
              <a:lnSpc>
                <a:spcPct val="100000"/>
              </a:lnSpc>
              <a:spcBef>
                <a:spcPts val="1000"/>
              </a:spcBef>
              <a:spcAft>
                <a:spcPts val="0"/>
              </a:spcAft>
              <a:buNone/>
            </a:pPr>
            <a:endParaRPr sz="1850"/>
          </a:p>
          <a:p>
            <a:pPr marL="0" marR="0" lvl="0" indent="0" algn="l" rtl="0">
              <a:lnSpc>
                <a:spcPct val="100000"/>
              </a:lnSpc>
              <a:spcBef>
                <a:spcPts val="1000"/>
              </a:spcBef>
              <a:spcAft>
                <a:spcPts val="0"/>
              </a:spcAft>
              <a:buNone/>
            </a:pPr>
            <a:endParaRPr sz="1850"/>
          </a:p>
        </p:txBody>
      </p:sp>
      <p:sp>
        <p:nvSpPr>
          <p:cNvPr id="1280" name="Google Shape;1280;p147"/>
          <p:cNvSpPr/>
          <p:nvPr/>
        </p:nvSpPr>
        <p:spPr>
          <a:xfrm>
            <a:off x="6335100" y="1724950"/>
            <a:ext cx="1757400" cy="675300"/>
          </a:xfrm>
          <a:prstGeom prst="roundRect">
            <a:avLst>
              <a:gd name="adj" fmla="val 16667"/>
            </a:avLst>
          </a:prstGeom>
          <a:solidFill>
            <a:srgbClr val="AFDFE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Lead Nurturing Sequence</a:t>
            </a:r>
            <a:endParaRPr sz="1300" b="1"/>
          </a:p>
        </p:txBody>
      </p:sp>
      <p:sp>
        <p:nvSpPr>
          <p:cNvPr id="1281" name="Google Shape;1281;p147"/>
          <p:cNvSpPr/>
          <p:nvPr/>
        </p:nvSpPr>
        <p:spPr>
          <a:xfrm>
            <a:off x="3977625" y="3897250"/>
            <a:ext cx="1757400" cy="831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3 Company Reps at Show - Network in Mobile App</a:t>
            </a:r>
            <a:endParaRPr sz="1300" b="1"/>
          </a:p>
        </p:txBody>
      </p:sp>
      <p:sp>
        <p:nvSpPr>
          <p:cNvPr id="1282" name="Google Shape;1282;p147"/>
          <p:cNvSpPr/>
          <p:nvPr/>
        </p:nvSpPr>
        <p:spPr>
          <a:xfrm>
            <a:off x="1042525" y="3136550"/>
            <a:ext cx="1471800" cy="675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Pre-Show Email</a:t>
            </a:r>
            <a:endParaRPr sz="1300" b="1"/>
          </a:p>
        </p:txBody>
      </p:sp>
      <p:sp>
        <p:nvSpPr>
          <p:cNvPr id="1283" name="Google Shape;1283;p147"/>
          <p:cNvSpPr/>
          <p:nvPr/>
        </p:nvSpPr>
        <p:spPr>
          <a:xfrm>
            <a:off x="1016425" y="4026400"/>
            <a:ext cx="1524000" cy="637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Invite VIP Retail Guest</a:t>
            </a:r>
            <a:endParaRPr sz="1300" b="1"/>
          </a:p>
        </p:txBody>
      </p:sp>
      <p:sp>
        <p:nvSpPr>
          <p:cNvPr id="1284" name="Google Shape;1284;p147"/>
          <p:cNvSpPr/>
          <p:nvPr/>
        </p:nvSpPr>
        <p:spPr>
          <a:xfrm>
            <a:off x="3530600" y="1724950"/>
            <a:ext cx="2123700" cy="675300"/>
          </a:xfrm>
          <a:prstGeom prst="roundRect">
            <a:avLst>
              <a:gd name="adj" fmla="val 16667"/>
            </a:avLst>
          </a:prstGeom>
          <a:solidFill>
            <a:srgbClr val="AFDFE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CrossCap Event Landing Page with CTA</a:t>
            </a:r>
            <a:endParaRPr sz="1300" b="1"/>
          </a:p>
        </p:txBody>
      </p:sp>
      <p:sp>
        <p:nvSpPr>
          <p:cNvPr id="1285" name="Google Shape;1285;p147"/>
          <p:cNvSpPr/>
          <p:nvPr/>
        </p:nvSpPr>
        <p:spPr>
          <a:xfrm rot="10800000">
            <a:off x="8524400" y="1879575"/>
            <a:ext cx="307500" cy="35415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286" name="Google Shape;1286;p147"/>
          <p:cNvCxnSpPr/>
          <p:nvPr/>
        </p:nvCxnSpPr>
        <p:spPr>
          <a:xfrm rot="10800000" flipH="1">
            <a:off x="2666725" y="2561900"/>
            <a:ext cx="874800" cy="1010400"/>
          </a:xfrm>
          <a:prstGeom prst="straightConnector1">
            <a:avLst/>
          </a:prstGeom>
          <a:noFill/>
          <a:ln w="9525" cap="flat" cmpd="sng">
            <a:solidFill>
              <a:schemeClr val="dk2"/>
            </a:solidFill>
            <a:prstDash val="solid"/>
            <a:round/>
            <a:headEnd type="none" w="med" len="med"/>
            <a:tailEnd type="triangle" w="med" len="med"/>
          </a:ln>
        </p:spPr>
      </p:cxnSp>
      <p:sp>
        <p:nvSpPr>
          <p:cNvPr id="1287" name="Google Shape;1287;p147"/>
          <p:cNvSpPr/>
          <p:nvPr/>
        </p:nvSpPr>
        <p:spPr>
          <a:xfrm>
            <a:off x="6655275" y="3108225"/>
            <a:ext cx="1524000" cy="104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Post Show Email or Direct Mail Piece</a:t>
            </a:r>
            <a:endParaRPr sz="1300" b="1"/>
          </a:p>
        </p:txBody>
      </p:sp>
      <p:sp>
        <p:nvSpPr>
          <p:cNvPr id="1288" name="Google Shape;1288;p147"/>
          <p:cNvSpPr/>
          <p:nvPr/>
        </p:nvSpPr>
        <p:spPr>
          <a:xfrm>
            <a:off x="3977625" y="3110388"/>
            <a:ext cx="1757400" cy="637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Product Brochure in Attendee Bag</a:t>
            </a:r>
            <a:endParaRPr sz="1300" b="1"/>
          </a:p>
        </p:txBody>
      </p:sp>
      <p:sp>
        <p:nvSpPr>
          <p:cNvPr id="1289" name="Google Shape;1289;p147"/>
          <p:cNvSpPr/>
          <p:nvPr/>
        </p:nvSpPr>
        <p:spPr>
          <a:xfrm>
            <a:off x="1016425" y="5670400"/>
            <a:ext cx="7162800" cy="5730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Whitepaper Posted as a Resource</a:t>
            </a:r>
            <a:br>
              <a:rPr lang="en-US" sz="1300" b="1"/>
            </a:br>
            <a:r>
              <a:rPr lang="en-US" sz="1300" b="1"/>
              <a:t>Company Listing, Logo on Website &amp; Sponsor Page</a:t>
            </a:r>
            <a:endParaRPr sz="1300" b="1"/>
          </a:p>
        </p:txBody>
      </p:sp>
      <p:sp>
        <p:nvSpPr>
          <p:cNvPr id="1290" name="Google Shape;1290;p147"/>
          <p:cNvSpPr/>
          <p:nvPr/>
        </p:nvSpPr>
        <p:spPr>
          <a:xfrm>
            <a:off x="3977625" y="4840425"/>
            <a:ext cx="1757400" cy="637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Logo on Event Gift</a:t>
            </a:r>
            <a:endParaRPr sz="1300" b="1"/>
          </a:p>
        </p:txBody>
      </p:sp>
      <p:cxnSp>
        <p:nvCxnSpPr>
          <p:cNvPr id="1291" name="Google Shape;1291;p147"/>
          <p:cNvCxnSpPr/>
          <p:nvPr/>
        </p:nvCxnSpPr>
        <p:spPr>
          <a:xfrm rot="10800000">
            <a:off x="4063900" y="2537525"/>
            <a:ext cx="101700" cy="435600"/>
          </a:xfrm>
          <a:prstGeom prst="straightConnector1">
            <a:avLst/>
          </a:prstGeom>
          <a:noFill/>
          <a:ln w="9525" cap="flat" cmpd="sng">
            <a:solidFill>
              <a:schemeClr val="dk2"/>
            </a:solidFill>
            <a:prstDash val="solid"/>
            <a:round/>
            <a:headEnd type="none" w="med" len="med"/>
            <a:tailEnd type="triangle" w="med" len="med"/>
          </a:ln>
        </p:spPr>
      </p:cxnSp>
      <p:cxnSp>
        <p:nvCxnSpPr>
          <p:cNvPr id="1292" name="Google Shape;1292;p147"/>
          <p:cNvCxnSpPr/>
          <p:nvPr/>
        </p:nvCxnSpPr>
        <p:spPr>
          <a:xfrm rot="10800000" flipH="1">
            <a:off x="3280225" y="2619975"/>
            <a:ext cx="537000" cy="2685000"/>
          </a:xfrm>
          <a:prstGeom prst="straightConnector1">
            <a:avLst/>
          </a:prstGeom>
          <a:noFill/>
          <a:ln w="9525" cap="flat" cmpd="sng">
            <a:solidFill>
              <a:schemeClr val="dk2"/>
            </a:solidFill>
            <a:prstDash val="solid"/>
            <a:round/>
            <a:headEnd type="none" w="med" len="med"/>
            <a:tailEnd type="triangle" w="med" len="med"/>
          </a:ln>
        </p:spPr>
      </p:cxnSp>
      <p:cxnSp>
        <p:nvCxnSpPr>
          <p:cNvPr id="1293" name="Google Shape;1293;p147"/>
          <p:cNvCxnSpPr/>
          <p:nvPr/>
        </p:nvCxnSpPr>
        <p:spPr>
          <a:xfrm rot="10800000" flipH="1">
            <a:off x="5729525" y="2062575"/>
            <a:ext cx="459900" cy="5700"/>
          </a:xfrm>
          <a:prstGeom prst="straightConnector1">
            <a:avLst/>
          </a:prstGeom>
          <a:noFill/>
          <a:ln w="9525" cap="flat" cmpd="sng">
            <a:solidFill>
              <a:schemeClr val="dk2"/>
            </a:solidFill>
            <a:prstDash val="solid"/>
            <a:round/>
            <a:headEnd type="none" w="med" len="med"/>
            <a:tailEnd type="triangle" w="med" len="med"/>
          </a:ln>
        </p:spPr>
      </p:cxnSp>
      <p:sp>
        <p:nvSpPr>
          <p:cNvPr id="1294" name="Google Shape;1294;p147"/>
          <p:cNvSpPr/>
          <p:nvPr/>
        </p:nvSpPr>
        <p:spPr>
          <a:xfrm>
            <a:off x="6655275" y="4418550"/>
            <a:ext cx="1524000" cy="104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Sales Follow Up with Key Contacts</a:t>
            </a:r>
            <a:endParaRPr sz="1300" b="1"/>
          </a:p>
        </p:txBody>
      </p:sp>
      <p:sp>
        <p:nvSpPr>
          <p:cNvPr id="1295" name="Google Shape;1295;p147"/>
          <p:cNvSpPr/>
          <p:nvPr/>
        </p:nvSpPr>
        <p:spPr>
          <a:xfrm>
            <a:off x="9177025" y="1790700"/>
            <a:ext cx="1524000" cy="3674400"/>
          </a:xfrm>
          <a:prstGeom prst="roundRect">
            <a:avLst>
              <a:gd name="adj" fmla="val 16667"/>
            </a:avLst>
          </a:prstGeom>
          <a:solidFill>
            <a:srgbClr val="AFDFE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Book a Demo</a:t>
            </a:r>
            <a:endParaRPr sz="1300" b="1"/>
          </a:p>
        </p:txBody>
      </p:sp>
      <p:sp>
        <p:nvSpPr>
          <p:cNvPr id="1296" name="Google Shape;1296;p147"/>
          <p:cNvSpPr/>
          <p:nvPr/>
        </p:nvSpPr>
        <p:spPr>
          <a:xfrm>
            <a:off x="1042525" y="1724950"/>
            <a:ext cx="1757400" cy="675300"/>
          </a:xfrm>
          <a:prstGeom prst="roundRect">
            <a:avLst>
              <a:gd name="adj" fmla="val 16667"/>
            </a:avLst>
          </a:prstGeom>
          <a:solidFill>
            <a:srgbClr val="AFDFE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a:t>Media/Social/ Newsletter  Announcement</a:t>
            </a:r>
            <a:endParaRPr sz="1300" b="1"/>
          </a:p>
        </p:txBody>
      </p:sp>
      <p:cxnSp>
        <p:nvCxnSpPr>
          <p:cNvPr id="1297" name="Google Shape;1297;p147"/>
          <p:cNvCxnSpPr/>
          <p:nvPr/>
        </p:nvCxnSpPr>
        <p:spPr>
          <a:xfrm rot="10800000" flipH="1">
            <a:off x="2918300" y="2087300"/>
            <a:ext cx="459900" cy="5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301" name="Shape 1301"/>
        <p:cNvGrpSpPr/>
        <p:nvPr/>
      </p:nvGrpSpPr>
      <p:grpSpPr>
        <a:xfrm>
          <a:off x="0" y="0"/>
          <a:ext cx="0" cy="0"/>
          <a:chOff x="0" y="0"/>
          <a:chExt cx="0" cy="0"/>
        </a:xfrm>
      </p:grpSpPr>
      <p:sp>
        <p:nvSpPr>
          <p:cNvPr id="1302" name="Google Shape;1302;p148"/>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Event &amp; Association Marketing </a:t>
            </a:r>
            <a:r>
              <a:rPr lang="en-US" sz="3300" b="0">
                <a:solidFill>
                  <a:srgbClr val="073763"/>
                </a:solidFill>
                <a:latin typeface="Calibri"/>
                <a:ea typeface="Calibri"/>
                <a:cs typeface="Calibri"/>
                <a:sym typeface="Calibri"/>
              </a:rPr>
              <a:t>Example - Distro</a:t>
            </a:r>
            <a:endParaRPr sz="3300" b="0" i="1">
              <a:solidFill>
                <a:srgbClr val="073763"/>
              </a:solidFill>
              <a:latin typeface="Calibri"/>
              <a:ea typeface="Calibri"/>
              <a:cs typeface="Calibri"/>
              <a:sym typeface="Calibri"/>
            </a:endParaRPr>
          </a:p>
        </p:txBody>
      </p:sp>
      <p:sp>
        <p:nvSpPr>
          <p:cNvPr id="1303" name="Google Shape;1303;p148"/>
          <p:cNvSpPr txBox="1"/>
          <p:nvPr>
            <p:ph type="body" idx="1"/>
          </p:nvPr>
        </p:nvSpPr>
        <p:spPr>
          <a:xfrm>
            <a:off x="406400" y="1516825"/>
            <a:ext cx="11209500" cy="4630200"/>
          </a:xfrm>
          <a:prstGeom prst="rect">
            <a:avLst/>
          </a:prstGeom>
          <a:noFill/>
          <a:ln>
            <a:noFill/>
          </a:ln>
        </p:spPr>
        <p:txBody>
          <a:bodyPr spcFirstLastPara="1" wrap="square" lIns="91425" tIns="45700" rIns="91425" bIns="45700" anchor="t" anchorCtr="0">
            <a:noAutofit/>
          </a:bodyPr>
          <a:lstStyle/>
          <a:p>
            <a:pPr marL="685800" marR="0" lvl="1" indent="-212725" algn="l" rtl="0">
              <a:lnSpc>
                <a:spcPct val="100000"/>
              </a:lnSpc>
              <a:spcBef>
                <a:spcPts val="1000"/>
              </a:spcBef>
              <a:spcAft>
                <a:spcPts val="0"/>
              </a:spcAft>
              <a:buClr>
                <a:schemeClr val="accent2"/>
              </a:buClr>
              <a:buSzPts val="1550"/>
              <a:buFont typeface="Calibri"/>
              <a:buChar char="✔"/>
            </a:pPr>
            <a:r>
              <a:rPr lang="en-US" sz="1550"/>
              <a:t>Website marketing page for the conference: </a:t>
            </a:r>
            <a:r>
              <a:rPr lang="en-US" sz="1550" u="sng">
                <a:solidFill>
                  <a:schemeClr val="hlink"/>
                </a:solidFill>
                <a:hlinkClick r:id="rId1"/>
              </a:rPr>
              <a:t>https://www.accustore.com/nrf-big-show/</a:t>
            </a:r>
            <a:r>
              <a:rPr lang="en-US" sz="1550"/>
              <a:t> </a:t>
            </a:r>
            <a:endParaRPr sz="1550"/>
          </a:p>
          <a:p>
            <a:pPr marL="0" marR="0" lvl="0" indent="0" algn="l" rtl="0">
              <a:lnSpc>
                <a:spcPct val="100000"/>
              </a:lnSpc>
              <a:spcBef>
                <a:spcPts val="1000"/>
              </a:spcBef>
              <a:spcAft>
                <a:spcPts val="0"/>
              </a:spcAft>
              <a:buNone/>
            </a:pPr>
            <a:endParaRPr sz="1550"/>
          </a:p>
          <a:p>
            <a:pPr marL="0" marR="0" lvl="0" indent="0" algn="l" rtl="0">
              <a:lnSpc>
                <a:spcPct val="100000"/>
              </a:lnSpc>
              <a:spcBef>
                <a:spcPts val="1000"/>
              </a:spcBef>
              <a:spcAft>
                <a:spcPts val="0"/>
              </a:spcAft>
              <a:buNone/>
            </a:pPr>
            <a:endParaRPr sz="1550"/>
          </a:p>
        </p:txBody>
      </p:sp>
      <p:pic>
        <p:nvPicPr>
          <p:cNvPr id="1304" name="Google Shape;1304;p148"/>
          <p:cNvPicPr preferRelativeResize="0"/>
          <p:nvPr/>
        </p:nvPicPr>
        <p:blipFill>
          <a:blip r:embed="rId2"/>
          <a:stretch>
            <a:fillRect/>
          </a:stretch>
        </p:blipFill>
        <p:spPr>
          <a:xfrm>
            <a:off x="919925" y="2163500"/>
            <a:ext cx="5604423" cy="2402851"/>
          </a:xfrm>
          <a:prstGeom prst="rect">
            <a:avLst/>
          </a:prstGeom>
          <a:noFill/>
          <a:ln w="9525" cap="flat" cmpd="sng">
            <a:solidFill>
              <a:schemeClr val="dk2"/>
            </a:solidFill>
            <a:prstDash val="solid"/>
            <a:round/>
            <a:headEnd type="none" w="sm" len="sm"/>
            <a:tailEnd type="none" w="sm" len="sm"/>
          </a:ln>
        </p:spPr>
      </p:pic>
      <p:sp>
        <p:nvSpPr>
          <p:cNvPr id="1305" name="Google Shape;1305;p14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pic>
        <p:nvPicPr>
          <p:cNvPr id="1306" name="Google Shape;1306;p148"/>
          <p:cNvPicPr preferRelativeResize="0"/>
          <p:nvPr/>
        </p:nvPicPr>
        <p:blipFill>
          <a:blip r:embed="rId3"/>
          <a:stretch>
            <a:fillRect/>
          </a:stretch>
        </p:blipFill>
        <p:spPr>
          <a:xfrm>
            <a:off x="1554300" y="4996600"/>
            <a:ext cx="4212200" cy="1196700"/>
          </a:xfrm>
          <a:prstGeom prst="rect">
            <a:avLst/>
          </a:prstGeom>
          <a:noFill/>
          <a:ln>
            <a:noFill/>
          </a:ln>
        </p:spPr>
      </p:pic>
      <p:pic>
        <p:nvPicPr>
          <p:cNvPr id="1307" name="Google Shape;1307;p148"/>
          <p:cNvPicPr preferRelativeResize="0"/>
          <p:nvPr/>
        </p:nvPicPr>
        <p:blipFill>
          <a:blip r:embed="rId4"/>
          <a:stretch>
            <a:fillRect/>
          </a:stretch>
        </p:blipFill>
        <p:spPr>
          <a:xfrm>
            <a:off x="7548574" y="2548224"/>
            <a:ext cx="3647076" cy="2879801"/>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311" name="Shape 1311"/>
        <p:cNvGrpSpPr/>
        <p:nvPr/>
      </p:nvGrpSpPr>
      <p:grpSpPr>
        <a:xfrm>
          <a:off x="0" y="0"/>
          <a:ext cx="0" cy="0"/>
          <a:chOff x="0" y="0"/>
          <a:chExt cx="0" cy="0"/>
        </a:xfrm>
      </p:grpSpPr>
      <p:sp>
        <p:nvSpPr>
          <p:cNvPr id="1312" name="Google Shape;1312;p149"/>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Event &amp; Association Marketing </a:t>
            </a:r>
            <a:r>
              <a:rPr lang="en-US" sz="3300" b="0">
                <a:solidFill>
                  <a:srgbClr val="073763"/>
                </a:solidFill>
                <a:latin typeface="Calibri"/>
                <a:ea typeface="Calibri"/>
                <a:cs typeface="Calibri"/>
                <a:sym typeface="Calibri"/>
              </a:rPr>
              <a:t>Example - Distro</a:t>
            </a:r>
            <a:endParaRPr sz="3300" b="0" i="1">
              <a:solidFill>
                <a:srgbClr val="073763"/>
              </a:solidFill>
              <a:latin typeface="Calibri"/>
              <a:ea typeface="Calibri"/>
              <a:cs typeface="Calibri"/>
              <a:sym typeface="Calibri"/>
            </a:endParaRPr>
          </a:p>
        </p:txBody>
      </p:sp>
      <p:sp>
        <p:nvSpPr>
          <p:cNvPr id="1313" name="Google Shape;1313;p149"/>
          <p:cNvSpPr txBox="1"/>
          <p:nvPr>
            <p:ph type="body" idx="1"/>
          </p:nvPr>
        </p:nvSpPr>
        <p:spPr>
          <a:xfrm>
            <a:off x="920850" y="1516825"/>
            <a:ext cx="10695300" cy="4630200"/>
          </a:xfrm>
          <a:prstGeom prst="rect">
            <a:avLst/>
          </a:prstGeom>
          <a:noFill/>
          <a:ln>
            <a:noFill/>
          </a:ln>
        </p:spPr>
        <p:txBody>
          <a:bodyPr spcFirstLastPara="1" wrap="square" lIns="91425" tIns="45700" rIns="91425" bIns="45700" anchor="t" anchorCtr="0">
            <a:noAutofit/>
          </a:bodyPr>
          <a:lstStyle/>
          <a:p>
            <a:pPr marL="685800" marR="0" lvl="1" indent="-212725" algn="l" rtl="0">
              <a:lnSpc>
                <a:spcPct val="100000"/>
              </a:lnSpc>
              <a:spcBef>
                <a:spcPts val="1000"/>
              </a:spcBef>
              <a:spcAft>
                <a:spcPts val="0"/>
              </a:spcAft>
              <a:buClr>
                <a:schemeClr val="accent2"/>
              </a:buClr>
              <a:buSzPts val="1550"/>
              <a:buFont typeface="Calibri"/>
              <a:buChar char="✔"/>
            </a:pPr>
            <a:r>
              <a:rPr lang="en-US" sz="1550"/>
              <a:t>Website marketing page for the conference:</a:t>
            </a:r>
            <a:endParaRPr sz="1550"/>
          </a:p>
          <a:p>
            <a:pPr marL="1143000" marR="0" lvl="2" indent="-212725" algn="l" rtl="0">
              <a:lnSpc>
                <a:spcPct val="100000"/>
              </a:lnSpc>
              <a:spcBef>
                <a:spcPts val="1000"/>
              </a:spcBef>
              <a:spcAft>
                <a:spcPts val="0"/>
              </a:spcAft>
              <a:buSzPts val="1550"/>
              <a:buChar char="•"/>
            </a:pPr>
            <a:r>
              <a:rPr lang="en-US" sz="1350" u="sng">
                <a:solidFill>
                  <a:schemeClr val="hlink"/>
                </a:solidFill>
                <a:hlinkClick r:id="rId1"/>
              </a:rPr>
              <a:t>https://www.elasticpath.com/resources/events/nrf-2023</a:t>
            </a:r>
            <a:endParaRPr sz="1550"/>
          </a:p>
          <a:p>
            <a:pPr marL="0" marR="0" lvl="0" indent="0" algn="l" rtl="0">
              <a:lnSpc>
                <a:spcPct val="100000"/>
              </a:lnSpc>
              <a:spcBef>
                <a:spcPts val="1000"/>
              </a:spcBef>
              <a:spcAft>
                <a:spcPts val="0"/>
              </a:spcAft>
              <a:buNone/>
            </a:pPr>
            <a:endParaRPr sz="1550"/>
          </a:p>
        </p:txBody>
      </p:sp>
      <p:pic>
        <p:nvPicPr>
          <p:cNvPr id="1314" name="Google Shape;1314;p149"/>
          <p:cNvPicPr preferRelativeResize="0"/>
          <p:nvPr/>
        </p:nvPicPr>
        <p:blipFill>
          <a:blip r:embed="rId2"/>
          <a:stretch>
            <a:fillRect/>
          </a:stretch>
        </p:blipFill>
        <p:spPr>
          <a:xfrm>
            <a:off x="920850" y="2747451"/>
            <a:ext cx="5648575" cy="3057449"/>
          </a:xfrm>
          <a:prstGeom prst="rect">
            <a:avLst/>
          </a:prstGeom>
          <a:noFill/>
          <a:ln>
            <a:noFill/>
          </a:ln>
        </p:spPr>
      </p:pic>
      <p:pic>
        <p:nvPicPr>
          <p:cNvPr id="1315" name="Google Shape;1315;p149"/>
          <p:cNvPicPr preferRelativeResize="0"/>
          <p:nvPr/>
        </p:nvPicPr>
        <p:blipFill>
          <a:blip r:embed="rId3"/>
          <a:stretch>
            <a:fillRect/>
          </a:stretch>
        </p:blipFill>
        <p:spPr>
          <a:xfrm>
            <a:off x="6329675" y="1659051"/>
            <a:ext cx="5486375" cy="2927500"/>
          </a:xfrm>
          <a:prstGeom prst="rect">
            <a:avLst/>
          </a:prstGeom>
          <a:noFill/>
          <a:ln>
            <a:noFill/>
          </a:ln>
        </p:spPr>
      </p:pic>
      <p:sp>
        <p:nvSpPr>
          <p:cNvPr id="1316" name="Google Shape;1316;p14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associations &amp; events </a:t>
            </a:r>
            <a:endParaRPr sz="1900" b="0" i="1">
              <a:solidFill>
                <a:schemeClr val="accent5"/>
              </a:solidFill>
              <a:latin typeface="Calibri"/>
              <a:ea typeface="Calibri"/>
              <a:cs typeface="Calibri"/>
              <a:sym typeface="Calibri"/>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320" name="Shape 1320"/>
        <p:cNvGrpSpPr/>
        <p:nvPr/>
      </p:nvGrpSpPr>
      <p:grpSpPr>
        <a:xfrm>
          <a:off x="0" y="0"/>
          <a:ext cx="0" cy="0"/>
          <a:chOff x="0" y="0"/>
          <a:chExt cx="0" cy="0"/>
        </a:xfrm>
      </p:grpSpPr>
      <p:sp>
        <p:nvSpPr>
          <p:cNvPr id="1321" name="Google Shape;1321;p150"/>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4: lead generation (outbound)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2: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Account Based Marketing</a:t>
            </a:r>
            <a:br>
              <a:rPr lang="en-US"/>
            </a:br>
            <a:endParaRPr lang="en-US"/>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1322" name="Google Shape;1322;p150"/>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326" name="Shape 1326"/>
        <p:cNvGrpSpPr/>
        <p:nvPr/>
      </p:nvGrpSpPr>
      <p:grpSpPr>
        <a:xfrm>
          <a:off x="0" y="0"/>
          <a:ext cx="0" cy="0"/>
          <a:chOff x="0" y="0"/>
          <a:chExt cx="0" cy="0"/>
        </a:xfrm>
      </p:grpSpPr>
      <p:sp>
        <p:nvSpPr>
          <p:cNvPr id="1327" name="Google Shape;1327;p151"/>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Account Based Marketing</a:t>
            </a:r>
            <a:endParaRPr sz="3300" b="0" i="1">
              <a:solidFill>
                <a:srgbClr val="073763"/>
              </a:solidFill>
              <a:latin typeface="Calibri"/>
              <a:ea typeface="Calibri"/>
              <a:cs typeface="Calibri"/>
              <a:sym typeface="Calibri"/>
            </a:endParaRPr>
          </a:p>
        </p:txBody>
      </p:sp>
      <p:sp>
        <p:nvSpPr>
          <p:cNvPr id="1328" name="Google Shape;1328;p151"/>
          <p:cNvSpPr txBox="1"/>
          <p:nvPr>
            <p:ph type="body" idx="1"/>
          </p:nvPr>
        </p:nvSpPr>
        <p:spPr>
          <a:xfrm>
            <a:off x="920850" y="1516825"/>
            <a:ext cx="10393200" cy="463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550"/>
              <a:t>Account-Based Marketing is a focused approach to B2B marketing in which marketing and sales teams work together to target best-fit accounts and turn them into customers:</a:t>
            </a:r>
            <a:endParaRPr sz="1550"/>
          </a:p>
          <a:p>
            <a:pPr marL="685800" marR="0" lvl="1" indent="-212725" algn="l" rtl="0">
              <a:lnSpc>
                <a:spcPct val="100000"/>
              </a:lnSpc>
              <a:spcBef>
                <a:spcPts val="1000"/>
              </a:spcBef>
              <a:spcAft>
                <a:spcPts val="0"/>
              </a:spcAft>
              <a:buClr>
                <a:schemeClr val="accent2"/>
              </a:buClr>
              <a:buSzPts val="1550"/>
              <a:buFont typeface="Calibri"/>
              <a:buChar char="✔"/>
            </a:pPr>
            <a:r>
              <a:rPr lang="en-US" sz="1550"/>
              <a:t>Identify highly qualified accounts using research, published lists and existing knowledge:</a:t>
            </a:r>
            <a:endParaRPr sz="1550"/>
          </a:p>
          <a:p>
            <a:pPr marL="1143000" marR="0" lvl="2" indent="-212725" algn="l" rtl="0">
              <a:lnSpc>
                <a:spcPct val="100000"/>
              </a:lnSpc>
              <a:spcBef>
                <a:spcPts val="1000"/>
              </a:spcBef>
              <a:spcAft>
                <a:spcPts val="0"/>
              </a:spcAft>
              <a:buSzPts val="1550"/>
              <a:buChar char="•"/>
            </a:pPr>
            <a:r>
              <a:rPr lang="en-US" sz="1550"/>
              <a:t>Use LinkedIn and website to identify key contacts, including:</a:t>
            </a:r>
            <a:endParaRPr sz="1550"/>
          </a:p>
          <a:p>
            <a:pPr marL="1600200" marR="0" lvl="3" indent="-212725" algn="l" rtl="0">
              <a:lnSpc>
                <a:spcPct val="115000"/>
              </a:lnSpc>
              <a:spcBef>
                <a:spcPts val="0"/>
              </a:spcBef>
              <a:spcAft>
                <a:spcPts val="0"/>
              </a:spcAft>
              <a:buSzPts val="1550"/>
              <a:buChar char="•"/>
            </a:pPr>
            <a:r>
              <a:rPr lang="en-US" sz="1550"/>
              <a:t>CMO and Executive Assistant</a:t>
            </a:r>
            <a:endParaRPr sz="1550"/>
          </a:p>
          <a:p>
            <a:pPr marL="1600200" marR="0" lvl="3" indent="-212725" algn="l" rtl="0">
              <a:lnSpc>
                <a:spcPct val="115000"/>
              </a:lnSpc>
              <a:spcBef>
                <a:spcPts val="0"/>
              </a:spcBef>
              <a:spcAft>
                <a:spcPts val="0"/>
              </a:spcAft>
              <a:buSzPts val="1550"/>
              <a:buChar char="•"/>
            </a:pPr>
            <a:r>
              <a:rPr lang="en-US" sz="1550"/>
              <a:t>VP/Director of Marketing Operations</a:t>
            </a:r>
            <a:endParaRPr sz="1550"/>
          </a:p>
          <a:p>
            <a:pPr marL="1600200" marR="0" lvl="3" indent="-212725" algn="l" rtl="0">
              <a:lnSpc>
                <a:spcPct val="115000"/>
              </a:lnSpc>
              <a:spcBef>
                <a:spcPts val="0"/>
              </a:spcBef>
              <a:spcAft>
                <a:spcPts val="0"/>
              </a:spcAft>
              <a:buSzPts val="1550"/>
              <a:buChar char="•"/>
            </a:pPr>
            <a:r>
              <a:rPr lang="en-US" sz="1550"/>
              <a:t>Marketing Operations Manager</a:t>
            </a:r>
            <a:endParaRPr sz="1550"/>
          </a:p>
          <a:p>
            <a:pPr marL="1600200" marR="0" lvl="3" indent="-212725" algn="l" rtl="0">
              <a:lnSpc>
                <a:spcPct val="115000"/>
              </a:lnSpc>
              <a:spcBef>
                <a:spcPts val="0"/>
              </a:spcBef>
              <a:spcAft>
                <a:spcPts val="0"/>
              </a:spcAft>
              <a:buSzPts val="1550"/>
              <a:buChar char="•"/>
            </a:pPr>
            <a:r>
              <a:rPr lang="en-US" sz="1550"/>
              <a:t>Sourcing/IT</a:t>
            </a:r>
            <a:endParaRPr sz="1550"/>
          </a:p>
          <a:p>
            <a:pPr marL="685800" marR="0" lvl="1" indent="-212725" algn="l" rtl="0">
              <a:lnSpc>
                <a:spcPct val="100000"/>
              </a:lnSpc>
              <a:spcBef>
                <a:spcPts val="1000"/>
              </a:spcBef>
              <a:spcAft>
                <a:spcPts val="0"/>
              </a:spcAft>
              <a:buClr>
                <a:schemeClr val="accent2"/>
              </a:buClr>
              <a:buSzPts val="1550"/>
              <a:buFont typeface="Calibri"/>
              <a:buChar char="✔"/>
            </a:pPr>
            <a:r>
              <a:rPr lang="en-US" sz="1550"/>
              <a:t>Create an integrated marketing-sales campaign to target each account, including:</a:t>
            </a:r>
            <a:endParaRPr sz="1550"/>
          </a:p>
          <a:p>
            <a:pPr marL="1143000" marR="0" lvl="2" indent="-212725" algn="l" rtl="0">
              <a:lnSpc>
                <a:spcPct val="115000"/>
              </a:lnSpc>
              <a:spcBef>
                <a:spcPts val="0"/>
              </a:spcBef>
              <a:spcAft>
                <a:spcPts val="0"/>
              </a:spcAft>
              <a:buSzPts val="1550"/>
              <a:buChar char="•"/>
            </a:pPr>
            <a:r>
              <a:rPr lang="en-US" sz="1550"/>
              <a:t>Website page targeting the specific account - including all the information they would need, including a personalized video - Page would have a key download opportunity and drive to request a demo or a consultation </a:t>
            </a:r>
            <a:endParaRPr sz="1550"/>
          </a:p>
          <a:p>
            <a:pPr marL="1143000" marR="0" lvl="2" indent="-212725" algn="l" rtl="0">
              <a:lnSpc>
                <a:spcPct val="115000"/>
              </a:lnSpc>
              <a:spcBef>
                <a:spcPts val="0"/>
              </a:spcBef>
              <a:spcAft>
                <a:spcPts val="0"/>
              </a:spcAft>
              <a:buSzPts val="1550"/>
              <a:buChar char="•"/>
            </a:pPr>
            <a:r>
              <a:rPr lang="en-US" sz="1550"/>
              <a:t>LinkedIn outreach - LinkedIn direct account advertising</a:t>
            </a:r>
            <a:endParaRPr sz="1550"/>
          </a:p>
          <a:p>
            <a:pPr marL="1143000" marR="0" lvl="2" indent="-212725" algn="l" rtl="0">
              <a:lnSpc>
                <a:spcPct val="115000"/>
              </a:lnSpc>
              <a:spcBef>
                <a:spcPts val="0"/>
              </a:spcBef>
              <a:spcAft>
                <a:spcPts val="0"/>
              </a:spcAft>
              <a:buSzPts val="1550"/>
              <a:buChar char="•"/>
            </a:pPr>
            <a:r>
              <a:rPr lang="en-US" sz="1550"/>
              <a:t>Direct mail or email - to all key contacts</a:t>
            </a:r>
            <a:endParaRPr sz="1550"/>
          </a:p>
          <a:p>
            <a:pPr marL="1143000" marR="0" lvl="2" indent="-212725" algn="l" rtl="0">
              <a:lnSpc>
                <a:spcPct val="115000"/>
              </a:lnSpc>
              <a:spcBef>
                <a:spcPts val="0"/>
              </a:spcBef>
              <a:spcAft>
                <a:spcPts val="0"/>
              </a:spcAft>
              <a:buSzPts val="1550"/>
              <a:buChar char="•"/>
            </a:pPr>
            <a:r>
              <a:rPr lang="en-US" sz="1550"/>
              <a:t>Referral outreach, if possible</a:t>
            </a:r>
            <a:endParaRPr sz="1550"/>
          </a:p>
          <a:p>
            <a:pPr marL="1143000" marR="0" lvl="2" indent="-212725" algn="l" rtl="0">
              <a:lnSpc>
                <a:spcPct val="115000"/>
              </a:lnSpc>
              <a:spcBef>
                <a:spcPts val="0"/>
              </a:spcBef>
              <a:spcAft>
                <a:spcPts val="0"/>
              </a:spcAft>
              <a:buSzPts val="1550"/>
              <a:buChar char="•"/>
            </a:pPr>
            <a:r>
              <a:rPr lang="en-US" sz="1550"/>
              <a:t>Direct sales follow-up</a:t>
            </a:r>
            <a:endParaRPr sz="1550"/>
          </a:p>
          <a:p>
            <a:pPr marL="685800" marR="0" lvl="1" indent="-212725" algn="l" rtl="0">
              <a:lnSpc>
                <a:spcPct val="115000"/>
              </a:lnSpc>
              <a:spcBef>
                <a:spcPts val="0"/>
              </a:spcBef>
              <a:spcAft>
                <a:spcPts val="0"/>
              </a:spcAft>
              <a:buClr>
                <a:schemeClr val="accent2"/>
              </a:buClr>
              <a:buSzPts val="1550"/>
              <a:buFont typeface="Calibri"/>
              <a:buChar char="✔"/>
            </a:pPr>
            <a:r>
              <a:rPr lang="en-US" sz="1550"/>
              <a:t>Recommend targeting one account monthly, either alternating between Marketing Calendar &amp; Distro or combining</a:t>
            </a:r>
            <a:endParaRPr sz="1550"/>
          </a:p>
        </p:txBody>
      </p:sp>
      <p:sp>
        <p:nvSpPr>
          <p:cNvPr id="1329" name="Google Shape;1329;p151"/>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targeted account campaigns</a:t>
            </a:r>
            <a:endParaRPr sz="1900" b="0" i="1">
              <a:solidFill>
                <a:schemeClr val="accent5"/>
              </a:solidFill>
              <a:latin typeface="Calibri"/>
              <a:ea typeface="Calibri"/>
              <a:cs typeface="Calibri"/>
              <a:sym typeface="Calibri"/>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333" name="Shape 1333"/>
        <p:cNvGrpSpPr/>
        <p:nvPr/>
      </p:nvGrpSpPr>
      <p:grpSpPr>
        <a:xfrm>
          <a:off x="0" y="0"/>
          <a:ext cx="0" cy="0"/>
          <a:chOff x="0" y="0"/>
          <a:chExt cx="0" cy="0"/>
        </a:xfrm>
      </p:grpSpPr>
      <p:sp>
        <p:nvSpPr>
          <p:cNvPr id="1334" name="Google Shape;1334;p152"/>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4: lead generation (outbound)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3: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Social Advertising</a:t>
            </a:r>
            <a:endParaRPr lang="en-US">
              <a:latin typeface="Calibri"/>
              <a:ea typeface="Calibri"/>
              <a:cs typeface="Calibri"/>
              <a:sym typeface="Calibri"/>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1335" name="Google Shape;1335;p152"/>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339" name="Shape 1339"/>
        <p:cNvGrpSpPr/>
        <p:nvPr/>
      </p:nvGrpSpPr>
      <p:grpSpPr>
        <a:xfrm>
          <a:off x="0" y="0"/>
          <a:ext cx="0" cy="0"/>
          <a:chOff x="0" y="0"/>
          <a:chExt cx="0" cy="0"/>
        </a:xfrm>
      </p:grpSpPr>
      <p:sp>
        <p:nvSpPr>
          <p:cNvPr id="1340" name="Google Shape;1340;p153"/>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Social Media Advertising</a:t>
            </a:r>
            <a:endParaRPr sz="3300" b="0" i="1">
              <a:solidFill>
                <a:srgbClr val="073763"/>
              </a:solidFill>
              <a:latin typeface="Calibri"/>
              <a:ea typeface="Calibri"/>
              <a:cs typeface="Calibri"/>
              <a:sym typeface="Calibri"/>
            </a:endParaRPr>
          </a:p>
        </p:txBody>
      </p:sp>
      <p:sp>
        <p:nvSpPr>
          <p:cNvPr id="1341" name="Google Shape;1341;p153"/>
          <p:cNvSpPr txBox="1"/>
          <p:nvPr>
            <p:ph type="body" idx="1"/>
          </p:nvPr>
        </p:nvSpPr>
        <p:spPr>
          <a:xfrm>
            <a:off x="755000" y="1516825"/>
            <a:ext cx="10559100" cy="4630200"/>
          </a:xfrm>
          <a:prstGeom prst="rect">
            <a:avLst/>
          </a:prstGeom>
          <a:noFill/>
          <a:ln>
            <a:noFill/>
          </a:ln>
        </p:spPr>
        <p:txBody>
          <a:bodyPr spcFirstLastPara="1" wrap="square" lIns="91425" tIns="45700" rIns="91425" bIns="45700" anchor="t" anchorCtr="0">
            <a:noAutofit/>
          </a:bodyPr>
          <a:lstStyle/>
          <a:p>
            <a:pPr marL="685800" lvl="1" indent="-212725" algn="l" rtl="0">
              <a:lnSpc>
                <a:spcPct val="100000"/>
              </a:lnSpc>
              <a:spcBef>
                <a:spcPts val="1000"/>
              </a:spcBef>
              <a:spcAft>
                <a:spcPts val="0"/>
              </a:spcAft>
              <a:buClr>
                <a:schemeClr val="accent2"/>
              </a:buClr>
              <a:buSzPts val="1550"/>
              <a:buFont typeface="Calibri"/>
              <a:buChar char="✔"/>
            </a:pPr>
            <a:r>
              <a:rPr lang="en-US" sz="1550"/>
              <a:t>Social media advertising is ideal for reaching new audiences (interrupting) who don’t yet know that CrossCap and their products exist (increasing awareness) and generating initial leads</a:t>
            </a:r>
            <a:endParaRPr sz="1550"/>
          </a:p>
          <a:p>
            <a:pPr marL="685800" marR="0" lvl="1" indent="-212725" algn="l" rtl="0">
              <a:lnSpc>
                <a:spcPct val="100000"/>
              </a:lnSpc>
              <a:spcBef>
                <a:spcPts val="1000"/>
              </a:spcBef>
              <a:spcAft>
                <a:spcPts val="0"/>
              </a:spcAft>
              <a:buClr>
                <a:schemeClr val="accent2"/>
              </a:buClr>
              <a:buSzPts val="1550"/>
              <a:buFont typeface="Calibri"/>
              <a:buChar char="✔"/>
            </a:pPr>
            <a:r>
              <a:rPr lang="en-US" sz="1550"/>
              <a:t>Recommend separate campaigns for the two main product lines: Distro and Marketing Calendar</a:t>
            </a:r>
            <a:endParaRPr sz="1550"/>
          </a:p>
          <a:p>
            <a:pPr marL="685800" marR="0" lvl="1" indent="-212725" algn="l" rtl="0">
              <a:lnSpc>
                <a:spcPct val="100000"/>
              </a:lnSpc>
              <a:spcBef>
                <a:spcPts val="1000"/>
              </a:spcBef>
              <a:spcAft>
                <a:spcPts val="0"/>
              </a:spcAft>
              <a:buClr>
                <a:schemeClr val="accent2"/>
              </a:buClr>
              <a:buSzPts val="1550"/>
              <a:buFont typeface="Calibri"/>
              <a:buChar char="✔"/>
            </a:pPr>
            <a:r>
              <a:rPr lang="en-US" sz="1550"/>
              <a:t>Consider the following social platforms &amp; spends:</a:t>
            </a:r>
            <a:endParaRPr sz="1550"/>
          </a:p>
          <a:p>
            <a:pPr marL="1143000" marR="0" lvl="2" indent="-212725" algn="l" rtl="0">
              <a:lnSpc>
                <a:spcPct val="100000"/>
              </a:lnSpc>
              <a:spcBef>
                <a:spcPts val="1000"/>
              </a:spcBef>
              <a:spcAft>
                <a:spcPts val="0"/>
              </a:spcAft>
              <a:buSzPts val="1550"/>
              <a:buChar char="•"/>
            </a:pPr>
            <a:r>
              <a:rPr lang="en-US" sz="1550"/>
              <a:t>LinkedIn </a:t>
            </a:r>
            <a:r>
              <a:rPr lang="en-US" sz="1550" i="1"/>
              <a:t>($500+ per product monthly)</a:t>
            </a:r>
            <a:endParaRPr sz="1550" i="1"/>
          </a:p>
          <a:p>
            <a:pPr marL="1600200" marR="0" lvl="3" indent="-212725" algn="l" rtl="0">
              <a:lnSpc>
                <a:spcPct val="100000"/>
              </a:lnSpc>
              <a:spcBef>
                <a:spcPts val="1000"/>
              </a:spcBef>
              <a:spcAft>
                <a:spcPts val="0"/>
              </a:spcAft>
              <a:buSzPts val="1550"/>
              <a:buChar char="•"/>
            </a:pPr>
            <a:r>
              <a:rPr lang="en-US" sz="1550"/>
              <a:t>Ideal for reaching all personas</a:t>
            </a:r>
            <a:endParaRPr sz="1550"/>
          </a:p>
          <a:p>
            <a:pPr marL="1600200" marR="0" lvl="3" indent="-212725" algn="l" rtl="0">
              <a:lnSpc>
                <a:spcPct val="100000"/>
              </a:lnSpc>
              <a:spcBef>
                <a:spcPts val="1000"/>
              </a:spcBef>
              <a:spcAft>
                <a:spcPts val="0"/>
              </a:spcAft>
              <a:buSzPts val="1550"/>
              <a:buChar char="•"/>
            </a:pPr>
            <a:r>
              <a:rPr lang="en-US" sz="1550"/>
              <a:t>Ideal for Account Based targeting</a:t>
            </a:r>
            <a:endParaRPr sz="1550"/>
          </a:p>
          <a:p>
            <a:pPr marL="1143000" marR="0" lvl="2" indent="-212725" algn="l" rtl="0">
              <a:lnSpc>
                <a:spcPct val="100000"/>
              </a:lnSpc>
              <a:spcBef>
                <a:spcPts val="1000"/>
              </a:spcBef>
              <a:spcAft>
                <a:spcPts val="0"/>
              </a:spcAft>
              <a:buSzPts val="1550"/>
              <a:buChar char="•"/>
            </a:pPr>
            <a:r>
              <a:rPr lang="en-US" sz="1550"/>
              <a:t>Facebook </a:t>
            </a:r>
            <a:r>
              <a:rPr lang="en-US" sz="1550" i="1"/>
              <a:t>($500+ per product monthly)</a:t>
            </a:r>
            <a:endParaRPr sz="1550" i="1"/>
          </a:p>
          <a:p>
            <a:pPr marL="1600200" marR="0" lvl="3" indent="-212725" algn="l" rtl="0">
              <a:lnSpc>
                <a:spcPct val="100000"/>
              </a:lnSpc>
              <a:spcBef>
                <a:spcPts val="1000"/>
              </a:spcBef>
              <a:spcAft>
                <a:spcPts val="0"/>
              </a:spcAft>
              <a:buSzPts val="1550"/>
              <a:buChar char="•"/>
            </a:pPr>
            <a:r>
              <a:rPr lang="en-US" sz="1550"/>
              <a:t>Ideal for reaching marketing operations persona, will also reach CMOs</a:t>
            </a:r>
            <a:endParaRPr sz="1550"/>
          </a:p>
          <a:p>
            <a:pPr marL="1143000" marR="0" lvl="2" indent="-212725" algn="l" rtl="0">
              <a:lnSpc>
                <a:spcPct val="100000"/>
              </a:lnSpc>
              <a:spcBef>
                <a:spcPts val="1000"/>
              </a:spcBef>
              <a:spcAft>
                <a:spcPts val="0"/>
              </a:spcAft>
              <a:buSzPts val="1550"/>
              <a:buChar char="•"/>
            </a:pPr>
            <a:r>
              <a:rPr lang="en-US" sz="1550"/>
              <a:t>Instagram </a:t>
            </a:r>
            <a:r>
              <a:rPr lang="en-US" sz="1550" i="1"/>
              <a:t>($500+ per product monthly)</a:t>
            </a:r>
            <a:endParaRPr sz="1550"/>
          </a:p>
          <a:p>
            <a:pPr marL="1600200" lvl="3" indent="-212725" algn="l" rtl="0">
              <a:lnSpc>
                <a:spcPct val="100000"/>
              </a:lnSpc>
              <a:spcBef>
                <a:spcPts val="1000"/>
              </a:spcBef>
              <a:spcAft>
                <a:spcPts val="0"/>
              </a:spcAft>
              <a:buSzPts val="1550"/>
              <a:buChar char="•"/>
            </a:pPr>
            <a:r>
              <a:rPr lang="en-US" sz="1550"/>
              <a:t>Ideal for reaching marketing operations persona, will also reach CMOs</a:t>
            </a:r>
            <a:endParaRPr sz="1550"/>
          </a:p>
          <a:p>
            <a:pPr marL="685800" lvl="1" indent="-212725" algn="l" rtl="0">
              <a:lnSpc>
                <a:spcPct val="100000"/>
              </a:lnSpc>
              <a:spcBef>
                <a:spcPts val="1000"/>
              </a:spcBef>
              <a:spcAft>
                <a:spcPts val="0"/>
              </a:spcAft>
              <a:buClr>
                <a:schemeClr val="accent2"/>
              </a:buClr>
              <a:buSzPts val="1550"/>
              <a:buFont typeface="Calibri"/>
              <a:buChar char="✔"/>
            </a:pPr>
            <a:r>
              <a:rPr lang="en-US" sz="1550"/>
              <a:t>All campaigns will move leads to a main CTA download and the appropriate lead nurture sequence</a:t>
            </a:r>
            <a:endParaRPr sz="1550"/>
          </a:p>
        </p:txBody>
      </p:sp>
      <p:sp>
        <p:nvSpPr>
          <p:cNvPr id="1342" name="Google Shape;1342;p153"/>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social media advertising</a:t>
            </a:r>
            <a:endParaRPr sz="1900" b="0" i="1">
              <a:solidFill>
                <a:schemeClr val="accent5"/>
              </a:solidFill>
              <a:latin typeface="Calibri"/>
              <a:ea typeface="Calibri"/>
              <a:cs typeface="Calibri"/>
              <a:sym typeface="Calibri"/>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346" name="Shape 1346"/>
        <p:cNvGrpSpPr/>
        <p:nvPr/>
      </p:nvGrpSpPr>
      <p:grpSpPr>
        <a:xfrm>
          <a:off x="0" y="0"/>
          <a:ext cx="0" cy="0"/>
          <a:chOff x="0" y="0"/>
          <a:chExt cx="0" cy="0"/>
        </a:xfrm>
      </p:grpSpPr>
      <p:sp>
        <p:nvSpPr>
          <p:cNvPr id="1347" name="Google Shape;1347;p154"/>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Social Media Advertising </a:t>
            </a:r>
            <a:r>
              <a:rPr lang="en-US" sz="3300" b="0" i="1">
                <a:solidFill>
                  <a:srgbClr val="073763"/>
                </a:solidFill>
                <a:latin typeface="Calibri"/>
                <a:ea typeface="Calibri"/>
                <a:cs typeface="Calibri"/>
                <a:sym typeface="Calibri"/>
              </a:rPr>
              <a:t>product focus examples</a:t>
            </a:r>
            <a:endParaRPr sz="3300" b="0" i="1">
              <a:solidFill>
                <a:srgbClr val="073763"/>
              </a:solidFill>
              <a:latin typeface="Calibri"/>
              <a:ea typeface="Calibri"/>
              <a:cs typeface="Calibri"/>
              <a:sym typeface="Calibri"/>
            </a:endParaRPr>
          </a:p>
        </p:txBody>
      </p:sp>
      <p:sp>
        <p:nvSpPr>
          <p:cNvPr id="1348" name="Google Shape;1348;p154"/>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social media advertising</a:t>
            </a:r>
            <a:endParaRPr sz="1900" b="0" i="1">
              <a:solidFill>
                <a:schemeClr val="accent5"/>
              </a:solidFill>
              <a:latin typeface="Calibri"/>
              <a:ea typeface="Calibri"/>
              <a:cs typeface="Calibri"/>
              <a:sym typeface="Calibri"/>
            </a:endParaRPr>
          </a:p>
        </p:txBody>
      </p:sp>
      <p:pic>
        <p:nvPicPr>
          <p:cNvPr id="1349" name="Google Shape;1349;p154"/>
          <p:cNvPicPr preferRelativeResize="0"/>
          <p:nvPr/>
        </p:nvPicPr>
        <p:blipFill>
          <a:blip r:embed="rId1"/>
          <a:stretch>
            <a:fillRect/>
          </a:stretch>
        </p:blipFill>
        <p:spPr>
          <a:xfrm>
            <a:off x="1621975" y="1640975"/>
            <a:ext cx="3155175" cy="3776875"/>
          </a:xfrm>
          <a:prstGeom prst="rect">
            <a:avLst/>
          </a:prstGeom>
          <a:noFill/>
          <a:ln w="9525" cap="flat" cmpd="sng">
            <a:solidFill>
              <a:srgbClr val="9E9E9E"/>
            </a:solidFill>
            <a:prstDash val="solid"/>
            <a:round/>
            <a:headEnd type="none" w="sm" len="sm"/>
            <a:tailEnd type="none" w="sm" len="sm"/>
          </a:ln>
        </p:spPr>
      </p:pic>
      <p:pic>
        <p:nvPicPr>
          <p:cNvPr id="1350" name="Google Shape;1350;p154"/>
          <p:cNvPicPr preferRelativeResize="0"/>
          <p:nvPr/>
        </p:nvPicPr>
        <p:blipFill>
          <a:blip r:embed="rId2"/>
          <a:stretch>
            <a:fillRect/>
          </a:stretch>
        </p:blipFill>
        <p:spPr>
          <a:xfrm>
            <a:off x="5513200" y="1640975"/>
            <a:ext cx="3003837" cy="3776875"/>
          </a:xfrm>
          <a:prstGeom prst="rect">
            <a:avLst/>
          </a:prstGeom>
          <a:noFill/>
          <a:ln w="9525" cap="flat" cmpd="sng">
            <a:solidFill>
              <a:srgbClr val="9E9E9E"/>
            </a:solidFill>
            <a:prstDash val="solid"/>
            <a:round/>
            <a:headEnd type="none" w="sm" len="sm"/>
            <a:tailEnd type="none" w="sm" len="sm"/>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354" name="Shape 1354"/>
        <p:cNvGrpSpPr/>
        <p:nvPr/>
      </p:nvGrpSpPr>
      <p:grpSpPr>
        <a:xfrm>
          <a:off x="0" y="0"/>
          <a:ext cx="0" cy="0"/>
          <a:chOff x="0" y="0"/>
          <a:chExt cx="0" cy="0"/>
        </a:xfrm>
      </p:grpSpPr>
      <p:sp>
        <p:nvSpPr>
          <p:cNvPr id="1355" name="Google Shape;1355;p155"/>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Social Media Advertising </a:t>
            </a:r>
            <a:r>
              <a:rPr lang="en-US" sz="3300" b="0" i="1">
                <a:solidFill>
                  <a:srgbClr val="073763"/>
                </a:solidFill>
                <a:latin typeface="Calibri"/>
                <a:ea typeface="Calibri"/>
                <a:cs typeface="Calibri"/>
                <a:sym typeface="Calibri"/>
              </a:rPr>
              <a:t>problem focus examples</a:t>
            </a:r>
            <a:endParaRPr sz="3300" b="0" i="1">
              <a:solidFill>
                <a:srgbClr val="073763"/>
              </a:solidFill>
              <a:latin typeface="Calibri"/>
              <a:ea typeface="Calibri"/>
              <a:cs typeface="Calibri"/>
              <a:sym typeface="Calibri"/>
            </a:endParaRPr>
          </a:p>
        </p:txBody>
      </p:sp>
      <p:sp>
        <p:nvSpPr>
          <p:cNvPr id="1356" name="Google Shape;1356;p155"/>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social media advertising</a:t>
            </a:r>
            <a:endParaRPr sz="1900" b="0" i="1">
              <a:solidFill>
                <a:schemeClr val="accent5"/>
              </a:solidFill>
              <a:latin typeface="Calibri"/>
              <a:ea typeface="Calibri"/>
              <a:cs typeface="Calibri"/>
              <a:sym typeface="Calibri"/>
            </a:endParaRPr>
          </a:p>
        </p:txBody>
      </p:sp>
      <p:pic>
        <p:nvPicPr>
          <p:cNvPr id="1357" name="Google Shape;1357;p155"/>
          <p:cNvPicPr preferRelativeResize="0"/>
          <p:nvPr/>
        </p:nvPicPr>
        <p:blipFill>
          <a:blip r:embed="rId1"/>
          <a:stretch>
            <a:fillRect/>
          </a:stretch>
        </p:blipFill>
        <p:spPr>
          <a:xfrm>
            <a:off x="1008876" y="1846250"/>
            <a:ext cx="3599024" cy="3825050"/>
          </a:xfrm>
          <a:prstGeom prst="rect">
            <a:avLst/>
          </a:prstGeom>
          <a:noFill/>
          <a:ln w="9525" cap="flat" cmpd="sng">
            <a:solidFill>
              <a:schemeClr val="dk2"/>
            </a:solidFill>
            <a:prstDash val="solid"/>
            <a:round/>
            <a:headEnd type="none" w="sm" len="sm"/>
            <a:tailEnd type="none" w="sm" len="sm"/>
          </a:ln>
        </p:spPr>
      </p:pic>
      <p:pic>
        <p:nvPicPr>
          <p:cNvPr id="1358" name="Google Shape;1358;p155"/>
          <p:cNvPicPr preferRelativeResize="0"/>
          <p:nvPr/>
        </p:nvPicPr>
        <p:blipFill>
          <a:blip r:embed="rId2"/>
          <a:stretch>
            <a:fillRect/>
          </a:stretch>
        </p:blipFill>
        <p:spPr>
          <a:xfrm>
            <a:off x="5009275" y="1830032"/>
            <a:ext cx="3599025" cy="3841268"/>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362" name="Shape 1362"/>
        <p:cNvGrpSpPr/>
        <p:nvPr/>
      </p:nvGrpSpPr>
      <p:grpSpPr>
        <a:xfrm>
          <a:off x="0" y="0"/>
          <a:ext cx="0" cy="0"/>
          <a:chOff x="0" y="0"/>
          <a:chExt cx="0" cy="0"/>
        </a:xfrm>
      </p:grpSpPr>
      <p:sp>
        <p:nvSpPr>
          <p:cNvPr id="1363" name="Google Shape;1363;p156"/>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Social Media Advertising </a:t>
            </a:r>
            <a:r>
              <a:rPr lang="en-US" sz="3300" b="0" i="1">
                <a:solidFill>
                  <a:srgbClr val="073763"/>
                </a:solidFill>
                <a:latin typeface="Calibri"/>
                <a:ea typeface="Calibri"/>
                <a:cs typeface="Calibri"/>
                <a:sym typeface="Calibri"/>
              </a:rPr>
              <a:t>persona focus example</a:t>
            </a:r>
            <a:endParaRPr sz="3300" b="0" i="1">
              <a:solidFill>
                <a:srgbClr val="073763"/>
              </a:solidFill>
              <a:latin typeface="Calibri"/>
              <a:ea typeface="Calibri"/>
              <a:cs typeface="Calibri"/>
              <a:sym typeface="Calibri"/>
            </a:endParaRPr>
          </a:p>
        </p:txBody>
      </p:sp>
      <p:sp>
        <p:nvSpPr>
          <p:cNvPr id="1364" name="Google Shape;1364;p156"/>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social media advertising</a:t>
            </a:r>
            <a:endParaRPr sz="1900" b="0" i="1">
              <a:solidFill>
                <a:schemeClr val="accent5"/>
              </a:solidFill>
              <a:latin typeface="Calibri"/>
              <a:ea typeface="Calibri"/>
              <a:cs typeface="Calibri"/>
              <a:sym typeface="Calibri"/>
            </a:endParaRPr>
          </a:p>
        </p:txBody>
      </p:sp>
      <p:pic>
        <p:nvPicPr>
          <p:cNvPr id="1365" name="Google Shape;1365;p156"/>
          <p:cNvPicPr preferRelativeResize="0"/>
          <p:nvPr/>
        </p:nvPicPr>
        <p:blipFill>
          <a:blip r:embed="rId1"/>
          <a:stretch>
            <a:fillRect/>
          </a:stretch>
        </p:blipFill>
        <p:spPr>
          <a:xfrm>
            <a:off x="975375" y="1683200"/>
            <a:ext cx="3571875" cy="4443275"/>
          </a:xfrm>
          <a:prstGeom prst="rect">
            <a:avLst/>
          </a:prstGeom>
          <a:noFill/>
          <a:ln w="9525" cap="flat" cmpd="sng">
            <a:solidFill>
              <a:srgbClr val="9E9E9E"/>
            </a:solidFill>
            <a:prstDash val="solid"/>
            <a:round/>
            <a:headEnd type="none" w="sm" len="sm"/>
            <a:tailEnd type="none" w="sm" len="sm"/>
          </a:ln>
        </p:spPr>
      </p:pic>
      <p:pic>
        <p:nvPicPr>
          <p:cNvPr id="1366" name="Google Shape;1366;p156"/>
          <p:cNvPicPr preferRelativeResize="0"/>
          <p:nvPr/>
        </p:nvPicPr>
        <p:blipFill>
          <a:blip r:embed="rId2"/>
          <a:stretch>
            <a:fillRect/>
          </a:stretch>
        </p:blipFill>
        <p:spPr>
          <a:xfrm>
            <a:off x="5461650" y="1683200"/>
            <a:ext cx="3449384" cy="4443275"/>
          </a:xfrm>
          <a:prstGeom prst="rect">
            <a:avLst/>
          </a:prstGeom>
          <a:noFill/>
          <a:ln w="9525" cap="flat" cmpd="sng">
            <a:solidFill>
              <a:srgbClr val="B7B7B7"/>
            </a:solidFill>
            <a:prstDash val="solid"/>
            <a:round/>
            <a:headEnd type="none" w="sm" len="sm"/>
            <a:tailEnd type="none" w="sm" len="sm"/>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370" name="Shape 1370"/>
        <p:cNvGrpSpPr/>
        <p:nvPr/>
      </p:nvGrpSpPr>
      <p:grpSpPr>
        <a:xfrm>
          <a:off x="0" y="0"/>
          <a:ext cx="0" cy="0"/>
          <a:chOff x="0" y="0"/>
          <a:chExt cx="0" cy="0"/>
        </a:xfrm>
      </p:grpSpPr>
      <p:sp>
        <p:nvSpPr>
          <p:cNvPr id="1371" name="Google Shape;1371;p157"/>
          <p:cNvSpPr txBox="1"/>
          <p:nvPr>
            <p:ph type="title"/>
          </p:nvPr>
        </p:nvSpPr>
        <p:spPr>
          <a:xfrm>
            <a:off x="710875" y="2156550"/>
            <a:ext cx="10515600" cy="1325700"/>
          </a:xfrm>
          <a:prstGeom prst="rect">
            <a:avLst/>
          </a:prstGeom>
          <a:noFill/>
          <a:ln>
            <a:noFill/>
          </a:ln>
        </p:spPr>
        <p:txBody>
          <a:bodyPr spcFirstLastPara="1" wrap="square" lIns="91425" tIns="45700" rIns="91425" bIns="45700" anchor="t" anchorCtr="0">
            <a:normAutofit fontScale="90000"/>
          </a:bodyPr>
          <a:lstStyle/>
          <a:p>
            <a:pPr marL="457200" lvl="0" indent="0" algn="ctr" rtl="0">
              <a:lnSpc>
                <a:spcPct val="90000"/>
              </a:lnSpc>
              <a:spcBef>
                <a:spcPts val="0"/>
              </a:spcBef>
              <a:spcAft>
                <a:spcPts val="0"/>
              </a:spcAft>
              <a:buNone/>
            </a:pPr>
            <a:r>
              <a:rPr lang="en-US" sz="1955" b="0" i="1">
                <a:solidFill>
                  <a:srgbClr val="9E9E9E"/>
                </a:solidFill>
                <a:latin typeface="Calibri"/>
                <a:ea typeface="Calibri"/>
                <a:cs typeface="Calibri"/>
                <a:sym typeface="Calibri"/>
              </a:rPr>
              <a:t>section 4: lead generation (outbound)</a:t>
            </a:r>
            <a:endParaRPr sz="1955" b="0" i="1">
              <a:solidFill>
                <a:srgbClr val="9E9E9E"/>
              </a:solidFill>
              <a:latin typeface="Calibri"/>
              <a:ea typeface="Calibri"/>
              <a:cs typeface="Calibri"/>
              <a:sym typeface="Calibri"/>
            </a:endParaRPr>
          </a:p>
          <a:p>
            <a:pPr marL="457200" lvl="0" indent="0" algn="ctr" rtl="0">
              <a:lnSpc>
                <a:spcPct val="90000"/>
              </a:lnSpc>
              <a:spcBef>
                <a:spcPts val="0"/>
              </a:spcBef>
              <a:spcAft>
                <a:spcPts val="0"/>
              </a:spcAft>
              <a:buNone/>
            </a:pPr>
            <a:endParaRPr sz="2620" b="0" i="1">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Action Step 4: </a:t>
            </a:r>
            <a:endParaRPr>
              <a:latin typeface="Calibri"/>
              <a:ea typeface="Calibri"/>
              <a:cs typeface="Calibri"/>
              <a:sym typeface="Calibri"/>
            </a:endParaRPr>
          </a:p>
          <a:p>
            <a:pPr marL="457200" lvl="0" indent="0" algn="ctr" rtl="0">
              <a:lnSpc>
                <a:spcPct val="90000"/>
              </a:lnSpc>
              <a:spcBef>
                <a:spcPts val="0"/>
              </a:spcBef>
              <a:spcAft>
                <a:spcPts val="0"/>
              </a:spcAft>
              <a:buNone/>
            </a:pPr>
            <a:r>
              <a:rPr lang="en-US">
                <a:latin typeface="Calibri"/>
                <a:ea typeface="Calibri"/>
                <a:cs typeface="Calibri"/>
                <a:sym typeface="Calibri"/>
              </a:rPr>
              <a:t>Google</a:t>
            </a:r>
            <a:r>
              <a:rPr lang="en-US">
                <a:latin typeface="Calibri"/>
                <a:ea typeface="Calibri"/>
                <a:cs typeface="Calibri"/>
                <a:sym typeface="Calibri"/>
              </a:rPr>
              <a:t> Search Advertising</a:t>
            </a:r>
            <a:endParaRPr lang="en-US">
              <a:latin typeface="Calibri"/>
              <a:ea typeface="Calibri"/>
              <a:cs typeface="Calibri"/>
              <a:sym typeface="Calibri"/>
            </a:endParaRPr>
          </a:p>
          <a:p>
            <a:pPr marL="0" lvl="0" indent="0" algn="ctr" rtl="0">
              <a:lnSpc>
                <a:spcPct val="90000"/>
              </a:lnSpc>
              <a:spcBef>
                <a:spcPts val="0"/>
              </a:spcBef>
              <a:spcAft>
                <a:spcPts val="0"/>
              </a:spcAft>
              <a:buClr>
                <a:schemeClr val="accent2"/>
              </a:buClr>
              <a:buSzPct val="121000"/>
              <a:buFont typeface="Calibri"/>
              <a:buNone/>
            </a:pPr>
            <a:endParaRPr sz="3620">
              <a:solidFill>
                <a:schemeClr val="accent4"/>
              </a:solidFill>
            </a:endParaRPr>
          </a:p>
          <a:p>
            <a:pPr marL="457200" lvl="0" indent="0" algn="ctr" rtl="0">
              <a:lnSpc>
                <a:spcPct val="90000"/>
              </a:lnSpc>
              <a:spcBef>
                <a:spcPts val="0"/>
              </a:spcBef>
              <a:spcAft>
                <a:spcPts val="0"/>
              </a:spcAft>
              <a:buNone/>
            </a:pPr>
            <a:endParaRPr sz="3620">
              <a:solidFill>
                <a:schemeClr val="accent4"/>
              </a:solidFill>
            </a:endParaRPr>
          </a:p>
          <a:p>
            <a:pPr marL="0" lvl="0" indent="0" algn="ctr" rtl="0">
              <a:lnSpc>
                <a:spcPct val="90000"/>
              </a:lnSpc>
              <a:spcBef>
                <a:spcPts val="0"/>
              </a:spcBef>
              <a:spcAft>
                <a:spcPts val="0"/>
              </a:spcAft>
              <a:buClr>
                <a:schemeClr val="accent2"/>
              </a:buClr>
              <a:buSzPct val="100000"/>
              <a:buFont typeface="Calibri"/>
              <a:buNone/>
            </a:pPr>
          </a:p>
          <a:p>
            <a:pPr marL="457200" lvl="0" indent="0" algn="l" rtl="0">
              <a:lnSpc>
                <a:spcPct val="90000"/>
              </a:lnSpc>
              <a:spcBef>
                <a:spcPts val="0"/>
              </a:spcBef>
              <a:spcAft>
                <a:spcPts val="0"/>
              </a:spcAft>
              <a:buNone/>
            </a:pPr>
          </a:p>
        </p:txBody>
      </p:sp>
      <p:sp>
        <p:nvSpPr>
          <p:cNvPr id="1372" name="Google Shape;1372;p157"/>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a:t>
            </a:r>
            <a:endParaRPr sz="1900" b="0" i="1">
              <a:solidFill>
                <a:schemeClr val="accent5"/>
              </a:solidFill>
              <a:latin typeface="Calibri"/>
              <a:ea typeface="Calibri"/>
              <a:cs typeface="Calibri"/>
              <a:sym typeface="Calibri"/>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376" name="Shape 1376"/>
        <p:cNvGrpSpPr/>
        <p:nvPr/>
      </p:nvGrpSpPr>
      <p:grpSpPr>
        <a:xfrm>
          <a:off x="0" y="0"/>
          <a:ext cx="0" cy="0"/>
          <a:chOff x="0" y="0"/>
          <a:chExt cx="0" cy="0"/>
        </a:xfrm>
      </p:grpSpPr>
      <p:sp>
        <p:nvSpPr>
          <p:cNvPr id="1377" name="Google Shape;1377;p158"/>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Google Search</a:t>
            </a:r>
            <a:r>
              <a:rPr lang="en-US" sz="3300">
                <a:solidFill>
                  <a:srgbClr val="073763"/>
                </a:solidFill>
              </a:rPr>
              <a:t> Advertising</a:t>
            </a:r>
            <a:endParaRPr sz="3300" b="0" i="1">
              <a:solidFill>
                <a:srgbClr val="073763"/>
              </a:solidFill>
              <a:latin typeface="Calibri"/>
              <a:ea typeface="Calibri"/>
              <a:cs typeface="Calibri"/>
              <a:sym typeface="Calibri"/>
            </a:endParaRPr>
          </a:p>
        </p:txBody>
      </p:sp>
      <p:sp>
        <p:nvSpPr>
          <p:cNvPr id="1378" name="Google Shape;1378;p158"/>
          <p:cNvSpPr txBox="1"/>
          <p:nvPr>
            <p:ph type="body" idx="1"/>
          </p:nvPr>
        </p:nvSpPr>
        <p:spPr>
          <a:xfrm>
            <a:off x="755000" y="1516825"/>
            <a:ext cx="9647400" cy="4630200"/>
          </a:xfrm>
          <a:prstGeom prst="rect">
            <a:avLst/>
          </a:prstGeom>
          <a:noFill/>
          <a:ln>
            <a:noFill/>
          </a:ln>
        </p:spPr>
        <p:txBody>
          <a:bodyPr spcFirstLastPara="1" wrap="square" lIns="91425" tIns="45700" rIns="91425" bIns="45700" anchor="t" anchorCtr="0">
            <a:noAutofit/>
          </a:bodyPr>
          <a:lstStyle/>
          <a:p>
            <a:pPr marL="685800" lvl="1" indent="-231775" algn="l" rtl="0">
              <a:lnSpc>
                <a:spcPct val="100000"/>
              </a:lnSpc>
              <a:spcBef>
                <a:spcPts val="1000"/>
              </a:spcBef>
              <a:spcAft>
                <a:spcPts val="0"/>
              </a:spcAft>
              <a:buClr>
                <a:schemeClr val="accent2"/>
              </a:buClr>
              <a:buSzPts val="1850"/>
              <a:buFont typeface="Calibri"/>
              <a:buChar char="✔"/>
            </a:pPr>
            <a:r>
              <a:rPr lang="en-US" sz="1850"/>
              <a:t>Google</a:t>
            </a:r>
            <a:r>
              <a:rPr lang="en-US" sz="1850"/>
              <a:t> search advertising is ideal for reaching prospects who are </a:t>
            </a:r>
            <a:r>
              <a:rPr lang="en-US" sz="1850"/>
              <a:t>actively</a:t>
            </a:r>
            <a:r>
              <a:rPr lang="en-US" sz="1850"/>
              <a:t> searching for a product similar to CrossCap and are at  the consideration and decision stages.</a:t>
            </a:r>
            <a:endParaRPr sz="1850"/>
          </a:p>
          <a:p>
            <a:pPr marL="685800" lvl="1" indent="-231775" algn="l" rtl="0">
              <a:lnSpc>
                <a:spcPct val="100000"/>
              </a:lnSpc>
              <a:spcBef>
                <a:spcPts val="1000"/>
              </a:spcBef>
              <a:spcAft>
                <a:spcPts val="0"/>
              </a:spcAft>
              <a:buClr>
                <a:schemeClr val="accent2"/>
              </a:buClr>
              <a:buSzPts val="1850"/>
              <a:buFont typeface="Calibri"/>
              <a:buChar char="✔"/>
            </a:pPr>
            <a:r>
              <a:rPr lang="en-US" sz="1850"/>
              <a:t>Google search advertising is ideal for getting more traffic to the CrossCap website, which will in turn increase initial marketing qualified leads on the website</a:t>
            </a:r>
            <a:endParaRPr sz="1850"/>
          </a:p>
          <a:p>
            <a:pPr marL="685800" lvl="1" indent="-231775" algn="l" rtl="0">
              <a:lnSpc>
                <a:spcPct val="100000"/>
              </a:lnSpc>
              <a:spcBef>
                <a:spcPts val="1000"/>
              </a:spcBef>
              <a:spcAft>
                <a:spcPts val="0"/>
              </a:spcAft>
              <a:buClr>
                <a:schemeClr val="accent2"/>
              </a:buClr>
              <a:buSzPts val="1850"/>
              <a:buFont typeface="Calibri"/>
              <a:buChar char="✔"/>
            </a:pPr>
            <a:r>
              <a:rPr lang="en-US" sz="1850"/>
              <a:t>Google ads can augment SEO programs while they are in development and gaining traction</a:t>
            </a:r>
            <a:endParaRPr sz="1850"/>
          </a:p>
          <a:p>
            <a:pPr marL="685800" marR="0" lvl="1" indent="-231775" algn="l" rtl="0">
              <a:lnSpc>
                <a:spcPct val="100000"/>
              </a:lnSpc>
              <a:spcBef>
                <a:spcPts val="1000"/>
              </a:spcBef>
              <a:spcAft>
                <a:spcPts val="0"/>
              </a:spcAft>
              <a:buClr>
                <a:schemeClr val="accent2"/>
              </a:buClr>
              <a:buSzPts val="1850"/>
              <a:buFont typeface="Calibri"/>
              <a:buChar char="✔"/>
            </a:pPr>
            <a:r>
              <a:rPr lang="en-US" sz="1850"/>
              <a:t>Recommend Google advertising for the Marketing Calendar product - prospects are actively searching for a product similar to marketing calendar</a:t>
            </a:r>
            <a:endParaRPr sz="1850"/>
          </a:p>
          <a:p>
            <a:pPr marL="685800" marR="0" lvl="1" indent="-231775" algn="l" rtl="0">
              <a:lnSpc>
                <a:spcPct val="100000"/>
              </a:lnSpc>
              <a:spcBef>
                <a:spcPts val="1000"/>
              </a:spcBef>
              <a:spcAft>
                <a:spcPts val="0"/>
              </a:spcAft>
              <a:buClr>
                <a:schemeClr val="accent2"/>
              </a:buClr>
              <a:buSzPts val="1850"/>
              <a:buFont typeface="Calibri"/>
              <a:buChar char="✔"/>
            </a:pPr>
            <a:r>
              <a:rPr lang="en-US" sz="1850"/>
              <a:t>Recommend further research or a test campaign for Distro - prospects may not be actively searching for a product similar to Distro - may need to target other searches</a:t>
            </a:r>
            <a:endParaRPr sz="1850"/>
          </a:p>
          <a:p>
            <a:pPr marL="685800" marR="0" lvl="1" indent="-231775" algn="l" rtl="0">
              <a:lnSpc>
                <a:spcPct val="100000"/>
              </a:lnSpc>
              <a:spcBef>
                <a:spcPts val="1000"/>
              </a:spcBef>
              <a:spcAft>
                <a:spcPts val="0"/>
              </a:spcAft>
              <a:buClr>
                <a:schemeClr val="accent2"/>
              </a:buClr>
              <a:buSzPts val="1850"/>
              <a:buFont typeface="Calibri"/>
              <a:buChar char="✔"/>
            </a:pPr>
            <a:r>
              <a:rPr lang="en-US" sz="1850"/>
              <a:t>Google ads would lead to a unique landing page with a main consideration/decision making CTA to book a demo, and download the product spec sheet</a:t>
            </a:r>
            <a:endParaRPr sz="1850"/>
          </a:p>
          <a:p>
            <a:pPr marL="685800" marR="0" lvl="1" indent="-231775" algn="l" rtl="0">
              <a:lnSpc>
                <a:spcPct val="100000"/>
              </a:lnSpc>
              <a:spcBef>
                <a:spcPts val="1000"/>
              </a:spcBef>
              <a:spcAft>
                <a:spcPts val="0"/>
              </a:spcAft>
              <a:buClr>
                <a:schemeClr val="accent2"/>
              </a:buClr>
              <a:buSzPts val="1850"/>
              <a:buFont typeface="Calibri"/>
              <a:buChar char="✔"/>
            </a:pPr>
            <a:r>
              <a:rPr lang="en-US" sz="1850"/>
              <a:t>Spend recommendation: $1,000 monthly+</a:t>
            </a:r>
            <a:endParaRPr sz="1850"/>
          </a:p>
        </p:txBody>
      </p:sp>
      <p:sp>
        <p:nvSpPr>
          <p:cNvPr id="1379" name="Google Shape;1379;p158"/>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google advertising</a:t>
            </a:r>
            <a:endParaRPr sz="1900" b="0" i="1">
              <a:solidFill>
                <a:schemeClr val="accent5"/>
              </a:solidFill>
              <a:latin typeface="Calibri"/>
              <a:ea typeface="Calibri"/>
              <a:cs typeface="Calibri"/>
              <a:sym typeface="Calibri"/>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383" name="Shape 1383"/>
        <p:cNvGrpSpPr/>
        <p:nvPr/>
      </p:nvGrpSpPr>
      <p:grpSpPr>
        <a:xfrm>
          <a:off x="0" y="0"/>
          <a:ext cx="0" cy="0"/>
          <a:chOff x="0" y="0"/>
          <a:chExt cx="0" cy="0"/>
        </a:xfrm>
      </p:grpSpPr>
      <p:sp>
        <p:nvSpPr>
          <p:cNvPr id="1384" name="Google Shape;1384;p159"/>
          <p:cNvSpPr txBox="1"/>
          <p:nvPr>
            <p:ph type="title"/>
          </p:nvPr>
        </p:nvSpPr>
        <p:spPr>
          <a:xfrm>
            <a:off x="831275" y="784225"/>
            <a:ext cx="107265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sz="3300">
                <a:solidFill>
                  <a:srgbClr val="073763"/>
                </a:solidFill>
              </a:rPr>
              <a:t>Google Search Advertising </a:t>
            </a:r>
            <a:r>
              <a:rPr lang="en-US" sz="3300" b="0" i="1">
                <a:solidFill>
                  <a:srgbClr val="073763"/>
                </a:solidFill>
                <a:latin typeface="Calibri"/>
                <a:ea typeface="Calibri"/>
                <a:cs typeface="Calibri"/>
                <a:sym typeface="Calibri"/>
              </a:rPr>
              <a:t>Current Situation</a:t>
            </a:r>
            <a:endParaRPr sz="3300" b="0" i="1">
              <a:solidFill>
                <a:srgbClr val="073763"/>
              </a:solidFill>
              <a:latin typeface="Calibri"/>
              <a:ea typeface="Calibri"/>
              <a:cs typeface="Calibri"/>
              <a:sym typeface="Calibri"/>
            </a:endParaRPr>
          </a:p>
          <a:p>
            <a:pPr marL="0" lvl="0" indent="0" algn="l" rtl="0">
              <a:lnSpc>
                <a:spcPct val="90000"/>
              </a:lnSpc>
              <a:spcBef>
                <a:spcPts val="0"/>
              </a:spcBef>
              <a:spcAft>
                <a:spcPts val="0"/>
              </a:spcAft>
              <a:buClr>
                <a:schemeClr val="accent2"/>
              </a:buClr>
              <a:buSzPts val="4400"/>
              <a:buFont typeface="Calibri"/>
              <a:buNone/>
            </a:pPr>
            <a:br>
              <a:rPr lang="en-US" sz="1400" b="0" i="1">
                <a:solidFill>
                  <a:srgbClr val="073763"/>
                </a:solidFill>
                <a:latin typeface="Calibri"/>
                <a:ea typeface="Calibri"/>
                <a:cs typeface="Calibri"/>
                <a:sym typeface="Calibri"/>
              </a:rPr>
            </a:br>
            <a:r>
              <a:rPr lang="en-US" sz="1400" b="0" i="1">
                <a:solidFill>
                  <a:srgbClr val="073763"/>
                </a:solidFill>
                <a:latin typeface="Calibri"/>
                <a:ea typeface="Calibri"/>
                <a:cs typeface="Calibri"/>
                <a:sym typeface="Calibri"/>
              </a:rPr>
              <a:t> Search: Marketing Calendar Software                                  Search: Retail Store Profiling Software</a:t>
            </a:r>
            <a:endParaRPr sz="1400" b="0" i="1">
              <a:solidFill>
                <a:srgbClr val="073763"/>
              </a:solidFill>
              <a:latin typeface="Calibri"/>
              <a:ea typeface="Calibri"/>
              <a:cs typeface="Calibri"/>
              <a:sym typeface="Calibri"/>
            </a:endParaRPr>
          </a:p>
        </p:txBody>
      </p:sp>
      <p:sp>
        <p:nvSpPr>
          <p:cNvPr id="1385" name="Google Shape;1385;p159"/>
          <p:cNvSpPr txBox="1"/>
          <p:nvPr>
            <p:ph type="title"/>
          </p:nvPr>
        </p:nvSpPr>
        <p:spPr>
          <a:xfrm>
            <a:off x="862300" y="286950"/>
            <a:ext cx="10695300" cy="4437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2"/>
              </a:buClr>
              <a:buSzPts val="4400"/>
              <a:buFont typeface="Calibri"/>
              <a:buNone/>
            </a:pPr>
            <a:r>
              <a:rPr lang="en-US" sz="1900" b="0" i="1">
                <a:solidFill>
                  <a:schemeClr val="accent5"/>
                </a:solidFill>
                <a:latin typeface="Calibri"/>
                <a:ea typeface="Calibri"/>
                <a:cs typeface="Calibri"/>
                <a:sym typeface="Calibri"/>
              </a:rPr>
              <a:t>lead generation (outbound) - google advertising</a:t>
            </a:r>
            <a:endParaRPr sz="1900" b="0" i="1">
              <a:solidFill>
                <a:schemeClr val="accent5"/>
              </a:solidFill>
              <a:latin typeface="Calibri"/>
              <a:ea typeface="Calibri"/>
              <a:cs typeface="Calibri"/>
              <a:sym typeface="Calibri"/>
            </a:endParaRPr>
          </a:p>
        </p:txBody>
      </p:sp>
      <p:pic>
        <p:nvPicPr>
          <p:cNvPr id="1386" name="Google Shape;1386;p159"/>
          <p:cNvPicPr preferRelativeResize="0"/>
          <p:nvPr/>
        </p:nvPicPr>
        <p:blipFill>
          <a:blip r:embed="rId1"/>
          <a:stretch>
            <a:fillRect/>
          </a:stretch>
        </p:blipFill>
        <p:spPr>
          <a:xfrm>
            <a:off x="553700" y="1876225"/>
            <a:ext cx="4004724" cy="4097850"/>
          </a:xfrm>
          <a:prstGeom prst="rect">
            <a:avLst/>
          </a:prstGeom>
          <a:noFill/>
          <a:ln>
            <a:noFill/>
          </a:ln>
        </p:spPr>
      </p:pic>
      <p:pic>
        <p:nvPicPr>
          <p:cNvPr id="1387" name="Google Shape;1387;p159"/>
          <p:cNvPicPr preferRelativeResize="0"/>
          <p:nvPr/>
        </p:nvPicPr>
        <p:blipFill>
          <a:blip r:embed="rId2"/>
          <a:stretch>
            <a:fillRect/>
          </a:stretch>
        </p:blipFill>
        <p:spPr>
          <a:xfrm>
            <a:off x="4753749" y="1932125"/>
            <a:ext cx="4144528" cy="4016550"/>
          </a:xfrm>
          <a:prstGeom prst="rect">
            <a:avLst/>
          </a:prstGeom>
          <a:noFill/>
          <a:ln>
            <a:noFill/>
          </a:ln>
        </p:spPr>
      </p:pic>
      <p:pic>
        <p:nvPicPr>
          <p:cNvPr id="1388" name="Google Shape;1388;p159"/>
          <p:cNvPicPr preferRelativeResize="0"/>
          <p:nvPr/>
        </p:nvPicPr>
        <p:blipFill rotWithShape="1">
          <a:blip r:embed="rId3"/>
          <a:srcRect/>
          <a:stretch>
            <a:fillRect/>
          </a:stretch>
        </p:blipFill>
        <p:spPr>
          <a:xfrm>
            <a:off x="8723406" y="1612650"/>
            <a:ext cx="2779694" cy="3945999"/>
          </a:xfrm>
          <a:prstGeom prst="rect">
            <a:avLst/>
          </a:prstGeom>
          <a:noFill/>
          <a:ln>
            <a:noFill/>
          </a:ln>
        </p:spPr>
      </p:pic>
      <p:sp>
        <p:nvSpPr>
          <p:cNvPr id="1389" name="Google Shape;1389;p159"/>
          <p:cNvSpPr txBox="1"/>
          <p:nvPr/>
        </p:nvSpPr>
        <p:spPr>
          <a:xfrm>
            <a:off x="8940798" y="2002200"/>
            <a:ext cx="2406000" cy="3012900"/>
          </a:xfrm>
          <a:prstGeom prst="rect">
            <a:avLst/>
          </a:prstGeom>
          <a:noFill/>
          <a:ln>
            <a:noFill/>
          </a:ln>
        </p:spPr>
        <p:txBody>
          <a:bodyPr spcFirstLastPara="1" wrap="square" lIns="0" tIns="45700" rIns="0" bIns="45700" anchor="t" anchorCtr="0">
            <a:spAutoFit/>
          </a:bodyPr>
          <a:lstStyle/>
          <a:p>
            <a:pPr marL="0" marR="0" lvl="0" indent="0" algn="l" rtl="0">
              <a:lnSpc>
                <a:spcPct val="143000"/>
              </a:lnSpc>
              <a:spcBef>
                <a:spcPts val="0"/>
              </a:spcBef>
              <a:spcAft>
                <a:spcPts val="0"/>
              </a:spcAft>
              <a:buNone/>
            </a:pPr>
            <a:r>
              <a:rPr lang="en-US" sz="1900" b="1">
                <a:solidFill>
                  <a:srgbClr val="434343"/>
                </a:solidFill>
                <a:latin typeface="Calibri"/>
                <a:ea typeface="Calibri"/>
                <a:cs typeface="Calibri"/>
                <a:sym typeface="Calibri"/>
              </a:rPr>
              <a:t>Action Steps:</a:t>
            </a:r>
            <a:endParaRPr sz="1800">
              <a:solidFill>
                <a:srgbClr val="434343"/>
              </a:solidFill>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Marketing Calendar - needs to show up and compete for searches</a:t>
            </a:r>
            <a:endParaRPr sz="1500">
              <a:solidFill>
                <a:srgbClr val="434343"/>
              </a:solidFill>
              <a:latin typeface="Calibri"/>
              <a:ea typeface="Calibri"/>
              <a:cs typeface="Calibri"/>
              <a:sym typeface="Calibri"/>
            </a:endParaRPr>
          </a:p>
          <a:p>
            <a:pPr marL="285750" marR="0" lvl="0" indent="-292100" algn="l" rtl="0">
              <a:lnSpc>
                <a:spcPct val="115000"/>
              </a:lnSpc>
              <a:spcBef>
                <a:spcPts val="0"/>
              </a:spcBef>
              <a:spcAft>
                <a:spcPts val="0"/>
              </a:spcAft>
              <a:buClr>
                <a:srgbClr val="434343"/>
              </a:buClr>
              <a:buSzPts val="1500"/>
              <a:buFont typeface="Calibri"/>
              <a:buAutoNum type="arabicPeriod"/>
            </a:pPr>
            <a:r>
              <a:rPr lang="en-US" sz="1500">
                <a:solidFill>
                  <a:srgbClr val="434343"/>
                </a:solidFill>
                <a:latin typeface="Calibri"/>
                <a:ea typeface="Calibri"/>
                <a:cs typeface="Calibri"/>
                <a:sym typeface="Calibri"/>
              </a:rPr>
              <a:t>Distro - needs to show up for personas searching for other solutions</a:t>
            </a:r>
            <a:endParaRPr sz="1500">
              <a:solidFill>
                <a:srgbClr val="434343"/>
              </a:solidFill>
              <a:latin typeface="Calibri"/>
              <a:ea typeface="Calibri"/>
              <a:cs typeface="Calibri"/>
              <a:sym typeface="Calibri"/>
            </a:endParaRPr>
          </a:p>
          <a:p>
            <a:pPr marL="457200" marR="0" lvl="0" indent="0" algn="l" rtl="0">
              <a:lnSpc>
                <a:spcPct val="115000"/>
              </a:lnSpc>
              <a:spcBef>
                <a:spcPts val="0"/>
              </a:spcBef>
              <a:spcAft>
                <a:spcPts val="0"/>
              </a:spcAft>
              <a:buNone/>
            </a:pPr>
            <a:endParaRPr sz="1500">
              <a:solidFill>
                <a:srgbClr val="434343"/>
              </a:solidFill>
              <a:latin typeface="Calibri"/>
              <a:ea typeface="Calibri"/>
              <a:cs typeface="Calibri"/>
              <a:sym typeface="Calibri"/>
            </a:endParaRPr>
          </a:p>
          <a:p>
            <a:pPr marL="0" marR="0" lvl="0" indent="0" algn="l" rtl="0">
              <a:lnSpc>
                <a:spcPct val="143000"/>
              </a:lnSpc>
              <a:spcBef>
                <a:spcPts val="600"/>
              </a:spcBef>
              <a:spcAft>
                <a:spcPts val="0"/>
              </a:spcAft>
              <a:buNone/>
            </a:pPr>
            <a:endParaRPr sz="1600">
              <a:solidFill>
                <a:srgbClr val="434343"/>
              </a:solidFill>
              <a:latin typeface="Calibri"/>
              <a:ea typeface="Calibri"/>
              <a:cs typeface="Calibri"/>
              <a:sym typeface="Calibri"/>
            </a:endParaRPr>
          </a:p>
          <a:p>
            <a:pPr marL="0" marR="0" lvl="0" indent="0" algn="l" rtl="0">
              <a:lnSpc>
                <a:spcPct val="143000"/>
              </a:lnSpc>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393" name="Shape 1393"/>
        <p:cNvGrpSpPr/>
        <p:nvPr/>
      </p:nvGrpSpPr>
      <p:grpSpPr>
        <a:xfrm>
          <a:off x="0" y="0"/>
          <a:ext cx="0" cy="0"/>
          <a:chOff x="0" y="0"/>
          <a:chExt cx="0" cy="0"/>
        </a:xfrm>
      </p:grpSpPr>
      <p:sp>
        <p:nvSpPr>
          <p:cNvPr id="1394" name="Google Shape;1394;p160"/>
          <p:cNvSpPr txBox="1"/>
          <p:nvPr>
            <p:ph type="title"/>
          </p:nvPr>
        </p:nvSpPr>
        <p:spPr>
          <a:xfrm>
            <a:off x="2676675" y="2711150"/>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t>Action Plan &amp; Next Steps</a:t>
            </a:r>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398" name="Shape 1398"/>
        <p:cNvGrpSpPr/>
        <p:nvPr/>
      </p:nvGrpSpPr>
      <p:grpSpPr>
        <a:xfrm>
          <a:off x="0" y="0"/>
          <a:ext cx="0" cy="0"/>
          <a:chOff x="0" y="0"/>
          <a:chExt cx="0" cy="0"/>
        </a:xfrm>
      </p:grpSpPr>
      <p:sp>
        <p:nvSpPr>
          <p:cNvPr id="1399" name="Google Shape;1399;p161"/>
          <p:cNvSpPr txBox="1"/>
          <p:nvPr>
            <p:ph type="title"/>
          </p:nvPr>
        </p:nvSpPr>
        <p:spPr>
          <a:xfrm>
            <a:off x="4972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solidFill>
                  <a:schemeClr val="accent5"/>
                </a:solidFill>
              </a:rPr>
              <a:t>Budget</a:t>
            </a:r>
            <a:endParaRPr>
              <a:solidFill>
                <a:schemeClr val="accent5"/>
              </a:solidFill>
            </a:endParaRPr>
          </a:p>
        </p:txBody>
      </p:sp>
      <p:sp>
        <p:nvSpPr>
          <p:cNvPr id="1400" name="Google Shape;1400;p161"/>
          <p:cNvSpPr txBox="1"/>
          <p:nvPr>
            <p:ph type="body" idx="1"/>
          </p:nvPr>
        </p:nvSpPr>
        <p:spPr>
          <a:xfrm>
            <a:off x="689750" y="1614625"/>
            <a:ext cx="4414800" cy="4509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endParaRPr sz="2050">
              <a:solidFill>
                <a:schemeClr val="accent2"/>
              </a:solidFill>
            </a:endParaRPr>
          </a:p>
          <a:p>
            <a:pPr marL="685800" marR="0" lvl="1" indent="-231775" algn="l" rtl="0">
              <a:lnSpc>
                <a:spcPct val="100000"/>
              </a:lnSpc>
              <a:spcBef>
                <a:spcPts val="1000"/>
              </a:spcBef>
              <a:spcAft>
                <a:spcPts val="0"/>
              </a:spcAft>
              <a:buClr>
                <a:schemeClr val="accent2"/>
              </a:buClr>
              <a:buSzPts val="1850"/>
              <a:buChar char="✔"/>
            </a:pPr>
            <a:r>
              <a:rPr lang="en-US" sz="1850" b="1"/>
              <a:t>2.5% $125K</a:t>
            </a:r>
            <a:endParaRPr sz="1850" b="1"/>
          </a:p>
          <a:p>
            <a:pPr marL="685800" marR="0" lvl="1" indent="-231775" algn="l" rtl="0">
              <a:lnSpc>
                <a:spcPct val="100000"/>
              </a:lnSpc>
              <a:spcBef>
                <a:spcPts val="1000"/>
              </a:spcBef>
              <a:spcAft>
                <a:spcPts val="0"/>
              </a:spcAft>
              <a:buClr>
                <a:schemeClr val="accent2"/>
              </a:buClr>
              <a:buSzPts val="1850"/>
              <a:buChar char="✔"/>
            </a:pPr>
            <a:r>
              <a:rPr lang="en-US" sz="1850"/>
              <a:t>First 6 months (see plan)</a:t>
            </a:r>
            <a:endParaRPr sz="1850"/>
          </a:p>
          <a:p>
            <a:pPr marL="685800" marR="0" lvl="1" indent="-231775" algn="l" rtl="0">
              <a:lnSpc>
                <a:spcPct val="100000"/>
              </a:lnSpc>
              <a:spcBef>
                <a:spcPts val="1000"/>
              </a:spcBef>
              <a:spcAft>
                <a:spcPts val="0"/>
              </a:spcAft>
              <a:buClr>
                <a:schemeClr val="accent2"/>
              </a:buClr>
              <a:buSzPts val="1850"/>
              <a:buChar char="✔"/>
            </a:pPr>
            <a:r>
              <a:rPr lang="en-US" sz="1850"/>
              <a:t>All foundational items</a:t>
            </a:r>
            <a:endParaRPr sz="1850"/>
          </a:p>
          <a:p>
            <a:pPr marL="685800" marR="0" lvl="1" indent="-231775" algn="l" rtl="0">
              <a:lnSpc>
                <a:spcPct val="100000"/>
              </a:lnSpc>
              <a:spcBef>
                <a:spcPts val="1000"/>
              </a:spcBef>
              <a:spcAft>
                <a:spcPts val="0"/>
              </a:spcAft>
              <a:buClr>
                <a:schemeClr val="accent2"/>
              </a:buClr>
              <a:buSzPts val="1850"/>
              <a:buChar char="✔"/>
            </a:pPr>
            <a:r>
              <a:rPr lang="en-US" sz="1850"/>
              <a:t>*need unknowns answered</a:t>
            </a:r>
            <a:endParaRPr sz="1850"/>
          </a:p>
          <a:p>
            <a:pPr marL="685800" marR="0" lvl="0" indent="0" algn="l" rtl="0">
              <a:lnSpc>
                <a:spcPct val="100000"/>
              </a:lnSpc>
              <a:spcBef>
                <a:spcPts val="1000"/>
              </a:spcBef>
              <a:spcAft>
                <a:spcPts val="0"/>
              </a:spcAft>
              <a:buNone/>
            </a:pPr>
            <a:endParaRPr sz="1550"/>
          </a:p>
        </p:txBody>
      </p:sp>
      <p:sp>
        <p:nvSpPr>
          <p:cNvPr id="1401" name="Google Shape;1401;p161"/>
          <p:cNvSpPr txBox="1"/>
          <p:nvPr>
            <p:ph type="body" idx="1"/>
          </p:nvPr>
        </p:nvSpPr>
        <p:spPr>
          <a:xfrm>
            <a:off x="5558400" y="1743350"/>
            <a:ext cx="4414800" cy="4509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endParaRPr sz="2050">
              <a:solidFill>
                <a:schemeClr val="accent2"/>
              </a:solidFill>
            </a:endParaRPr>
          </a:p>
          <a:p>
            <a:pPr marL="685800" marR="0" lvl="1" indent="-231775" algn="l" rtl="0">
              <a:lnSpc>
                <a:spcPct val="100000"/>
              </a:lnSpc>
              <a:spcBef>
                <a:spcPts val="1000"/>
              </a:spcBef>
              <a:spcAft>
                <a:spcPts val="0"/>
              </a:spcAft>
              <a:buClr>
                <a:schemeClr val="accent2"/>
              </a:buClr>
              <a:buSzPts val="1850"/>
              <a:buChar char="✔"/>
            </a:pPr>
            <a:r>
              <a:rPr lang="en-US" sz="1850" b="1"/>
              <a:t>10% $500K ($432K)</a:t>
            </a:r>
            <a:r>
              <a:rPr lang="en-US" sz="1850" b="1"/>
              <a:t> </a:t>
            </a:r>
            <a:endParaRPr sz="1850" b="1"/>
          </a:p>
          <a:p>
            <a:pPr marL="685800" marR="0" lvl="1" indent="-231775" algn="l" rtl="0">
              <a:lnSpc>
                <a:spcPct val="100000"/>
              </a:lnSpc>
              <a:spcBef>
                <a:spcPts val="1000"/>
              </a:spcBef>
              <a:spcAft>
                <a:spcPts val="0"/>
              </a:spcAft>
              <a:buClr>
                <a:schemeClr val="accent2"/>
              </a:buClr>
              <a:buSzPts val="1850"/>
              <a:buChar char="✔"/>
            </a:pPr>
            <a:r>
              <a:rPr lang="en-US" sz="1850"/>
              <a:t>12 months (see plan)</a:t>
            </a:r>
            <a:endParaRPr sz="1850"/>
          </a:p>
          <a:p>
            <a:pPr marL="685800" marR="0" lvl="1" indent="-231775" algn="l" rtl="0">
              <a:lnSpc>
                <a:spcPct val="100000"/>
              </a:lnSpc>
              <a:spcBef>
                <a:spcPts val="1000"/>
              </a:spcBef>
              <a:spcAft>
                <a:spcPts val="0"/>
              </a:spcAft>
              <a:buClr>
                <a:schemeClr val="accent2"/>
              </a:buClr>
              <a:buSzPts val="1850"/>
              <a:buChar char="✔"/>
            </a:pPr>
            <a:r>
              <a:rPr lang="en-US" sz="1850"/>
              <a:t>Includes all recommended ads, association memberships, trade show sponsorships</a:t>
            </a:r>
            <a:endParaRPr sz="1850"/>
          </a:p>
          <a:p>
            <a:pPr marL="685800" marR="0" lvl="1" indent="-231775" algn="l" rtl="0">
              <a:lnSpc>
                <a:spcPct val="100000"/>
              </a:lnSpc>
              <a:spcBef>
                <a:spcPts val="1000"/>
              </a:spcBef>
              <a:spcAft>
                <a:spcPts val="0"/>
              </a:spcAft>
              <a:buClr>
                <a:schemeClr val="accent2"/>
              </a:buClr>
              <a:buSzPts val="1850"/>
              <a:buChar char="✔"/>
            </a:pPr>
            <a:r>
              <a:rPr lang="en-US" sz="1850"/>
              <a:t>*need unknowns answered</a:t>
            </a:r>
            <a:endParaRPr sz="1850"/>
          </a:p>
          <a:p>
            <a:pPr marL="685800" marR="0" lvl="0" indent="0" algn="l" rtl="0">
              <a:lnSpc>
                <a:spcPct val="100000"/>
              </a:lnSpc>
              <a:spcBef>
                <a:spcPts val="1000"/>
              </a:spcBef>
              <a:spcAft>
                <a:spcPts val="0"/>
              </a:spcAft>
              <a:buNone/>
            </a:pPr>
            <a:endParaRPr sz="1550"/>
          </a:p>
        </p:txBody>
      </p:sp>
      <p:sp>
        <p:nvSpPr>
          <p:cNvPr id="1402" name="Google Shape;1402;p161"/>
          <p:cNvSpPr txBox="1"/>
          <p:nvPr>
            <p:ph type="body" idx="1"/>
          </p:nvPr>
        </p:nvSpPr>
        <p:spPr>
          <a:xfrm>
            <a:off x="875450" y="5282225"/>
            <a:ext cx="8967600" cy="1087500"/>
          </a:xfrm>
          <a:prstGeom prst="rect">
            <a:avLst/>
          </a:prstGeom>
          <a:noFill/>
          <a:ln>
            <a:noFill/>
          </a:ln>
        </p:spPr>
        <p:txBody>
          <a:bodyPr spcFirstLastPara="1" wrap="square" lIns="91425" tIns="45700" rIns="91425" bIns="45700" anchor="t" anchorCtr="0">
            <a:noAutofit/>
          </a:bodyPr>
          <a:lstStyle/>
          <a:p>
            <a:pPr marL="685800" marR="0" lvl="0" indent="0" algn="l" rtl="0">
              <a:lnSpc>
                <a:spcPct val="100000"/>
              </a:lnSpc>
              <a:spcBef>
                <a:spcPts val="1000"/>
              </a:spcBef>
              <a:spcAft>
                <a:spcPts val="0"/>
              </a:spcAft>
              <a:buNone/>
            </a:pPr>
            <a:r>
              <a:rPr lang="en-US" sz="1750"/>
              <a:t>Unknowns: </a:t>
            </a:r>
            <a:br>
              <a:rPr lang="en-US" sz="1750"/>
            </a:br>
            <a:r>
              <a:rPr lang="en-US" sz="1750" i="1"/>
              <a:t>website </a:t>
            </a:r>
            <a:r>
              <a:rPr lang="en-US" sz="1750" i="1"/>
              <a:t>technology, Hubspot account level, martech stack, execution team, other external suppliers, timing, vendor vs. fractional CMO + your marketing team as a partner.</a:t>
            </a:r>
            <a:endParaRPr sz="1250" i="1"/>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406" name="Shape 1406"/>
        <p:cNvGrpSpPr/>
        <p:nvPr/>
      </p:nvGrpSpPr>
      <p:grpSpPr>
        <a:xfrm>
          <a:off x="0" y="0"/>
          <a:ext cx="0" cy="0"/>
          <a:chOff x="0" y="0"/>
          <a:chExt cx="0" cy="0"/>
        </a:xfrm>
      </p:grpSpPr>
      <p:sp>
        <p:nvSpPr>
          <p:cNvPr id="1407" name="Google Shape;1407;p162"/>
          <p:cNvSpPr txBox="1"/>
          <p:nvPr>
            <p:ph type="title"/>
          </p:nvPr>
        </p:nvSpPr>
        <p:spPr>
          <a:xfrm>
            <a:off x="497275" y="784225"/>
            <a:ext cx="11060400" cy="132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accent2"/>
              </a:buClr>
              <a:buSzPts val="4400"/>
              <a:buFont typeface="Calibri"/>
              <a:buNone/>
            </a:pPr>
            <a:r>
              <a:rPr lang="en-US">
                <a:solidFill>
                  <a:schemeClr val="accent5"/>
                </a:solidFill>
              </a:rPr>
              <a:t>Next Steps:</a:t>
            </a:r>
            <a:endParaRPr>
              <a:solidFill>
                <a:schemeClr val="accent5"/>
              </a:solidFill>
            </a:endParaRPr>
          </a:p>
        </p:txBody>
      </p:sp>
      <p:sp>
        <p:nvSpPr>
          <p:cNvPr id="1408" name="Google Shape;1408;p162"/>
          <p:cNvSpPr txBox="1"/>
          <p:nvPr>
            <p:ph type="body" idx="1"/>
          </p:nvPr>
        </p:nvSpPr>
        <p:spPr>
          <a:xfrm>
            <a:off x="700850" y="1847675"/>
            <a:ext cx="10277400" cy="4509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000"/>
              </a:spcBef>
              <a:spcAft>
                <a:spcPts val="0"/>
              </a:spcAft>
              <a:buNone/>
            </a:pPr>
            <a:endParaRPr sz="2050">
              <a:solidFill>
                <a:schemeClr val="accent2"/>
              </a:solidFill>
            </a:endParaRPr>
          </a:p>
          <a:p>
            <a:pPr marL="685800" marR="0" lvl="1" indent="-231775" algn="l" rtl="0">
              <a:lnSpc>
                <a:spcPct val="100000"/>
              </a:lnSpc>
              <a:spcBef>
                <a:spcPts val="1000"/>
              </a:spcBef>
              <a:spcAft>
                <a:spcPts val="0"/>
              </a:spcAft>
              <a:buClr>
                <a:schemeClr val="accent2"/>
              </a:buClr>
              <a:buSzPts val="1850"/>
              <a:buChar char="✔"/>
            </a:pPr>
            <a:r>
              <a:rPr lang="en-US" sz="1850" b="1"/>
              <a:t>Revise strategy based on feedback today</a:t>
            </a:r>
            <a:endParaRPr sz="1850" b="1"/>
          </a:p>
          <a:p>
            <a:pPr marL="685800" marR="0" lvl="1" indent="-231775" algn="l" rtl="0">
              <a:lnSpc>
                <a:spcPct val="100000"/>
              </a:lnSpc>
              <a:spcBef>
                <a:spcPts val="1000"/>
              </a:spcBef>
              <a:spcAft>
                <a:spcPts val="0"/>
              </a:spcAft>
              <a:buClr>
                <a:schemeClr val="accent2"/>
              </a:buClr>
              <a:buSzPts val="1850"/>
              <a:buChar char="✔"/>
            </a:pPr>
            <a:r>
              <a:rPr lang="en-US" sz="1850" b="1"/>
              <a:t>Deliver strategy &amp; action plan</a:t>
            </a:r>
            <a:endParaRPr sz="1850" b="1"/>
          </a:p>
          <a:p>
            <a:pPr marL="685800" marR="0" lvl="1" indent="-231775" algn="l" rtl="0">
              <a:lnSpc>
                <a:spcPct val="100000"/>
              </a:lnSpc>
              <a:spcBef>
                <a:spcPts val="1000"/>
              </a:spcBef>
              <a:spcAft>
                <a:spcPts val="0"/>
              </a:spcAft>
              <a:buClr>
                <a:schemeClr val="accent2"/>
              </a:buClr>
              <a:buSzPts val="1850"/>
              <a:buChar char="✔"/>
            </a:pPr>
            <a:r>
              <a:rPr lang="en-US" sz="1850" b="1"/>
              <a:t>Deliver proposed budget, resourcing and timelines for approval</a:t>
            </a:r>
            <a:endParaRPr sz="1850" b="1"/>
          </a:p>
          <a:p>
            <a:pPr marL="685800" marR="0" lvl="1" indent="-231775" algn="l" rtl="0">
              <a:lnSpc>
                <a:spcPct val="100000"/>
              </a:lnSpc>
              <a:spcBef>
                <a:spcPts val="1000"/>
              </a:spcBef>
              <a:spcAft>
                <a:spcPts val="0"/>
              </a:spcAft>
              <a:buClr>
                <a:schemeClr val="accent2"/>
              </a:buClr>
              <a:buSzPts val="1850"/>
              <a:buChar char="✔"/>
            </a:pPr>
            <a:r>
              <a:rPr lang="en-US" sz="1850" b="1"/>
              <a:t>Following approval - meet with team and get started!</a:t>
            </a:r>
            <a:endParaRPr sz="1850"/>
          </a:p>
          <a:p>
            <a:pPr marL="685800" marR="0" lvl="0" indent="0" algn="l" rtl="0">
              <a:lnSpc>
                <a:spcPct val="100000"/>
              </a:lnSpc>
              <a:spcBef>
                <a:spcPts val="1000"/>
              </a:spcBef>
              <a:spcAft>
                <a:spcPts val="0"/>
              </a:spcAft>
              <a:buNone/>
            </a:pPr>
            <a:endParaRPr sz="1550"/>
          </a:p>
        </p:txBody>
      </p:sp>
    </p:spTree>
  </p:cSld>
  <p:clrMapOvr>
    <a:masterClrMapping/>
  </p:clrMapOvr>
</p:sld>
</file>

<file path=ppt/theme/theme1.xml><?xml version="1.0" encoding="utf-8"?>
<a:theme xmlns:a="http://schemas.openxmlformats.org/drawingml/2006/main" name="Office Theme">
  <a:themeElements>
    <a:clrScheme name="NIM colors">
      <a:dk1>
        <a:srgbClr val="000000"/>
      </a:dk1>
      <a:lt1>
        <a:srgbClr val="FFFFFF"/>
      </a:lt1>
      <a:dk2>
        <a:srgbClr val="44546A"/>
      </a:dk2>
      <a:lt2>
        <a:srgbClr val="E7E6E6"/>
      </a:lt2>
      <a:accent1>
        <a:srgbClr val="F36E25"/>
      </a:accent1>
      <a:accent2>
        <a:srgbClr val="F7BB49"/>
      </a:accent2>
      <a:accent3>
        <a:srgbClr val="F2E390"/>
      </a:accent3>
      <a:accent4>
        <a:srgbClr val="63C9D7"/>
      </a:accent4>
      <a:accent5>
        <a:srgbClr val="413F5E"/>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76819</Words>
  <Application>WPS Presentation</Application>
  <PresentationFormat/>
  <Paragraphs>2577</Paragraphs>
  <Slides>145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145</vt:i4>
      </vt:variant>
    </vt:vector>
  </HeadingPairs>
  <TitlesOfParts>
    <vt:vector size="159" baseType="lpstr">
      <vt:lpstr>Arial</vt:lpstr>
      <vt:lpstr>SimSun</vt:lpstr>
      <vt:lpstr>Wingdings</vt:lpstr>
      <vt:lpstr>Arial</vt:lpstr>
      <vt:lpstr>Calibri</vt:lpstr>
      <vt:lpstr>Helvetica Neue</vt:lpstr>
      <vt:lpstr>Noto Sans Symbols</vt:lpstr>
      <vt:lpstr>Microsoft YaHei</vt:lpstr>
      <vt:lpstr>汉仪旗黑</vt:lpstr>
      <vt:lpstr>Arial Unicode MS</vt:lpstr>
      <vt:lpstr>Roboto</vt:lpstr>
      <vt:lpstr>Thonburi</vt:lpstr>
      <vt:lpstr>宋体-简</vt:lpstr>
      <vt:lpstr>Office Theme</vt:lpstr>
      <vt:lpstr>Marketing Strategy</vt:lpstr>
      <vt:lpstr>Agenda &amp; Purpose</vt:lpstr>
      <vt:lpstr>Marketing Strategy - Stages</vt:lpstr>
      <vt:lpstr>Goals</vt:lpstr>
      <vt:lpstr>marketing foundation - messaging, positioning &amp; branding</vt:lpstr>
      <vt:lpstr>marketing foundation - messaging, positioning &amp; branding</vt:lpstr>
      <vt:lpstr>marketing foundation - website, core content &amp; funnels</vt:lpstr>
      <vt:lpstr>marketing foundation - website, core content &amp; funnels</vt:lpstr>
      <vt:lpstr>marketing foundation - website, core content &amp; funnels</vt:lpstr>
      <vt:lpstr>marketing awareness</vt:lpstr>
      <vt:lpstr>marketing lead generation (inbound) </vt:lpstr>
      <vt:lpstr>marketing lead generation (outbound) </vt:lpstr>
      <vt:lpstr>Overview</vt:lpstr>
      <vt:lpstr>Marketing Strategy Overview Customer Journey </vt:lpstr>
      <vt:lpstr>Marketing Hourglass Review</vt:lpstr>
      <vt:lpstr>Marketing Strategy - Overview Summary</vt:lpstr>
      <vt:lpstr>Marketing Strategy Overview</vt:lpstr>
      <vt:lpstr>Actions</vt:lpstr>
      <vt:lpstr>Marketing Foundation Goals</vt:lpstr>
      <vt:lpstr>marketing foundation</vt:lpstr>
      <vt:lpstr>marketing foundation - personas</vt:lpstr>
      <vt:lpstr>marketing foundation - personas</vt:lpstr>
      <vt:lpstr>marketing foundation - personas</vt:lpstr>
      <vt:lpstr>marketing foundation - personas</vt:lpstr>
      <vt:lpstr>marketing foundation - personas</vt:lpstr>
      <vt:lpstr>marketing foundation - personas</vt:lpstr>
      <vt:lpstr>marketing foundation - personas</vt:lpstr>
      <vt:lpstr>marketing foundation - personas</vt:lpstr>
      <vt:lpstr>marketing foundation - personas</vt:lpstr>
      <vt:lpstr>Customer Journey Example: Marketing Calendar</vt:lpstr>
      <vt:lpstr>Customer Journey Example: Distro</vt:lpstr>
      <vt:lpstr>marketing foundation</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Example: Core Difference</vt:lpstr>
      <vt:lpstr>marketing foundation - messaging, positioning &amp; branding</vt:lpstr>
      <vt:lpstr>Corporate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 - messaging, positioning &amp; branding</vt:lpstr>
      <vt:lpstr>marketing foundation</vt:lpstr>
      <vt:lpstr>Key Insights: Website review</vt:lpstr>
      <vt:lpstr>Website New Navigation &amp; Flow</vt:lpstr>
      <vt:lpstr>marketing foundation</vt:lpstr>
      <vt:lpstr>Persona Funnels</vt:lpstr>
      <vt:lpstr>Persona Funnels</vt:lpstr>
      <vt:lpstr>Persona Funnels</vt:lpstr>
      <vt:lpstr>Persona Funnels</vt:lpstr>
      <vt:lpstr>marketing foundation</vt:lpstr>
      <vt:lpstr>B2B Marketing Kit</vt:lpstr>
      <vt:lpstr>B2B Marketing Kit</vt:lpstr>
      <vt:lpstr>B2B Marketing Kit</vt:lpstr>
      <vt:lpstr>B2B Marketing Kit</vt:lpstr>
      <vt:lpstr>B2B Marketing Kit</vt:lpstr>
      <vt:lpstr>B2B Marketing Kit</vt:lpstr>
      <vt:lpstr>B2B Marketing Kit</vt:lpstr>
      <vt:lpstr>B2B Marketing Kit</vt:lpstr>
      <vt:lpstr>Actions</vt:lpstr>
      <vt:lpstr>awareness </vt:lpstr>
      <vt:lpstr>awareness</vt:lpstr>
      <vt:lpstr>awareness - media relations</vt:lpstr>
      <vt:lpstr>awareness - media relations</vt:lpstr>
      <vt:lpstr>lead generation (inbound) - content marketing &amp; social media</vt:lpstr>
      <vt:lpstr>awareness - media relations</vt:lpstr>
      <vt:lpstr>awareness</vt:lpstr>
      <vt:lpstr>awareness - analyst relations</vt:lpstr>
      <vt:lpstr>awareness</vt:lpstr>
      <vt:lpstr>awareness - influencer relations</vt:lpstr>
      <vt:lpstr>awareness - influencer relations</vt:lpstr>
      <vt:lpstr>awareness</vt:lpstr>
      <vt:lpstr>awareness - sourcing teams</vt:lpstr>
      <vt:lpstr>awareness - sourcing teams</vt:lpstr>
      <vt:lpstr>awareness - sourcing teams</vt:lpstr>
      <vt:lpstr>Actions</vt:lpstr>
      <vt:lpstr>lead generation (inbound) - overview</vt:lpstr>
      <vt:lpstr>lead generation (inbound) - keyword research</vt:lpstr>
      <vt:lpstr>lead generation (inbound) - keywords &amp; SEO </vt:lpstr>
      <vt:lpstr>lead generation (inbound) - keyword research</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hub pages</vt:lpstr>
      <vt:lpstr>lead generation (inbound) - content marketing &amp; social media</vt:lpstr>
      <vt:lpstr>lead generation (inbound) - review sites &amp; online listings</vt:lpstr>
      <vt:lpstr>SAAS Review Sites &amp; Requesting Reviews</vt:lpstr>
      <vt:lpstr>lead generation (inbound) - review sites &amp; online listings</vt:lpstr>
      <vt:lpstr>lead generation (inbound) - review sites &amp; online listings</vt:lpstr>
      <vt:lpstr>lead generation (inbound) - review sites &amp; online listings</vt:lpstr>
      <vt:lpstr>lead generation (inbound) - review sites &amp; online listings</vt:lpstr>
      <vt:lpstr>lead generation (inbound) - content marketing &amp; social media</vt:lpstr>
      <vt:lpstr>lead generation (inbound) - content marketing &amp; social media</vt:lpstr>
      <vt:lpstr>lead generation (inbound) - content marketing &amp; social media</vt:lpstr>
      <vt:lpstr>lead generation (inbound) - content marketing &amp; social media</vt:lpstr>
      <vt:lpstr>lead generation (inbound) - content marketing &amp; social media</vt:lpstr>
      <vt:lpstr>Newsletter</vt:lpstr>
      <vt:lpstr>Actions</vt:lpstr>
      <vt:lpstr>lead generation (outbound) </vt:lpstr>
      <vt:lpstr>lead generation (outbound) </vt:lpstr>
      <vt:lpstr>awareness - media relations</vt:lpstr>
      <vt:lpstr>lead generation (outbound) - associations &amp; events</vt:lpstr>
      <vt:lpstr>lead generation (outbound) - associations &amp; events </vt:lpstr>
      <vt:lpstr>lead generation (outbound) - associations &amp; events </vt:lpstr>
      <vt:lpstr>lead generation (outbound) - associations &amp; events </vt:lpstr>
      <vt:lpstr>lead generation (outbound) - associations &amp; events </vt:lpstr>
      <vt:lpstr>lead generation (outbound) - associations &amp; events </vt:lpstr>
      <vt:lpstr>lead generation (outbound) - associations &amp; events </vt:lpstr>
      <vt:lpstr>lead generation (outbound) - associations &amp; events </vt:lpstr>
      <vt:lpstr>lead generation (outbound) - associations &amp; events </vt:lpstr>
      <vt:lpstr>lead generation (outbound) - associations &amp; events </vt:lpstr>
      <vt:lpstr>lead generation (outbound) </vt:lpstr>
      <vt:lpstr>lead generation (outbound) - targeted account campaigns</vt:lpstr>
      <vt:lpstr>lead generation (outbound) </vt:lpstr>
      <vt:lpstr>lead generation (outbound) - social media advertising</vt:lpstr>
      <vt:lpstr>lead generation (outbound) - social media advertising</vt:lpstr>
      <vt:lpstr>lead generation (outbound) - social media advertising</vt:lpstr>
      <vt:lpstr>lead generation (outbound) - social media advertising</vt:lpstr>
      <vt:lpstr>lead generation (outbound) </vt:lpstr>
      <vt:lpstr>lead generation (outbound) - google advertising</vt:lpstr>
      <vt:lpstr>lead generation (outbound) - google advertising</vt:lpstr>
      <vt:lpstr>Action Plan &amp; Next Steps</vt:lpstr>
      <vt:lpstr>Budget</vt:lpstr>
      <vt:lpstr>Next Steps: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
  <cp:lastModifiedBy>drashtibhatt</cp:lastModifiedBy>
  <cp:revision>1</cp:revision>
  <dcterms:created xsi:type="dcterms:W3CDTF">2026-10-15T14:21:28Z</dcterms:created>
  <dcterms:modified xsi:type="dcterms:W3CDTF">2026-10-15T14:21:28Z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3B8FF3843ACFB5D268E1D06A0F7D765B_42</vt:lpwstr>
  </property>
</Properties>
</file>