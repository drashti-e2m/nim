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8" r:id="rId5"/>
    <p:sldMasterId id="214748367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29">
          <p15:clr>
            <a:srgbClr val="A4A3A4"/>
          </p15:clr>
        </p15:guide>
        <p15:guide id="2" pos="3744">
          <p15:clr>
            <a:srgbClr val="A4A3A4"/>
          </p15:clr>
        </p15:guide>
        <p15:guide id="3" orient="horz">
          <p15:clr>
            <a:srgbClr val="9AA0A6"/>
          </p15:clr>
        </p15:guide>
        <p15:guide id="4" orient="horz" pos="21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BBB0059-F52F-4E20-A1E7-41198E15CC08}">
  <a:tblStyle styleId="{5BBB0059-F52F-4E20-A1E7-41198E15CC0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E18FF08-E23F-4524-BA8D-48A48CBE8C8F}" styleName="Table_1">
    <a:wholeTbl>
      <a:tcTxStyle>
        <a:font>
          <a:latin typeface="Arial"/>
          <a:ea typeface="Arial"/>
          <a:cs typeface="Arial"/>
        </a:font>
        <a:srgbClr val="000000"/>
      </a:tcTxStyle>
      <a:tcStyle>
        <a:tcBdr>
          <a:left>
            <a:ln cap="flat" cmpd="sng">
              <a:solidFill>
                <a:srgbClr val="808080"/>
              </a:solidFill>
              <a:prstDash val="solid"/>
              <a:round/>
              <a:headEnd len="sm" w="sm" type="none"/>
              <a:tailEnd len="sm" w="sm" type="none"/>
            </a:ln>
          </a:left>
          <a:right>
            <a:ln cap="flat" cmpd="sng">
              <a:solidFill>
                <a:srgbClr val="808080"/>
              </a:solidFill>
              <a:prstDash val="solid"/>
              <a:round/>
              <a:headEnd len="sm" w="sm" type="none"/>
              <a:tailEnd len="sm" w="sm" type="none"/>
            </a:ln>
          </a:right>
          <a:top>
            <a:ln cap="flat" cmpd="sng">
              <a:solidFill>
                <a:srgbClr val="808080"/>
              </a:solidFill>
              <a:prstDash val="solid"/>
              <a:round/>
              <a:headEnd len="sm" w="sm" type="none"/>
              <a:tailEnd len="sm" w="sm" type="none"/>
            </a:ln>
          </a:top>
          <a:bottom>
            <a:ln cap="flat" cmpd="sng">
              <a:solidFill>
                <a:srgbClr val="808080"/>
              </a:solidFill>
              <a:prstDash val="solid"/>
              <a:round/>
              <a:headEnd len="sm" w="sm" type="none"/>
              <a:tailEnd len="sm" w="sm" type="none"/>
            </a:ln>
          </a:bottom>
          <a:insideH>
            <a:ln cap="flat" cmpd="sng">
              <a:solidFill>
                <a:srgbClr val="808080"/>
              </a:solidFill>
              <a:prstDash val="solid"/>
              <a:round/>
              <a:headEnd len="sm" w="sm" type="none"/>
              <a:tailEnd len="sm" w="sm" type="none"/>
            </a:ln>
          </a:insideH>
          <a:insideV>
            <a:ln cap="flat" cmpd="sng">
              <a:solidFill>
                <a:srgbClr val="80808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29" orient="horz"/>
        <p:guide pos="3744"/>
        <p:guide orient="horz"/>
        <p:guide pos="21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slide" Target="slides/slide73.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31" Type="http://schemas.openxmlformats.org/officeDocument/2006/relationships/slide" Target="slides/slide24.xml"/><Relationship Id="rId75" Type="http://schemas.openxmlformats.org/officeDocument/2006/relationships/slide" Target="slides/slide68.xml"/><Relationship Id="rId30" Type="http://schemas.openxmlformats.org/officeDocument/2006/relationships/slide" Target="slides/slide23.xml"/><Relationship Id="rId74" Type="http://schemas.openxmlformats.org/officeDocument/2006/relationships/slide" Target="slides/slide67.xml"/><Relationship Id="rId33" Type="http://schemas.openxmlformats.org/officeDocument/2006/relationships/slide" Target="slides/slide26.xml"/><Relationship Id="rId77" Type="http://schemas.openxmlformats.org/officeDocument/2006/relationships/slide" Target="slides/slide70.xml"/><Relationship Id="rId32" Type="http://schemas.openxmlformats.org/officeDocument/2006/relationships/slide" Target="slides/slide25.xml"/><Relationship Id="rId76" Type="http://schemas.openxmlformats.org/officeDocument/2006/relationships/slide" Target="slides/slide69.xml"/><Relationship Id="rId35" Type="http://schemas.openxmlformats.org/officeDocument/2006/relationships/slide" Target="slides/slide28.xml"/><Relationship Id="rId79" Type="http://schemas.openxmlformats.org/officeDocument/2006/relationships/slide" Target="slides/slide72.xml"/><Relationship Id="rId34" Type="http://schemas.openxmlformats.org/officeDocument/2006/relationships/slide" Target="slides/slide27.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3e31d0c77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g33e31d0c77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50e1ec065f_0_1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350e1ec065f_0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50e1ec065f_0_2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350e1ec065f_0_2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50e1ec065f_0_2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350e1ec065f_0_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50e1ec065f_0_2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g350e1ec065f_0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50e1ec065f_0_2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g350e1ec065f_0_2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50e1ec065f_0_4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50e1ec065f_0_4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50e1ec065f_0_2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350e1ec065f_0_2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50e1ec065f_0_4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g350e1ec065f_0_4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50e1ec065f_0_2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g350e1ec065f_0_2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50e1ec065f_0_12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g350e1ec065f_0_1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46795581a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g346795581a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46795581aa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g346795581aa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3e36c7238c_0_20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g33e36c7238c_0_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50e1ec065f_0_13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 </a:t>
            </a:r>
            <a:endParaRPr/>
          </a:p>
        </p:txBody>
      </p:sp>
      <p:sp>
        <p:nvSpPr>
          <p:cNvPr id="347" name="Google Shape;347;g350e1ec065f_0_13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50e1ec065f_0_13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g350e1ec065f_0_13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50e1ec065f_0_14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g350e1ec065f_0_14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50e1ec065f_0_11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g350e1ec065f_0_1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3e36c7238c_0_2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g33e36c7238c_0_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3e36c7238c_0_2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g33e36c7238c_0_2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50e1ec065f_0_15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g350e1ec065f_0_15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473db23749_0_2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g3473db23749_0_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46795581aa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g346795581aa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3e36c7238c_0_2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g33e36c7238c_0_2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473db23749_0_3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g3473db23749_0_3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50e1ec065f_0_4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g350e1ec065f_0_4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50e1ec065f_0_4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g350e1ec065f_0_4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50e1ec065f_0_4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g350e1ec065f_0_4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50e1ec065f_0_15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g350e1ec065f_0_15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473db23749_0_4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g3473db23749_0_4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473db23749_0_6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g3473db23749_0_6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473db23749_0_8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g3473db23749_0_8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473db23749_0_8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g3473db23749_0_8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473db23749_0_8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g3473db23749_0_8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50e1ec065f_0_15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g350e1ec065f_0_15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50e1ec065f_0_15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g350e1ec065f_0_15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473db23749_0_11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g3473db23749_0_1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473db23749_0_11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g3473db23749_0_1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50e1ec065f_0_15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g350e1ec065f_0_15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50e1ec065f_0_15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g350e1ec065f_0_15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50e1ec065f_0_15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g350e1ec065f_0_15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50e1ec065f_0_15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g350e1ec065f_0_15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50e1ec065f_0_159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 name="Google Shape;563;g350e1ec065f_0_15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50e1ec065f_0_15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g350e1ec065f_0_15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473db23749_0_9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g3473db23749_0_9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473db23749_0_9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g3473db23749_0_9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5187f8197a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g35187f8197a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50e1ec065f_0_16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7" name="Google Shape;627;g350e1ec065f_0_16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50e1ec065f_0_16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g350e1ec065f_0_16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50e1ec065f_0_8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g350e1ec065f_0_8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50e1ec065f_0_16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8" name="Google Shape;648;g350e1ec065f_0_16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5187f8197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g35187f8197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50e1ec065f_0_16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g350e1ec065f_0_16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50e1ec065f_0_16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g350e1ec065f_0_16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50e1ec065f_0_16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8" name="Google Shape;678;g350e1ec065f_0_16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50e1ec065f_0_16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g350e1ec065f_0_16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50e1ec065f_0_8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2" name="Google Shape;692;g350e1ec065f_0_8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50e1ec065f_0_8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g350e1ec065f_0_8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50e1ec065f_0_8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7" name="Google Shape;707;g350e1ec065f_0_8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50e1ec065f_0_15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5" name="Google Shape;715;g350e1ec065f_0_15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50e1ec065f_0_8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3" name="Google Shape;723;g350e1ec065f_0_8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50e1ec065f_0_15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g350e1ec065f_0_15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50e1ec065f_0_16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 name="Google Shape;737;g350e1ec065f_0_16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50e1ec065f_0_4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4" name="Google Shape;744;g350e1ec065f_0_4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50e1ec065f_0_10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0" name="Google Shape;750;g350e1ec065f_0_10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50e1ec065f_0_4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7" name="Google Shape;757;g350e1ec065f_0_4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50e1ec065f_0_10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g350e1ec065f_0_10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50e1ec065f_0_10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3" name="Google Shape;773;g350e1ec065f_0_10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50e1ec065f_0_10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1" name="Google Shape;781;g350e1ec065f_0_10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50e1ec065f_0_16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g350e1ec065f_0_16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50e1ec065f_0_17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6" name="Google Shape;796;g350e1ec065f_0_17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1434eda91d1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3" name="Google Shape;803;g1434eda91d1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 name="Shape 15"/>
        <p:cNvGrpSpPr/>
        <p:nvPr/>
      </p:nvGrpSpPr>
      <p:grpSpPr>
        <a:xfrm>
          <a:off x="0" y="0"/>
          <a:ext cx="0" cy="0"/>
          <a:chOff x="0" y="0"/>
          <a:chExt cx="0" cy="0"/>
        </a:xfrm>
      </p:grpSpPr>
      <p:pic>
        <p:nvPicPr>
          <p:cNvPr id="16" name="Google Shape;16;p2"/>
          <p:cNvPicPr preferRelativeResize="0"/>
          <p:nvPr/>
        </p:nvPicPr>
        <p:blipFill rotWithShape="1">
          <a:blip r:embed="rId2">
            <a:alphaModFix/>
          </a:blip>
          <a:srcRect b="0" l="1" r="32964" t="39928"/>
          <a:stretch/>
        </p:blipFill>
        <p:spPr>
          <a:xfrm>
            <a:off x="1714500" y="-1"/>
            <a:ext cx="10477500" cy="6496051"/>
          </a:xfrm>
          <a:prstGeom prst="rect">
            <a:avLst/>
          </a:prstGeom>
          <a:noFill/>
          <a:ln>
            <a:noFill/>
          </a:ln>
        </p:spPr>
      </p:pic>
      <p:sp>
        <p:nvSpPr>
          <p:cNvPr id="17" name="Google Shape;17;p2"/>
          <p:cNvSpPr txBox="1"/>
          <p:nvPr>
            <p:ph type="ctrTitle"/>
          </p:nvPr>
        </p:nvSpPr>
        <p:spPr>
          <a:xfrm>
            <a:off x="723900" y="3133664"/>
            <a:ext cx="5372100" cy="1296194"/>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accent1"/>
              </a:buClr>
              <a:buSzPts val="5400"/>
              <a:buFont typeface="Calibri"/>
              <a:buNone/>
              <a:defRPr sz="54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0" type="dt"/>
          </p:nvPr>
        </p:nvSpPr>
        <p:spPr>
          <a:xfrm>
            <a:off x="838200" y="5901897"/>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20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Logo&#10;&#10;Description automatically generated" id="21" name="Google Shape;21;p2"/>
          <p:cNvPicPr preferRelativeResize="0"/>
          <p:nvPr/>
        </p:nvPicPr>
        <p:blipFill rotWithShape="1">
          <a:blip r:embed="rId3">
            <a:alphaModFix/>
          </a:blip>
          <a:srcRect b="0" l="0" r="0" t="0"/>
          <a:stretch/>
        </p:blipFill>
        <p:spPr>
          <a:xfrm>
            <a:off x="10026684" y="646174"/>
            <a:ext cx="1430036" cy="156759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3"/>
          <p:cNvSpPr txBox="1"/>
          <p:nvPr>
            <p:ph type="title"/>
          </p:nvPr>
        </p:nvSpPr>
        <p:spPr>
          <a:xfrm>
            <a:off x="838200" y="784225"/>
            <a:ext cx="10515600"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2"/>
              </a:buClr>
              <a:buSzPts val="44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3"/>
          <p:cNvSpPr/>
          <p:nvPr/>
        </p:nvSpPr>
        <p:spPr>
          <a:xfrm>
            <a:off x="838198" y="655794"/>
            <a:ext cx="10515599" cy="262616"/>
          </a:xfrm>
          <a:custGeom>
            <a:rect b="b" l="l" r="r" t="t"/>
            <a:pathLst>
              <a:path extrusionOk="0" h="134683" w="5329428">
                <a:moveTo>
                  <a:pt x="0" y="0"/>
                </a:moveTo>
                <a:lnTo>
                  <a:pt x="5152263" y="0"/>
                </a:lnTo>
                <a:lnTo>
                  <a:pt x="5329428" y="134684"/>
                </a:lnTo>
              </a:path>
            </a:pathLst>
          </a:custGeom>
          <a:noFill/>
          <a:ln cap="flat" cmpd="sng" w="9525">
            <a:solidFill>
              <a:srgbClr val="F36E2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3"/>
          <p:cNvSpPr/>
          <p:nvPr/>
        </p:nvSpPr>
        <p:spPr>
          <a:xfrm>
            <a:off x="9637485" y="6476186"/>
            <a:ext cx="2554876" cy="379904"/>
          </a:xfrm>
          <a:custGeom>
            <a:rect b="b" l="l" r="r" t="t"/>
            <a:pathLst>
              <a:path extrusionOk="0" h="379904" w="2554876">
                <a:moveTo>
                  <a:pt x="2554877" y="0"/>
                </a:moveTo>
                <a:lnTo>
                  <a:pt x="2554877" y="379905"/>
                </a:lnTo>
                <a:lnTo>
                  <a:pt x="0" y="379905"/>
                </a:lnTo>
                <a:lnTo>
                  <a:pt x="0" y="0"/>
                </a:lnTo>
                <a:lnTo>
                  <a:pt x="1324801" y="0"/>
                </a:lnTo>
                <a:lnTo>
                  <a:pt x="1762523" y="308815"/>
                </a:lnTo>
                <a:lnTo>
                  <a:pt x="1762523" y="0"/>
                </a:lnTo>
                <a:lnTo>
                  <a:pt x="2554877" y="0"/>
                </a:lnTo>
                <a:close/>
              </a:path>
            </a:pathLst>
          </a:custGeom>
          <a:solidFill>
            <a:srgbClr val="62C9D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3"/>
          <p:cNvSpPr/>
          <p:nvPr/>
        </p:nvSpPr>
        <p:spPr>
          <a:xfrm>
            <a:off x="0" y="6476186"/>
            <a:ext cx="9637485" cy="379904"/>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1" name="Google Shape;31;p3"/>
          <p:cNvPicPr preferRelativeResize="0"/>
          <p:nvPr/>
        </p:nvPicPr>
        <p:blipFill rotWithShape="1">
          <a:blip r:embed="rId2">
            <a:alphaModFix/>
          </a:blip>
          <a:srcRect b="0" l="0" r="0" t="0"/>
          <a:stretch/>
        </p:blipFill>
        <p:spPr>
          <a:xfrm>
            <a:off x="10053634" y="5948363"/>
            <a:ext cx="1300163" cy="228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32" name="Shape 32"/>
        <p:cNvGrpSpPr/>
        <p:nvPr/>
      </p:nvGrpSpPr>
      <p:grpSpPr>
        <a:xfrm>
          <a:off x="0" y="0"/>
          <a:ext cx="0" cy="0"/>
          <a:chOff x="0" y="0"/>
          <a:chExt cx="0" cy="0"/>
        </a:xfrm>
      </p:grpSpPr>
      <p:sp>
        <p:nvSpPr>
          <p:cNvPr id="33" name="Google Shape;33;p4"/>
          <p:cNvSpPr txBox="1"/>
          <p:nvPr>
            <p:ph type="title"/>
          </p:nvPr>
        </p:nvSpPr>
        <p:spPr>
          <a:xfrm>
            <a:off x="838200" y="784225"/>
            <a:ext cx="10515600"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2"/>
              </a:buClr>
              <a:buSzPts val="44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8" name="Google Shape;38;p4"/>
          <p:cNvSpPr/>
          <p:nvPr/>
        </p:nvSpPr>
        <p:spPr>
          <a:xfrm>
            <a:off x="838198" y="655794"/>
            <a:ext cx="10515599" cy="262616"/>
          </a:xfrm>
          <a:custGeom>
            <a:rect b="b" l="l" r="r" t="t"/>
            <a:pathLst>
              <a:path extrusionOk="0" h="134683" w="5329428">
                <a:moveTo>
                  <a:pt x="0" y="0"/>
                </a:moveTo>
                <a:lnTo>
                  <a:pt x="5152263" y="0"/>
                </a:lnTo>
                <a:lnTo>
                  <a:pt x="5329428" y="134684"/>
                </a:lnTo>
              </a:path>
            </a:pathLst>
          </a:custGeom>
          <a:noFill/>
          <a:ln cap="flat" cmpd="sng" w="9525">
            <a:solidFill>
              <a:srgbClr val="F36E2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4"/>
          <p:cNvSpPr/>
          <p:nvPr/>
        </p:nvSpPr>
        <p:spPr>
          <a:xfrm>
            <a:off x="9637485" y="6476186"/>
            <a:ext cx="2554876" cy="379904"/>
          </a:xfrm>
          <a:custGeom>
            <a:rect b="b" l="l" r="r" t="t"/>
            <a:pathLst>
              <a:path extrusionOk="0" h="379904" w="2554876">
                <a:moveTo>
                  <a:pt x="2554877" y="0"/>
                </a:moveTo>
                <a:lnTo>
                  <a:pt x="2554877" y="379905"/>
                </a:lnTo>
                <a:lnTo>
                  <a:pt x="0" y="379905"/>
                </a:lnTo>
                <a:lnTo>
                  <a:pt x="0" y="0"/>
                </a:lnTo>
                <a:lnTo>
                  <a:pt x="1324801" y="0"/>
                </a:lnTo>
                <a:lnTo>
                  <a:pt x="1762523" y="308815"/>
                </a:lnTo>
                <a:lnTo>
                  <a:pt x="1762523" y="0"/>
                </a:lnTo>
                <a:lnTo>
                  <a:pt x="2554877"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4"/>
          <p:cNvSpPr/>
          <p:nvPr/>
        </p:nvSpPr>
        <p:spPr>
          <a:xfrm>
            <a:off x="0" y="6476186"/>
            <a:ext cx="9637485" cy="37990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1" name="Google Shape;41;p4"/>
          <p:cNvPicPr preferRelativeResize="0"/>
          <p:nvPr/>
        </p:nvPicPr>
        <p:blipFill rotWithShape="1">
          <a:blip r:embed="rId2">
            <a:alphaModFix/>
          </a:blip>
          <a:srcRect b="0" l="0" r="0" t="0"/>
          <a:stretch/>
        </p:blipFill>
        <p:spPr>
          <a:xfrm>
            <a:off x="10053634" y="5948363"/>
            <a:ext cx="1300163" cy="2286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42" name="Shape 42"/>
        <p:cNvGrpSpPr/>
        <p:nvPr/>
      </p:nvGrpSpPr>
      <p:grpSpPr>
        <a:xfrm>
          <a:off x="0" y="0"/>
          <a:ext cx="0" cy="0"/>
          <a:chOff x="0" y="0"/>
          <a:chExt cx="0" cy="0"/>
        </a:xfrm>
      </p:grpSpPr>
      <p:sp>
        <p:nvSpPr>
          <p:cNvPr id="43" name="Google Shape;43;p5"/>
          <p:cNvSpPr txBox="1"/>
          <p:nvPr>
            <p:ph type="ctrTitle"/>
          </p:nvPr>
        </p:nvSpPr>
        <p:spPr>
          <a:xfrm>
            <a:off x="5981700" y="2780903"/>
            <a:ext cx="5372100" cy="1296194"/>
          </a:xfrm>
          <a:prstGeom prst="rect">
            <a:avLst/>
          </a:prstGeom>
          <a:noFill/>
          <a:ln>
            <a:noFill/>
          </a:ln>
        </p:spPr>
        <p:txBody>
          <a:bodyPr anchorCtr="0" anchor="b" bIns="45700" lIns="91425" spcFirstLastPara="1" rIns="91425" wrap="square" tIns="45700">
            <a:noAutofit/>
          </a:bodyPr>
          <a:lstStyle>
            <a:lvl1pPr lvl="0" algn="r">
              <a:lnSpc>
                <a:spcPct val="90000"/>
              </a:lnSpc>
              <a:spcBef>
                <a:spcPts val="0"/>
              </a:spcBef>
              <a:spcAft>
                <a:spcPts val="0"/>
              </a:spcAft>
              <a:buClr>
                <a:schemeClr val="accent1"/>
              </a:buClr>
              <a:buSzPts val="5400"/>
              <a:buFont typeface="Calibri"/>
              <a:buNone/>
              <a:defRPr sz="54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
          <p:cNvSpPr txBox="1"/>
          <p:nvPr>
            <p:ph idx="10" type="dt"/>
          </p:nvPr>
        </p:nvSpPr>
        <p:spPr>
          <a:xfrm>
            <a:off x="8610600" y="590189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sz="20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7" name="Google Shape;47;p5"/>
          <p:cNvPicPr preferRelativeResize="0"/>
          <p:nvPr/>
        </p:nvPicPr>
        <p:blipFill rotWithShape="1">
          <a:blip r:embed="rId2">
            <a:alphaModFix/>
          </a:blip>
          <a:srcRect b="46699" l="59298" r="24139" t="30195"/>
          <a:stretch/>
        </p:blipFill>
        <p:spPr>
          <a:xfrm flipH="1">
            <a:off x="-3" y="-9525"/>
            <a:ext cx="7312075" cy="6867526"/>
          </a:xfrm>
          <a:prstGeom prst="rect">
            <a:avLst/>
          </a:prstGeom>
          <a:noFill/>
          <a:ln>
            <a:noFill/>
          </a:ln>
        </p:spPr>
      </p:pic>
      <p:pic>
        <p:nvPicPr>
          <p:cNvPr id="48" name="Google Shape;48;p5"/>
          <p:cNvPicPr preferRelativeResize="0"/>
          <p:nvPr/>
        </p:nvPicPr>
        <p:blipFill rotWithShape="1">
          <a:blip r:embed="rId3">
            <a:alphaModFix/>
          </a:blip>
          <a:srcRect b="0" l="0" r="0" t="0"/>
          <a:stretch/>
        </p:blipFill>
        <p:spPr>
          <a:xfrm>
            <a:off x="8813798" y="590978"/>
            <a:ext cx="2540002" cy="44659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49" name="Shape 49"/>
        <p:cNvGrpSpPr/>
        <p:nvPr/>
      </p:nvGrpSpPr>
      <p:grpSpPr>
        <a:xfrm>
          <a:off x="0" y="0"/>
          <a:ext cx="0" cy="0"/>
          <a:chOff x="0" y="0"/>
          <a:chExt cx="0" cy="0"/>
        </a:xfrm>
      </p:grpSpPr>
      <p:sp>
        <p:nvSpPr>
          <p:cNvPr id="50" name="Google Shape;50;p6"/>
          <p:cNvSpPr txBox="1"/>
          <p:nvPr>
            <p:ph type="title"/>
          </p:nvPr>
        </p:nvSpPr>
        <p:spPr>
          <a:xfrm>
            <a:off x="838200" y="784225"/>
            <a:ext cx="10515600"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2"/>
              </a:buClr>
              <a:buSzPts val="44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5" name="Google Shape;55;p6"/>
          <p:cNvSpPr/>
          <p:nvPr/>
        </p:nvSpPr>
        <p:spPr>
          <a:xfrm>
            <a:off x="9637485" y="6476186"/>
            <a:ext cx="2554876" cy="379904"/>
          </a:xfrm>
          <a:custGeom>
            <a:rect b="b" l="l" r="r" t="t"/>
            <a:pathLst>
              <a:path extrusionOk="0" h="379904" w="2554876">
                <a:moveTo>
                  <a:pt x="2554877" y="0"/>
                </a:moveTo>
                <a:lnTo>
                  <a:pt x="2554877" y="379905"/>
                </a:lnTo>
                <a:lnTo>
                  <a:pt x="0" y="379905"/>
                </a:lnTo>
                <a:lnTo>
                  <a:pt x="0" y="0"/>
                </a:lnTo>
                <a:lnTo>
                  <a:pt x="1324801" y="0"/>
                </a:lnTo>
                <a:lnTo>
                  <a:pt x="1762523" y="308815"/>
                </a:lnTo>
                <a:lnTo>
                  <a:pt x="1762523" y="0"/>
                </a:lnTo>
                <a:lnTo>
                  <a:pt x="2554877" y="0"/>
                </a:lnTo>
                <a:close/>
              </a:path>
            </a:pathLst>
          </a:custGeom>
          <a:solidFill>
            <a:srgbClr val="62C9D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6"/>
          <p:cNvSpPr/>
          <p:nvPr/>
        </p:nvSpPr>
        <p:spPr>
          <a:xfrm>
            <a:off x="0" y="6476186"/>
            <a:ext cx="9637485" cy="379904"/>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7" name="Google Shape;57;p6"/>
          <p:cNvPicPr preferRelativeResize="0"/>
          <p:nvPr/>
        </p:nvPicPr>
        <p:blipFill rotWithShape="1">
          <a:blip r:embed="rId2">
            <a:alphaModFix/>
          </a:blip>
          <a:srcRect b="0" l="0" r="0" t="0"/>
          <a:stretch/>
        </p:blipFill>
        <p:spPr>
          <a:xfrm>
            <a:off x="8813798" y="5788487"/>
            <a:ext cx="2540002" cy="446594"/>
          </a:xfrm>
          <a:prstGeom prst="rect">
            <a:avLst/>
          </a:prstGeom>
          <a:noFill/>
          <a:ln>
            <a:noFill/>
          </a:ln>
        </p:spPr>
      </p:pic>
      <p:pic>
        <p:nvPicPr>
          <p:cNvPr id="58" name="Google Shape;58;p6"/>
          <p:cNvPicPr preferRelativeResize="0"/>
          <p:nvPr/>
        </p:nvPicPr>
        <p:blipFill rotWithShape="1">
          <a:blip r:embed="rId3">
            <a:alphaModFix/>
          </a:blip>
          <a:srcRect b="55217" l="9574" r="13719" t="38875"/>
          <a:stretch/>
        </p:blipFill>
        <p:spPr>
          <a:xfrm>
            <a:off x="0" y="-1"/>
            <a:ext cx="12192000" cy="64961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5" name="Shape 65"/>
        <p:cNvGrpSpPr/>
        <p:nvPr/>
      </p:nvGrpSpPr>
      <p:grpSpPr>
        <a:xfrm>
          <a:off x="0" y="0"/>
          <a:ext cx="0" cy="0"/>
          <a:chOff x="0" y="0"/>
          <a:chExt cx="0" cy="0"/>
        </a:xfrm>
      </p:grpSpPr>
      <p:sp>
        <p:nvSpPr>
          <p:cNvPr id="66" name="Google Shape;6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2" name="Shape 72"/>
        <p:cNvGrpSpPr/>
        <p:nvPr/>
      </p:nvGrpSpPr>
      <p:grpSpPr>
        <a:xfrm>
          <a:off x="0" y="0"/>
          <a:ext cx="0" cy="0"/>
          <a:chOff x="0" y="0"/>
          <a:chExt cx="0" cy="0"/>
        </a:xfrm>
      </p:grpSpPr>
      <p:sp>
        <p:nvSpPr>
          <p:cNvPr id="73" name="Google Shape;73;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5" name="Google Shape;75;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7" name="Google Shape;77;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0" name="Shape 90"/>
        <p:cNvGrpSpPr/>
        <p:nvPr/>
      </p:nvGrpSpPr>
      <p:grpSpPr>
        <a:xfrm>
          <a:off x="0" y="0"/>
          <a:ext cx="0" cy="0"/>
          <a:chOff x="0" y="0"/>
          <a:chExt cx="0" cy="0"/>
        </a:xfrm>
      </p:grpSpPr>
      <p:sp>
        <p:nvSpPr>
          <p:cNvPr id="91" name="Google Shape;91;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93" name="Google Shape;93;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4" name="Google Shape;9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7" name="Shape 97"/>
        <p:cNvGrpSpPr/>
        <p:nvPr/>
      </p:nvGrpSpPr>
      <p:grpSpPr>
        <a:xfrm>
          <a:off x="0" y="0"/>
          <a:ext cx="0" cy="0"/>
          <a:chOff x="0" y="0"/>
          <a:chExt cx="0" cy="0"/>
        </a:xfrm>
      </p:grpSpPr>
      <p:sp>
        <p:nvSpPr>
          <p:cNvPr id="98" name="Google Shape;98;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3"/>
          <p:cNvSpPr/>
          <p:nvPr>
            <p:ph idx="2" type="pic"/>
          </p:nvPr>
        </p:nvSpPr>
        <p:spPr>
          <a:xfrm>
            <a:off x="5183188" y="987425"/>
            <a:ext cx="6172200" cy="4873625"/>
          </a:xfrm>
          <a:prstGeom prst="rect">
            <a:avLst/>
          </a:prstGeom>
          <a:noFill/>
          <a:ln>
            <a:noFill/>
          </a:ln>
        </p:spPr>
      </p:sp>
      <p:sp>
        <p:nvSpPr>
          <p:cNvPr id="100" name="Google Shape;100;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1" name="Google Shape;10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4" name="Shape 104"/>
        <p:cNvGrpSpPr/>
        <p:nvPr/>
      </p:nvGrpSpPr>
      <p:grpSpPr>
        <a:xfrm>
          <a:off x="0" y="0"/>
          <a:ext cx="0" cy="0"/>
          <a:chOff x="0" y="0"/>
          <a:chExt cx="0" cy="0"/>
        </a:xfrm>
      </p:grpSpPr>
      <p:sp>
        <p:nvSpPr>
          <p:cNvPr id="105" name="Google Shape;105;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0" name="Shape 110"/>
        <p:cNvGrpSpPr/>
        <p:nvPr/>
      </p:nvGrpSpPr>
      <p:grpSpPr>
        <a:xfrm>
          <a:off x="0" y="0"/>
          <a:ext cx="0" cy="0"/>
          <a:chOff x="0" y="0"/>
          <a:chExt cx="0" cy="0"/>
        </a:xfrm>
      </p:grpSpPr>
      <p:sp>
        <p:nvSpPr>
          <p:cNvPr id="111" name="Google Shape;111;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22" name="Shape 122"/>
        <p:cNvGrpSpPr/>
        <p:nvPr/>
      </p:nvGrpSpPr>
      <p:grpSpPr>
        <a:xfrm>
          <a:off x="0" y="0"/>
          <a:ext cx="0" cy="0"/>
          <a:chOff x="0" y="0"/>
          <a:chExt cx="0" cy="0"/>
        </a:xfrm>
      </p:grpSpPr>
      <p:pic>
        <p:nvPicPr>
          <p:cNvPr id="123" name="Google Shape;123;p17"/>
          <p:cNvPicPr preferRelativeResize="0"/>
          <p:nvPr/>
        </p:nvPicPr>
        <p:blipFill rotWithShape="1">
          <a:blip r:embed="rId2">
            <a:alphaModFix/>
          </a:blip>
          <a:srcRect b="0" l="0" r="32967" t="39929"/>
          <a:stretch/>
        </p:blipFill>
        <p:spPr>
          <a:xfrm>
            <a:off x="1714500" y="-1"/>
            <a:ext cx="10477500" cy="6496050"/>
          </a:xfrm>
          <a:prstGeom prst="rect">
            <a:avLst/>
          </a:prstGeom>
          <a:noFill/>
          <a:ln>
            <a:noFill/>
          </a:ln>
        </p:spPr>
      </p:pic>
      <p:sp>
        <p:nvSpPr>
          <p:cNvPr id="124" name="Google Shape;124;p17"/>
          <p:cNvSpPr txBox="1"/>
          <p:nvPr>
            <p:ph type="ctrTitle"/>
          </p:nvPr>
        </p:nvSpPr>
        <p:spPr>
          <a:xfrm>
            <a:off x="723900" y="3133664"/>
            <a:ext cx="5372100" cy="12963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accent1"/>
              </a:buClr>
              <a:buSzPts val="5400"/>
              <a:buFont typeface="Calibri"/>
              <a:buNone/>
              <a:defRPr sz="54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17"/>
          <p:cNvSpPr txBox="1"/>
          <p:nvPr>
            <p:ph idx="10" type="dt"/>
          </p:nvPr>
        </p:nvSpPr>
        <p:spPr>
          <a:xfrm>
            <a:off x="838200" y="5901897"/>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20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Logo&#10;&#10;Description automatically generated" id="128" name="Google Shape;128;p17"/>
          <p:cNvPicPr preferRelativeResize="0"/>
          <p:nvPr/>
        </p:nvPicPr>
        <p:blipFill rotWithShape="1">
          <a:blip r:embed="rId3">
            <a:alphaModFix/>
          </a:blip>
          <a:srcRect b="0" l="0" r="0" t="0"/>
          <a:stretch/>
        </p:blipFill>
        <p:spPr>
          <a:xfrm>
            <a:off x="10026684" y="646174"/>
            <a:ext cx="1430035" cy="156759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9" name="Shape 129"/>
        <p:cNvGrpSpPr/>
        <p:nvPr/>
      </p:nvGrpSpPr>
      <p:grpSpPr>
        <a:xfrm>
          <a:off x="0" y="0"/>
          <a:ext cx="0" cy="0"/>
          <a:chOff x="0" y="0"/>
          <a:chExt cx="0" cy="0"/>
        </a:xfrm>
      </p:grpSpPr>
      <p:sp>
        <p:nvSpPr>
          <p:cNvPr id="130" name="Google Shape;130;p18"/>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2"/>
              </a:buClr>
              <a:buSzPts val="44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1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1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5" name="Google Shape;135;p18"/>
          <p:cNvSpPr/>
          <p:nvPr/>
        </p:nvSpPr>
        <p:spPr>
          <a:xfrm>
            <a:off x="838198" y="655794"/>
            <a:ext cx="10512297" cy="262632"/>
          </a:xfrm>
          <a:custGeom>
            <a:rect b="b" l="l" r="r" t="t"/>
            <a:pathLst>
              <a:path extrusionOk="0" h="134683" w="5329428">
                <a:moveTo>
                  <a:pt x="0" y="0"/>
                </a:moveTo>
                <a:lnTo>
                  <a:pt x="5152263" y="0"/>
                </a:lnTo>
                <a:lnTo>
                  <a:pt x="5329428" y="134684"/>
                </a:lnTo>
              </a:path>
            </a:pathLst>
          </a:custGeom>
          <a:noFill/>
          <a:ln cap="flat" cmpd="sng" w="9525">
            <a:solidFill>
              <a:srgbClr val="F36E2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18"/>
          <p:cNvSpPr/>
          <p:nvPr/>
        </p:nvSpPr>
        <p:spPr>
          <a:xfrm>
            <a:off x="9637485" y="6476186"/>
            <a:ext cx="2554876" cy="379904"/>
          </a:xfrm>
          <a:custGeom>
            <a:rect b="b" l="l" r="r" t="t"/>
            <a:pathLst>
              <a:path extrusionOk="0" h="379904" w="2554876">
                <a:moveTo>
                  <a:pt x="2554877" y="0"/>
                </a:moveTo>
                <a:lnTo>
                  <a:pt x="2554877" y="379905"/>
                </a:lnTo>
                <a:lnTo>
                  <a:pt x="0" y="379905"/>
                </a:lnTo>
                <a:lnTo>
                  <a:pt x="0" y="0"/>
                </a:lnTo>
                <a:lnTo>
                  <a:pt x="1324801" y="0"/>
                </a:lnTo>
                <a:lnTo>
                  <a:pt x="1762523" y="308815"/>
                </a:lnTo>
                <a:lnTo>
                  <a:pt x="1762523" y="0"/>
                </a:lnTo>
                <a:lnTo>
                  <a:pt x="2554877" y="0"/>
                </a:lnTo>
                <a:close/>
              </a:path>
            </a:pathLst>
          </a:custGeom>
          <a:solidFill>
            <a:srgbClr val="62C9D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18"/>
          <p:cNvSpPr/>
          <p:nvPr/>
        </p:nvSpPr>
        <p:spPr>
          <a:xfrm>
            <a:off x="0" y="6476186"/>
            <a:ext cx="9637500" cy="3798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38" name="Google Shape;138;p18"/>
          <p:cNvPicPr preferRelativeResize="0"/>
          <p:nvPr/>
        </p:nvPicPr>
        <p:blipFill rotWithShape="1">
          <a:blip r:embed="rId2">
            <a:alphaModFix/>
          </a:blip>
          <a:srcRect b="0" l="0" r="0" t="0"/>
          <a:stretch/>
        </p:blipFill>
        <p:spPr>
          <a:xfrm>
            <a:off x="10053634" y="5948363"/>
            <a:ext cx="1300163" cy="2286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139" name="Shape 139"/>
        <p:cNvGrpSpPr/>
        <p:nvPr/>
      </p:nvGrpSpPr>
      <p:grpSpPr>
        <a:xfrm>
          <a:off x="0" y="0"/>
          <a:ext cx="0" cy="0"/>
          <a:chOff x="0" y="0"/>
          <a:chExt cx="0" cy="0"/>
        </a:xfrm>
      </p:grpSpPr>
      <p:sp>
        <p:nvSpPr>
          <p:cNvPr id="140" name="Google Shape;140;p19"/>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2"/>
              </a:buClr>
              <a:buSzPts val="44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1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1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1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45" name="Google Shape;145;p19"/>
          <p:cNvSpPr/>
          <p:nvPr/>
        </p:nvSpPr>
        <p:spPr>
          <a:xfrm>
            <a:off x="838198" y="655794"/>
            <a:ext cx="10512297" cy="262632"/>
          </a:xfrm>
          <a:custGeom>
            <a:rect b="b" l="l" r="r" t="t"/>
            <a:pathLst>
              <a:path extrusionOk="0" h="134683" w="5329428">
                <a:moveTo>
                  <a:pt x="0" y="0"/>
                </a:moveTo>
                <a:lnTo>
                  <a:pt x="5152263" y="0"/>
                </a:lnTo>
                <a:lnTo>
                  <a:pt x="5329428" y="134684"/>
                </a:lnTo>
              </a:path>
            </a:pathLst>
          </a:custGeom>
          <a:noFill/>
          <a:ln cap="flat" cmpd="sng" w="9525">
            <a:solidFill>
              <a:srgbClr val="F36E2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19"/>
          <p:cNvSpPr/>
          <p:nvPr/>
        </p:nvSpPr>
        <p:spPr>
          <a:xfrm>
            <a:off x="9637485" y="6476186"/>
            <a:ext cx="2554876" cy="379904"/>
          </a:xfrm>
          <a:custGeom>
            <a:rect b="b" l="l" r="r" t="t"/>
            <a:pathLst>
              <a:path extrusionOk="0" h="379904" w="2554876">
                <a:moveTo>
                  <a:pt x="2554877" y="0"/>
                </a:moveTo>
                <a:lnTo>
                  <a:pt x="2554877" y="379905"/>
                </a:lnTo>
                <a:lnTo>
                  <a:pt x="0" y="379905"/>
                </a:lnTo>
                <a:lnTo>
                  <a:pt x="0" y="0"/>
                </a:lnTo>
                <a:lnTo>
                  <a:pt x="1324801" y="0"/>
                </a:lnTo>
                <a:lnTo>
                  <a:pt x="1762523" y="308815"/>
                </a:lnTo>
                <a:lnTo>
                  <a:pt x="1762523" y="0"/>
                </a:lnTo>
                <a:lnTo>
                  <a:pt x="2554877"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19"/>
          <p:cNvSpPr/>
          <p:nvPr/>
        </p:nvSpPr>
        <p:spPr>
          <a:xfrm>
            <a:off x="0" y="6476186"/>
            <a:ext cx="9637500" cy="379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48" name="Google Shape;148;p19"/>
          <p:cNvPicPr preferRelativeResize="0"/>
          <p:nvPr/>
        </p:nvPicPr>
        <p:blipFill rotWithShape="1">
          <a:blip r:embed="rId2">
            <a:alphaModFix/>
          </a:blip>
          <a:srcRect b="0" l="0" r="0" t="0"/>
          <a:stretch/>
        </p:blipFill>
        <p:spPr>
          <a:xfrm>
            <a:off x="10053634" y="5948363"/>
            <a:ext cx="1300163" cy="2286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49" name="Shape 149"/>
        <p:cNvGrpSpPr/>
        <p:nvPr/>
      </p:nvGrpSpPr>
      <p:grpSpPr>
        <a:xfrm>
          <a:off x="0" y="0"/>
          <a:ext cx="0" cy="0"/>
          <a:chOff x="0" y="0"/>
          <a:chExt cx="0" cy="0"/>
        </a:xfrm>
      </p:grpSpPr>
      <p:sp>
        <p:nvSpPr>
          <p:cNvPr id="150" name="Google Shape;150;p20"/>
          <p:cNvSpPr txBox="1"/>
          <p:nvPr>
            <p:ph type="ctrTitle"/>
          </p:nvPr>
        </p:nvSpPr>
        <p:spPr>
          <a:xfrm>
            <a:off x="5981700" y="2780903"/>
            <a:ext cx="5372100" cy="1296300"/>
          </a:xfrm>
          <a:prstGeom prst="rect">
            <a:avLst/>
          </a:prstGeom>
          <a:noFill/>
          <a:ln>
            <a:noFill/>
          </a:ln>
        </p:spPr>
        <p:txBody>
          <a:bodyPr anchorCtr="0" anchor="b" bIns="45700" lIns="91425" spcFirstLastPara="1" rIns="91425" wrap="square" tIns="45700">
            <a:noAutofit/>
          </a:bodyPr>
          <a:lstStyle>
            <a:lvl1pPr lvl="0" algn="r">
              <a:lnSpc>
                <a:spcPct val="90000"/>
              </a:lnSpc>
              <a:spcBef>
                <a:spcPts val="0"/>
              </a:spcBef>
              <a:spcAft>
                <a:spcPts val="0"/>
              </a:spcAft>
              <a:buClr>
                <a:schemeClr val="accent1"/>
              </a:buClr>
              <a:buSzPts val="5400"/>
              <a:buFont typeface="Calibri"/>
              <a:buNone/>
              <a:defRPr sz="54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20"/>
          <p:cNvSpPr txBox="1"/>
          <p:nvPr>
            <p:ph idx="10" type="dt"/>
          </p:nvPr>
        </p:nvSpPr>
        <p:spPr>
          <a:xfrm>
            <a:off x="8610600" y="5901897"/>
            <a:ext cx="27432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sz="20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2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54" name="Google Shape;154;p20"/>
          <p:cNvPicPr preferRelativeResize="0"/>
          <p:nvPr/>
        </p:nvPicPr>
        <p:blipFill rotWithShape="1">
          <a:blip r:embed="rId2">
            <a:alphaModFix/>
          </a:blip>
          <a:srcRect b="46699" l="59297" r="24140" t="30195"/>
          <a:stretch/>
        </p:blipFill>
        <p:spPr>
          <a:xfrm flipH="1">
            <a:off x="-3" y="-9525"/>
            <a:ext cx="7312075" cy="6867528"/>
          </a:xfrm>
          <a:prstGeom prst="rect">
            <a:avLst/>
          </a:prstGeom>
          <a:noFill/>
          <a:ln>
            <a:noFill/>
          </a:ln>
        </p:spPr>
      </p:pic>
      <p:pic>
        <p:nvPicPr>
          <p:cNvPr id="155" name="Google Shape;155;p20"/>
          <p:cNvPicPr preferRelativeResize="0"/>
          <p:nvPr/>
        </p:nvPicPr>
        <p:blipFill rotWithShape="1">
          <a:blip r:embed="rId3">
            <a:alphaModFix/>
          </a:blip>
          <a:srcRect b="0" l="0" r="0" t="0"/>
          <a:stretch/>
        </p:blipFill>
        <p:spPr>
          <a:xfrm>
            <a:off x="8813798" y="590978"/>
            <a:ext cx="2540001" cy="446594"/>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56" name="Shape 156"/>
        <p:cNvGrpSpPr/>
        <p:nvPr/>
      </p:nvGrpSpPr>
      <p:grpSpPr>
        <a:xfrm>
          <a:off x="0" y="0"/>
          <a:ext cx="0" cy="0"/>
          <a:chOff x="0" y="0"/>
          <a:chExt cx="0" cy="0"/>
        </a:xfrm>
      </p:grpSpPr>
      <p:sp>
        <p:nvSpPr>
          <p:cNvPr id="157" name="Google Shape;157;p21"/>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2"/>
              </a:buClr>
              <a:buSzPts val="44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2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 name="Google Shape;159;p2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2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2" name="Google Shape;162;p21"/>
          <p:cNvSpPr/>
          <p:nvPr/>
        </p:nvSpPr>
        <p:spPr>
          <a:xfrm>
            <a:off x="9637485" y="6476186"/>
            <a:ext cx="2554876" cy="379904"/>
          </a:xfrm>
          <a:custGeom>
            <a:rect b="b" l="l" r="r" t="t"/>
            <a:pathLst>
              <a:path extrusionOk="0" h="379904" w="2554876">
                <a:moveTo>
                  <a:pt x="2554877" y="0"/>
                </a:moveTo>
                <a:lnTo>
                  <a:pt x="2554877" y="379905"/>
                </a:lnTo>
                <a:lnTo>
                  <a:pt x="0" y="379905"/>
                </a:lnTo>
                <a:lnTo>
                  <a:pt x="0" y="0"/>
                </a:lnTo>
                <a:lnTo>
                  <a:pt x="1324801" y="0"/>
                </a:lnTo>
                <a:lnTo>
                  <a:pt x="1762523" y="308815"/>
                </a:lnTo>
                <a:lnTo>
                  <a:pt x="1762523" y="0"/>
                </a:lnTo>
                <a:lnTo>
                  <a:pt x="2554877" y="0"/>
                </a:lnTo>
                <a:close/>
              </a:path>
            </a:pathLst>
          </a:custGeom>
          <a:solidFill>
            <a:srgbClr val="62C9D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21"/>
          <p:cNvSpPr/>
          <p:nvPr/>
        </p:nvSpPr>
        <p:spPr>
          <a:xfrm>
            <a:off x="0" y="6476186"/>
            <a:ext cx="9637500" cy="3798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64" name="Google Shape;164;p21"/>
          <p:cNvPicPr preferRelativeResize="0"/>
          <p:nvPr/>
        </p:nvPicPr>
        <p:blipFill rotWithShape="1">
          <a:blip r:embed="rId2">
            <a:alphaModFix/>
          </a:blip>
          <a:srcRect b="0" l="0" r="0" t="0"/>
          <a:stretch/>
        </p:blipFill>
        <p:spPr>
          <a:xfrm>
            <a:off x="8813798" y="5788487"/>
            <a:ext cx="2540001" cy="446594"/>
          </a:xfrm>
          <a:prstGeom prst="rect">
            <a:avLst/>
          </a:prstGeom>
          <a:noFill/>
          <a:ln>
            <a:noFill/>
          </a:ln>
        </p:spPr>
      </p:pic>
      <p:pic>
        <p:nvPicPr>
          <p:cNvPr id="165" name="Google Shape;165;p21"/>
          <p:cNvPicPr preferRelativeResize="0"/>
          <p:nvPr/>
        </p:nvPicPr>
        <p:blipFill rotWithShape="1">
          <a:blip r:embed="rId3">
            <a:alphaModFix/>
          </a:blip>
          <a:srcRect b="55217" l="9573" r="13722" t="38875"/>
          <a:stretch/>
        </p:blipFill>
        <p:spPr>
          <a:xfrm>
            <a:off x="0" y="-1"/>
            <a:ext cx="12191997" cy="64961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6" name="Shape 166"/>
        <p:cNvGrpSpPr/>
        <p:nvPr/>
      </p:nvGrpSpPr>
      <p:grpSpPr>
        <a:xfrm>
          <a:off x="0" y="0"/>
          <a:ext cx="0" cy="0"/>
          <a:chOff x="0" y="0"/>
          <a:chExt cx="0" cy="0"/>
        </a:xfrm>
      </p:grpSpPr>
      <p:sp>
        <p:nvSpPr>
          <p:cNvPr id="167" name="Google Shape;167;p22"/>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22"/>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69" name="Google Shape;169;p2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2" name="Shape 172"/>
        <p:cNvGrpSpPr/>
        <p:nvPr/>
      </p:nvGrpSpPr>
      <p:grpSpPr>
        <a:xfrm>
          <a:off x="0" y="0"/>
          <a:ext cx="0" cy="0"/>
          <a:chOff x="0" y="0"/>
          <a:chExt cx="0" cy="0"/>
        </a:xfrm>
      </p:grpSpPr>
      <p:sp>
        <p:nvSpPr>
          <p:cNvPr id="173" name="Google Shape;173;p2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23"/>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 name="Google Shape;175;p23"/>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2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2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9" name="Shape 179"/>
        <p:cNvGrpSpPr/>
        <p:nvPr/>
      </p:nvGrpSpPr>
      <p:grpSpPr>
        <a:xfrm>
          <a:off x="0" y="0"/>
          <a:ext cx="0" cy="0"/>
          <a:chOff x="0" y="0"/>
          <a:chExt cx="0" cy="0"/>
        </a:xfrm>
      </p:grpSpPr>
      <p:sp>
        <p:nvSpPr>
          <p:cNvPr id="180" name="Google Shape;180;p24"/>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4"/>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2" name="Google Shape;182;p24"/>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24"/>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4" name="Google Shape;184;p24"/>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 name="Google Shape;185;p2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8" name="Shape 188"/>
        <p:cNvGrpSpPr/>
        <p:nvPr/>
      </p:nvGrpSpPr>
      <p:grpSpPr>
        <a:xfrm>
          <a:off x="0" y="0"/>
          <a:ext cx="0" cy="0"/>
          <a:chOff x="0" y="0"/>
          <a:chExt cx="0" cy="0"/>
        </a:xfrm>
      </p:grpSpPr>
      <p:sp>
        <p:nvSpPr>
          <p:cNvPr id="189" name="Google Shape;189;p2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2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3" name="Shape 193"/>
        <p:cNvGrpSpPr/>
        <p:nvPr/>
      </p:nvGrpSpPr>
      <p:grpSpPr>
        <a:xfrm>
          <a:off x="0" y="0"/>
          <a:ext cx="0" cy="0"/>
          <a:chOff x="0" y="0"/>
          <a:chExt cx="0" cy="0"/>
        </a:xfrm>
      </p:grpSpPr>
      <p:sp>
        <p:nvSpPr>
          <p:cNvPr id="194" name="Google Shape;194;p2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2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6" name="Google Shape;196;p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7" name="Shape 197"/>
        <p:cNvGrpSpPr/>
        <p:nvPr/>
      </p:nvGrpSpPr>
      <p:grpSpPr>
        <a:xfrm>
          <a:off x="0" y="0"/>
          <a:ext cx="0" cy="0"/>
          <a:chOff x="0" y="0"/>
          <a:chExt cx="0" cy="0"/>
        </a:xfrm>
      </p:grpSpPr>
      <p:sp>
        <p:nvSpPr>
          <p:cNvPr id="198" name="Google Shape;198;p27"/>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9" name="Google Shape;199;p27"/>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00" name="Google Shape;200;p27"/>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01" name="Google Shape;201;p2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04" name="Shape 204"/>
        <p:cNvGrpSpPr/>
        <p:nvPr/>
      </p:nvGrpSpPr>
      <p:grpSpPr>
        <a:xfrm>
          <a:off x="0" y="0"/>
          <a:ext cx="0" cy="0"/>
          <a:chOff x="0" y="0"/>
          <a:chExt cx="0" cy="0"/>
        </a:xfrm>
      </p:grpSpPr>
      <p:sp>
        <p:nvSpPr>
          <p:cNvPr id="205" name="Google Shape;205;p28"/>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p28"/>
          <p:cNvSpPr/>
          <p:nvPr>
            <p:ph idx="2" type="pic"/>
          </p:nvPr>
        </p:nvSpPr>
        <p:spPr>
          <a:xfrm>
            <a:off x="5183188" y="987425"/>
            <a:ext cx="6172200" cy="4873500"/>
          </a:xfrm>
          <a:prstGeom prst="rect">
            <a:avLst/>
          </a:prstGeom>
          <a:noFill/>
          <a:ln>
            <a:noFill/>
          </a:ln>
        </p:spPr>
      </p:sp>
      <p:sp>
        <p:nvSpPr>
          <p:cNvPr id="207" name="Google Shape;207;p28"/>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08" name="Google Shape;208;p2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2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1" name="Shape 211"/>
        <p:cNvGrpSpPr/>
        <p:nvPr/>
      </p:nvGrpSpPr>
      <p:grpSpPr>
        <a:xfrm>
          <a:off x="0" y="0"/>
          <a:ext cx="0" cy="0"/>
          <a:chOff x="0" y="0"/>
          <a:chExt cx="0" cy="0"/>
        </a:xfrm>
      </p:grpSpPr>
      <p:sp>
        <p:nvSpPr>
          <p:cNvPr id="212" name="Google Shape;212;p2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29"/>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2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2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2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7" name="Shape 217"/>
        <p:cNvGrpSpPr/>
        <p:nvPr/>
      </p:nvGrpSpPr>
      <p:grpSpPr>
        <a:xfrm>
          <a:off x="0" y="0"/>
          <a:ext cx="0" cy="0"/>
          <a:chOff x="0" y="0"/>
          <a:chExt cx="0" cy="0"/>
        </a:xfrm>
      </p:grpSpPr>
      <p:sp>
        <p:nvSpPr>
          <p:cNvPr id="218" name="Google Shape;218;p30"/>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30"/>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0" name="Google Shape;220;p3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223" name="Shape 223"/>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224" name="Shape 224"/>
        <p:cNvGrpSpPr/>
        <p:nvPr/>
      </p:nvGrpSpPr>
      <p:grpSpPr>
        <a:xfrm>
          <a:off x="0" y="0"/>
          <a:ext cx="0" cy="0"/>
          <a:chOff x="0" y="0"/>
          <a:chExt cx="0" cy="0"/>
        </a:xfrm>
      </p:grpSpPr>
      <p:sp>
        <p:nvSpPr>
          <p:cNvPr id="225" name="Google Shape;225;p32"/>
          <p:cNvSpPr txBox="1"/>
          <p:nvPr>
            <p:ph type="ctrTitle"/>
          </p:nvPr>
        </p:nvSpPr>
        <p:spPr>
          <a:xfrm>
            <a:off x="914400" y="2130425"/>
            <a:ext cx="10363200" cy="1470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32"/>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7" name="Google Shape;227;p32"/>
          <p:cNvSpPr txBox="1"/>
          <p:nvPr>
            <p:ph idx="10" type="dt"/>
          </p:nvPr>
        </p:nvSpPr>
        <p:spPr>
          <a:xfrm>
            <a:off x="609600" y="6356350"/>
            <a:ext cx="2844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p32"/>
          <p:cNvSpPr txBox="1"/>
          <p:nvPr>
            <p:ph idx="11" type="ftr"/>
          </p:nvPr>
        </p:nvSpPr>
        <p:spPr>
          <a:xfrm>
            <a:off x="4165600" y="6356350"/>
            <a:ext cx="38607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32"/>
          <p:cNvSpPr txBox="1"/>
          <p:nvPr>
            <p:ph idx="12" type="sldNum"/>
          </p:nvPr>
        </p:nvSpPr>
        <p:spPr>
          <a:xfrm>
            <a:off x="8737600" y="6356350"/>
            <a:ext cx="28449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slideLayout" Target="../slideLayouts/slideLayout29.xml"/><Relationship Id="rId14" Type="http://schemas.openxmlformats.org/officeDocument/2006/relationships/slideLayout" Target="../slideLayouts/slideLayout28.xml"/><Relationship Id="rId17" Type="http://schemas.openxmlformats.org/officeDocument/2006/relationships/theme" Target="../theme/theme3.xml"/><Relationship Id="rId16" Type="http://schemas.openxmlformats.org/officeDocument/2006/relationships/slideLayout" Target="../slideLayouts/slideLayout30.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1"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 name="Shape 116"/>
        <p:cNvGrpSpPr/>
        <p:nvPr/>
      </p:nvGrpSpPr>
      <p:grpSpPr>
        <a:xfrm>
          <a:off x="0" y="0"/>
          <a:ext cx="0" cy="0"/>
          <a:chOff x="0" y="0"/>
          <a:chExt cx="0" cy="0"/>
        </a:xfrm>
      </p:grpSpPr>
      <p:sp>
        <p:nvSpPr>
          <p:cNvPr id="117" name="Google Shape;117;p1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Calibri"/>
              <a:buNone/>
              <a:defRPr b="1"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8" name="Google Shape;118;p1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9" name="Google Shape;119;p1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0" name="Google Shape;120;p1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1" name="Google Shape;121;p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2.png"/><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0.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1.png"/><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1.png"/><Relationship Id="rId4" Type="http://schemas.openxmlformats.org/officeDocument/2006/relationships/image" Target="../media/image2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2.xml"/><Relationship Id="rId3"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8.xml"/><Relationship Id="rId3" Type="http://schemas.openxmlformats.org/officeDocument/2006/relationships/image" Target="../media/image1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1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1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3"/>
          <p:cNvSpPr txBox="1"/>
          <p:nvPr>
            <p:ph type="ctrTitle"/>
          </p:nvPr>
        </p:nvSpPr>
        <p:spPr>
          <a:xfrm>
            <a:off x="764900" y="4273750"/>
            <a:ext cx="6402300" cy="12963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accent1"/>
              </a:buClr>
              <a:buSzPts val="5400"/>
              <a:buFont typeface="Calibri"/>
              <a:buNone/>
            </a:pPr>
            <a:r>
              <a:rPr lang="en-US"/>
              <a:t>Marketing Strategy</a:t>
            </a:r>
            <a:endParaRPr/>
          </a:p>
          <a:p>
            <a:pPr indent="0" lvl="0" marL="0" rtl="0" algn="l">
              <a:lnSpc>
                <a:spcPct val="90000"/>
              </a:lnSpc>
              <a:spcBef>
                <a:spcPts val="0"/>
              </a:spcBef>
              <a:spcAft>
                <a:spcPts val="0"/>
              </a:spcAft>
              <a:buClr>
                <a:schemeClr val="accent1"/>
              </a:buClr>
              <a:buSzPts val="5400"/>
              <a:buFont typeface="Calibri"/>
              <a:buNone/>
            </a:pPr>
            <a:r>
              <a:rPr b="0" lang="en-US" sz="4400">
                <a:latin typeface="Calibri"/>
                <a:ea typeface="Calibri"/>
                <a:cs typeface="Calibri"/>
                <a:sym typeface="Calibri"/>
              </a:rPr>
              <a:t>for PowerUp Leadership</a:t>
            </a:r>
            <a:r>
              <a:rPr lang="en-US"/>
              <a:t> </a:t>
            </a:r>
            <a:endParaRPr/>
          </a:p>
        </p:txBody>
      </p:sp>
      <p:sp>
        <p:nvSpPr>
          <p:cNvPr id="235" name="Google Shape;235;p33"/>
          <p:cNvSpPr txBox="1"/>
          <p:nvPr>
            <p:ph idx="10" type="dt"/>
          </p:nvPr>
        </p:nvSpPr>
        <p:spPr>
          <a:xfrm>
            <a:off x="864525" y="5813247"/>
            <a:ext cx="2743200" cy="365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000"/>
              <a:buFont typeface="Arial"/>
              <a:buNone/>
            </a:pPr>
            <a:r>
              <a:rPr lang="en-US"/>
              <a:t>April 30, 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4"/>
          <p:cNvSpPr txBox="1"/>
          <p:nvPr>
            <p:ph type="title"/>
          </p:nvPr>
        </p:nvSpPr>
        <p:spPr>
          <a:xfrm>
            <a:off x="838200" y="784225"/>
            <a:ext cx="10515600" cy="13255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rgbClr val="F36E25"/>
                </a:solidFill>
              </a:rPr>
              <a:t>Agenda &amp; Purpose</a:t>
            </a:r>
            <a:endParaRPr>
              <a:solidFill>
                <a:srgbClr val="F36E25"/>
              </a:solidFill>
            </a:endParaRPr>
          </a:p>
        </p:txBody>
      </p:sp>
      <p:sp>
        <p:nvSpPr>
          <p:cNvPr id="241" name="Google Shape;241;p34"/>
          <p:cNvSpPr txBox="1"/>
          <p:nvPr>
            <p:ph idx="1" type="body"/>
          </p:nvPr>
        </p:nvSpPr>
        <p:spPr>
          <a:xfrm>
            <a:off x="838200" y="1825625"/>
            <a:ext cx="7827753"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None/>
            </a:pPr>
            <a:r>
              <a:rPr lang="en-US" sz="2400"/>
              <a:t>Purpose:</a:t>
            </a:r>
            <a:endParaRPr sz="2400"/>
          </a:p>
          <a:p>
            <a:pPr indent="-231775" lvl="1" marL="685800" rtl="0" algn="l">
              <a:lnSpc>
                <a:spcPct val="130000"/>
              </a:lnSpc>
              <a:spcBef>
                <a:spcPts val="1000"/>
              </a:spcBef>
              <a:spcAft>
                <a:spcPts val="0"/>
              </a:spcAft>
              <a:buClr>
                <a:schemeClr val="accent2"/>
              </a:buClr>
              <a:buSzPct val="100000"/>
              <a:buFont typeface="Noto Sans Symbols"/>
              <a:buChar char="✔"/>
            </a:pPr>
            <a:r>
              <a:rPr lang="en-US" sz="2000"/>
              <a:t>Present the strategy &amp; focus areas for PowerUp for the next year</a:t>
            </a:r>
            <a:endParaRPr sz="2000"/>
          </a:p>
          <a:p>
            <a:pPr indent="-231775" lvl="1" marL="685800" rtl="0" algn="l">
              <a:lnSpc>
                <a:spcPct val="130000"/>
              </a:lnSpc>
              <a:spcBef>
                <a:spcPts val="1000"/>
              </a:spcBef>
              <a:spcAft>
                <a:spcPts val="0"/>
              </a:spcAft>
              <a:buClr>
                <a:schemeClr val="accent2"/>
              </a:buClr>
              <a:buSzPct val="100000"/>
              <a:buChar char="✔"/>
            </a:pPr>
            <a:r>
              <a:rPr lang="en-US" sz="2000"/>
              <a:t>Review the “why” behind the recommendations</a:t>
            </a:r>
            <a:endParaRPr sz="2000"/>
          </a:p>
          <a:p>
            <a:pPr indent="0" lvl="0" marL="0" rtl="0" algn="l">
              <a:spcBef>
                <a:spcPts val="0"/>
              </a:spcBef>
              <a:spcAft>
                <a:spcPts val="0"/>
              </a:spcAft>
              <a:buNone/>
            </a:pPr>
            <a:r>
              <a:t/>
            </a:r>
            <a:endParaRPr sz="2400"/>
          </a:p>
          <a:p>
            <a:pPr indent="0" lvl="0" marL="0" rtl="0" algn="l">
              <a:spcBef>
                <a:spcPts val="0"/>
              </a:spcBef>
              <a:spcAft>
                <a:spcPts val="0"/>
              </a:spcAft>
              <a:buNone/>
            </a:pPr>
            <a:r>
              <a:rPr lang="en-US" sz="2400"/>
              <a:t>Agenda:</a:t>
            </a:r>
            <a:endParaRPr sz="2400"/>
          </a:p>
          <a:p>
            <a:pPr indent="-231775" lvl="1" marL="685800" rtl="0" algn="l">
              <a:lnSpc>
                <a:spcPct val="130000"/>
              </a:lnSpc>
              <a:spcBef>
                <a:spcPts val="1000"/>
              </a:spcBef>
              <a:spcAft>
                <a:spcPts val="0"/>
              </a:spcAft>
              <a:buClr>
                <a:schemeClr val="accent2"/>
              </a:buClr>
              <a:buSzPct val="100000"/>
              <a:buChar char="✔"/>
            </a:pPr>
            <a:r>
              <a:rPr lang="en-US" sz="2000"/>
              <a:t>Marketing Goals Review</a:t>
            </a:r>
            <a:endParaRPr sz="2000"/>
          </a:p>
          <a:p>
            <a:pPr indent="-231775" lvl="1" marL="685800" rtl="0" algn="l">
              <a:lnSpc>
                <a:spcPct val="130000"/>
              </a:lnSpc>
              <a:spcBef>
                <a:spcPts val="1000"/>
              </a:spcBef>
              <a:spcAft>
                <a:spcPts val="0"/>
              </a:spcAft>
              <a:buClr>
                <a:schemeClr val="accent2"/>
              </a:buClr>
              <a:buSzPct val="100000"/>
              <a:buChar char="✔"/>
            </a:pPr>
            <a:r>
              <a:rPr lang="en-US" sz="2000"/>
              <a:t>Marketing Strategy Overview</a:t>
            </a:r>
            <a:endParaRPr sz="2000"/>
          </a:p>
          <a:p>
            <a:pPr indent="-231775" lvl="1" marL="685800" rtl="0" algn="l">
              <a:lnSpc>
                <a:spcPct val="130000"/>
              </a:lnSpc>
              <a:spcBef>
                <a:spcPts val="1000"/>
              </a:spcBef>
              <a:spcAft>
                <a:spcPts val="0"/>
              </a:spcAft>
              <a:buClr>
                <a:schemeClr val="accent2"/>
              </a:buClr>
              <a:buSzPct val="100000"/>
              <a:buFont typeface="Noto Sans Symbols"/>
              <a:buChar char="✔"/>
            </a:pPr>
            <a:r>
              <a:rPr lang="en-US" sz="2000"/>
              <a:t>Marketing Strategy Detail </a:t>
            </a:r>
            <a:endParaRPr sz="2000"/>
          </a:p>
          <a:p>
            <a:pPr indent="-231775" lvl="1" marL="685800" rtl="0" algn="l">
              <a:lnSpc>
                <a:spcPct val="130000"/>
              </a:lnSpc>
              <a:spcBef>
                <a:spcPts val="1000"/>
              </a:spcBef>
              <a:spcAft>
                <a:spcPts val="0"/>
              </a:spcAft>
              <a:buClr>
                <a:schemeClr val="accent2"/>
              </a:buClr>
              <a:buSzPct val="100000"/>
              <a:buFont typeface="Noto Sans Symbols"/>
              <a:buChar char="✔"/>
            </a:pPr>
            <a:r>
              <a:rPr lang="en-US" sz="2000"/>
              <a:t>Proposed Action Plan </a:t>
            </a:r>
            <a:endParaRPr sz="2000"/>
          </a:p>
          <a:p>
            <a:pPr indent="-231775" lvl="1" marL="685800" rtl="0" algn="l">
              <a:lnSpc>
                <a:spcPct val="130000"/>
              </a:lnSpc>
              <a:spcBef>
                <a:spcPts val="1000"/>
              </a:spcBef>
              <a:spcAft>
                <a:spcPts val="0"/>
              </a:spcAft>
              <a:buClr>
                <a:schemeClr val="accent2"/>
              </a:buClr>
              <a:buSzPct val="100000"/>
              <a:buChar char="✔"/>
            </a:pPr>
            <a:r>
              <a:rPr lang="en-US" sz="2000"/>
              <a:t>Next Steps</a:t>
            </a:r>
            <a:endParaRPr/>
          </a:p>
          <a:p>
            <a:pPr indent="0" lvl="0" marL="685800" marR="0" rtl="0" algn="l">
              <a:lnSpc>
                <a:spcPct val="130000"/>
              </a:lnSpc>
              <a:spcBef>
                <a:spcPts val="1000"/>
              </a:spcBef>
              <a:spcAft>
                <a:spcPts val="0"/>
              </a:spcAft>
              <a:buNone/>
            </a:pPr>
            <a:r>
              <a:t/>
            </a:r>
            <a:endParaRPr sz="2000"/>
          </a:p>
        </p:txBody>
      </p:sp>
      <p:pic>
        <p:nvPicPr>
          <p:cNvPr id="242" name="Google Shape;242;p34"/>
          <p:cNvPicPr preferRelativeResize="0"/>
          <p:nvPr/>
        </p:nvPicPr>
        <p:blipFill rotWithShape="1">
          <a:blip r:embed="rId3">
            <a:alphaModFix/>
          </a:blip>
          <a:srcRect b="0" l="0" r="0" t="0"/>
          <a:stretch/>
        </p:blipFill>
        <p:spPr>
          <a:xfrm>
            <a:off x="8836977" y="2278505"/>
            <a:ext cx="2825480" cy="230099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5"/>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rgbClr val="F36E25"/>
                </a:solidFill>
              </a:rPr>
              <a:t>Executive Summary</a:t>
            </a:r>
            <a:endParaRPr>
              <a:solidFill>
                <a:srgbClr val="F36E25"/>
              </a:solidFill>
            </a:endParaRPr>
          </a:p>
        </p:txBody>
      </p:sp>
      <p:sp>
        <p:nvSpPr>
          <p:cNvPr id="248" name="Google Shape;248;p35"/>
          <p:cNvSpPr txBox="1"/>
          <p:nvPr>
            <p:ph idx="1" type="body"/>
          </p:nvPr>
        </p:nvSpPr>
        <p:spPr>
          <a:xfrm>
            <a:off x="838200" y="1667825"/>
            <a:ext cx="10758900" cy="4351200"/>
          </a:xfrm>
          <a:prstGeom prst="rect">
            <a:avLst/>
          </a:prstGeom>
          <a:noFill/>
          <a:ln>
            <a:noFill/>
          </a:ln>
        </p:spPr>
        <p:txBody>
          <a:bodyPr anchorCtr="0" anchor="t" bIns="45700" lIns="91425" spcFirstLastPara="1" rIns="91425" wrap="square" tIns="45700">
            <a:normAutofit fontScale="70000" lnSpcReduction="10000"/>
          </a:bodyPr>
          <a:lstStyle/>
          <a:p>
            <a:pPr indent="0" lvl="0" marL="0" rtl="0" algn="l">
              <a:spcBef>
                <a:spcPts val="0"/>
              </a:spcBef>
              <a:spcAft>
                <a:spcPts val="0"/>
              </a:spcAft>
              <a:buClr>
                <a:schemeClr val="dk1"/>
              </a:buClr>
              <a:buSzPct val="100000"/>
              <a:buFont typeface="Arial"/>
              <a:buNone/>
            </a:pPr>
            <a:r>
              <a:rPr b="1" lang="en-US" sz="2400"/>
              <a:t>We recommend</a:t>
            </a:r>
            <a:r>
              <a:rPr b="1" lang="en-US" sz="2400"/>
              <a:t>:</a:t>
            </a:r>
            <a:endParaRPr b="1" sz="2400"/>
          </a:p>
          <a:p>
            <a:pPr indent="-330200" lvl="1" marL="800100" rtl="0" algn="l">
              <a:lnSpc>
                <a:spcPct val="130000"/>
              </a:lnSpc>
              <a:spcBef>
                <a:spcPts val="1000"/>
              </a:spcBef>
              <a:spcAft>
                <a:spcPts val="0"/>
              </a:spcAft>
              <a:buClr>
                <a:schemeClr val="accent2"/>
              </a:buClr>
              <a:buSzPct val="100000"/>
              <a:buFont typeface="Noto Sans Symbols"/>
              <a:buChar char="✔"/>
            </a:pPr>
            <a:r>
              <a:rPr lang="en-US" sz="2000"/>
              <a:t>Growth in Canada first, USA close second. IE: don’t abandon Canada</a:t>
            </a:r>
            <a:endParaRPr sz="2000"/>
          </a:p>
          <a:p>
            <a:pPr indent="-330200" lvl="1" marL="800100" rtl="0" algn="l">
              <a:lnSpc>
                <a:spcPct val="130000"/>
              </a:lnSpc>
              <a:spcBef>
                <a:spcPts val="1000"/>
              </a:spcBef>
              <a:spcAft>
                <a:spcPts val="0"/>
              </a:spcAft>
              <a:buClr>
                <a:schemeClr val="accent2"/>
              </a:buClr>
              <a:buSzPct val="100000"/>
              <a:buFont typeface="Noto Sans Symbols"/>
              <a:buChar char="✔"/>
            </a:pPr>
            <a:r>
              <a:rPr lang="en-US" sz="2000"/>
              <a:t>Start with private equity firms in the mid-market (non tech), “hands on” as opposed to “financial sponsor”, as less competition and less insular and more willing to help the companies</a:t>
            </a:r>
            <a:endParaRPr sz="2000"/>
          </a:p>
          <a:p>
            <a:pPr indent="-330200" lvl="1" marL="800100" rtl="0" algn="l">
              <a:lnSpc>
                <a:spcPct val="130000"/>
              </a:lnSpc>
              <a:spcBef>
                <a:spcPts val="1000"/>
              </a:spcBef>
              <a:spcAft>
                <a:spcPts val="0"/>
              </a:spcAft>
              <a:buClr>
                <a:schemeClr val="accent2"/>
              </a:buClr>
              <a:buSzPct val="100000"/>
              <a:buFont typeface="Noto Sans Symbols"/>
              <a:buChar char="✔"/>
            </a:pPr>
            <a:r>
              <a:rPr lang="en-US" sz="2000"/>
              <a:t>Also target fast growing private companies - you’ve done this before (any company not public sector/non-profit is private)</a:t>
            </a:r>
            <a:endParaRPr sz="2000"/>
          </a:p>
          <a:p>
            <a:pPr indent="-330200" lvl="1" marL="800100" rtl="0" algn="l">
              <a:lnSpc>
                <a:spcPct val="130000"/>
              </a:lnSpc>
              <a:spcBef>
                <a:spcPts val="1000"/>
              </a:spcBef>
              <a:spcAft>
                <a:spcPts val="0"/>
              </a:spcAft>
              <a:buClr>
                <a:schemeClr val="accent2"/>
              </a:buClr>
              <a:buSzPct val="100000"/>
              <a:buChar char="✔"/>
            </a:pPr>
            <a:r>
              <a:rPr lang="en-US" sz="2000"/>
              <a:t>Focus messaging on the pain points of private companies/private equity - and  how you solve these pain points</a:t>
            </a:r>
            <a:endParaRPr sz="2000"/>
          </a:p>
          <a:p>
            <a:pPr indent="0" lvl="0" marL="0" rtl="0" algn="l">
              <a:lnSpc>
                <a:spcPct val="90000"/>
              </a:lnSpc>
              <a:spcBef>
                <a:spcPts val="0"/>
              </a:spcBef>
              <a:spcAft>
                <a:spcPts val="0"/>
              </a:spcAft>
              <a:buClr>
                <a:schemeClr val="dk1"/>
              </a:buClr>
              <a:buSzPct val="100000"/>
              <a:buNone/>
            </a:pPr>
            <a:br>
              <a:rPr lang="en-US" sz="2400"/>
            </a:br>
            <a:r>
              <a:rPr b="1" lang="en-US" sz="2400"/>
              <a:t>To do this:</a:t>
            </a:r>
            <a:endParaRPr b="1" sz="2400"/>
          </a:p>
          <a:p>
            <a:pPr indent="-330200" lvl="1" marL="800100" marR="0" rtl="0" algn="l">
              <a:lnSpc>
                <a:spcPct val="130000"/>
              </a:lnSpc>
              <a:spcBef>
                <a:spcPts val="1000"/>
              </a:spcBef>
              <a:spcAft>
                <a:spcPts val="0"/>
              </a:spcAft>
              <a:buClr>
                <a:schemeClr val="accent2"/>
              </a:buClr>
              <a:buSzPct val="100000"/>
              <a:buFont typeface="Noto Sans Symbols"/>
              <a:buChar char="✔"/>
            </a:pPr>
            <a:r>
              <a:rPr lang="en-US" sz="2000"/>
              <a:t>Consider promoting your flexible, customized programs - no one else says this</a:t>
            </a:r>
            <a:endParaRPr sz="2000"/>
          </a:p>
          <a:p>
            <a:pPr indent="-330200" lvl="1" marL="800100" marR="0" rtl="0" algn="l">
              <a:lnSpc>
                <a:spcPct val="130000"/>
              </a:lnSpc>
              <a:spcBef>
                <a:spcPts val="1000"/>
              </a:spcBef>
              <a:spcAft>
                <a:spcPts val="0"/>
              </a:spcAft>
              <a:buClr>
                <a:schemeClr val="accent2"/>
              </a:buClr>
              <a:buSzPct val="100000"/>
              <a:buFont typeface="Noto Sans Symbols"/>
              <a:buChar char="✔"/>
            </a:pPr>
            <a:r>
              <a:rPr lang="en-US" sz="2000"/>
              <a:t>Organize website into 2 buying groups (individual) and (organization) give obvious paths for each, then organize with Hub Pages into PE and Private Companies so each major customer group has a dedicated place on the site to go and feels you really “get” them.</a:t>
            </a:r>
            <a:endParaRPr sz="2000"/>
          </a:p>
          <a:p>
            <a:pPr indent="-330200" lvl="1" marL="800100" marR="0" rtl="0" algn="l">
              <a:lnSpc>
                <a:spcPct val="130000"/>
              </a:lnSpc>
              <a:spcBef>
                <a:spcPts val="1000"/>
              </a:spcBef>
              <a:spcAft>
                <a:spcPts val="0"/>
              </a:spcAft>
              <a:buClr>
                <a:schemeClr val="accent2"/>
              </a:buClr>
              <a:buSzPct val="100000"/>
              <a:buChar char="✔"/>
            </a:pPr>
            <a:r>
              <a:rPr lang="en-US" sz="2000"/>
              <a:t>Where Executive Coaching is dominated by big players - promote coaching skills for managers</a:t>
            </a:r>
            <a:endParaRPr sz="2000"/>
          </a:p>
          <a:p>
            <a:pPr indent="-330200" lvl="1" marL="800100" marR="0" rtl="0" algn="l">
              <a:lnSpc>
                <a:spcPct val="130000"/>
              </a:lnSpc>
              <a:spcBef>
                <a:spcPts val="1000"/>
              </a:spcBef>
              <a:spcAft>
                <a:spcPts val="0"/>
              </a:spcAft>
              <a:buClr>
                <a:schemeClr val="accent2"/>
              </a:buClr>
              <a:buSzPct val="100000"/>
              <a:buChar char="✔"/>
            </a:pPr>
            <a:r>
              <a:rPr lang="en-US" sz="2000"/>
              <a:t>Fix forms on website, you may be getting all the leads you want already</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6"/>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solidFill>
                  <a:srgbClr val="073763"/>
                </a:solidFill>
              </a:rPr>
              <a:t>Marketing Strategy - </a:t>
            </a:r>
            <a:r>
              <a:rPr b="0" i="1" lang="en-US">
                <a:solidFill>
                  <a:srgbClr val="073763"/>
                </a:solidFill>
                <a:latin typeface="Calibri"/>
                <a:ea typeface="Calibri"/>
                <a:cs typeface="Calibri"/>
                <a:sym typeface="Calibri"/>
              </a:rPr>
              <a:t>Stages</a:t>
            </a:r>
            <a:endParaRPr>
              <a:solidFill>
                <a:srgbClr val="073763"/>
              </a:solidFill>
            </a:endParaRPr>
          </a:p>
          <a:p>
            <a:pPr indent="0" lvl="0" marL="0" rtl="0" algn="l">
              <a:lnSpc>
                <a:spcPct val="90000"/>
              </a:lnSpc>
              <a:spcBef>
                <a:spcPts val="0"/>
              </a:spcBef>
              <a:spcAft>
                <a:spcPts val="0"/>
              </a:spcAft>
              <a:buClr>
                <a:schemeClr val="accent2"/>
              </a:buClr>
              <a:buSzPts val="4400"/>
              <a:buFont typeface="Calibri"/>
              <a:buNone/>
            </a:pPr>
            <a:r>
              <a:t/>
            </a:r>
            <a:endParaRPr b="0" i="1" sz="3400">
              <a:solidFill>
                <a:srgbClr val="073763"/>
              </a:solidFill>
              <a:latin typeface="Calibri"/>
              <a:ea typeface="Calibri"/>
              <a:cs typeface="Calibri"/>
              <a:sym typeface="Calibri"/>
            </a:endParaRPr>
          </a:p>
        </p:txBody>
      </p:sp>
      <p:pic>
        <p:nvPicPr>
          <p:cNvPr id="254" name="Google Shape;254;p36"/>
          <p:cNvPicPr preferRelativeResize="0"/>
          <p:nvPr/>
        </p:nvPicPr>
        <p:blipFill rotWithShape="1">
          <a:blip r:embed="rId3">
            <a:alphaModFix/>
          </a:blip>
          <a:srcRect b="0" l="0" r="0" t="0"/>
          <a:stretch/>
        </p:blipFill>
        <p:spPr>
          <a:xfrm>
            <a:off x="8076150" y="1741375"/>
            <a:ext cx="3493050" cy="4428999"/>
          </a:xfrm>
          <a:prstGeom prst="rect">
            <a:avLst/>
          </a:prstGeom>
          <a:noFill/>
          <a:ln>
            <a:noFill/>
          </a:ln>
        </p:spPr>
      </p:pic>
      <p:pic>
        <p:nvPicPr>
          <p:cNvPr id="255" name="Google Shape;255;p36"/>
          <p:cNvPicPr preferRelativeResize="0"/>
          <p:nvPr/>
        </p:nvPicPr>
        <p:blipFill rotWithShape="1">
          <a:blip r:embed="rId4">
            <a:alphaModFix/>
          </a:blip>
          <a:srcRect b="0" l="0" r="0" t="0"/>
          <a:stretch/>
        </p:blipFill>
        <p:spPr>
          <a:xfrm>
            <a:off x="534725" y="1748875"/>
            <a:ext cx="3335975" cy="4413975"/>
          </a:xfrm>
          <a:prstGeom prst="rect">
            <a:avLst/>
          </a:prstGeom>
          <a:noFill/>
          <a:ln>
            <a:noFill/>
          </a:ln>
        </p:spPr>
      </p:pic>
      <p:pic>
        <p:nvPicPr>
          <p:cNvPr id="256" name="Google Shape;256;p36"/>
          <p:cNvPicPr preferRelativeResize="0"/>
          <p:nvPr/>
        </p:nvPicPr>
        <p:blipFill rotWithShape="1">
          <a:blip r:embed="rId5">
            <a:alphaModFix/>
          </a:blip>
          <a:srcRect b="0" l="0" r="0" t="0"/>
          <a:stretch/>
        </p:blipFill>
        <p:spPr>
          <a:xfrm>
            <a:off x="4226900" y="1748875"/>
            <a:ext cx="3493050" cy="4428999"/>
          </a:xfrm>
          <a:prstGeom prst="rect">
            <a:avLst/>
          </a:prstGeom>
          <a:noFill/>
          <a:ln>
            <a:noFill/>
          </a:ln>
        </p:spPr>
      </p:pic>
      <p:sp>
        <p:nvSpPr>
          <p:cNvPr id="257" name="Google Shape;257;p36"/>
          <p:cNvSpPr txBox="1"/>
          <p:nvPr/>
        </p:nvSpPr>
        <p:spPr>
          <a:xfrm>
            <a:off x="4460163" y="1871575"/>
            <a:ext cx="3114000" cy="4984800"/>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None/>
            </a:pPr>
            <a:r>
              <a:rPr b="1" lang="en-US" sz="1700">
                <a:solidFill>
                  <a:srgbClr val="434343"/>
                </a:solidFill>
                <a:latin typeface="Calibri"/>
                <a:ea typeface="Calibri"/>
                <a:cs typeface="Calibri"/>
                <a:sym typeface="Calibri"/>
              </a:rPr>
              <a:t>2. Marketing Foundation Implementation:</a:t>
            </a:r>
            <a:br>
              <a:rPr b="1" lang="en-US" sz="400">
                <a:solidFill>
                  <a:srgbClr val="434343"/>
                </a:solidFill>
                <a:latin typeface="Calibri"/>
                <a:ea typeface="Calibri"/>
                <a:cs typeface="Calibri"/>
                <a:sym typeface="Calibri"/>
              </a:rPr>
            </a:br>
            <a:br>
              <a:rPr b="1" lang="en-US" sz="400">
                <a:solidFill>
                  <a:srgbClr val="434343"/>
                </a:solidFill>
                <a:latin typeface="Calibri"/>
                <a:ea typeface="Calibri"/>
                <a:cs typeface="Calibri"/>
                <a:sym typeface="Calibri"/>
              </a:rPr>
            </a:br>
            <a:r>
              <a:rPr lang="en-US" sz="1500">
                <a:solidFill>
                  <a:srgbClr val="434343"/>
                </a:solidFill>
                <a:latin typeface="Calibri"/>
                <a:ea typeface="Calibri"/>
                <a:cs typeface="Calibri"/>
                <a:sym typeface="Calibri"/>
              </a:rPr>
              <a:t>Based on the Marketing Strategy, make key foundational changes to:</a:t>
            </a:r>
            <a:endParaRPr sz="1500">
              <a:solidFill>
                <a:srgbClr val="434343"/>
              </a:solidFill>
              <a:latin typeface="Calibri"/>
              <a:ea typeface="Calibri"/>
              <a:cs typeface="Calibri"/>
              <a:sym typeface="Calibri"/>
            </a:endParaRPr>
          </a:p>
          <a:p>
            <a:pPr indent="-266700" lvl="0" marL="285750" marR="0" rtl="0" algn="l">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Messaging, branding, positioning across all assets (website, social, print, etc.) </a:t>
            </a:r>
            <a:endParaRPr sz="1500">
              <a:solidFill>
                <a:srgbClr val="434343"/>
              </a:solidFill>
              <a:latin typeface="Calibri"/>
              <a:ea typeface="Calibri"/>
              <a:cs typeface="Calibri"/>
              <a:sym typeface="Calibri"/>
            </a:endParaRPr>
          </a:p>
          <a:p>
            <a:pPr indent="-266700" lvl="0" marL="285750" marR="0" rtl="0" algn="l">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Content &amp; structure changes to website &amp; all assets (create new marketing materials, etc.)</a:t>
            </a:r>
            <a:endParaRPr sz="1500">
              <a:solidFill>
                <a:srgbClr val="434343"/>
              </a:solidFill>
              <a:latin typeface="Calibri"/>
              <a:ea typeface="Calibri"/>
              <a:cs typeface="Calibri"/>
              <a:sym typeface="Calibri"/>
            </a:endParaRPr>
          </a:p>
          <a:p>
            <a:pPr indent="-273050" lvl="0" marL="285750" marR="0" rtl="0" algn="l">
              <a:lnSpc>
                <a:spcPct val="100000"/>
              </a:lnSpc>
              <a:spcBef>
                <a:spcPts val="600"/>
              </a:spcBef>
              <a:spcAft>
                <a:spcPts val="0"/>
              </a:spcAft>
              <a:buClr>
                <a:srgbClr val="434343"/>
              </a:buClr>
              <a:buSzPts val="1600"/>
              <a:buFont typeface="Calibri"/>
              <a:buChar char="✔"/>
            </a:pPr>
            <a:r>
              <a:rPr lang="en-US" sz="1500">
                <a:solidFill>
                  <a:srgbClr val="434343"/>
                </a:solidFill>
                <a:latin typeface="Calibri"/>
                <a:ea typeface="Calibri"/>
                <a:cs typeface="Calibri"/>
                <a:sym typeface="Calibri"/>
              </a:rPr>
              <a:t>Set-up any lead nurturing/marketing funnels &amp; conversion packages</a:t>
            </a:r>
            <a:br>
              <a:rPr lang="en-US" sz="400">
                <a:solidFill>
                  <a:srgbClr val="434343"/>
                </a:solidFill>
                <a:latin typeface="Calibri"/>
                <a:ea typeface="Calibri"/>
                <a:cs typeface="Calibri"/>
                <a:sym typeface="Calibri"/>
              </a:rPr>
            </a:br>
            <a:br>
              <a:rPr lang="en-US" sz="400">
                <a:solidFill>
                  <a:srgbClr val="434343"/>
                </a:solidFill>
                <a:latin typeface="Calibri"/>
                <a:ea typeface="Calibri"/>
                <a:cs typeface="Calibri"/>
                <a:sym typeface="Calibri"/>
              </a:rPr>
            </a:br>
            <a:br>
              <a:rPr lang="en-US" sz="400">
                <a:solidFill>
                  <a:srgbClr val="434343"/>
                </a:solidFill>
                <a:latin typeface="Calibri"/>
                <a:ea typeface="Calibri"/>
                <a:cs typeface="Calibri"/>
                <a:sym typeface="Calibri"/>
              </a:rPr>
            </a:br>
            <a:endParaRPr sz="400">
              <a:solidFill>
                <a:srgbClr val="434343"/>
              </a:solidFill>
              <a:latin typeface="Calibri"/>
              <a:ea typeface="Calibri"/>
              <a:cs typeface="Calibri"/>
              <a:sym typeface="Calibri"/>
            </a:endParaRPr>
          </a:p>
          <a:p>
            <a:pPr indent="0" lvl="0" marL="0" rtl="0" algn="l">
              <a:spcBef>
                <a:spcPts val="0"/>
              </a:spcBef>
              <a:spcAft>
                <a:spcPts val="0"/>
              </a:spcAft>
              <a:buNone/>
            </a:pPr>
            <a:r>
              <a:rPr i="1" lang="en-US" sz="1000">
                <a:solidFill>
                  <a:srgbClr val="434343"/>
                </a:solidFill>
                <a:latin typeface="Calibri"/>
                <a:ea typeface="Calibri"/>
                <a:cs typeface="Calibri"/>
                <a:sym typeface="Calibri"/>
              </a:rPr>
              <a:t>Essential prior to marketing outreach. All marketing drives back to this foundation. Skipping this step risks conversions, wastes time &amp; money.</a:t>
            </a:r>
            <a:endParaRPr i="1" sz="1000">
              <a:solidFill>
                <a:srgbClr val="434343"/>
              </a:solidFill>
              <a:latin typeface="Calibri"/>
              <a:ea typeface="Calibri"/>
              <a:cs typeface="Calibri"/>
              <a:sym typeface="Calibri"/>
            </a:endParaRPr>
          </a:p>
          <a:p>
            <a:pPr indent="0" lvl="0" marL="0" rtl="0" algn="l">
              <a:spcBef>
                <a:spcPts val="0"/>
              </a:spcBef>
              <a:spcAft>
                <a:spcPts val="0"/>
              </a:spcAft>
              <a:buNone/>
            </a:pPr>
            <a:r>
              <a:t/>
            </a:r>
            <a:endParaRPr i="1" sz="1000">
              <a:solidFill>
                <a:srgbClr val="434343"/>
              </a:solidFill>
              <a:latin typeface="Calibri"/>
              <a:ea typeface="Calibri"/>
              <a:cs typeface="Calibri"/>
              <a:sym typeface="Calibri"/>
            </a:endParaRPr>
          </a:p>
          <a:p>
            <a:pPr indent="0" lvl="0" marL="0" rtl="0" algn="l">
              <a:spcBef>
                <a:spcPts val="0"/>
              </a:spcBef>
              <a:spcAft>
                <a:spcPts val="0"/>
              </a:spcAft>
              <a:buNone/>
            </a:pPr>
            <a:r>
              <a:rPr i="1" lang="en-US" sz="1000">
                <a:solidFill>
                  <a:srgbClr val="434343"/>
                </a:solidFill>
                <a:latin typeface="Calibri"/>
                <a:ea typeface="Calibri"/>
                <a:cs typeface="Calibri"/>
                <a:sym typeface="Calibri"/>
              </a:rPr>
              <a:t>KPIs based initially on activity completed, ongoing based on increased lead captures &amp; conversions </a:t>
            </a:r>
            <a:endParaRPr sz="10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rgbClr val="FFFFFF"/>
              </a:solidFill>
              <a:latin typeface="Calibri"/>
              <a:ea typeface="Calibri"/>
              <a:cs typeface="Calibri"/>
              <a:sym typeface="Calibri"/>
            </a:endParaRPr>
          </a:p>
        </p:txBody>
      </p:sp>
      <p:sp>
        <p:nvSpPr>
          <p:cNvPr id="258" name="Google Shape;258;p36"/>
          <p:cNvSpPr txBox="1"/>
          <p:nvPr/>
        </p:nvSpPr>
        <p:spPr>
          <a:xfrm>
            <a:off x="771350" y="1915875"/>
            <a:ext cx="2975100" cy="45408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1. Marketing Strategy:</a:t>
            </a:r>
            <a:endParaRPr b="1" sz="1700">
              <a:solidFill>
                <a:srgbClr val="434343"/>
              </a:solidFill>
              <a:latin typeface="Calibri"/>
              <a:ea typeface="Calibri"/>
              <a:cs typeface="Calibri"/>
              <a:sym typeface="Calibri"/>
            </a:endParaRPr>
          </a:p>
          <a:p>
            <a:pPr indent="0" lvl="0" marL="0" marR="0" rtl="0" algn="l">
              <a:lnSpc>
                <a:spcPct val="100000"/>
              </a:lnSpc>
              <a:spcBef>
                <a:spcPts val="0"/>
              </a:spcBef>
              <a:spcAft>
                <a:spcPts val="0"/>
              </a:spcAft>
              <a:buNone/>
            </a:pPr>
            <a:r>
              <a:rPr lang="en-US" sz="1500">
                <a:solidFill>
                  <a:srgbClr val="434343"/>
                </a:solidFill>
                <a:latin typeface="Calibri"/>
                <a:ea typeface="Calibri"/>
                <a:cs typeface="Calibri"/>
                <a:sym typeface="Calibri"/>
              </a:rPr>
              <a:t>Outlines the overall marketing direction for the company &amp; products based on client insights, competitor reviews &amp; research, including:</a:t>
            </a:r>
            <a:endParaRPr b="1" sz="1700">
              <a:solidFill>
                <a:srgbClr val="434343"/>
              </a:solidFill>
              <a:latin typeface="Calibri"/>
              <a:ea typeface="Calibri"/>
              <a:cs typeface="Calibri"/>
              <a:sym typeface="Calibri"/>
            </a:endParaRPr>
          </a:p>
          <a:p>
            <a:pPr indent="-292100" lvl="0" marL="285750" marR="0" rtl="0" algn="l">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Client personas and customer journey</a:t>
            </a:r>
            <a:endParaRPr sz="1500">
              <a:solidFill>
                <a:srgbClr val="434343"/>
              </a:solidFill>
              <a:latin typeface="Calibri"/>
              <a:ea typeface="Calibri"/>
              <a:cs typeface="Calibri"/>
              <a:sym typeface="Calibri"/>
            </a:endParaRPr>
          </a:p>
          <a:p>
            <a:pPr indent="-292100" lvl="0" marL="285750" marR="0" rtl="0" algn="l">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Foundational changes or additions (branding, positioning, content, website, funnels, etc.)</a:t>
            </a:r>
            <a:endParaRPr sz="1500">
              <a:solidFill>
                <a:srgbClr val="434343"/>
              </a:solidFill>
              <a:latin typeface="Calibri"/>
              <a:ea typeface="Calibri"/>
              <a:cs typeface="Calibri"/>
              <a:sym typeface="Calibri"/>
            </a:endParaRPr>
          </a:p>
          <a:p>
            <a:pPr indent="-292100" lvl="0" marL="285750" marR="0" rtl="0" algn="l">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Recommended marketing activities (lead generation, awareness, customer retention)</a:t>
            </a:r>
            <a:endParaRPr sz="15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rgbClr val="FFFFFF"/>
              </a:solidFill>
              <a:latin typeface="Calibri"/>
              <a:ea typeface="Calibri"/>
              <a:cs typeface="Calibri"/>
              <a:sym typeface="Calibri"/>
            </a:endParaRPr>
          </a:p>
        </p:txBody>
      </p:sp>
      <p:sp>
        <p:nvSpPr>
          <p:cNvPr id="259" name="Google Shape;259;p36"/>
          <p:cNvSpPr txBox="1"/>
          <p:nvPr/>
        </p:nvSpPr>
        <p:spPr>
          <a:xfrm>
            <a:off x="8364200" y="1915875"/>
            <a:ext cx="3114000" cy="4830900"/>
          </a:xfrm>
          <a:prstGeom prst="rect">
            <a:avLst/>
          </a:prstGeom>
          <a:noFill/>
          <a:ln>
            <a:noFill/>
          </a:ln>
        </p:spPr>
        <p:txBody>
          <a:bodyPr anchorCtr="0" anchor="t" bIns="45700" lIns="0" spcFirstLastPara="1" rIns="0" wrap="square" tIns="45700">
            <a:spAutoFit/>
          </a:bodyPr>
          <a:lstStyle/>
          <a:p>
            <a:pPr indent="0" lvl="0" marL="0" marR="0" rtl="0" algn="l">
              <a:lnSpc>
                <a:spcPct val="100000"/>
              </a:lnSpc>
              <a:spcBef>
                <a:spcPts val="0"/>
              </a:spcBef>
              <a:spcAft>
                <a:spcPts val="0"/>
              </a:spcAft>
              <a:buNone/>
            </a:pPr>
            <a:r>
              <a:rPr b="1" lang="en-US" sz="1700">
                <a:solidFill>
                  <a:srgbClr val="434343"/>
                </a:solidFill>
                <a:latin typeface="Calibri"/>
                <a:ea typeface="Calibri"/>
                <a:cs typeface="Calibri"/>
                <a:sym typeface="Calibri"/>
              </a:rPr>
              <a:t>3. Marketing Activity Execution:</a:t>
            </a:r>
            <a:br>
              <a:rPr b="1" lang="en-US" sz="400">
                <a:solidFill>
                  <a:srgbClr val="434343"/>
                </a:solidFill>
                <a:latin typeface="Calibri"/>
                <a:ea typeface="Calibri"/>
                <a:cs typeface="Calibri"/>
                <a:sym typeface="Calibri"/>
              </a:rPr>
            </a:br>
            <a:br>
              <a:rPr b="1" lang="en-US" sz="400">
                <a:solidFill>
                  <a:srgbClr val="434343"/>
                </a:solidFill>
                <a:latin typeface="Calibri"/>
                <a:ea typeface="Calibri"/>
                <a:cs typeface="Calibri"/>
                <a:sym typeface="Calibri"/>
              </a:rPr>
            </a:br>
            <a:r>
              <a:rPr lang="en-US" sz="1500">
                <a:solidFill>
                  <a:srgbClr val="434343"/>
                </a:solidFill>
                <a:latin typeface="Calibri"/>
                <a:ea typeface="Calibri"/>
                <a:cs typeface="Calibri"/>
                <a:sym typeface="Calibri"/>
              </a:rPr>
              <a:t>Marketing activities to generate leads &amp; awareness (push &amp; pull). All drive back to the Foundation set-up:</a:t>
            </a:r>
            <a:endParaRPr sz="1500">
              <a:solidFill>
                <a:srgbClr val="434343"/>
              </a:solidFill>
              <a:latin typeface="Calibri"/>
              <a:ea typeface="Calibri"/>
              <a:cs typeface="Calibri"/>
              <a:sym typeface="Calibri"/>
            </a:endParaRPr>
          </a:p>
          <a:p>
            <a:pPr indent="-209550" lvl="0" marL="285750" marR="0" rtl="0" algn="l">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Lead generation activities, including advertising, direct marketing, events, association marketing, SEO</a:t>
            </a:r>
            <a:endParaRPr sz="1500">
              <a:solidFill>
                <a:srgbClr val="434343"/>
              </a:solidFill>
              <a:latin typeface="Calibri"/>
              <a:ea typeface="Calibri"/>
              <a:cs typeface="Calibri"/>
              <a:sym typeface="Calibri"/>
            </a:endParaRPr>
          </a:p>
          <a:p>
            <a:pPr indent="-209550" lvl="0" marL="285750" marR="0" rtl="0" algn="l">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Awareness activities, including brand advertising, events, media relations, online listings, social media, content marketing</a:t>
            </a:r>
            <a:endParaRPr sz="1500">
              <a:solidFill>
                <a:srgbClr val="434343"/>
              </a:solidFill>
              <a:latin typeface="Calibri"/>
              <a:ea typeface="Calibri"/>
              <a:cs typeface="Calibri"/>
              <a:sym typeface="Calibri"/>
            </a:endParaRPr>
          </a:p>
          <a:p>
            <a:pPr indent="-215900" lvl="0" marL="285750" marR="0" rtl="0" algn="l">
              <a:lnSpc>
                <a:spcPct val="100000"/>
              </a:lnSpc>
              <a:spcBef>
                <a:spcPts val="600"/>
              </a:spcBef>
              <a:spcAft>
                <a:spcPts val="0"/>
              </a:spcAft>
              <a:buClr>
                <a:srgbClr val="434343"/>
              </a:buClr>
              <a:buSzPts val="1600"/>
              <a:buFont typeface="Calibri"/>
              <a:buChar char="✔"/>
            </a:pPr>
            <a:r>
              <a:rPr lang="en-US" sz="1500">
                <a:solidFill>
                  <a:srgbClr val="434343"/>
                </a:solidFill>
                <a:latin typeface="Calibri"/>
                <a:ea typeface="Calibri"/>
                <a:cs typeface="Calibri"/>
                <a:sym typeface="Calibri"/>
              </a:rPr>
              <a:t>Relationship building &amp; direct sales</a:t>
            </a:r>
            <a:br>
              <a:rPr lang="en-US" sz="400">
                <a:solidFill>
                  <a:srgbClr val="434343"/>
                </a:solidFill>
                <a:latin typeface="Calibri"/>
                <a:ea typeface="Calibri"/>
                <a:cs typeface="Calibri"/>
                <a:sym typeface="Calibri"/>
              </a:rPr>
            </a:br>
            <a:br>
              <a:rPr lang="en-US" sz="400">
                <a:solidFill>
                  <a:srgbClr val="434343"/>
                </a:solidFill>
                <a:latin typeface="Calibri"/>
                <a:ea typeface="Calibri"/>
                <a:cs typeface="Calibri"/>
                <a:sym typeface="Calibri"/>
              </a:rPr>
            </a:br>
            <a:br>
              <a:rPr lang="en-US" sz="400">
                <a:solidFill>
                  <a:srgbClr val="434343"/>
                </a:solidFill>
                <a:latin typeface="Calibri"/>
                <a:ea typeface="Calibri"/>
                <a:cs typeface="Calibri"/>
                <a:sym typeface="Calibri"/>
              </a:rPr>
            </a:br>
            <a:endParaRPr sz="400">
              <a:solidFill>
                <a:srgbClr val="434343"/>
              </a:solidFill>
              <a:latin typeface="Calibri"/>
              <a:ea typeface="Calibri"/>
              <a:cs typeface="Calibri"/>
              <a:sym typeface="Calibri"/>
            </a:endParaRPr>
          </a:p>
          <a:p>
            <a:pPr indent="0" lvl="0" marL="0" rtl="0" algn="l">
              <a:spcBef>
                <a:spcPts val="0"/>
              </a:spcBef>
              <a:spcAft>
                <a:spcPts val="0"/>
              </a:spcAft>
              <a:buNone/>
            </a:pPr>
            <a:r>
              <a:rPr i="1" lang="en-US" sz="1300">
                <a:solidFill>
                  <a:srgbClr val="434343"/>
                </a:solidFill>
                <a:latin typeface="Calibri"/>
                <a:ea typeface="Calibri"/>
                <a:cs typeface="Calibri"/>
                <a:sym typeface="Calibri"/>
              </a:rPr>
              <a:t>KPIs for lead generation based on clicks &amp; conversions, KPIs for awareness measured through new mentions, increased social followers, surveys.</a:t>
            </a:r>
            <a:endParaRPr sz="13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rgbClr val="FFFFFF"/>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7"/>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solidFill>
                  <a:schemeClr val="accent5"/>
                </a:solidFill>
              </a:rPr>
              <a:t>Marketing Strategy </a:t>
            </a:r>
            <a:endParaRPr>
              <a:solidFill>
                <a:schemeClr val="accent5"/>
              </a:solidFill>
            </a:endParaRPr>
          </a:p>
          <a:p>
            <a:pPr indent="0" lvl="0" marL="0" rtl="0" algn="ctr">
              <a:lnSpc>
                <a:spcPct val="90000"/>
              </a:lnSpc>
              <a:spcBef>
                <a:spcPts val="0"/>
              </a:spcBef>
              <a:spcAft>
                <a:spcPts val="0"/>
              </a:spcAft>
              <a:buClr>
                <a:schemeClr val="accent2"/>
              </a:buClr>
              <a:buSzPts val="4400"/>
              <a:buFont typeface="Calibri"/>
              <a:buNone/>
            </a:pPr>
            <a:r>
              <a:rPr lang="en-US"/>
              <a:t>Goals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8"/>
          <p:cNvSpPr txBox="1"/>
          <p:nvPr>
            <p:ph type="title"/>
          </p:nvPr>
        </p:nvSpPr>
        <p:spPr>
          <a:xfrm>
            <a:off x="838200" y="784225"/>
            <a:ext cx="11117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800"/>
              <a:t>Goal: </a:t>
            </a:r>
            <a:r>
              <a:rPr b="0" lang="en-US" sz="3800">
                <a:latin typeface="Calibri"/>
                <a:ea typeface="Calibri"/>
                <a:cs typeface="Calibri"/>
                <a:sym typeface="Calibri"/>
              </a:rPr>
              <a:t>Build a Stronger Private Company and PE Brand Presence in Halifax and Toronto</a:t>
            </a:r>
            <a:endParaRPr sz="3800">
              <a:latin typeface="Calibri"/>
              <a:ea typeface="Calibri"/>
              <a:cs typeface="Calibri"/>
              <a:sym typeface="Calibri"/>
            </a:endParaRPr>
          </a:p>
        </p:txBody>
      </p:sp>
      <p:sp>
        <p:nvSpPr>
          <p:cNvPr id="270" name="Google Shape;270;p38"/>
          <p:cNvSpPr txBox="1"/>
          <p:nvPr>
            <p:ph idx="1" type="body"/>
          </p:nvPr>
        </p:nvSpPr>
        <p:spPr>
          <a:xfrm>
            <a:off x="622525" y="2207250"/>
            <a:ext cx="10400400" cy="4126500"/>
          </a:xfrm>
          <a:prstGeom prst="rect">
            <a:avLst/>
          </a:prstGeom>
          <a:noFill/>
          <a:ln>
            <a:noFill/>
          </a:ln>
        </p:spPr>
        <p:txBody>
          <a:bodyPr anchorCtr="0" anchor="t" bIns="45700" lIns="91425" spcFirstLastPara="1" rIns="91425" wrap="square" tIns="45700">
            <a:noAutofit/>
          </a:bodyPr>
          <a:lstStyle/>
          <a:p>
            <a:pPr indent="-234950" lvl="1" marL="685800" rtl="0" algn="l">
              <a:lnSpc>
                <a:spcPct val="115000"/>
              </a:lnSpc>
              <a:spcBef>
                <a:spcPts val="1000"/>
              </a:spcBef>
              <a:spcAft>
                <a:spcPts val="0"/>
              </a:spcAft>
              <a:buClr>
                <a:schemeClr val="accent2"/>
              </a:buClr>
              <a:buSzPts val="1900"/>
              <a:buChar char="✔"/>
            </a:pPr>
            <a:r>
              <a:rPr b="1" lang="en-US" sz="1900"/>
              <a:t>Challenge: </a:t>
            </a:r>
            <a:r>
              <a:rPr lang="en-US" sz="1900"/>
              <a:t>Current brand recognition is strongest among nonprofits and public sector clients; awareness among private companies and PE firms is minimal.</a:t>
            </a:r>
            <a:endParaRPr sz="1900"/>
          </a:p>
          <a:p>
            <a:pPr indent="-234950" lvl="1" marL="685800" rtl="0" algn="l">
              <a:lnSpc>
                <a:spcPct val="115000"/>
              </a:lnSpc>
              <a:spcBef>
                <a:spcPts val="1000"/>
              </a:spcBef>
              <a:spcAft>
                <a:spcPts val="0"/>
              </a:spcAft>
              <a:buClr>
                <a:schemeClr val="accent2"/>
              </a:buClr>
              <a:buSzPts val="1900"/>
              <a:buChar char="✔"/>
            </a:pPr>
            <a:r>
              <a:rPr b="1" lang="en-US" sz="1900"/>
              <a:t>Goal: </a:t>
            </a:r>
            <a:r>
              <a:rPr lang="en-US" sz="1900"/>
              <a:t>Position PowerUp as the top choice for leadership and talent transformation among privately held high-growth companies and operational PE firms.</a:t>
            </a:r>
            <a:endParaRPr sz="1900"/>
          </a:p>
          <a:p>
            <a:pPr indent="-234950" lvl="1" marL="685800" rtl="0" algn="l">
              <a:lnSpc>
                <a:spcPct val="115000"/>
              </a:lnSpc>
              <a:spcBef>
                <a:spcPts val="1000"/>
              </a:spcBef>
              <a:spcAft>
                <a:spcPts val="0"/>
              </a:spcAft>
              <a:buClr>
                <a:schemeClr val="accent2"/>
              </a:buClr>
              <a:buSzPts val="1900"/>
              <a:buChar char="✔"/>
            </a:pPr>
            <a:r>
              <a:rPr b="1" lang="en-US" sz="1900"/>
              <a:t>Action Steps:</a:t>
            </a:r>
            <a:endParaRPr b="1" sz="1900"/>
          </a:p>
          <a:p>
            <a:pPr indent="-234950" lvl="2" marL="1143000" rtl="0" algn="l">
              <a:lnSpc>
                <a:spcPct val="115000"/>
              </a:lnSpc>
              <a:spcBef>
                <a:spcPts val="1000"/>
              </a:spcBef>
              <a:spcAft>
                <a:spcPts val="0"/>
              </a:spcAft>
              <a:buClr>
                <a:schemeClr val="accent2"/>
              </a:buClr>
              <a:buSzPts val="1900"/>
              <a:buChar char="•"/>
            </a:pPr>
            <a:r>
              <a:rPr lang="en-US" sz="1900"/>
              <a:t>Create new messaging and positioning for PE and Private </a:t>
            </a:r>
            <a:r>
              <a:rPr lang="en-US" sz="1900"/>
              <a:t>Companies</a:t>
            </a:r>
            <a:endParaRPr sz="1900"/>
          </a:p>
          <a:p>
            <a:pPr indent="-234950" lvl="2" marL="1143000" rtl="0" algn="l">
              <a:lnSpc>
                <a:spcPct val="115000"/>
              </a:lnSpc>
              <a:spcBef>
                <a:spcPts val="1000"/>
              </a:spcBef>
              <a:spcAft>
                <a:spcPts val="0"/>
              </a:spcAft>
              <a:buClr>
                <a:schemeClr val="accent2"/>
              </a:buClr>
              <a:buSzPts val="1900"/>
              <a:buChar char="•"/>
            </a:pPr>
            <a:r>
              <a:rPr lang="en-US" sz="1900"/>
              <a:t>Update website messaging, branding, and services flow</a:t>
            </a:r>
            <a:endParaRPr sz="1900"/>
          </a:p>
          <a:p>
            <a:pPr indent="-234950" lvl="2" marL="1143000" rtl="0" algn="l">
              <a:lnSpc>
                <a:spcPct val="115000"/>
              </a:lnSpc>
              <a:spcBef>
                <a:spcPts val="1000"/>
              </a:spcBef>
              <a:spcAft>
                <a:spcPts val="0"/>
              </a:spcAft>
              <a:buClr>
                <a:schemeClr val="accent2"/>
              </a:buClr>
              <a:buSzPts val="1900"/>
              <a:buChar char="•"/>
            </a:pPr>
            <a:r>
              <a:rPr lang="en-US" sz="1900"/>
              <a:t>Tailor case studies and proof points to private sector/PE audiences</a:t>
            </a:r>
            <a:endParaRPr sz="1900"/>
          </a:p>
          <a:p>
            <a:pPr indent="-234950" lvl="2" marL="1143000" rtl="0" algn="l">
              <a:lnSpc>
                <a:spcPct val="115000"/>
              </a:lnSpc>
              <a:spcBef>
                <a:spcPts val="1000"/>
              </a:spcBef>
              <a:spcAft>
                <a:spcPts val="0"/>
              </a:spcAft>
              <a:buClr>
                <a:schemeClr val="accent2"/>
              </a:buClr>
              <a:buSzPts val="1900"/>
              <a:buChar char="•"/>
            </a:pPr>
            <a:r>
              <a:rPr lang="en-US" sz="1900"/>
              <a:t>Awareness campaigns in Halifax first, Toronto second</a:t>
            </a:r>
            <a:endParaRPr sz="1900"/>
          </a:p>
        </p:txBody>
      </p:sp>
      <p:sp>
        <p:nvSpPr>
          <p:cNvPr id="271" name="Google Shape;271;p38"/>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marketing foundation - messaging, positioning &amp; branding</a:t>
            </a:r>
            <a:endParaRPr b="0" i="1" sz="1900">
              <a:solidFill>
                <a:schemeClr val="accent5"/>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9"/>
          <p:cNvSpPr txBox="1"/>
          <p:nvPr>
            <p:ph type="title"/>
          </p:nvPr>
        </p:nvSpPr>
        <p:spPr>
          <a:xfrm>
            <a:off x="838200" y="784225"/>
            <a:ext cx="11117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800"/>
              <a:t>Goal: </a:t>
            </a:r>
            <a:r>
              <a:rPr b="0" lang="en-US" sz="3800">
                <a:latin typeface="Calibri"/>
                <a:ea typeface="Calibri"/>
                <a:cs typeface="Calibri"/>
                <a:sym typeface="Calibri"/>
              </a:rPr>
              <a:t>Streamline and Clarify Service Offerings</a:t>
            </a:r>
            <a:endParaRPr sz="3800">
              <a:latin typeface="Calibri"/>
              <a:ea typeface="Calibri"/>
              <a:cs typeface="Calibri"/>
              <a:sym typeface="Calibri"/>
            </a:endParaRPr>
          </a:p>
        </p:txBody>
      </p:sp>
      <p:sp>
        <p:nvSpPr>
          <p:cNvPr id="277" name="Google Shape;277;p39"/>
          <p:cNvSpPr txBox="1"/>
          <p:nvPr>
            <p:ph idx="1" type="body"/>
          </p:nvPr>
        </p:nvSpPr>
        <p:spPr>
          <a:xfrm>
            <a:off x="557500" y="1728375"/>
            <a:ext cx="10400400" cy="4126500"/>
          </a:xfrm>
          <a:prstGeom prst="rect">
            <a:avLst/>
          </a:prstGeom>
          <a:noFill/>
          <a:ln>
            <a:noFill/>
          </a:ln>
        </p:spPr>
        <p:txBody>
          <a:bodyPr anchorCtr="0" anchor="t" bIns="45700" lIns="91425" spcFirstLastPara="1" rIns="91425" wrap="square" tIns="45700">
            <a:noAutofit/>
          </a:bodyPr>
          <a:lstStyle/>
          <a:p>
            <a:pPr indent="-222250" lvl="1" marL="685800" marR="0" rtl="0" algn="l">
              <a:lnSpc>
                <a:spcPct val="115000"/>
              </a:lnSpc>
              <a:spcBef>
                <a:spcPts val="1000"/>
              </a:spcBef>
              <a:spcAft>
                <a:spcPts val="0"/>
              </a:spcAft>
              <a:buClr>
                <a:schemeClr val="accent2"/>
              </a:buClr>
              <a:buSzPts val="1700"/>
              <a:buChar char="✔"/>
            </a:pPr>
            <a:r>
              <a:rPr b="1" lang="en-US" sz="1700"/>
              <a:t>Challenge: </a:t>
            </a:r>
            <a:r>
              <a:rPr lang="en-US" sz="1700"/>
              <a:t>Current service offerings are fragmented, inconsistently named, and lack a clear structure. Prospects must figure out on their own which services fit their needs, leading to confusion, drop-off, or disengagement.</a:t>
            </a:r>
            <a:endParaRPr sz="1700"/>
          </a:p>
          <a:p>
            <a:pPr indent="-222250" lvl="1" marL="685800" marR="0" rtl="0" algn="l">
              <a:lnSpc>
                <a:spcPct val="115000"/>
              </a:lnSpc>
              <a:spcBef>
                <a:spcPts val="1000"/>
              </a:spcBef>
              <a:spcAft>
                <a:spcPts val="0"/>
              </a:spcAft>
              <a:buClr>
                <a:schemeClr val="accent2"/>
              </a:buClr>
              <a:buSzPts val="1700"/>
              <a:buChar char="✔"/>
            </a:pPr>
            <a:r>
              <a:rPr b="1" lang="en-US" sz="1700"/>
              <a:t>Goal: </a:t>
            </a:r>
            <a:r>
              <a:rPr lang="en-US" sz="1700"/>
              <a:t>Simplify and structure PowerUp’s services into two clear, client-facing solution areas that align with scaling private companies and private equity needs.</a:t>
            </a:r>
            <a:endParaRPr sz="1700"/>
          </a:p>
          <a:p>
            <a:pPr indent="-222250" lvl="1" marL="685800" marR="0" rtl="0" algn="l">
              <a:lnSpc>
                <a:spcPct val="115000"/>
              </a:lnSpc>
              <a:spcBef>
                <a:spcPts val="1000"/>
              </a:spcBef>
              <a:spcAft>
                <a:spcPts val="0"/>
              </a:spcAft>
              <a:buClr>
                <a:schemeClr val="accent2"/>
              </a:buClr>
              <a:buSzPts val="1700"/>
              <a:buChar char="✔"/>
            </a:pPr>
            <a:r>
              <a:rPr b="1" lang="en-US" sz="1700"/>
              <a:t>Action Steps:</a:t>
            </a:r>
            <a:endParaRPr b="1" sz="1700"/>
          </a:p>
          <a:p>
            <a:pPr indent="-215900" lvl="2" marL="1143000" marR="0" rtl="0" algn="l">
              <a:lnSpc>
                <a:spcPct val="115000"/>
              </a:lnSpc>
              <a:spcBef>
                <a:spcPts val="1000"/>
              </a:spcBef>
              <a:spcAft>
                <a:spcPts val="0"/>
              </a:spcAft>
              <a:buClr>
                <a:schemeClr val="accent2"/>
              </a:buClr>
              <a:buSzPts val="1600"/>
              <a:buChar char="•"/>
            </a:pPr>
            <a:r>
              <a:rPr lang="en-US" sz="1600"/>
              <a:t>Consolidate services into two main categories: Leadership Development and Talent Transformation</a:t>
            </a:r>
            <a:endParaRPr sz="1600"/>
          </a:p>
          <a:p>
            <a:pPr indent="-215900" lvl="2" marL="1143000" marR="0" rtl="0" algn="l">
              <a:lnSpc>
                <a:spcPct val="115000"/>
              </a:lnSpc>
              <a:spcBef>
                <a:spcPts val="1000"/>
              </a:spcBef>
              <a:spcAft>
                <a:spcPts val="0"/>
              </a:spcAft>
              <a:buClr>
                <a:schemeClr val="accent2"/>
              </a:buClr>
              <a:buSzPts val="1600"/>
              <a:buChar char="•"/>
            </a:pPr>
            <a:r>
              <a:rPr lang="en-US" sz="1600"/>
              <a:t>Standardize naming and descriptions across all materials and the website</a:t>
            </a:r>
            <a:endParaRPr sz="1600"/>
          </a:p>
          <a:p>
            <a:pPr indent="-215900" lvl="2" marL="1143000" marR="0" rtl="0" algn="l">
              <a:lnSpc>
                <a:spcPct val="115000"/>
              </a:lnSpc>
              <a:spcBef>
                <a:spcPts val="1000"/>
              </a:spcBef>
              <a:spcAft>
                <a:spcPts val="0"/>
              </a:spcAft>
              <a:buClr>
                <a:schemeClr val="accent2"/>
              </a:buClr>
              <a:buSzPts val="1600"/>
              <a:buChar char="•"/>
            </a:pPr>
            <a:r>
              <a:rPr lang="en-US" sz="1600"/>
              <a:t>Eliminate redundant service names (e.g., too many variations of "coaching")</a:t>
            </a:r>
            <a:endParaRPr b="1" sz="1600"/>
          </a:p>
          <a:p>
            <a:pPr indent="-215900" lvl="2" marL="1143000" marR="0" rtl="0" algn="l">
              <a:lnSpc>
                <a:spcPct val="115000"/>
              </a:lnSpc>
              <a:spcBef>
                <a:spcPts val="1000"/>
              </a:spcBef>
              <a:spcAft>
                <a:spcPts val="0"/>
              </a:spcAft>
              <a:buClr>
                <a:schemeClr val="accent2"/>
              </a:buClr>
              <a:buSzPts val="1600"/>
              <a:buChar char="•"/>
            </a:pPr>
            <a:r>
              <a:rPr lang="en-US" sz="1600"/>
              <a:t>Create clear buyer paths for each solution, linking to relevant lead magnets and funnels</a:t>
            </a:r>
            <a:endParaRPr sz="1600"/>
          </a:p>
        </p:txBody>
      </p:sp>
      <p:sp>
        <p:nvSpPr>
          <p:cNvPr id="278" name="Google Shape;278;p39"/>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marketing foundation - </a:t>
            </a:r>
            <a:r>
              <a:rPr b="0" i="1" lang="en-US" sz="1900">
                <a:solidFill>
                  <a:schemeClr val="accent5"/>
                </a:solidFill>
                <a:latin typeface="Calibri"/>
                <a:ea typeface="Calibri"/>
                <a:cs typeface="Calibri"/>
                <a:sym typeface="Calibri"/>
              </a:rPr>
              <a:t>messaging, positioning &amp; branding</a:t>
            </a:r>
            <a:endParaRPr b="0" i="1" sz="1900">
              <a:solidFill>
                <a:schemeClr val="accent5"/>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type="title"/>
          </p:nvPr>
        </p:nvSpPr>
        <p:spPr>
          <a:xfrm>
            <a:off x="838200" y="784225"/>
            <a:ext cx="103101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800"/>
              <a:t>Goal: </a:t>
            </a:r>
            <a:r>
              <a:rPr b="0" lang="en-US" sz="3800">
                <a:latin typeface="Calibri"/>
                <a:ea typeface="Calibri"/>
                <a:cs typeface="Calibri"/>
                <a:sym typeface="Calibri"/>
              </a:rPr>
              <a:t>Build Local Search Presence (Halifax/Toronto)</a:t>
            </a:r>
            <a:endParaRPr sz="3800">
              <a:latin typeface="Calibri"/>
              <a:ea typeface="Calibri"/>
              <a:cs typeface="Calibri"/>
              <a:sym typeface="Calibri"/>
            </a:endParaRPr>
          </a:p>
        </p:txBody>
      </p:sp>
      <p:sp>
        <p:nvSpPr>
          <p:cNvPr id="284" name="Google Shape;284;p40"/>
          <p:cNvSpPr txBox="1"/>
          <p:nvPr>
            <p:ph idx="1" type="body"/>
          </p:nvPr>
        </p:nvSpPr>
        <p:spPr>
          <a:xfrm>
            <a:off x="605275" y="1719275"/>
            <a:ext cx="10400400" cy="4879800"/>
          </a:xfrm>
          <a:prstGeom prst="rect">
            <a:avLst/>
          </a:prstGeom>
          <a:noFill/>
          <a:ln>
            <a:noFill/>
          </a:ln>
        </p:spPr>
        <p:txBody>
          <a:bodyPr anchorCtr="0" anchor="t" bIns="45700" lIns="91425" spcFirstLastPara="1" rIns="91425" wrap="square" tIns="45700">
            <a:noAutofit/>
          </a:bodyPr>
          <a:lstStyle/>
          <a:p>
            <a:pPr indent="-222250" lvl="1" marL="685800" rtl="0" algn="l">
              <a:lnSpc>
                <a:spcPct val="115000"/>
              </a:lnSpc>
              <a:spcBef>
                <a:spcPts val="1000"/>
              </a:spcBef>
              <a:spcAft>
                <a:spcPts val="0"/>
              </a:spcAft>
              <a:buClr>
                <a:schemeClr val="accent2"/>
              </a:buClr>
              <a:buSzPts val="1700"/>
              <a:buChar char="✔"/>
            </a:pPr>
            <a:r>
              <a:rPr b="1" lang="en-US" sz="1700"/>
              <a:t>Challenge: </a:t>
            </a:r>
            <a:r>
              <a:rPr lang="en-US" sz="1700"/>
              <a:t>PowerUp’s website is not optimized for local search, the Halifax Google Business profile is not optimized and there is no active Google Business profile for Toronto. Prospects searching for leadership development or executive coaching services locally may not discover PowerUp easily, especially in Toronto.</a:t>
            </a:r>
            <a:endParaRPr sz="1700"/>
          </a:p>
          <a:p>
            <a:pPr indent="-222250" lvl="1" marL="685800" rtl="0" algn="l">
              <a:lnSpc>
                <a:spcPct val="115000"/>
              </a:lnSpc>
              <a:spcBef>
                <a:spcPts val="1000"/>
              </a:spcBef>
              <a:spcAft>
                <a:spcPts val="0"/>
              </a:spcAft>
              <a:buClr>
                <a:schemeClr val="accent2"/>
              </a:buClr>
              <a:buSzPts val="1700"/>
              <a:buChar char="✔"/>
            </a:pPr>
            <a:r>
              <a:rPr b="1" lang="en-US" sz="1700"/>
              <a:t>Goal:</a:t>
            </a:r>
            <a:r>
              <a:rPr lang="en-US" sz="1700"/>
              <a:t> Establish strong local SEO foundations to support brand visibility and credibility in Halifax and Toronto.</a:t>
            </a:r>
            <a:endParaRPr sz="1700"/>
          </a:p>
          <a:p>
            <a:pPr indent="-222250" lvl="1" marL="685800" rtl="0" algn="l">
              <a:lnSpc>
                <a:spcPct val="115000"/>
              </a:lnSpc>
              <a:spcBef>
                <a:spcPts val="1000"/>
              </a:spcBef>
              <a:spcAft>
                <a:spcPts val="0"/>
              </a:spcAft>
              <a:buClr>
                <a:schemeClr val="accent2"/>
              </a:buClr>
              <a:buSzPts val="1700"/>
              <a:buChar char="✔"/>
            </a:pPr>
            <a:r>
              <a:rPr b="1" lang="en-US" sz="1700"/>
              <a:t>Action Steps:</a:t>
            </a:r>
            <a:endParaRPr b="1" sz="1700"/>
          </a:p>
          <a:p>
            <a:pPr indent="-215900" lvl="2" marL="1143000" rtl="0" algn="l">
              <a:lnSpc>
                <a:spcPct val="115000"/>
              </a:lnSpc>
              <a:spcBef>
                <a:spcPts val="1000"/>
              </a:spcBef>
              <a:spcAft>
                <a:spcPts val="0"/>
              </a:spcAft>
              <a:buSzPts val="1600"/>
              <a:buChar char="•"/>
            </a:pPr>
            <a:r>
              <a:rPr lang="en-US" sz="1600"/>
              <a:t>Optimize the website for SEO, including metadata, headings, and page structure</a:t>
            </a:r>
            <a:endParaRPr sz="1600"/>
          </a:p>
          <a:p>
            <a:pPr indent="-215900" lvl="2" marL="1143000" rtl="0" algn="l">
              <a:lnSpc>
                <a:spcPct val="115000"/>
              </a:lnSpc>
              <a:spcBef>
                <a:spcPts val="1000"/>
              </a:spcBef>
              <a:spcAft>
                <a:spcPts val="0"/>
              </a:spcAft>
              <a:buSzPts val="1600"/>
              <a:buChar char="•"/>
            </a:pPr>
            <a:r>
              <a:rPr lang="en-US" sz="1600"/>
              <a:t>Create local landing pages for Halifax and Toronto</a:t>
            </a:r>
            <a:endParaRPr sz="1600"/>
          </a:p>
          <a:p>
            <a:pPr indent="-215900" lvl="2" marL="1143000" rtl="0" algn="l">
              <a:lnSpc>
                <a:spcPct val="115000"/>
              </a:lnSpc>
              <a:spcBef>
                <a:spcPts val="1000"/>
              </a:spcBef>
              <a:spcAft>
                <a:spcPts val="0"/>
              </a:spcAft>
              <a:buSzPts val="1600"/>
              <a:buChar char="•"/>
            </a:pPr>
            <a:r>
              <a:rPr lang="en-US" sz="1600"/>
              <a:t>Create audience-specific hub pages for Private Companies and Private Equity Firms</a:t>
            </a:r>
            <a:endParaRPr sz="1600"/>
          </a:p>
          <a:p>
            <a:pPr indent="-215900" lvl="2" marL="1143000" rtl="0" algn="l">
              <a:lnSpc>
                <a:spcPct val="115000"/>
              </a:lnSpc>
              <a:spcBef>
                <a:spcPts val="1000"/>
              </a:spcBef>
              <a:spcAft>
                <a:spcPts val="0"/>
              </a:spcAft>
              <a:buSzPts val="1600"/>
              <a:buChar char="•"/>
            </a:pPr>
            <a:r>
              <a:rPr lang="en-US" sz="1600"/>
              <a:t>Create and fully optimize Google Business profiles for Halifax and Toronto</a:t>
            </a:r>
            <a:endParaRPr sz="1600"/>
          </a:p>
          <a:p>
            <a:pPr indent="-215900" lvl="2" marL="1143000" rtl="0" algn="l">
              <a:lnSpc>
                <a:spcPct val="115000"/>
              </a:lnSpc>
              <a:spcBef>
                <a:spcPts val="1000"/>
              </a:spcBef>
              <a:spcAft>
                <a:spcPts val="0"/>
              </a:spcAft>
              <a:buSzPts val="1600"/>
              <a:buChar char="•"/>
            </a:pPr>
            <a:r>
              <a:rPr lang="en-US" sz="1600"/>
              <a:t>Ensure NAP (name, address, phone) consistency across all listings</a:t>
            </a:r>
            <a:endParaRPr sz="1600"/>
          </a:p>
          <a:p>
            <a:pPr indent="-215900" lvl="2" marL="1143000" rtl="0" algn="l">
              <a:lnSpc>
                <a:spcPct val="115000"/>
              </a:lnSpc>
              <a:spcBef>
                <a:spcPts val="1000"/>
              </a:spcBef>
              <a:spcAft>
                <a:spcPts val="0"/>
              </a:spcAft>
              <a:buSzPts val="1600"/>
              <a:buChar char="•"/>
            </a:pPr>
            <a:r>
              <a:rPr lang="en-US" sz="1600"/>
              <a:t>Collect and publish new Google Reviews from Halifax and Toronto clients as proof points</a:t>
            </a:r>
            <a:endParaRPr sz="1600"/>
          </a:p>
          <a:p>
            <a:pPr indent="-215900" lvl="2" marL="1143000" rtl="0" algn="l">
              <a:lnSpc>
                <a:spcPct val="115000"/>
              </a:lnSpc>
              <a:spcBef>
                <a:spcPts val="1000"/>
              </a:spcBef>
              <a:spcAft>
                <a:spcPts val="0"/>
              </a:spcAft>
              <a:buSzPts val="1600"/>
              <a:buChar char="•"/>
            </a:pPr>
            <a:r>
              <a:rPr lang="en-US" sz="1600"/>
              <a:t>Ensure location pages or references are integrated into the main website (Local SEO signals)</a:t>
            </a:r>
            <a:endParaRPr sz="1600"/>
          </a:p>
        </p:txBody>
      </p:sp>
      <p:sp>
        <p:nvSpPr>
          <p:cNvPr id="285" name="Google Shape;285;p40"/>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marketing foundation - website, core content &amp; funnels</a:t>
            </a:r>
            <a:endParaRPr b="0" i="1" sz="1900">
              <a:solidFill>
                <a:schemeClr val="accent5"/>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1"/>
          <p:cNvSpPr txBox="1"/>
          <p:nvPr>
            <p:ph type="title"/>
          </p:nvPr>
        </p:nvSpPr>
        <p:spPr>
          <a:xfrm>
            <a:off x="838200" y="784225"/>
            <a:ext cx="103101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800"/>
              <a:t>Goal: </a:t>
            </a:r>
            <a:r>
              <a:rPr b="0" lang="en-US" sz="3800">
                <a:latin typeface="Calibri"/>
                <a:ea typeface="Calibri"/>
                <a:cs typeface="Calibri"/>
                <a:sym typeface="Calibri"/>
              </a:rPr>
              <a:t>Align Core Content to Private Company and PE Audiences</a:t>
            </a:r>
            <a:endParaRPr sz="3800">
              <a:latin typeface="Calibri"/>
              <a:ea typeface="Calibri"/>
              <a:cs typeface="Calibri"/>
              <a:sym typeface="Calibri"/>
            </a:endParaRPr>
          </a:p>
        </p:txBody>
      </p:sp>
      <p:sp>
        <p:nvSpPr>
          <p:cNvPr id="291" name="Google Shape;291;p41"/>
          <p:cNvSpPr txBox="1"/>
          <p:nvPr>
            <p:ph idx="1" type="body"/>
          </p:nvPr>
        </p:nvSpPr>
        <p:spPr>
          <a:xfrm>
            <a:off x="595725" y="2044025"/>
            <a:ext cx="10400400" cy="4879800"/>
          </a:xfrm>
          <a:prstGeom prst="rect">
            <a:avLst/>
          </a:prstGeom>
          <a:noFill/>
          <a:ln>
            <a:noFill/>
          </a:ln>
        </p:spPr>
        <p:txBody>
          <a:bodyPr anchorCtr="0" anchor="t" bIns="45700" lIns="91425" spcFirstLastPara="1" rIns="91425" wrap="square" tIns="45700">
            <a:noAutofit/>
          </a:bodyPr>
          <a:lstStyle/>
          <a:p>
            <a:pPr indent="-222250" lvl="1" marL="685800" rtl="0" algn="l">
              <a:lnSpc>
                <a:spcPct val="115000"/>
              </a:lnSpc>
              <a:spcBef>
                <a:spcPts val="1000"/>
              </a:spcBef>
              <a:spcAft>
                <a:spcPts val="0"/>
              </a:spcAft>
              <a:buClr>
                <a:schemeClr val="accent2"/>
              </a:buClr>
              <a:buSzPts val="1700"/>
              <a:buChar char="✔"/>
            </a:pPr>
            <a:r>
              <a:rPr b="1" lang="en-US" sz="1700"/>
              <a:t>Challenge: </a:t>
            </a:r>
            <a:r>
              <a:rPr lang="en-US" sz="1700"/>
              <a:t>Most existing website and marketing content is tailored to nonprofit/government clients and does not address the pain points of fast-growing private companies or operational PE firms.</a:t>
            </a:r>
            <a:endParaRPr sz="1700"/>
          </a:p>
          <a:p>
            <a:pPr indent="-222250" lvl="1" marL="685800" rtl="0" algn="l">
              <a:lnSpc>
                <a:spcPct val="115000"/>
              </a:lnSpc>
              <a:spcBef>
                <a:spcPts val="1000"/>
              </a:spcBef>
              <a:spcAft>
                <a:spcPts val="0"/>
              </a:spcAft>
              <a:buClr>
                <a:schemeClr val="accent2"/>
              </a:buClr>
              <a:buSzPts val="1700"/>
              <a:buChar char="✔"/>
            </a:pPr>
            <a:r>
              <a:rPr b="1" lang="en-US" sz="1700"/>
              <a:t>Goal: </a:t>
            </a:r>
            <a:r>
              <a:rPr lang="en-US" sz="1700"/>
              <a:t>Create new high-value, audience-specific content that speaks directly to leadership challenges in scaling companies and post-acquisition environments.</a:t>
            </a:r>
            <a:endParaRPr sz="1700"/>
          </a:p>
          <a:p>
            <a:pPr indent="-222250" lvl="1" marL="685800" rtl="0" algn="l">
              <a:lnSpc>
                <a:spcPct val="115000"/>
              </a:lnSpc>
              <a:spcBef>
                <a:spcPts val="1000"/>
              </a:spcBef>
              <a:spcAft>
                <a:spcPts val="0"/>
              </a:spcAft>
              <a:buClr>
                <a:schemeClr val="accent2"/>
              </a:buClr>
              <a:buSzPts val="1700"/>
              <a:buChar char="✔"/>
            </a:pPr>
            <a:r>
              <a:rPr b="1" lang="en-US" sz="1700"/>
              <a:t>Action Steps:</a:t>
            </a:r>
            <a:endParaRPr b="1" sz="1700"/>
          </a:p>
          <a:p>
            <a:pPr indent="-215900" lvl="2" marL="1143000" rtl="0" algn="l">
              <a:lnSpc>
                <a:spcPct val="115000"/>
              </a:lnSpc>
              <a:spcBef>
                <a:spcPts val="600"/>
              </a:spcBef>
              <a:spcAft>
                <a:spcPts val="0"/>
              </a:spcAft>
              <a:buSzPts val="1600"/>
              <a:buChar char="•"/>
            </a:pPr>
            <a:r>
              <a:rPr lang="en-US" sz="1600"/>
              <a:t>Develop two lead magnets (ebooks):</a:t>
            </a:r>
            <a:endParaRPr sz="1600"/>
          </a:p>
          <a:p>
            <a:pPr indent="-209550" lvl="3" marL="1600200" rtl="0" algn="l">
              <a:lnSpc>
                <a:spcPct val="115000"/>
              </a:lnSpc>
              <a:spcBef>
                <a:spcPts val="600"/>
              </a:spcBef>
              <a:spcAft>
                <a:spcPts val="0"/>
              </a:spcAft>
              <a:buSzPts val="1500"/>
              <a:buChar char="•"/>
            </a:pPr>
            <a:r>
              <a:rPr lang="en-US" sz="1500"/>
              <a:t>“Is Your Leadership Team Ready to Scale?” (Private Companies)</a:t>
            </a:r>
            <a:endParaRPr sz="1500"/>
          </a:p>
          <a:p>
            <a:pPr indent="-209550" lvl="3" marL="1600200" rtl="0" algn="l">
              <a:lnSpc>
                <a:spcPct val="115000"/>
              </a:lnSpc>
              <a:spcBef>
                <a:spcPts val="600"/>
              </a:spcBef>
              <a:spcAft>
                <a:spcPts val="0"/>
              </a:spcAft>
              <a:buSzPts val="1500"/>
              <a:buChar char="•"/>
            </a:pPr>
            <a:r>
              <a:rPr lang="en-US" sz="1500"/>
              <a:t>“De-Risking Human Capital: 5 Critical Moves Post-Acquisition” (Private Equity)</a:t>
            </a:r>
            <a:endParaRPr sz="1500"/>
          </a:p>
          <a:p>
            <a:pPr indent="-215900" lvl="2" marL="1143000" rtl="0" algn="l">
              <a:lnSpc>
                <a:spcPct val="115000"/>
              </a:lnSpc>
              <a:spcBef>
                <a:spcPts val="600"/>
              </a:spcBef>
              <a:spcAft>
                <a:spcPts val="0"/>
              </a:spcAft>
              <a:buSzPts val="1600"/>
              <a:buChar char="•"/>
            </a:pPr>
            <a:r>
              <a:rPr lang="en-US" sz="1600"/>
              <a:t>Update website copy to reflect growth-stage leadership development challenges</a:t>
            </a:r>
            <a:endParaRPr sz="1600"/>
          </a:p>
          <a:p>
            <a:pPr indent="-215900" lvl="2" marL="1143000" rtl="0" algn="l">
              <a:lnSpc>
                <a:spcPct val="115000"/>
              </a:lnSpc>
              <a:spcBef>
                <a:spcPts val="600"/>
              </a:spcBef>
              <a:spcAft>
                <a:spcPts val="0"/>
              </a:spcAft>
              <a:buSzPts val="1600"/>
              <a:buChar char="•"/>
            </a:pPr>
            <a:r>
              <a:rPr lang="en-US" sz="1600"/>
              <a:t>Launch 4–6 blog posts addressing leadership scaling, retention, post-acquisition leadership gaps, and team alignment</a:t>
            </a:r>
            <a:endParaRPr sz="1600"/>
          </a:p>
          <a:p>
            <a:pPr indent="-215900" lvl="2" marL="1143000" rtl="0" algn="l">
              <a:lnSpc>
                <a:spcPct val="115000"/>
              </a:lnSpc>
              <a:spcBef>
                <a:spcPts val="600"/>
              </a:spcBef>
              <a:spcAft>
                <a:spcPts val="0"/>
              </a:spcAft>
              <a:buSzPts val="1600"/>
              <a:buChar char="•"/>
            </a:pPr>
            <a:r>
              <a:rPr lang="en-US" sz="1600"/>
              <a:t>Align social media content strategy with new audiences (LinkedIn primary focus)</a:t>
            </a:r>
            <a:endParaRPr sz="1600"/>
          </a:p>
        </p:txBody>
      </p:sp>
      <p:sp>
        <p:nvSpPr>
          <p:cNvPr id="292" name="Google Shape;292;p41"/>
          <p:cNvSpPr txBox="1"/>
          <p:nvPr>
            <p:ph type="title"/>
          </p:nvPr>
        </p:nvSpPr>
        <p:spPr>
          <a:xfrm>
            <a:off x="838200" y="29650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marketing foundation - website, core content &amp; funnels</a:t>
            </a:r>
            <a:endParaRPr b="0" i="1" sz="1900">
              <a:solidFill>
                <a:schemeClr val="accent5"/>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2"/>
          <p:cNvSpPr txBox="1"/>
          <p:nvPr>
            <p:ph type="title"/>
          </p:nvPr>
        </p:nvSpPr>
        <p:spPr>
          <a:xfrm>
            <a:off x="838200" y="784225"/>
            <a:ext cx="107079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800"/>
              <a:t>Goal: </a:t>
            </a:r>
            <a:r>
              <a:rPr b="0" lang="en-US" sz="3800">
                <a:latin typeface="Calibri"/>
                <a:ea typeface="Calibri"/>
                <a:cs typeface="Calibri"/>
                <a:sym typeface="Calibri"/>
              </a:rPr>
              <a:t>Convert more website traffic into marketing qualified leads	</a:t>
            </a:r>
            <a:endParaRPr sz="3800">
              <a:latin typeface="Calibri"/>
              <a:ea typeface="Calibri"/>
              <a:cs typeface="Calibri"/>
              <a:sym typeface="Calibri"/>
            </a:endParaRPr>
          </a:p>
        </p:txBody>
      </p:sp>
      <p:sp>
        <p:nvSpPr>
          <p:cNvPr id="298" name="Google Shape;298;p42"/>
          <p:cNvSpPr txBox="1"/>
          <p:nvPr>
            <p:ph idx="1" type="body"/>
          </p:nvPr>
        </p:nvSpPr>
        <p:spPr>
          <a:xfrm>
            <a:off x="653175" y="2191700"/>
            <a:ext cx="10400400" cy="4126500"/>
          </a:xfrm>
          <a:prstGeom prst="rect">
            <a:avLst/>
          </a:prstGeom>
          <a:noFill/>
          <a:ln>
            <a:noFill/>
          </a:ln>
        </p:spPr>
        <p:txBody>
          <a:bodyPr anchorCtr="0" anchor="t" bIns="45700" lIns="91425" spcFirstLastPara="1" rIns="91425" wrap="square" tIns="45700">
            <a:noAutofit/>
          </a:bodyPr>
          <a:lstStyle/>
          <a:p>
            <a:pPr indent="-234950" lvl="1" marL="685800" rtl="0" algn="l">
              <a:lnSpc>
                <a:spcPct val="115000"/>
              </a:lnSpc>
              <a:spcBef>
                <a:spcPts val="1000"/>
              </a:spcBef>
              <a:spcAft>
                <a:spcPts val="0"/>
              </a:spcAft>
              <a:buClr>
                <a:schemeClr val="accent2"/>
              </a:buClr>
              <a:buSzPts val="1900"/>
              <a:buChar char="✔"/>
            </a:pPr>
            <a:r>
              <a:rPr b="1" lang="en-US" sz="1900"/>
              <a:t>Challenge:</a:t>
            </a:r>
            <a:r>
              <a:rPr b="1" lang="en-US" sz="1900">
                <a:solidFill>
                  <a:schemeClr val="accent1"/>
                </a:solidFill>
              </a:rPr>
              <a:t> </a:t>
            </a:r>
            <a:r>
              <a:rPr lang="en-US" sz="1900"/>
              <a:t>Current website lacks immediate signals that it serves scaling private companies or PE-backed firms; lead capture paths are fragmented.</a:t>
            </a:r>
            <a:endParaRPr sz="1900"/>
          </a:p>
          <a:p>
            <a:pPr indent="-234950" lvl="1" marL="685800" rtl="0" algn="l">
              <a:lnSpc>
                <a:spcPct val="115000"/>
              </a:lnSpc>
              <a:spcBef>
                <a:spcPts val="1000"/>
              </a:spcBef>
              <a:spcAft>
                <a:spcPts val="0"/>
              </a:spcAft>
              <a:buClr>
                <a:schemeClr val="accent2"/>
              </a:buClr>
              <a:buSzPts val="1900"/>
              <a:buChar char="✔"/>
            </a:pPr>
            <a:r>
              <a:rPr b="1" lang="en-US" sz="1900"/>
              <a:t>Solution:</a:t>
            </a:r>
            <a:r>
              <a:rPr lang="en-US" sz="1900"/>
              <a:t> Update website copy and content to reflect private companies and PE-backed firms. </a:t>
            </a:r>
            <a:r>
              <a:rPr lang="en-US" sz="1900"/>
              <a:t>Create a private company and PE-specific buyer journey with clear entry points and strong calls-to-action.</a:t>
            </a:r>
            <a:endParaRPr sz="1900">
              <a:solidFill>
                <a:schemeClr val="accent1"/>
              </a:solidFill>
            </a:endParaRPr>
          </a:p>
          <a:p>
            <a:pPr indent="-234950" lvl="1" marL="685800" rtl="0" algn="l">
              <a:lnSpc>
                <a:spcPct val="115000"/>
              </a:lnSpc>
              <a:spcBef>
                <a:spcPts val="1000"/>
              </a:spcBef>
              <a:spcAft>
                <a:spcPts val="0"/>
              </a:spcAft>
              <a:buClr>
                <a:schemeClr val="accent2"/>
              </a:buClr>
              <a:buSzPts val="1900"/>
              <a:buChar char="✔"/>
            </a:pPr>
            <a:r>
              <a:rPr b="1" lang="en-US" sz="1900"/>
              <a:t>Action Steps: </a:t>
            </a:r>
            <a:r>
              <a:rPr lang="en-US" sz="1900"/>
              <a:t>Update website copy. </a:t>
            </a:r>
            <a:r>
              <a:rPr lang="en-US" sz="1900"/>
              <a:t>Add clear lower funnel calls-to-action on the home page and main services pages.</a:t>
            </a:r>
            <a:endParaRPr b="1" sz="1900"/>
          </a:p>
        </p:txBody>
      </p:sp>
      <p:sp>
        <p:nvSpPr>
          <p:cNvPr id="299" name="Google Shape;299;p42"/>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marketing foundation - website, core content &amp; funnels</a:t>
            </a:r>
            <a:endParaRPr b="0" i="1" sz="1900">
              <a:solidFill>
                <a:schemeClr val="accent5"/>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3"/>
          <p:cNvSpPr txBox="1"/>
          <p:nvPr>
            <p:ph type="title"/>
          </p:nvPr>
        </p:nvSpPr>
        <p:spPr>
          <a:xfrm>
            <a:off x="838200" y="784225"/>
            <a:ext cx="103101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800"/>
              <a:t>Goal: </a:t>
            </a:r>
            <a:r>
              <a:rPr b="0" lang="en-US" sz="3800">
                <a:latin typeface="Calibri"/>
                <a:ea typeface="Calibri"/>
                <a:cs typeface="Calibri"/>
                <a:sym typeface="Calibri"/>
              </a:rPr>
              <a:t>Increase Lead Conversion Through Audience-Specific Marketing Funnels</a:t>
            </a:r>
            <a:endParaRPr sz="3800">
              <a:latin typeface="Calibri"/>
              <a:ea typeface="Calibri"/>
              <a:cs typeface="Calibri"/>
              <a:sym typeface="Calibri"/>
            </a:endParaRPr>
          </a:p>
        </p:txBody>
      </p:sp>
      <p:sp>
        <p:nvSpPr>
          <p:cNvPr id="305" name="Google Shape;305;p43"/>
          <p:cNvSpPr txBox="1"/>
          <p:nvPr>
            <p:ph idx="1" type="body"/>
          </p:nvPr>
        </p:nvSpPr>
        <p:spPr>
          <a:xfrm>
            <a:off x="605275" y="2472550"/>
            <a:ext cx="10400400" cy="4126500"/>
          </a:xfrm>
          <a:prstGeom prst="rect">
            <a:avLst/>
          </a:prstGeom>
          <a:noFill/>
          <a:ln>
            <a:noFill/>
          </a:ln>
        </p:spPr>
        <p:txBody>
          <a:bodyPr anchorCtr="0" anchor="t" bIns="45700" lIns="91425" spcFirstLastPara="1" rIns="91425" wrap="square" tIns="45700">
            <a:noAutofit/>
          </a:bodyPr>
          <a:lstStyle/>
          <a:p>
            <a:pPr indent="-234950" lvl="1" marL="685800" rtl="0" algn="l">
              <a:lnSpc>
                <a:spcPct val="115000"/>
              </a:lnSpc>
              <a:spcBef>
                <a:spcPts val="1000"/>
              </a:spcBef>
              <a:spcAft>
                <a:spcPts val="0"/>
              </a:spcAft>
              <a:buClr>
                <a:schemeClr val="accent2"/>
              </a:buClr>
              <a:buSzPts val="1900"/>
              <a:buChar char="✔"/>
            </a:pPr>
            <a:r>
              <a:rPr b="1" lang="en-US" sz="1900"/>
              <a:t>Challenge:</a:t>
            </a:r>
            <a:r>
              <a:rPr b="1" lang="en-US" sz="1900">
                <a:solidFill>
                  <a:schemeClr val="accent1"/>
                </a:solidFill>
              </a:rPr>
              <a:t> </a:t>
            </a:r>
            <a:r>
              <a:rPr lang="en-US" sz="1900"/>
              <a:t>No structured email nurture paths tailored to private company executives or private equity firms.</a:t>
            </a:r>
            <a:endParaRPr sz="1900"/>
          </a:p>
          <a:p>
            <a:pPr indent="-234950" lvl="1" marL="685800" rtl="0" algn="l">
              <a:lnSpc>
                <a:spcPct val="130000"/>
              </a:lnSpc>
              <a:spcBef>
                <a:spcPts val="1000"/>
              </a:spcBef>
              <a:spcAft>
                <a:spcPts val="0"/>
              </a:spcAft>
              <a:buClr>
                <a:schemeClr val="accent2"/>
              </a:buClr>
              <a:buSzPts val="1900"/>
              <a:buChar char="✔"/>
            </a:pPr>
            <a:r>
              <a:rPr b="1" lang="en-US" sz="1900"/>
              <a:t>Goal: </a:t>
            </a:r>
            <a:r>
              <a:rPr lang="en-US" sz="1900"/>
              <a:t>Convert more initial inquiries and soft leads into meetings and consultations by aligning messaging with audience needs.</a:t>
            </a:r>
            <a:endParaRPr sz="1900">
              <a:solidFill>
                <a:schemeClr val="accent1"/>
              </a:solidFill>
            </a:endParaRPr>
          </a:p>
          <a:p>
            <a:pPr indent="-234950" lvl="1" marL="685800" rtl="0" algn="l">
              <a:lnSpc>
                <a:spcPct val="115000"/>
              </a:lnSpc>
              <a:spcBef>
                <a:spcPts val="1000"/>
              </a:spcBef>
              <a:spcAft>
                <a:spcPts val="0"/>
              </a:spcAft>
              <a:buClr>
                <a:schemeClr val="accent2"/>
              </a:buClr>
              <a:buSzPts val="1900"/>
              <a:buChar char="✔"/>
            </a:pPr>
            <a:r>
              <a:rPr b="1" lang="en-US" sz="1900"/>
              <a:t>Action Steps: </a:t>
            </a:r>
            <a:endParaRPr sz="1900"/>
          </a:p>
          <a:p>
            <a:pPr indent="-228600" lvl="2" marL="1143000" rtl="0" algn="l">
              <a:lnSpc>
                <a:spcPct val="115000"/>
              </a:lnSpc>
              <a:spcBef>
                <a:spcPts val="600"/>
              </a:spcBef>
              <a:spcAft>
                <a:spcPts val="0"/>
              </a:spcAft>
              <a:buSzPts val="1800"/>
              <a:buChar char="•"/>
            </a:pPr>
            <a:r>
              <a:rPr lang="en-US" sz="1800"/>
              <a:t>Launch separate lead nurturing funnels: one for Private Companies, one for Private Equity Firms</a:t>
            </a:r>
            <a:endParaRPr sz="1800"/>
          </a:p>
          <a:p>
            <a:pPr indent="-228600" lvl="2" marL="1143000" rtl="0" algn="l">
              <a:lnSpc>
                <a:spcPct val="115000"/>
              </a:lnSpc>
              <a:spcBef>
                <a:spcPts val="600"/>
              </a:spcBef>
              <a:spcAft>
                <a:spcPts val="0"/>
              </a:spcAft>
              <a:buSzPts val="1800"/>
              <a:buChar char="•"/>
            </a:pPr>
            <a:r>
              <a:rPr lang="en-US" sz="1800"/>
              <a:t>Use email series to educate based on their specific challenges (growth scaling vs. value acceleration)</a:t>
            </a:r>
            <a:endParaRPr sz="1800"/>
          </a:p>
          <a:p>
            <a:pPr indent="-228600" lvl="2" marL="1143000" rtl="0" algn="l">
              <a:lnSpc>
                <a:spcPct val="115000"/>
              </a:lnSpc>
              <a:spcBef>
                <a:spcPts val="1000"/>
              </a:spcBef>
              <a:spcAft>
                <a:spcPts val="0"/>
              </a:spcAft>
              <a:buSzPts val="1800"/>
              <a:buChar char="•"/>
            </a:pPr>
            <a:r>
              <a:rPr lang="en-US" sz="1800"/>
              <a:t>Fix and optimize all website forms and downloads</a:t>
            </a:r>
            <a:endParaRPr sz="1800"/>
          </a:p>
        </p:txBody>
      </p:sp>
      <p:sp>
        <p:nvSpPr>
          <p:cNvPr id="306" name="Google Shape;306;p43"/>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marketing foundation - website, core content &amp; funnels</a:t>
            </a:r>
            <a:endParaRPr b="0" i="1" sz="1900">
              <a:solidFill>
                <a:schemeClr val="accent5"/>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4"/>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800"/>
              <a:t>Goal: </a:t>
            </a:r>
            <a:r>
              <a:rPr b="0" lang="en-US" sz="3800">
                <a:latin typeface="Calibri"/>
                <a:ea typeface="Calibri"/>
                <a:cs typeface="Calibri"/>
                <a:sym typeface="Calibri"/>
              </a:rPr>
              <a:t>Increase Awareness &amp; </a:t>
            </a:r>
            <a:r>
              <a:rPr b="0" lang="en-US" sz="3800">
                <a:latin typeface="Calibri"/>
                <a:ea typeface="Calibri"/>
                <a:cs typeface="Calibri"/>
                <a:sym typeface="Calibri"/>
              </a:rPr>
              <a:t>Drive New Business Through Direct Outreach and Partnerships</a:t>
            </a:r>
            <a:r>
              <a:rPr b="0" lang="en-US" sz="3800">
                <a:latin typeface="Calibri"/>
                <a:ea typeface="Calibri"/>
                <a:cs typeface="Calibri"/>
                <a:sym typeface="Calibri"/>
              </a:rPr>
              <a:t> </a:t>
            </a:r>
            <a:endParaRPr b="0" sz="3800">
              <a:latin typeface="Calibri"/>
              <a:ea typeface="Calibri"/>
              <a:cs typeface="Calibri"/>
              <a:sym typeface="Calibri"/>
            </a:endParaRPr>
          </a:p>
        </p:txBody>
      </p:sp>
      <p:sp>
        <p:nvSpPr>
          <p:cNvPr id="312" name="Google Shape;312;p44"/>
          <p:cNvSpPr txBox="1"/>
          <p:nvPr>
            <p:ph idx="1" type="body"/>
          </p:nvPr>
        </p:nvSpPr>
        <p:spPr>
          <a:xfrm>
            <a:off x="838200" y="2244600"/>
            <a:ext cx="10194300" cy="3629700"/>
          </a:xfrm>
          <a:prstGeom prst="rect">
            <a:avLst/>
          </a:prstGeom>
          <a:noFill/>
          <a:ln>
            <a:noFill/>
          </a:ln>
        </p:spPr>
        <p:txBody>
          <a:bodyPr anchorCtr="0" anchor="t" bIns="45700" lIns="91425" spcFirstLastPara="1" rIns="91425" wrap="square" tIns="45700">
            <a:normAutofit/>
          </a:bodyPr>
          <a:lstStyle/>
          <a:p>
            <a:pPr indent="-387350" lvl="1" marL="800100" marR="0" rtl="0" algn="l">
              <a:lnSpc>
                <a:spcPct val="130000"/>
              </a:lnSpc>
              <a:spcBef>
                <a:spcPts val="1000"/>
              </a:spcBef>
              <a:spcAft>
                <a:spcPts val="0"/>
              </a:spcAft>
              <a:buClr>
                <a:schemeClr val="accent2"/>
              </a:buClr>
              <a:buSzPts val="2300"/>
              <a:buChar char="✔"/>
            </a:pPr>
            <a:r>
              <a:rPr b="1" lang="en-US" sz="2000"/>
              <a:t>Challenge:</a:t>
            </a:r>
            <a:r>
              <a:rPr lang="en-US" sz="2000"/>
              <a:t> Lack of awareness in new private equity and PE company markets in Halifax and Toronto</a:t>
            </a:r>
            <a:endParaRPr sz="2000"/>
          </a:p>
          <a:p>
            <a:pPr indent="-368300" lvl="1" marL="800100" marR="0" rtl="0" algn="l">
              <a:lnSpc>
                <a:spcPct val="130000"/>
              </a:lnSpc>
              <a:spcBef>
                <a:spcPts val="1000"/>
              </a:spcBef>
              <a:spcAft>
                <a:spcPts val="0"/>
              </a:spcAft>
              <a:buClr>
                <a:schemeClr val="accent2"/>
              </a:buClr>
              <a:buSzPts val="2000"/>
              <a:buChar char="✔"/>
            </a:pPr>
            <a:r>
              <a:rPr b="1" lang="en-US" sz="2000"/>
              <a:t>Goals:</a:t>
            </a:r>
            <a:r>
              <a:rPr lang="en-US" sz="2000"/>
              <a:t> Increase awareness of PowerUp and drive business with new target markets</a:t>
            </a:r>
            <a:endParaRPr sz="2000">
              <a:solidFill>
                <a:schemeClr val="accent4"/>
              </a:solidFill>
            </a:endParaRPr>
          </a:p>
          <a:p>
            <a:pPr indent="-361950" lvl="1" marL="800100" marR="0" rtl="0" algn="l">
              <a:lnSpc>
                <a:spcPct val="130000"/>
              </a:lnSpc>
              <a:spcBef>
                <a:spcPts val="1000"/>
              </a:spcBef>
              <a:spcAft>
                <a:spcPts val="0"/>
              </a:spcAft>
              <a:buClr>
                <a:schemeClr val="accent2"/>
              </a:buClr>
              <a:buSzPts val="1900"/>
              <a:buChar char="✔"/>
            </a:pPr>
            <a:r>
              <a:rPr b="1" lang="en-US" sz="2000"/>
              <a:t>Action Steps:</a:t>
            </a:r>
            <a:r>
              <a:rPr lang="en-US" sz="2000"/>
              <a:t> </a:t>
            </a:r>
            <a:endParaRPr sz="2000"/>
          </a:p>
          <a:p>
            <a:pPr indent="-234950" lvl="2" marL="1143000" marR="0" rtl="0" algn="l">
              <a:lnSpc>
                <a:spcPct val="130000"/>
              </a:lnSpc>
              <a:spcBef>
                <a:spcPts val="1000"/>
              </a:spcBef>
              <a:spcAft>
                <a:spcPts val="0"/>
              </a:spcAft>
              <a:buClr>
                <a:schemeClr val="accent2"/>
              </a:buClr>
              <a:buSzPts val="1900"/>
              <a:buChar char="•"/>
            </a:pPr>
            <a:r>
              <a:rPr lang="en-US" sz="1900">
                <a:solidFill>
                  <a:srgbClr val="434343"/>
                </a:solidFill>
              </a:rPr>
              <a:t>Launch account-based marketing (ABM) to high-potential private companies and PE firms</a:t>
            </a:r>
            <a:endParaRPr sz="1900">
              <a:solidFill>
                <a:srgbClr val="434343"/>
              </a:solidFill>
            </a:endParaRPr>
          </a:p>
          <a:p>
            <a:pPr indent="-234950" lvl="2" marL="1143000" marR="0" rtl="0" algn="l">
              <a:lnSpc>
                <a:spcPct val="130000"/>
              </a:lnSpc>
              <a:spcBef>
                <a:spcPts val="1000"/>
              </a:spcBef>
              <a:spcAft>
                <a:spcPts val="0"/>
              </a:spcAft>
              <a:buClr>
                <a:schemeClr val="accent2"/>
              </a:buClr>
              <a:buSzPts val="1900"/>
              <a:buChar char="•"/>
            </a:pPr>
            <a:r>
              <a:rPr lang="en-US" sz="1900">
                <a:solidFill>
                  <a:srgbClr val="434343"/>
                </a:solidFill>
              </a:rPr>
              <a:t> Build relationships with local PE firms (e.g., SeaFort, Killick) and entrepreneur networks</a:t>
            </a:r>
            <a:endParaRPr sz="1900">
              <a:solidFill>
                <a:srgbClr val="434343"/>
              </a:solidFill>
            </a:endParaRPr>
          </a:p>
          <a:p>
            <a:pPr indent="-234950" lvl="2" marL="1143000" marR="0" rtl="0" algn="l">
              <a:lnSpc>
                <a:spcPct val="130000"/>
              </a:lnSpc>
              <a:spcBef>
                <a:spcPts val="1000"/>
              </a:spcBef>
              <a:spcAft>
                <a:spcPts val="0"/>
              </a:spcAft>
              <a:buClr>
                <a:schemeClr val="accent2"/>
              </a:buClr>
              <a:buSzPts val="1900"/>
              <a:buChar char="•"/>
            </a:pPr>
            <a:r>
              <a:rPr lang="en-US" sz="1900">
                <a:solidFill>
                  <a:srgbClr val="434343"/>
                </a:solidFill>
              </a:rPr>
              <a:t> Join key associations and sponsor or speak at selected regional business growth events</a:t>
            </a:r>
            <a:endParaRPr sz="1900">
              <a:solidFill>
                <a:srgbClr val="434343"/>
              </a:solidFill>
            </a:endParaRPr>
          </a:p>
        </p:txBody>
      </p:sp>
      <p:sp>
        <p:nvSpPr>
          <p:cNvPr id="313" name="Google Shape;313;p44"/>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marketing awareness</a:t>
            </a:r>
            <a:endParaRPr b="0" i="1" sz="1900">
              <a:solidFill>
                <a:schemeClr val="accent5"/>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5"/>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solidFill>
                  <a:schemeClr val="accent5"/>
                </a:solidFill>
              </a:rPr>
              <a:t>Marketing Strategy </a:t>
            </a:r>
            <a:endParaRPr>
              <a:solidFill>
                <a:schemeClr val="accent5"/>
              </a:solidFill>
            </a:endParaRPr>
          </a:p>
          <a:p>
            <a:pPr indent="0" lvl="0" marL="0" rtl="0" algn="ctr">
              <a:lnSpc>
                <a:spcPct val="90000"/>
              </a:lnSpc>
              <a:spcBef>
                <a:spcPts val="0"/>
              </a:spcBef>
              <a:spcAft>
                <a:spcPts val="0"/>
              </a:spcAft>
              <a:buClr>
                <a:schemeClr val="accent2"/>
              </a:buClr>
              <a:buSzPts val="4400"/>
              <a:buFont typeface="Calibri"/>
              <a:buNone/>
            </a:pPr>
            <a:r>
              <a:rPr i="1" lang="en-US"/>
              <a:t>Overview</a:t>
            </a:r>
            <a:endParaRPr i="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46"/>
          <p:cNvPicPr preferRelativeResize="0"/>
          <p:nvPr/>
        </p:nvPicPr>
        <p:blipFill rotWithShape="1">
          <a:blip r:embed="rId3">
            <a:alphaModFix/>
          </a:blip>
          <a:srcRect b="0" l="0" r="0" t="0"/>
          <a:stretch/>
        </p:blipFill>
        <p:spPr>
          <a:xfrm>
            <a:off x="990600" y="1849775"/>
            <a:ext cx="3493050" cy="3956450"/>
          </a:xfrm>
          <a:prstGeom prst="rect">
            <a:avLst/>
          </a:prstGeom>
          <a:noFill/>
          <a:ln>
            <a:noFill/>
          </a:ln>
        </p:spPr>
      </p:pic>
      <p:sp>
        <p:nvSpPr>
          <p:cNvPr id="324" name="Google Shape;324;p46"/>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800">
                <a:solidFill>
                  <a:srgbClr val="F36E25"/>
                </a:solidFill>
              </a:rPr>
              <a:t>Geographic Markets</a:t>
            </a:r>
            <a:endParaRPr b="0" i="1" sz="3800">
              <a:solidFill>
                <a:srgbClr val="F36E25"/>
              </a:solidFill>
              <a:latin typeface="Calibri"/>
              <a:ea typeface="Calibri"/>
              <a:cs typeface="Calibri"/>
              <a:sym typeface="Calibri"/>
            </a:endParaRPr>
          </a:p>
        </p:txBody>
      </p:sp>
      <p:sp>
        <p:nvSpPr>
          <p:cNvPr id="325" name="Google Shape;325;p46"/>
          <p:cNvSpPr txBox="1"/>
          <p:nvPr/>
        </p:nvSpPr>
        <p:spPr>
          <a:xfrm>
            <a:off x="1380750" y="2134075"/>
            <a:ext cx="3008400" cy="6816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Current Market:</a:t>
            </a:r>
            <a:endParaRPr b="1" sz="17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
        <p:nvSpPr>
          <p:cNvPr id="326" name="Google Shape;326;p46"/>
          <p:cNvSpPr txBox="1"/>
          <p:nvPr/>
        </p:nvSpPr>
        <p:spPr>
          <a:xfrm>
            <a:off x="1384925" y="2505290"/>
            <a:ext cx="3000000" cy="2693700"/>
          </a:xfrm>
          <a:prstGeom prst="rect">
            <a:avLst/>
          </a:prstGeom>
          <a:noFill/>
          <a:ln>
            <a:noFill/>
          </a:ln>
        </p:spPr>
        <p:txBody>
          <a:bodyPr anchorCtr="0" anchor="t" bIns="91425" lIns="91425" spcFirstLastPara="1" rIns="91425" wrap="square" tIns="91425">
            <a:spAutoFit/>
          </a:bodyPr>
          <a:lstStyle/>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Halifax region</a:t>
            </a:r>
            <a:endParaRPr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Some customers in Ontario</a:t>
            </a:r>
            <a:endParaRPr sz="1600">
              <a:solidFill>
                <a:srgbClr val="434343"/>
              </a:solidFill>
              <a:latin typeface="Calibri"/>
              <a:ea typeface="Calibri"/>
              <a:cs typeface="Calibri"/>
              <a:sym typeface="Calibri"/>
            </a:endParaRPr>
          </a:p>
          <a:p>
            <a:pPr indent="0" lvl="0" marL="0" rtl="0" algn="l">
              <a:spcBef>
                <a:spcPts val="600"/>
              </a:spcBef>
              <a:spcAft>
                <a:spcPts val="0"/>
              </a:spcAft>
              <a:buNone/>
            </a:pPr>
            <a:r>
              <a:t/>
            </a:r>
            <a:endParaRPr sz="1600">
              <a:solidFill>
                <a:srgbClr val="434343"/>
              </a:solidFill>
              <a:latin typeface="Calibri"/>
              <a:ea typeface="Calibri"/>
              <a:cs typeface="Calibri"/>
              <a:sym typeface="Calibri"/>
            </a:endParaRPr>
          </a:p>
          <a:p>
            <a:pPr indent="0" lvl="0" marL="0" rtl="0" algn="l">
              <a:spcBef>
                <a:spcPts val="600"/>
              </a:spcBef>
              <a:spcAft>
                <a:spcPts val="0"/>
              </a:spcAft>
              <a:buNone/>
            </a:pPr>
            <a:r>
              <a:rPr b="1" lang="en-US" sz="1600">
                <a:solidFill>
                  <a:srgbClr val="434343"/>
                </a:solidFill>
                <a:latin typeface="Calibri"/>
                <a:ea typeface="Calibri"/>
                <a:cs typeface="Calibri"/>
                <a:sym typeface="Calibri"/>
              </a:rPr>
              <a:t>Desired Expansion Markets:</a:t>
            </a:r>
            <a:endParaRPr b="1"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Halifax</a:t>
            </a:r>
            <a:endParaRPr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Toronto</a:t>
            </a:r>
            <a:endParaRPr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Boston</a:t>
            </a:r>
            <a:endParaRPr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New York</a:t>
            </a:r>
            <a:endParaRPr sz="1600">
              <a:solidFill>
                <a:srgbClr val="434343"/>
              </a:solidFill>
              <a:latin typeface="Calibri"/>
              <a:ea typeface="Calibri"/>
              <a:cs typeface="Calibri"/>
              <a:sym typeface="Calibri"/>
            </a:endParaRPr>
          </a:p>
        </p:txBody>
      </p:sp>
      <p:pic>
        <p:nvPicPr>
          <p:cNvPr id="327" name="Google Shape;327;p46"/>
          <p:cNvPicPr preferRelativeResize="0"/>
          <p:nvPr/>
        </p:nvPicPr>
        <p:blipFill rotWithShape="1">
          <a:blip r:embed="rId4">
            <a:alphaModFix/>
          </a:blip>
          <a:srcRect b="0" l="0" r="0" t="0"/>
          <a:stretch/>
        </p:blipFill>
        <p:spPr>
          <a:xfrm>
            <a:off x="5027625" y="1849775"/>
            <a:ext cx="6063126" cy="3956450"/>
          </a:xfrm>
          <a:prstGeom prst="rect">
            <a:avLst/>
          </a:prstGeom>
          <a:noFill/>
          <a:ln>
            <a:noFill/>
          </a:ln>
        </p:spPr>
      </p:pic>
      <p:sp>
        <p:nvSpPr>
          <p:cNvPr id="328" name="Google Shape;328;p46"/>
          <p:cNvSpPr txBox="1"/>
          <p:nvPr/>
        </p:nvSpPr>
        <p:spPr>
          <a:xfrm>
            <a:off x="5499450" y="2044850"/>
            <a:ext cx="5493300" cy="35247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b="1" lang="en-US" sz="1600">
                <a:solidFill>
                  <a:srgbClr val="434343"/>
                </a:solidFill>
                <a:latin typeface="Calibri"/>
                <a:ea typeface="Calibri"/>
                <a:cs typeface="Calibri"/>
                <a:sym typeface="Calibri"/>
              </a:rPr>
              <a:t>Recommended order of expansion: </a:t>
            </a:r>
            <a:br>
              <a:rPr b="1" lang="en-US" sz="1600">
                <a:solidFill>
                  <a:srgbClr val="434343"/>
                </a:solidFill>
                <a:latin typeface="Calibri"/>
                <a:ea typeface="Calibri"/>
                <a:cs typeface="Calibri"/>
                <a:sym typeface="Calibri"/>
              </a:rPr>
            </a:br>
            <a:br>
              <a:rPr b="1" lang="en-US" sz="1600">
                <a:solidFill>
                  <a:srgbClr val="434343"/>
                </a:solidFill>
                <a:latin typeface="Calibri"/>
                <a:ea typeface="Calibri"/>
                <a:cs typeface="Calibri"/>
                <a:sym typeface="Calibri"/>
              </a:rPr>
            </a:br>
            <a:r>
              <a:rPr b="1" lang="en-US" sz="1600">
                <a:solidFill>
                  <a:srgbClr val="434343"/>
                </a:solidFill>
                <a:latin typeface="Calibri"/>
                <a:ea typeface="Calibri"/>
                <a:cs typeface="Calibri"/>
                <a:sym typeface="Calibri"/>
              </a:rPr>
              <a:t>2025-2027:</a:t>
            </a:r>
            <a:endParaRPr b="1"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b="1" lang="en-US" sz="1600">
                <a:solidFill>
                  <a:srgbClr val="434343"/>
                </a:solidFill>
                <a:latin typeface="Calibri"/>
                <a:ea typeface="Calibri"/>
                <a:cs typeface="Calibri"/>
                <a:sym typeface="Calibri"/>
              </a:rPr>
              <a:t>Halifax: </a:t>
            </a:r>
            <a:r>
              <a:rPr lang="en-US" sz="1600">
                <a:solidFill>
                  <a:srgbClr val="434343"/>
                </a:solidFill>
                <a:latin typeface="Calibri"/>
                <a:ea typeface="Calibri"/>
                <a:cs typeface="Calibri"/>
                <a:sym typeface="Calibri"/>
              </a:rPr>
              <a:t>Gain more tech/high growth reference clients</a:t>
            </a:r>
            <a:endParaRPr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b="1" lang="en-US" sz="1600">
                <a:solidFill>
                  <a:srgbClr val="434343"/>
                </a:solidFill>
                <a:latin typeface="Calibri"/>
                <a:ea typeface="Calibri"/>
                <a:cs typeface="Calibri"/>
                <a:sym typeface="Calibri"/>
              </a:rPr>
              <a:t>Toronto:</a:t>
            </a:r>
            <a:r>
              <a:rPr lang="en-US" sz="1600">
                <a:solidFill>
                  <a:srgbClr val="434343"/>
                </a:solidFill>
                <a:latin typeface="Calibri"/>
                <a:ea typeface="Calibri"/>
                <a:cs typeface="Calibri"/>
                <a:sym typeface="Calibri"/>
              </a:rPr>
              <a:t> Begin expansion marketing to establish Toronto presences; leverage Canada  and high growth client case studies (PE/tech/pro services)</a:t>
            </a:r>
            <a:endParaRPr sz="1600">
              <a:solidFill>
                <a:srgbClr val="434343"/>
              </a:solidFill>
              <a:latin typeface="Calibri"/>
              <a:ea typeface="Calibri"/>
              <a:cs typeface="Calibri"/>
              <a:sym typeface="Calibri"/>
            </a:endParaRPr>
          </a:p>
          <a:p>
            <a:pPr indent="0" lvl="0" marL="0" rtl="0" algn="l">
              <a:spcBef>
                <a:spcPts val="600"/>
              </a:spcBef>
              <a:spcAft>
                <a:spcPts val="0"/>
              </a:spcAft>
              <a:buNone/>
            </a:pPr>
            <a:r>
              <a:rPr b="1" lang="en-US" sz="1600">
                <a:solidFill>
                  <a:srgbClr val="434343"/>
                </a:solidFill>
                <a:latin typeface="Calibri"/>
                <a:ea typeface="Calibri"/>
                <a:cs typeface="Calibri"/>
                <a:sym typeface="Calibri"/>
              </a:rPr>
              <a:t>2027-2029:</a:t>
            </a:r>
            <a:endParaRPr b="1"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b="1" lang="en-US" sz="1600">
                <a:solidFill>
                  <a:srgbClr val="434343"/>
                </a:solidFill>
                <a:latin typeface="Calibri"/>
                <a:ea typeface="Calibri"/>
                <a:cs typeface="Calibri"/>
                <a:sym typeface="Calibri"/>
              </a:rPr>
              <a:t>Boston:</a:t>
            </a:r>
            <a:r>
              <a:rPr lang="en-US" sz="1600">
                <a:solidFill>
                  <a:srgbClr val="434343"/>
                </a:solidFill>
                <a:latin typeface="Calibri"/>
                <a:ea typeface="Calibri"/>
                <a:cs typeface="Calibri"/>
                <a:sym typeface="Calibri"/>
              </a:rPr>
              <a:t> Leverage Atlantic Canada/New England/Toronto (larger city) case studies to enter US market</a:t>
            </a:r>
            <a:endParaRPr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b="1" lang="en-US" sz="1600">
                <a:solidFill>
                  <a:srgbClr val="434343"/>
                </a:solidFill>
                <a:latin typeface="Calibri"/>
                <a:ea typeface="Calibri"/>
                <a:cs typeface="Calibri"/>
                <a:sym typeface="Calibri"/>
              </a:rPr>
              <a:t>New York:</a:t>
            </a:r>
            <a:r>
              <a:rPr lang="en-US" sz="1600">
                <a:solidFill>
                  <a:srgbClr val="434343"/>
                </a:solidFill>
                <a:latin typeface="Calibri"/>
                <a:ea typeface="Calibri"/>
                <a:cs typeface="Calibri"/>
                <a:sym typeface="Calibri"/>
              </a:rPr>
              <a:t> Leverage Boston niche client case studies to enter larger and more competitive New York market strategically</a:t>
            </a:r>
            <a:endParaRPr sz="1600">
              <a:solidFill>
                <a:srgbClr val="434343"/>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7"/>
          <p:cNvSpPr txBox="1"/>
          <p:nvPr>
            <p:ph type="title"/>
          </p:nvPr>
        </p:nvSpPr>
        <p:spPr>
          <a:xfrm>
            <a:off x="782875" y="784225"/>
            <a:ext cx="105708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800">
                <a:solidFill>
                  <a:srgbClr val="F36E25"/>
                </a:solidFill>
              </a:rPr>
              <a:t>Step 1:</a:t>
            </a:r>
            <a:r>
              <a:rPr lang="en-US" sz="3800">
                <a:solidFill>
                  <a:srgbClr val="F36E25"/>
                </a:solidFill>
              </a:rPr>
              <a:t> </a:t>
            </a:r>
            <a:r>
              <a:rPr b="0" i="1" lang="en-US" sz="3800">
                <a:solidFill>
                  <a:srgbClr val="F36E25"/>
                </a:solidFill>
                <a:latin typeface="Calibri"/>
                <a:ea typeface="Calibri"/>
                <a:cs typeface="Calibri"/>
                <a:sym typeface="Calibri"/>
              </a:rPr>
              <a:t>Halifax - deepen existing market </a:t>
            </a:r>
            <a:r>
              <a:rPr b="0" i="1" lang="en-US" sz="2800">
                <a:solidFill>
                  <a:srgbClr val="F36E25"/>
                </a:solidFill>
                <a:latin typeface="Calibri"/>
                <a:ea typeface="Calibri"/>
                <a:cs typeface="Calibri"/>
                <a:sym typeface="Calibri"/>
              </a:rPr>
              <a:t>(2025-2026)</a:t>
            </a:r>
            <a:endParaRPr b="0" i="1" sz="1700">
              <a:solidFill>
                <a:srgbClr val="F36E25"/>
              </a:solidFill>
              <a:latin typeface="Calibri"/>
              <a:ea typeface="Calibri"/>
              <a:cs typeface="Calibri"/>
              <a:sym typeface="Calibri"/>
            </a:endParaRPr>
          </a:p>
        </p:txBody>
      </p:sp>
      <p:sp>
        <p:nvSpPr>
          <p:cNvPr id="334" name="Google Shape;334;p47"/>
          <p:cNvSpPr txBox="1"/>
          <p:nvPr>
            <p:ph idx="1" type="body"/>
          </p:nvPr>
        </p:nvSpPr>
        <p:spPr>
          <a:xfrm>
            <a:off x="838200" y="1606350"/>
            <a:ext cx="6499800" cy="46605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30000"/>
              </a:lnSpc>
              <a:spcBef>
                <a:spcPts val="1000"/>
              </a:spcBef>
              <a:spcAft>
                <a:spcPts val="0"/>
              </a:spcAft>
              <a:buNone/>
            </a:pPr>
            <a:r>
              <a:rPr b="1" i="1" lang="en-US" sz="2316">
                <a:solidFill>
                  <a:schemeClr val="accent4"/>
                </a:solidFill>
              </a:rPr>
              <a:t>Easiest fit </a:t>
            </a:r>
            <a:endParaRPr b="1" i="1" sz="2316">
              <a:solidFill>
                <a:schemeClr val="accent4"/>
              </a:solidFill>
            </a:endParaRPr>
          </a:p>
          <a:p>
            <a:pPr indent="0" lvl="0" marL="0" marR="0" rtl="0" algn="l">
              <a:lnSpc>
                <a:spcPct val="130000"/>
              </a:lnSpc>
              <a:spcBef>
                <a:spcPts val="1000"/>
              </a:spcBef>
              <a:spcAft>
                <a:spcPts val="0"/>
              </a:spcAft>
              <a:buNone/>
            </a:pPr>
            <a:r>
              <a:rPr b="1" i="1" lang="en-US" sz="2000"/>
              <a:t>Why it's a strong match:</a:t>
            </a:r>
            <a:endParaRPr b="1" i="1"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Established reputation - already well-known in Atlantic Canada = referrals and lower cost sales</a:t>
            </a:r>
            <a:endParaRPr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Existing client base and case studies</a:t>
            </a:r>
            <a:endParaRPr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Still underleveraged, especially outside of public sector</a:t>
            </a:r>
            <a:endParaRPr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Trusted as local and female-led: A differentiator that clients in this region already value</a:t>
            </a:r>
            <a:endParaRPr b="1" i="1" sz="2000"/>
          </a:p>
          <a:p>
            <a:pPr indent="0" lvl="0" marL="0" marR="0" rtl="0" algn="l">
              <a:lnSpc>
                <a:spcPct val="100000"/>
              </a:lnSpc>
              <a:spcBef>
                <a:spcPts val="1000"/>
              </a:spcBef>
              <a:spcAft>
                <a:spcPts val="0"/>
              </a:spcAft>
              <a:buNone/>
            </a:pPr>
            <a:r>
              <a:rPr b="1" i="1" lang="en-US" sz="2000"/>
              <a:t>Risks or limitations:</a:t>
            </a:r>
            <a:endParaRPr b="1" i="1"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Market is small and can only support limited growth</a:t>
            </a:r>
            <a:endParaRPr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To reach $1M+ in revenue, expansion beyond Halifax is essential</a:t>
            </a:r>
            <a:endParaRPr sz="2000"/>
          </a:p>
        </p:txBody>
      </p:sp>
      <p:pic>
        <p:nvPicPr>
          <p:cNvPr id="335" name="Google Shape;335;p47"/>
          <p:cNvPicPr preferRelativeResize="0"/>
          <p:nvPr/>
        </p:nvPicPr>
        <p:blipFill rotWithShape="1">
          <a:blip r:embed="rId3">
            <a:alphaModFix/>
          </a:blip>
          <a:srcRect b="0" l="0" r="0" t="0"/>
          <a:stretch/>
        </p:blipFill>
        <p:spPr>
          <a:xfrm>
            <a:off x="7724375" y="1944150"/>
            <a:ext cx="3495501" cy="3764700"/>
          </a:xfrm>
          <a:prstGeom prst="rect">
            <a:avLst/>
          </a:prstGeom>
          <a:noFill/>
          <a:ln>
            <a:noFill/>
          </a:ln>
        </p:spPr>
      </p:pic>
      <p:sp>
        <p:nvSpPr>
          <p:cNvPr id="336" name="Google Shape;336;p47"/>
          <p:cNvSpPr txBox="1"/>
          <p:nvPr/>
        </p:nvSpPr>
        <p:spPr>
          <a:xfrm>
            <a:off x="8037175" y="2164350"/>
            <a:ext cx="2969400" cy="35445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Key actions:</a:t>
            </a:r>
            <a:endParaRPr sz="1600">
              <a:solidFill>
                <a:srgbClr val="434343"/>
              </a:solidFill>
            </a:endParaRPr>
          </a:p>
          <a:p>
            <a:pPr indent="-298450" lvl="0" marL="285750" marR="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Leverage current reputation to target fast growing companies (tech scale-ups, green economy, professional services)</a:t>
            </a:r>
            <a:endParaRPr sz="1600">
              <a:solidFill>
                <a:srgbClr val="434343"/>
              </a:solidFill>
              <a:latin typeface="Calibri"/>
              <a:ea typeface="Calibri"/>
              <a:cs typeface="Calibri"/>
              <a:sym typeface="Calibri"/>
            </a:endParaRPr>
          </a:p>
          <a:p>
            <a:pPr indent="0" lvl="0" marL="0" marR="0" rtl="0" algn="l">
              <a:lnSpc>
                <a:spcPct val="100000"/>
              </a:lnSpc>
              <a:spcBef>
                <a:spcPts val="600"/>
              </a:spcBef>
              <a:spcAft>
                <a:spcPts val="0"/>
              </a:spcAft>
              <a:buNone/>
            </a:pPr>
            <a:r>
              <a:rPr b="1" lang="en-US" sz="1700">
                <a:solidFill>
                  <a:srgbClr val="434343"/>
                </a:solidFill>
                <a:latin typeface="Calibri"/>
                <a:ea typeface="Calibri"/>
                <a:cs typeface="Calibri"/>
                <a:sym typeface="Calibri"/>
              </a:rPr>
              <a:t>Success metrics:</a:t>
            </a:r>
            <a:endParaRPr b="1" sz="1700">
              <a:solidFill>
                <a:srgbClr val="434343"/>
              </a:solidFill>
              <a:latin typeface="Calibri"/>
              <a:ea typeface="Calibri"/>
              <a:cs typeface="Calibri"/>
              <a:sym typeface="Calibri"/>
            </a:endParaRPr>
          </a:p>
          <a:p>
            <a:pPr indent="-298450" lvl="0" marL="285750" marR="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Build 3+ strong case studies</a:t>
            </a:r>
            <a:endParaRPr sz="1600">
              <a:solidFill>
                <a:srgbClr val="434343"/>
              </a:solidFill>
              <a:latin typeface="Calibri"/>
              <a:ea typeface="Calibri"/>
              <a:cs typeface="Calibri"/>
              <a:sym typeface="Calibri"/>
            </a:endParaRPr>
          </a:p>
          <a:p>
            <a:pPr indent="-298450" lvl="0" marL="285750" marR="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$500K non-government revenue</a:t>
            </a:r>
            <a:endParaRPr sz="1600">
              <a:solidFill>
                <a:srgbClr val="434343"/>
              </a:solidFill>
              <a:latin typeface="Calibri"/>
              <a:ea typeface="Calibri"/>
              <a:cs typeface="Calibri"/>
              <a:sym typeface="Calibri"/>
            </a:endParaRPr>
          </a:p>
          <a:p>
            <a:pPr indent="-298450" lvl="0" marL="285750" marR="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Inbound leads from local tech, pro services, and innovation sectors</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8"/>
          <p:cNvSpPr txBox="1"/>
          <p:nvPr>
            <p:ph type="title"/>
          </p:nvPr>
        </p:nvSpPr>
        <p:spPr>
          <a:xfrm>
            <a:off x="756775" y="784225"/>
            <a:ext cx="1132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800">
                <a:solidFill>
                  <a:srgbClr val="F36E25"/>
                </a:solidFill>
              </a:rPr>
              <a:t>Step 2: </a:t>
            </a:r>
            <a:r>
              <a:rPr b="0" i="1" lang="en-US" sz="3800">
                <a:solidFill>
                  <a:srgbClr val="F36E25"/>
                </a:solidFill>
                <a:latin typeface="Calibri"/>
                <a:ea typeface="Calibri"/>
                <a:cs typeface="Calibri"/>
                <a:sym typeface="Calibri"/>
              </a:rPr>
              <a:t>Enter Toronto - scalable growth market</a:t>
            </a:r>
            <a:r>
              <a:rPr b="0" i="1" lang="en-US" sz="3800">
                <a:solidFill>
                  <a:srgbClr val="F36E25"/>
                </a:solidFill>
                <a:latin typeface="Calibri"/>
                <a:ea typeface="Calibri"/>
                <a:cs typeface="Calibri"/>
                <a:sym typeface="Calibri"/>
              </a:rPr>
              <a:t> </a:t>
            </a:r>
            <a:r>
              <a:rPr b="0" i="1" lang="en-US" sz="2800">
                <a:solidFill>
                  <a:srgbClr val="F36E25"/>
                </a:solidFill>
                <a:latin typeface="Calibri"/>
                <a:ea typeface="Calibri"/>
                <a:cs typeface="Calibri"/>
                <a:sym typeface="Calibri"/>
              </a:rPr>
              <a:t>(2026-2027)</a:t>
            </a:r>
            <a:endParaRPr b="0" i="1" sz="2800">
              <a:solidFill>
                <a:srgbClr val="F36E25"/>
              </a:solidFill>
              <a:latin typeface="Calibri"/>
              <a:ea typeface="Calibri"/>
              <a:cs typeface="Calibri"/>
              <a:sym typeface="Calibri"/>
            </a:endParaRPr>
          </a:p>
        </p:txBody>
      </p:sp>
      <p:sp>
        <p:nvSpPr>
          <p:cNvPr id="342" name="Google Shape;342;p48"/>
          <p:cNvSpPr txBox="1"/>
          <p:nvPr>
            <p:ph idx="1" type="body"/>
          </p:nvPr>
        </p:nvSpPr>
        <p:spPr>
          <a:xfrm>
            <a:off x="838200" y="1631000"/>
            <a:ext cx="6630300" cy="46239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30000"/>
              </a:lnSpc>
              <a:spcBef>
                <a:spcPts val="1000"/>
              </a:spcBef>
              <a:spcAft>
                <a:spcPts val="0"/>
              </a:spcAft>
              <a:buNone/>
            </a:pPr>
            <a:r>
              <a:rPr b="1" i="1" lang="en-US" sz="2316">
                <a:solidFill>
                  <a:schemeClr val="accent4"/>
                </a:solidFill>
              </a:rPr>
              <a:t>Strong strategic fit</a:t>
            </a:r>
            <a:endParaRPr b="1" i="1" sz="2000"/>
          </a:p>
          <a:p>
            <a:pPr indent="0" lvl="0" marL="0" marR="0" rtl="0" algn="l">
              <a:lnSpc>
                <a:spcPct val="130000"/>
              </a:lnSpc>
              <a:spcBef>
                <a:spcPts val="1000"/>
              </a:spcBef>
              <a:spcAft>
                <a:spcPts val="0"/>
              </a:spcAft>
              <a:buNone/>
            </a:pPr>
            <a:r>
              <a:rPr b="1" i="1" lang="en-US" sz="2000"/>
              <a:t>Why it's a strong match:</a:t>
            </a:r>
            <a:endParaRPr b="1" i="1"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Much larger market than Halifax, especially for mid-sized tech, SaaS and professional services</a:t>
            </a:r>
            <a:endParaRPr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Easier entry than US due to leverage as Canadian company, shared regulations and values</a:t>
            </a:r>
            <a:endParaRPr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Leverage Halifax success and recognition as female-led/women-owned business</a:t>
            </a:r>
            <a:endParaRPr sz="2000"/>
          </a:p>
          <a:p>
            <a:pPr indent="0" lvl="0" marL="0" marR="0" rtl="0" algn="l">
              <a:lnSpc>
                <a:spcPct val="100000"/>
              </a:lnSpc>
              <a:spcBef>
                <a:spcPts val="1000"/>
              </a:spcBef>
              <a:spcAft>
                <a:spcPts val="0"/>
              </a:spcAft>
              <a:buNone/>
            </a:pPr>
            <a:r>
              <a:rPr b="1" i="1" lang="en-US" sz="2000"/>
              <a:t>Risks or limitations:</a:t>
            </a:r>
            <a:endParaRPr b="1" i="1"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Highly competitive with many established leadership and organizational development firms</a:t>
            </a:r>
            <a:endParaRPr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Requires strong marketing visibility and core difference to stand out — need local brand building</a:t>
            </a:r>
            <a:endParaRPr sz="2000"/>
          </a:p>
        </p:txBody>
      </p:sp>
      <p:pic>
        <p:nvPicPr>
          <p:cNvPr id="343" name="Google Shape;343;p48"/>
          <p:cNvPicPr preferRelativeResize="0"/>
          <p:nvPr/>
        </p:nvPicPr>
        <p:blipFill rotWithShape="1">
          <a:blip r:embed="rId3">
            <a:alphaModFix/>
          </a:blip>
          <a:srcRect b="0" l="0" r="0" t="0"/>
          <a:stretch/>
        </p:blipFill>
        <p:spPr>
          <a:xfrm>
            <a:off x="7724375" y="1735375"/>
            <a:ext cx="3495501" cy="3973475"/>
          </a:xfrm>
          <a:prstGeom prst="rect">
            <a:avLst/>
          </a:prstGeom>
          <a:noFill/>
          <a:ln>
            <a:noFill/>
          </a:ln>
        </p:spPr>
      </p:pic>
      <p:sp>
        <p:nvSpPr>
          <p:cNvPr id="344" name="Google Shape;344;p48"/>
          <p:cNvSpPr txBox="1"/>
          <p:nvPr/>
        </p:nvSpPr>
        <p:spPr>
          <a:xfrm>
            <a:off x="8024150" y="1994850"/>
            <a:ext cx="3079200" cy="38832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Key actions:</a:t>
            </a:r>
            <a:endParaRPr sz="1600">
              <a:solidFill>
                <a:srgbClr val="434343"/>
              </a:solidFill>
            </a:endParaRPr>
          </a:p>
          <a:p>
            <a:pPr indent="-298450" lvl="0" marL="285750" marR="0" rtl="0" algn="l">
              <a:lnSpc>
                <a:spcPct val="100000"/>
              </a:lnSpc>
              <a:spcBef>
                <a:spcPts val="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Leverage Halifax case studies to enter market and expand fast growing companies, PE</a:t>
            </a:r>
            <a:br>
              <a:rPr lang="en-US" sz="1600">
                <a:solidFill>
                  <a:srgbClr val="434343"/>
                </a:solidFill>
                <a:latin typeface="Calibri"/>
                <a:ea typeface="Calibri"/>
                <a:cs typeface="Calibri"/>
                <a:sym typeface="Calibri"/>
              </a:rPr>
            </a:br>
            <a:endParaRPr sz="1600">
              <a:solidFill>
                <a:srgbClr val="434343"/>
              </a:solidFill>
              <a:latin typeface="Calibri"/>
              <a:ea typeface="Calibri"/>
              <a:cs typeface="Calibri"/>
              <a:sym typeface="Calibri"/>
            </a:endParaRPr>
          </a:p>
          <a:p>
            <a:pPr indent="0" lvl="0" marL="0" marR="0" rtl="0" algn="l">
              <a:lnSpc>
                <a:spcPct val="100000"/>
              </a:lnSpc>
              <a:spcBef>
                <a:spcPts val="0"/>
              </a:spcBef>
              <a:spcAft>
                <a:spcPts val="0"/>
              </a:spcAft>
              <a:buNone/>
            </a:pPr>
            <a:r>
              <a:rPr b="1" lang="en-US" sz="1700">
                <a:solidFill>
                  <a:srgbClr val="434343"/>
                </a:solidFill>
                <a:latin typeface="Calibri"/>
                <a:ea typeface="Calibri"/>
                <a:cs typeface="Calibri"/>
                <a:sym typeface="Calibri"/>
              </a:rPr>
              <a:t>Success metrics:</a:t>
            </a:r>
            <a:endParaRPr b="1" sz="1700">
              <a:solidFill>
                <a:srgbClr val="434343"/>
              </a:solidFill>
              <a:latin typeface="Calibri"/>
              <a:ea typeface="Calibri"/>
              <a:cs typeface="Calibri"/>
              <a:sym typeface="Calibri"/>
            </a:endParaRPr>
          </a:p>
          <a:p>
            <a:pPr indent="-298450" lvl="0" marL="285750" marR="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5+ Toronto clients in first 12 months (1M+ total revenue)</a:t>
            </a:r>
            <a:endParaRPr sz="1600">
              <a:solidFill>
                <a:srgbClr val="434343"/>
              </a:solidFill>
              <a:latin typeface="Calibri"/>
              <a:ea typeface="Calibri"/>
              <a:cs typeface="Calibri"/>
              <a:sym typeface="Calibri"/>
            </a:endParaRPr>
          </a:p>
          <a:p>
            <a:pPr indent="-298450" lvl="0" marL="285750" marR="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Proof that online marketing generates qualified leads</a:t>
            </a:r>
            <a:endParaRPr sz="1600">
              <a:solidFill>
                <a:srgbClr val="434343"/>
              </a:solidFill>
              <a:latin typeface="Calibri"/>
              <a:ea typeface="Calibri"/>
              <a:cs typeface="Calibri"/>
              <a:sym typeface="Calibri"/>
            </a:endParaRPr>
          </a:p>
          <a:p>
            <a:pPr indent="-298450" lvl="0" marL="285750" marR="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Repeatable offer (right pain point and solution) for Canadian scaleups and mid-market firms</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9"/>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chemeClr val="accent5"/>
                </a:solidFill>
              </a:rPr>
              <a:t>Marketing Direction: Existing Clients</a:t>
            </a:r>
            <a:endParaRPr>
              <a:solidFill>
                <a:schemeClr val="accent5"/>
              </a:solidFill>
            </a:endParaRPr>
          </a:p>
        </p:txBody>
      </p:sp>
      <p:sp>
        <p:nvSpPr>
          <p:cNvPr id="350" name="Google Shape;350;p49"/>
          <p:cNvSpPr txBox="1"/>
          <p:nvPr>
            <p:ph idx="1" type="body"/>
          </p:nvPr>
        </p:nvSpPr>
        <p:spPr>
          <a:xfrm>
            <a:off x="589125" y="1611500"/>
            <a:ext cx="8013000" cy="47682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b="1" lang="en-US" sz="1800">
                <a:solidFill>
                  <a:schemeClr val="accent2"/>
                </a:solidFill>
              </a:rPr>
              <a:t>Existing Clients</a:t>
            </a:r>
            <a:endParaRPr sz="1750"/>
          </a:p>
          <a:p>
            <a:pPr indent="0" lvl="0" marL="0" rtl="0" algn="l">
              <a:lnSpc>
                <a:spcPct val="100000"/>
              </a:lnSpc>
              <a:spcBef>
                <a:spcPts val="1200"/>
              </a:spcBef>
              <a:spcAft>
                <a:spcPts val="0"/>
              </a:spcAft>
              <a:buNone/>
            </a:pPr>
            <a:r>
              <a:rPr lang="en-US" sz="1400"/>
              <a:t>PowerUp Leadership has built strong, long-term relationships with clients in the government and nonprofit sectors. These organizations value your work, renew consistently, and provide predictable revenue.</a:t>
            </a:r>
            <a:endParaRPr sz="1400"/>
          </a:p>
          <a:p>
            <a:pPr indent="-212725" lvl="1" marL="400050" rtl="0" algn="l">
              <a:lnSpc>
                <a:spcPct val="115000"/>
              </a:lnSpc>
              <a:spcBef>
                <a:spcPts val="1200"/>
              </a:spcBef>
              <a:spcAft>
                <a:spcPts val="0"/>
              </a:spcAft>
              <a:buClr>
                <a:schemeClr val="accent2"/>
              </a:buClr>
              <a:buSzPts val="1550"/>
              <a:buFont typeface="Calibri"/>
              <a:buChar char="✔"/>
            </a:pPr>
            <a:r>
              <a:rPr lang="en-US" sz="1400"/>
              <a:t>However, pursuing additional clients in these sectors is not aligned with your future direction due to:</a:t>
            </a:r>
            <a:endParaRPr sz="1400"/>
          </a:p>
          <a:p>
            <a:pPr indent="-212725" lvl="2" marL="571500" rtl="0" algn="l">
              <a:lnSpc>
                <a:spcPct val="115000"/>
              </a:lnSpc>
              <a:spcBef>
                <a:spcPts val="0"/>
              </a:spcBef>
              <a:spcAft>
                <a:spcPts val="0"/>
              </a:spcAft>
              <a:buClr>
                <a:schemeClr val="accent2"/>
              </a:buClr>
              <a:buSzPts val="1550"/>
              <a:buFont typeface="Calibri"/>
              <a:buChar char="•"/>
            </a:pPr>
            <a:r>
              <a:rPr lang="en-US" sz="1400"/>
              <a:t>Limited growth potential and budget constraints</a:t>
            </a:r>
            <a:endParaRPr sz="1400"/>
          </a:p>
          <a:p>
            <a:pPr indent="-212725" lvl="2" marL="571500" rtl="0" algn="l">
              <a:lnSpc>
                <a:spcPct val="115000"/>
              </a:lnSpc>
              <a:spcBef>
                <a:spcPts val="0"/>
              </a:spcBef>
              <a:spcAft>
                <a:spcPts val="0"/>
              </a:spcAft>
              <a:buClr>
                <a:schemeClr val="accent2"/>
              </a:buClr>
              <a:buSzPts val="1550"/>
              <a:buFont typeface="Calibri"/>
              <a:buChar char="•"/>
            </a:pPr>
            <a:r>
              <a:rPr lang="en-US" sz="1400"/>
              <a:t>Challenging internal dynamics that do not align with your ideal working style</a:t>
            </a:r>
            <a:br>
              <a:rPr lang="en-US" sz="1400"/>
            </a:br>
            <a:endParaRPr sz="1400"/>
          </a:p>
          <a:p>
            <a:pPr indent="-212725" lvl="1" marL="400050" rtl="0" algn="l">
              <a:lnSpc>
                <a:spcPct val="115000"/>
              </a:lnSpc>
              <a:spcBef>
                <a:spcPts val="0"/>
              </a:spcBef>
              <a:spcAft>
                <a:spcPts val="0"/>
              </a:spcAft>
              <a:buClr>
                <a:schemeClr val="accent2"/>
              </a:buClr>
              <a:buSzPts val="1550"/>
              <a:buFont typeface="Calibri"/>
              <a:buChar char="✔"/>
            </a:pPr>
            <a:r>
              <a:rPr b="1" lang="en-US" sz="1400"/>
              <a:t>Strategic Recommendation:</a:t>
            </a:r>
            <a:endParaRPr b="1" sz="1400"/>
          </a:p>
          <a:p>
            <a:pPr indent="-212725" lvl="2" marL="571500" rtl="0" algn="l">
              <a:lnSpc>
                <a:spcPct val="115000"/>
              </a:lnSpc>
              <a:spcBef>
                <a:spcPts val="0"/>
              </a:spcBef>
              <a:spcAft>
                <a:spcPts val="0"/>
              </a:spcAft>
              <a:buClr>
                <a:schemeClr val="accent2"/>
              </a:buClr>
              <a:buSzPts val="1550"/>
              <a:buFont typeface="Calibri"/>
              <a:buChar char="•"/>
            </a:pPr>
            <a:r>
              <a:rPr lang="en-US" sz="1400"/>
              <a:t>Continue serving existing government and nonprofit clients with excellence to maintain relationships and revenue.</a:t>
            </a:r>
            <a:endParaRPr sz="1400"/>
          </a:p>
          <a:p>
            <a:pPr indent="-212725" lvl="2" marL="571500" rtl="0" algn="l">
              <a:lnSpc>
                <a:spcPct val="115000"/>
              </a:lnSpc>
              <a:spcBef>
                <a:spcPts val="0"/>
              </a:spcBef>
              <a:spcAft>
                <a:spcPts val="0"/>
              </a:spcAft>
              <a:buClr>
                <a:schemeClr val="accent2"/>
              </a:buClr>
              <a:buSzPts val="1550"/>
              <a:buFont typeface="Calibri"/>
              <a:buChar char="•"/>
            </a:pPr>
            <a:r>
              <a:rPr lang="en-US" sz="1400"/>
              <a:t>Assign these accounts to junior or mid-level consultants as a training ground—these projects offer structure, predictability, and a lower-risk environment to build experience and confidence.</a:t>
            </a:r>
            <a:endParaRPr sz="1400"/>
          </a:p>
          <a:p>
            <a:pPr indent="-212725" lvl="2" marL="571500" rtl="0" algn="l">
              <a:lnSpc>
                <a:spcPct val="115000"/>
              </a:lnSpc>
              <a:spcBef>
                <a:spcPts val="0"/>
              </a:spcBef>
              <a:spcAft>
                <a:spcPts val="0"/>
              </a:spcAft>
              <a:buClr>
                <a:schemeClr val="accent2"/>
              </a:buClr>
              <a:buSzPts val="1550"/>
              <a:buFont typeface="Calibri"/>
              <a:buChar char="•"/>
            </a:pPr>
            <a:r>
              <a:rPr lang="en-US" sz="1400"/>
              <a:t>Redirect senior leadership capacity toward securing and delivering on opportunities in  fast-growing private and PE-backed sectors, where the business impact is greater and the client fit is stronger.</a:t>
            </a:r>
            <a:endParaRPr sz="1400"/>
          </a:p>
          <a:p>
            <a:pPr indent="-212725" lvl="2" marL="571500" rtl="0" algn="l">
              <a:lnSpc>
                <a:spcPct val="115000"/>
              </a:lnSpc>
              <a:spcBef>
                <a:spcPts val="0"/>
              </a:spcBef>
              <a:spcAft>
                <a:spcPts val="0"/>
              </a:spcAft>
              <a:buClr>
                <a:schemeClr val="accent2"/>
              </a:buClr>
              <a:buSzPts val="1550"/>
              <a:buFont typeface="Calibri"/>
              <a:buChar char="•"/>
            </a:pPr>
            <a:r>
              <a:rPr lang="en-US" sz="1400"/>
              <a:t>This approach preserves core revenue, develops internal talent, and creates the necessary focus to grow in the markets where you  do your best work.</a:t>
            </a:r>
            <a:endParaRPr sz="1400"/>
          </a:p>
        </p:txBody>
      </p:sp>
      <p:pic>
        <p:nvPicPr>
          <p:cNvPr id="351" name="Google Shape;351;p49"/>
          <p:cNvPicPr preferRelativeResize="0"/>
          <p:nvPr/>
        </p:nvPicPr>
        <p:blipFill rotWithShape="1">
          <a:blip r:embed="rId3">
            <a:alphaModFix/>
          </a:blip>
          <a:srcRect b="0" l="0" r="0" t="0"/>
          <a:stretch/>
        </p:blipFill>
        <p:spPr>
          <a:xfrm>
            <a:off x="8897150" y="1611500"/>
            <a:ext cx="2660401" cy="3987425"/>
          </a:xfrm>
          <a:prstGeom prst="rect">
            <a:avLst/>
          </a:prstGeom>
          <a:noFill/>
          <a:ln>
            <a:noFill/>
          </a:ln>
        </p:spPr>
      </p:pic>
      <p:sp>
        <p:nvSpPr>
          <p:cNvPr id="352" name="Google Shape;352;p49"/>
          <p:cNvSpPr txBox="1"/>
          <p:nvPr/>
        </p:nvSpPr>
        <p:spPr>
          <a:xfrm>
            <a:off x="9205700" y="1816950"/>
            <a:ext cx="2060400" cy="33753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Insights:</a:t>
            </a:r>
            <a:endParaRPr sz="1600">
              <a:solidFill>
                <a:srgbClr val="434343"/>
              </a:solidFill>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Keep serving</a:t>
            </a:r>
            <a:endParaRPr sz="1600">
              <a:solidFill>
                <a:srgbClr val="434343"/>
              </a:solidFill>
              <a:latin typeface="Calibri"/>
              <a:ea typeface="Calibri"/>
              <a:cs typeface="Calibri"/>
              <a:sym typeface="Calibri"/>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Don’t abandon the goodwill or steady cash flow this work brings into PowerUp Leadership</a:t>
            </a:r>
            <a:endParaRPr sz="16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0"/>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chemeClr val="accent5"/>
                </a:solidFill>
              </a:rPr>
              <a:t>Marketing Strategy Overview</a:t>
            </a:r>
            <a:endParaRPr b="0" i="1">
              <a:solidFill>
                <a:schemeClr val="accent5"/>
              </a:solidFill>
              <a:latin typeface="Calibri"/>
              <a:ea typeface="Calibri"/>
              <a:cs typeface="Calibri"/>
              <a:sym typeface="Calibri"/>
            </a:endParaRPr>
          </a:p>
        </p:txBody>
      </p:sp>
      <p:sp>
        <p:nvSpPr>
          <p:cNvPr id="358" name="Google Shape;358;p50"/>
          <p:cNvSpPr txBox="1"/>
          <p:nvPr>
            <p:ph idx="1" type="body"/>
          </p:nvPr>
        </p:nvSpPr>
        <p:spPr>
          <a:xfrm>
            <a:off x="589125" y="1611500"/>
            <a:ext cx="7186500" cy="4768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US" sz="1500">
                <a:solidFill>
                  <a:schemeClr val="accent2"/>
                </a:solidFill>
              </a:rPr>
              <a:t>Marketing Foundation - Positioning and Messaging:</a:t>
            </a:r>
            <a:endParaRPr b="1" sz="1500">
              <a:solidFill>
                <a:schemeClr val="accent2"/>
              </a:solidFill>
            </a:endParaRPr>
          </a:p>
          <a:p>
            <a:pPr indent="-206375" lvl="1" marL="685800" rtl="0" algn="l">
              <a:lnSpc>
                <a:spcPct val="115000"/>
              </a:lnSpc>
              <a:spcBef>
                <a:spcPts val="0"/>
              </a:spcBef>
              <a:spcAft>
                <a:spcPts val="0"/>
              </a:spcAft>
              <a:buClr>
                <a:schemeClr val="accent2"/>
              </a:buClr>
              <a:buSzPts val="1450"/>
              <a:buFont typeface="Noto Sans Symbols"/>
              <a:buChar char="✔"/>
            </a:pPr>
            <a:r>
              <a:rPr lang="en-US" sz="1450"/>
              <a:t>Create new positioning and messaging to target new focus areas: Private Equity portfolio companies and high growth private firms</a:t>
            </a:r>
            <a:endParaRPr b="1" sz="1500">
              <a:solidFill>
                <a:schemeClr val="accent2"/>
              </a:solidFill>
            </a:endParaRPr>
          </a:p>
          <a:p>
            <a:pPr indent="0" lvl="0" marL="0" rtl="0" algn="l">
              <a:lnSpc>
                <a:spcPct val="115000"/>
              </a:lnSpc>
              <a:spcBef>
                <a:spcPts val="0"/>
              </a:spcBef>
              <a:spcAft>
                <a:spcPts val="0"/>
              </a:spcAft>
              <a:buNone/>
            </a:pPr>
            <a:r>
              <a:rPr b="1" lang="en-US" sz="1500">
                <a:solidFill>
                  <a:schemeClr val="accent2"/>
                </a:solidFill>
              </a:rPr>
              <a:t>Marketing Foundation - Services:</a:t>
            </a:r>
            <a:endParaRPr b="1" sz="1500">
              <a:solidFill>
                <a:schemeClr val="accent2"/>
              </a:solidFill>
            </a:endParaRPr>
          </a:p>
          <a:p>
            <a:pPr indent="-206375" lvl="1" marL="685800" rtl="0" algn="l">
              <a:lnSpc>
                <a:spcPct val="115000"/>
              </a:lnSpc>
              <a:spcBef>
                <a:spcPts val="0"/>
              </a:spcBef>
              <a:spcAft>
                <a:spcPts val="0"/>
              </a:spcAft>
              <a:buClr>
                <a:schemeClr val="accent2"/>
              </a:buClr>
              <a:buSzPts val="1450"/>
              <a:buFont typeface="Noto Sans Symbols"/>
              <a:buChar char="✔"/>
            </a:pPr>
            <a:r>
              <a:rPr lang="en-US" sz="1450"/>
              <a:t>Review and streamline service offerings</a:t>
            </a:r>
            <a:endParaRPr b="1" sz="1500">
              <a:solidFill>
                <a:schemeClr val="accent2"/>
              </a:solidFill>
            </a:endParaRPr>
          </a:p>
          <a:p>
            <a:pPr indent="0" lvl="0" marL="0" marR="0" rtl="0" algn="l">
              <a:lnSpc>
                <a:spcPct val="115000"/>
              </a:lnSpc>
              <a:spcBef>
                <a:spcPts val="0"/>
              </a:spcBef>
              <a:spcAft>
                <a:spcPts val="0"/>
              </a:spcAft>
              <a:buNone/>
            </a:pPr>
            <a:r>
              <a:rPr b="1" lang="en-US" sz="1500">
                <a:solidFill>
                  <a:schemeClr val="accent2"/>
                </a:solidFill>
              </a:rPr>
              <a:t>Marketing Foundation - Online &amp; Website:</a:t>
            </a:r>
            <a:endParaRPr sz="1450"/>
          </a:p>
          <a:p>
            <a:pPr indent="-206375" lvl="1" marL="685800" marR="0" rtl="0" algn="l">
              <a:lnSpc>
                <a:spcPct val="115000"/>
              </a:lnSpc>
              <a:spcBef>
                <a:spcPts val="0"/>
              </a:spcBef>
              <a:spcAft>
                <a:spcPts val="0"/>
              </a:spcAft>
              <a:buClr>
                <a:schemeClr val="accent2"/>
              </a:buClr>
              <a:buSzPts val="1450"/>
              <a:buFont typeface="Noto Sans Symbols"/>
              <a:buChar char="✔"/>
            </a:pPr>
            <a:r>
              <a:rPr lang="en-US" sz="1450"/>
              <a:t>Update website, social media &amp; all online assets to match new branding, services flow &amp; messaging </a:t>
            </a:r>
            <a:endParaRPr sz="1550"/>
          </a:p>
          <a:p>
            <a:pPr indent="-206375" lvl="1" marL="685800" marR="0" rtl="0" algn="l">
              <a:lnSpc>
                <a:spcPct val="115000"/>
              </a:lnSpc>
              <a:spcBef>
                <a:spcPts val="0"/>
              </a:spcBef>
              <a:spcAft>
                <a:spcPts val="0"/>
              </a:spcAft>
              <a:buClr>
                <a:schemeClr val="accent2"/>
              </a:buClr>
              <a:buSzPts val="1450"/>
              <a:buFont typeface="Noto Sans Symbols"/>
              <a:buChar char="✔"/>
            </a:pPr>
            <a:r>
              <a:rPr lang="en-US" sz="1450"/>
              <a:t>Update website navigation, </a:t>
            </a:r>
            <a:r>
              <a:rPr lang="en-US" sz="1450"/>
              <a:t>streamline</a:t>
            </a:r>
            <a:r>
              <a:rPr lang="en-US" sz="1450"/>
              <a:t> services pages, add new landing pages for PE, Private Companies, and local regions: Halifax and Toronto</a:t>
            </a:r>
            <a:endParaRPr sz="1450"/>
          </a:p>
          <a:p>
            <a:pPr indent="-206375" lvl="1" marL="685800" marR="0" rtl="0" algn="l">
              <a:lnSpc>
                <a:spcPct val="115000"/>
              </a:lnSpc>
              <a:spcBef>
                <a:spcPts val="0"/>
              </a:spcBef>
              <a:spcAft>
                <a:spcPts val="0"/>
              </a:spcAft>
              <a:buClr>
                <a:schemeClr val="accent2"/>
              </a:buClr>
              <a:buSzPts val="1450"/>
              <a:buFont typeface="Noto Sans Symbols"/>
              <a:buChar char="✔"/>
            </a:pPr>
            <a:r>
              <a:rPr lang="en-US" sz="1450"/>
              <a:t>Review website lead flow and update all CTAs and forms to make sure they’re working and can be tracke</a:t>
            </a:r>
            <a:r>
              <a:rPr lang="en-US" sz="1450"/>
              <a:t>d</a:t>
            </a:r>
            <a:endParaRPr b="1" sz="1500">
              <a:solidFill>
                <a:schemeClr val="accent2"/>
              </a:solidFill>
            </a:endParaRPr>
          </a:p>
          <a:p>
            <a:pPr indent="0" lvl="0" marL="0" marR="0" rtl="0" algn="l">
              <a:lnSpc>
                <a:spcPct val="115000"/>
              </a:lnSpc>
              <a:spcBef>
                <a:spcPts val="0"/>
              </a:spcBef>
              <a:spcAft>
                <a:spcPts val="0"/>
              </a:spcAft>
              <a:buNone/>
            </a:pPr>
            <a:r>
              <a:rPr b="1" lang="en-US" sz="1500">
                <a:solidFill>
                  <a:schemeClr val="accent2"/>
                </a:solidFill>
              </a:rPr>
              <a:t>Marketing Foundation - Local Marketing:</a:t>
            </a:r>
            <a:endParaRPr b="1" sz="1500">
              <a:solidFill>
                <a:schemeClr val="accent2"/>
              </a:solidFill>
            </a:endParaRPr>
          </a:p>
          <a:p>
            <a:pPr indent="-206375" lvl="1" marL="685800" rtl="0" algn="l">
              <a:lnSpc>
                <a:spcPct val="115000"/>
              </a:lnSpc>
              <a:spcBef>
                <a:spcPts val="0"/>
              </a:spcBef>
              <a:spcAft>
                <a:spcPts val="0"/>
              </a:spcAft>
              <a:buClr>
                <a:schemeClr val="accent2"/>
              </a:buClr>
              <a:buSzPts val="1450"/>
              <a:buFont typeface="Noto Sans Symbols"/>
              <a:buChar char="✔"/>
            </a:pPr>
            <a:r>
              <a:rPr lang="en-US" sz="1450"/>
              <a:t>Optimize website for local SEO for Toronto and Halifax, set up and optimize Google Business profiles in both regions</a:t>
            </a:r>
            <a:endParaRPr b="1" sz="1500">
              <a:solidFill>
                <a:schemeClr val="accent2"/>
              </a:solidFill>
            </a:endParaRPr>
          </a:p>
          <a:p>
            <a:pPr indent="0" lvl="0" marL="0" marR="0" rtl="0" algn="l">
              <a:lnSpc>
                <a:spcPct val="115000"/>
              </a:lnSpc>
              <a:spcBef>
                <a:spcPts val="0"/>
              </a:spcBef>
              <a:spcAft>
                <a:spcPts val="0"/>
              </a:spcAft>
              <a:buNone/>
            </a:pPr>
            <a:r>
              <a:rPr b="1" lang="en-US" sz="1500">
                <a:solidFill>
                  <a:schemeClr val="accent2"/>
                </a:solidFill>
              </a:rPr>
              <a:t>Marketing Foundation - Lead Nurturing Funnels:</a:t>
            </a:r>
            <a:endParaRPr sz="1450"/>
          </a:p>
          <a:p>
            <a:pPr indent="-206375" lvl="1" marL="685800" marR="0" rtl="0" algn="l">
              <a:lnSpc>
                <a:spcPct val="115000"/>
              </a:lnSpc>
              <a:spcBef>
                <a:spcPts val="0"/>
              </a:spcBef>
              <a:spcAft>
                <a:spcPts val="0"/>
              </a:spcAft>
              <a:buClr>
                <a:schemeClr val="accent2"/>
              </a:buClr>
              <a:buSzPts val="1450"/>
              <a:buFont typeface="Noto Sans Symbols"/>
              <a:buChar char="✔"/>
            </a:pPr>
            <a:r>
              <a:rPr lang="en-US" sz="1450"/>
              <a:t>Create unique lead nurturing funnels for new target markets: High Growth Private Companies and Private Equity Portfolio Companies</a:t>
            </a:r>
            <a:endParaRPr sz="1450"/>
          </a:p>
          <a:p>
            <a:pPr indent="0" lvl="0" marL="1143000" marR="0" rtl="0" algn="l">
              <a:lnSpc>
                <a:spcPct val="115000"/>
              </a:lnSpc>
              <a:spcBef>
                <a:spcPts val="0"/>
              </a:spcBef>
              <a:spcAft>
                <a:spcPts val="0"/>
              </a:spcAft>
              <a:buNone/>
            </a:pPr>
            <a:r>
              <a:t/>
            </a:r>
            <a:endParaRPr sz="1850"/>
          </a:p>
          <a:p>
            <a:pPr indent="0" lvl="0" marL="1600200" marR="0" rtl="0" algn="l">
              <a:lnSpc>
                <a:spcPct val="115000"/>
              </a:lnSpc>
              <a:spcBef>
                <a:spcPts val="0"/>
              </a:spcBef>
              <a:spcAft>
                <a:spcPts val="0"/>
              </a:spcAft>
              <a:buNone/>
            </a:pPr>
            <a:r>
              <a:t/>
            </a:r>
            <a:endParaRPr sz="1850"/>
          </a:p>
          <a:p>
            <a:pPr indent="0" lvl="0" marL="1143000" marR="0" rtl="0" algn="l">
              <a:lnSpc>
                <a:spcPct val="100000"/>
              </a:lnSpc>
              <a:spcBef>
                <a:spcPts val="1000"/>
              </a:spcBef>
              <a:spcAft>
                <a:spcPts val="0"/>
              </a:spcAft>
              <a:buNone/>
            </a:pPr>
            <a:r>
              <a:t/>
            </a:r>
            <a:endParaRPr sz="2050"/>
          </a:p>
          <a:p>
            <a:pPr indent="0" lvl="0" marL="0" marR="0" rtl="0" algn="l">
              <a:lnSpc>
                <a:spcPct val="100000"/>
              </a:lnSpc>
              <a:spcBef>
                <a:spcPts val="1000"/>
              </a:spcBef>
              <a:spcAft>
                <a:spcPts val="0"/>
              </a:spcAft>
              <a:buNone/>
            </a:pPr>
            <a:r>
              <a:t/>
            </a:r>
            <a:endParaRPr sz="2050"/>
          </a:p>
          <a:p>
            <a:pPr indent="0" lvl="0" marL="0" marR="0" rtl="0" algn="l">
              <a:lnSpc>
                <a:spcPct val="100000"/>
              </a:lnSpc>
              <a:spcBef>
                <a:spcPts val="1000"/>
              </a:spcBef>
              <a:spcAft>
                <a:spcPts val="0"/>
              </a:spcAft>
              <a:buNone/>
            </a:pPr>
            <a:r>
              <a:t/>
            </a:r>
            <a:endParaRPr sz="2050"/>
          </a:p>
          <a:p>
            <a:pPr indent="0" lvl="0" marL="0" marR="0" rtl="0" algn="l">
              <a:lnSpc>
                <a:spcPct val="100000"/>
              </a:lnSpc>
              <a:spcBef>
                <a:spcPts val="1000"/>
              </a:spcBef>
              <a:spcAft>
                <a:spcPts val="0"/>
              </a:spcAft>
              <a:buNone/>
            </a:pPr>
            <a:r>
              <a:t/>
            </a:r>
            <a:endParaRPr sz="1350">
              <a:solidFill>
                <a:srgbClr val="FF9900"/>
              </a:solidFill>
            </a:endParaRPr>
          </a:p>
        </p:txBody>
      </p:sp>
      <p:pic>
        <p:nvPicPr>
          <p:cNvPr id="359" name="Google Shape;359;p50"/>
          <p:cNvPicPr preferRelativeResize="0"/>
          <p:nvPr/>
        </p:nvPicPr>
        <p:blipFill rotWithShape="1">
          <a:blip r:embed="rId3">
            <a:alphaModFix/>
          </a:blip>
          <a:srcRect b="0" l="0" r="0" t="0"/>
          <a:stretch/>
        </p:blipFill>
        <p:spPr>
          <a:xfrm>
            <a:off x="7990825" y="1611500"/>
            <a:ext cx="3566725" cy="3987425"/>
          </a:xfrm>
          <a:prstGeom prst="rect">
            <a:avLst/>
          </a:prstGeom>
          <a:noFill/>
          <a:ln>
            <a:noFill/>
          </a:ln>
        </p:spPr>
      </p:pic>
      <p:sp>
        <p:nvSpPr>
          <p:cNvPr id="360" name="Google Shape;360;p50"/>
          <p:cNvSpPr txBox="1"/>
          <p:nvPr/>
        </p:nvSpPr>
        <p:spPr>
          <a:xfrm>
            <a:off x="8282300" y="1816950"/>
            <a:ext cx="2983800" cy="25947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Insights:</a:t>
            </a:r>
            <a:endParaRPr sz="1600">
              <a:solidFill>
                <a:srgbClr val="434343"/>
              </a:solidFill>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Make it easy for all personas to get more information &amp; educate themselves on PowerUp and their services.</a:t>
            </a:r>
            <a:endParaRPr sz="16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1"/>
          <p:cNvSpPr txBox="1"/>
          <p:nvPr>
            <p:ph type="title"/>
          </p:nvPr>
        </p:nvSpPr>
        <p:spPr>
          <a:xfrm>
            <a:off x="8625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chemeClr val="accent5"/>
                </a:solidFill>
              </a:rPr>
              <a:t>Marketing Strategy Overview</a:t>
            </a:r>
            <a:endParaRPr>
              <a:solidFill>
                <a:schemeClr val="accent5"/>
              </a:solidFill>
            </a:endParaRPr>
          </a:p>
        </p:txBody>
      </p:sp>
      <p:sp>
        <p:nvSpPr>
          <p:cNvPr id="366" name="Google Shape;366;p51"/>
          <p:cNvSpPr txBox="1"/>
          <p:nvPr>
            <p:ph idx="1" type="body"/>
          </p:nvPr>
        </p:nvSpPr>
        <p:spPr>
          <a:xfrm>
            <a:off x="862575" y="1664975"/>
            <a:ext cx="6730800" cy="4768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None/>
            </a:pPr>
            <a:r>
              <a:rPr b="1" lang="en-US" sz="2000">
                <a:solidFill>
                  <a:schemeClr val="accent2"/>
                </a:solidFill>
              </a:rPr>
              <a:t>Marketing Awareness and Lead Generation</a:t>
            </a:r>
            <a:endParaRPr b="1" sz="1650"/>
          </a:p>
          <a:p>
            <a:pPr indent="-225425" lvl="1" marL="457200" marR="0" rtl="0" algn="l">
              <a:lnSpc>
                <a:spcPct val="100000"/>
              </a:lnSpc>
              <a:spcBef>
                <a:spcPts val="1000"/>
              </a:spcBef>
              <a:spcAft>
                <a:spcPts val="0"/>
              </a:spcAft>
              <a:buClr>
                <a:schemeClr val="accent2"/>
              </a:buClr>
              <a:buSzPts val="1750"/>
              <a:buFont typeface="Noto Sans Symbols"/>
              <a:buChar char="✔"/>
            </a:pPr>
            <a:r>
              <a:rPr b="1" lang="en-US" sz="1750"/>
              <a:t>Events &amp; Associations: </a:t>
            </a:r>
            <a:r>
              <a:rPr lang="en-US" sz="1750"/>
              <a:t>Partner with associations &amp; events for targeted outreach campaigns and to build credibility in key areas</a:t>
            </a:r>
            <a:endParaRPr sz="1750"/>
          </a:p>
          <a:p>
            <a:pPr indent="-225425" lvl="1" marL="457200" marR="0" rtl="0" algn="l">
              <a:lnSpc>
                <a:spcPct val="100000"/>
              </a:lnSpc>
              <a:spcBef>
                <a:spcPts val="1000"/>
              </a:spcBef>
              <a:spcAft>
                <a:spcPts val="0"/>
              </a:spcAft>
              <a:buClr>
                <a:schemeClr val="accent2"/>
              </a:buClr>
              <a:buSzPts val="1750"/>
              <a:buFont typeface="Noto Sans Symbols"/>
              <a:buChar char="✔"/>
            </a:pPr>
            <a:r>
              <a:rPr b="1" lang="en-US" sz="1750"/>
              <a:t>Key partnerships: </a:t>
            </a:r>
            <a:r>
              <a:rPr lang="en-US" sz="1750"/>
              <a:t>Identify key partnerships and relationships in new growth areas</a:t>
            </a:r>
            <a:endParaRPr sz="1750"/>
          </a:p>
          <a:p>
            <a:pPr indent="-225425" lvl="1" marL="457200" marR="0" rtl="0" algn="l">
              <a:lnSpc>
                <a:spcPct val="100000"/>
              </a:lnSpc>
              <a:spcBef>
                <a:spcPts val="1000"/>
              </a:spcBef>
              <a:spcAft>
                <a:spcPts val="0"/>
              </a:spcAft>
              <a:buClr>
                <a:schemeClr val="accent2"/>
              </a:buClr>
              <a:buSzPts val="1750"/>
              <a:buFont typeface="Noto Sans Symbols"/>
              <a:buChar char="✔"/>
            </a:pPr>
            <a:r>
              <a:rPr b="1" lang="en-US" sz="1750"/>
              <a:t>Account Based Marketing</a:t>
            </a:r>
            <a:r>
              <a:rPr lang="en-US" sz="1750"/>
              <a:t> to directly target ideal client companies with email or direct mail campaigns (send package)</a:t>
            </a:r>
            <a:endParaRPr sz="1750"/>
          </a:p>
          <a:p>
            <a:pPr indent="-225425" lvl="1" marL="457200" marR="0" rtl="0" algn="l">
              <a:lnSpc>
                <a:spcPct val="100000"/>
              </a:lnSpc>
              <a:spcBef>
                <a:spcPts val="1000"/>
              </a:spcBef>
              <a:spcAft>
                <a:spcPts val="0"/>
              </a:spcAft>
              <a:buClr>
                <a:schemeClr val="accent2"/>
              </a:buClr>
              <a:buSzPts val="1750"/>
              <a:buFont typeface="Noto Sans Symbols"/>
              <a:buChar char="✔"/>
            </a:pPr>
            <a:r>
              <a:rPr b="1" lang="en-US" sz="1750"/>
              <a:t>Referral</a:t>
            </a:r>
            <a:r>
              <a:rPr lang="en-US" sz="1750"/>
              <a:t> campaigns for existing clients; build case studies and referrals for new market</a:t>
            </a:r>
            <a:endParaRPr sz="1750"/>
          </a:p>
          <a:p>
            <a:pPr indent="-225425" lvl="1" marL="457200" marR="0" rtl="0" algn="l">
              <a:lnSpc>
                <a:spcPct val="100000"/>
              </a:lnSpc>
              <a:spcBef>
                <a:spcPts val="1000"/>
              </a:spcBef>
              <a:spcAft>
                <a:spcPts val="0"/>
              </a:spcAft>
              <a:buClr>
                <a:schemeClr val="accent2"/>
              </a:buClr>
              <a:buSzPts val="1750"/>
              <a:buFont typeface="Noto Sans Symbols"/>
              <a:buChar char="✔"/>
            </a:pPr>
            <a:r>
              <a:rPr b="1" lang="en-US" sz="1750"/>
              <a:t>Online optimization and local SEO</a:t>
            </a:r>
            <a:endParaRPr b="1" sz="1750"/>
          </a:p>
          <a:p>
            <a:pPr indent="-225425" lvl="3" marL="685800" marR="0" rtl="0" algn="l">
              <a:lnSpc>
                <a:spcPct val="100000"/>
              </a:lnSpc>
              <a:spcBef>
                <a:spcPts val="1000"/>
              </a:spcBef>
              <a:spcAft>
                <a:spcPts val="0"/>
              </a:spcAft>
              <a:buClr>
                <a:schemeClr val="accent2"/>
              </a:buClr>
              <a:buSzPts val="1750"/>
              <a:buFont typeface="Noto Sans Symbols"/>
              <a:buChar char="•"/>
            </a:pPr>
            <a:r>
              <a:rPr lang="en-US" sz="1750"/>
              <a:t>Update and optimize website and all online assets/social media for new target markets, including local landing pages and Google Business profiles</a:t>
            </a:r>
            <a:endParaRPr sz="1750"/>
          </a:p>
          <a:p>
            <a:pPr indent="0" lvl="0" marL="1143000" marR="0" rtl="0" algn="l">
              <a:lnSpc>
                <a:spcPct val="100000"/>
              </a:lnSpc>
              <a:spcBef>
                <a:spcPts val="1000"/>
              </a:spcBef>
              <a:spcAft>
                <a:spcPts val="0"/>
              </a:spcAft>
              <a:buNone/>
            </a:pPr>
            <a:r>
              <a:t/>
            </a:r>
            <a:endParaRPr sz="1650"/>
          </a:p>
          <a:p>
            <a:pPr indent="0" lvl="0" marL="1143000" marR="0" rtl="0" algn="l">
              <a:lnSpc>
                <a:spcPct val="100000"/>
              </a:lnSpc>
              <a:spcBef>
                <a:spcPts val="1000"/>
              </a:spcBef>
              <a:spcAft>
                <a:spcPts val="0"/>
              </a:spcAft>
              <a:buNone/>
            </a:pPr>
            <a:r>
              <a:t/>
            </a:r>
            <a:endParaRPr sz="1650"/>
          </a:p>
        </p:txBody>
      </p:sp>
      <p:pic>
        <p:nvPicPr>
          <p:cNvPr id="367" name="Google Shape;367;p51"/>
          <p:cNvPicPr preferRelativeResize="0"/>
          <p:nvPr/>
        </p:nvPicPr>
        <p:blipFill rotWithShape="1">
          <a:blip r:embed="rId3">
            <a:alphaModFix/>
          </a:blip>
          <a:srcRect b="0" l="0" r="0" t="0"/>
          <a:stretch/>
        </p:blipFill>
        <p:spPr>
          <a:xfrm>
            <a:off x="7990825" y="1611500"/>
            <a:ext cx="3566725" cy="3987425"/>
          </a:xfrm>
          <a:prstGeom prst="rect">
            <a:avLst/>
          </a:prstGeom>
          <a:noFill/>
          <a:ln>
            <a:noFill/>
          </a:ln>
        </p:spPr>
      </p:pic>
      <p:sp>
        <p:nvSpPr>
          <p:cNvPr id="368" name="Google Shape;368;p51"/>
          <p:cNvSpPr txBox="1"/>
          <p:nvPr/>
        </p:nvSpPr>
        <p:spPr>
          <a:xfrm>
            <a:off x="8282300" y="1816950"/>
            <a:ext cx="2983800" cy="33753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Insights:</a:t>
            </a:r>
            <a:endParaRPr sz="1600">
              <a:solidFill>
                <a:srgbClr val="434343"/>
              </a:solidFill>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PowerUp’s ideal clients are easily identifiable and can be targeted directly, via online or through direct campaigns. </a:t>
            </a:r>
            <a:endParaRPr sz="1600">
              <a:solidFill>
                <a:srgbClr val="434343"/>
              </a:solidFill>
              <a:latin typeface="Calibri"/>
              <a:ea typeface="Calibri"/>
              <a:cs typeface="Calibri"/>
              <a:sym typeface="Calibri"/>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Begin targeting new markets in geographic order</a:t>
            </a:r>
            <a:endParaRPr sz="16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2"/>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solidFill>
                  <a:schemeClr val="accent5"/>
                </a:solidFill>
              </a:rPr>
              <a:t>Marketing Strategy </a:t>
            </a:r>
            <a:endParaRPr>
              <a:solidFill>
                <a:schemeClr val="accent5"/>
              </a:solidFill>
            </a:endParaRPr>
          </a:p>
          <a:p>
            <a:pPr indent="0" lvl="0" marL="0" rtl="0" algn="ctr">
              <a:lnSpc>
                <a:spcPct val="90000"/>
              </a:lnSpc>
              <a:spcBef>
                <a:spcPts val="0"/>
              </a:spcBef>
              <a:spcAft>
                <a:spcPts val="0"/>
              </a:spcAft>
              <a:buClr>
                <a:schemeClr val="accent2"/>
              </a:buClr>
              <a:buSzPts val="4400"/>
              <a:buFont typeface="Calibri"/>
              <a:buNone/>
            </a:pPr>
            <a:r>
              <a:rPr i="1" lang="en-US"/>
              <a:t>Foundation - Ideal Clients</a:t>
            </a:r>
            <a:endParaRPr i="1"/>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id="378" name="Google Shape;378;p53"/>
          <p:cNvPicPr preferRelativeResize="0"/>
          <p:nvPr/>
        </p:nvPicPr>
        <p:blipFill rotWithShape="1">
          <a:blip r:embed="rId3">
            <a:alphaModFix/>
          </a:blip>
          <a:srcRect b="0" l="0" r="0" t="0"/>
          <a:stretch/>
        </p:blipFill>
        <p:spPr>
          <a:xfrm>
            <a:off x="990600" y="1849775"/>
            <a:ext cx="4463525" cy="3956450"/>
          </a:xfrm>
          <a:prstGeom prst="rect">
            <a:avLst/>
          </a:prstGeom>
          <a:noFill/>
          <a:ln>
            <a:noFill/>
          </a:ln>
        </p:spPr>
      </p:pic>
      <p:sp>
        <p:nvSpPr>
          <p:cNvPr id="379" name="Google Shape;379;p53"/>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800">
                <a:solidFill>
                  <a:srgbClr val="F36E25"/>
                </a:solidFill>
              </a:rPr>
              <a:t>Current vs. Ideal Clients</a:t>
            </a:r>
            <a:endParaRPr b="0" i="1" sz="3800">
              <a:solidFill>
                <a:srgbClr val="F36E25"/>
              </a:solidFill>
              <a:latin typeface="Calibri"/>
              <a:ea typeface="Calibri"/>
              <a:cs typeface="Calibri"/>
              <a:sym typeface="Calibri"/>
            </a:endParaRPr>
          </a:p>
        </p:txBody>
      </p:sp>
      <p:sp>
        <p:nvSpPr>
          <p:cNvPr id="380" name="Google Shape;380;p53"/>
          <p:cNvSpPr txBox="1"/>
          <p:nvPr/>
        </p:nvSpPr>
        <p:spPr>
          <a:xfrm>
            <a:off x="1380750" y="2134075"/>
            <a:ext cx="3008400" cy="6816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Current Clients:</a:t>
            </a:r>
            <a:endParaRPr b="1" sz="17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
        <p:nvSpPr>
          <p:cNvPr id="381" name="Google Shape;381;p53"/>
          <p:cNvSpPr txBox="1"/>
          <p:nvPr/>
        </p:nvSpPr>
        <p:spPr>
          <a:xfrm>
            <a:off x="1384925" y="2505300"/>
            <a:ext cx="4069200" cy="3237600"/>
          </a:xfrm>
          <a:prstGeom prst="rect">
            <a:avLst/>
          </a:prstGeom>
          <a:noFill/>
          <a:ln>
            <a:noFill/>
          </a:ln>
        </p:spPr>
        <p:txBody>
          <a:bodyPr anchorCtr="0" anchor="t" bIns="91425" lIns="91425" spcFirstLastPara="1" rIns="91425" wrap="square" tIns="91425">
            <a:spAutoFit/>
          </a:bodyPr>
          <a:lstStyle/>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Government agencies</a:t>
            </a:r>
            <a:endParaRPr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Non-profit organizations</a:t>
            </a:r>
            <a:endParaRPr sz="1600">
              <a:solidFill>
                <a:srgbClr val="434343"/>
              </a:solidFill>
              <a:latin typeface="Calibri"/>
              <a:ea typeface="Calibri"/>
              <a:cs typeface="Calibri"/>
              <a:sym typeface="Calibri"/>
            </a:endParaRPr>
          </a:p>
          <a:p>
            <a:pPr indent="0" lvl="0" marL="0" rtl="0" algn="l">
              <a:spcBef>
                <a:spcPts val="1000"/>
              </a:spcBef>
              <a:spcAft>
                <a:spcPts val="0"/>
              </a:spcAft>
              <a:buNone/>
            </a:pPr>
            <a:r>
              <a:rPr b="1" lang="en-US" sz="1600">
                <a:solidFill>
                  <a:srgbClr val="434343"/>
                </a:solidFill>
                <a:latin typeface="Calibri"/>
                <a:ea typeface="Calibri"/>
                <a:cs typeface="Calibri"/>
                <a:sym typeface="Calibri"/>
              </a:rPr>
              <a:t>Move away from - why?</a:t>
            </a:r>
            <a:endParaRPr b="1"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Slow decision-making and project delays</a:t>
            </a:r>
            <a:endParaRPr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Low urgency and frequent rescheduling</a:t>
            </a:r>
            <a:endParaRPr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Work often tied to RFPs, leading to inflexible pricing</a:t>
            </a:r>
            <a:endParaRPr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Mandatory training participation leads to disengaged learners</a:t>
            </a:r>
            <a:endParaRPr sz="1600">
              <a:solidFill>
                <a:srgbClr val="434343"/>
              </a:solidFill>
              <a:latin typeface="Calibri"/>
              <a:ea typeface="Calibri"/>
              <a:cs typeface="Calibri"/>
              <a:sym typeface="Calibri"/>
            </a:endParaRPr>
          </a:p>
          <a:p>
            <a:pPr indent="0" lvl="0" marL="0" rtl="0" algn="l">
              <a:spcBef>
                <a:spcPts val="600"/>
              </a:spcBef>
              <a:spcAft>
                <a:spcPts val="0"/>
              </a:spcAft>
              <a:buNone/>
            </a:pPr>
            <a:r>
              <a:t/>
            </a:r>
            <a:endParaRPr sz="1600">
              <a:solidFill>
                <a:srgbClr val="434343"/>
              </a:solidFill>
              <a:latin typeface="Calibri"/>
              <a:ea typeface="Calibri"/>
              <a:cs typeface="Calibri"/>
              <a:sym typeface="Calibri"/>
            </a:endParaRPr>
          </a:p>
        </p:txBody>
      </p:sp>
      <p:pic>
        <p:nvPicPr>
          <p:cNvPr id="382" name="Google Shape;382;p53"/>
          <p:cNvPicPr preferRelativeResize="0"/>
          <p:nvPr/>
        </p:nvPicPr>
        <p:blipFill rotWithShape="1">
          <a:blip r:embed="rId4">
            <a:alphaModFix/>
          </a:blip>
          <a:srcRect b="0" l="0" r="0" t="0"/>
          <a:stretch/>
        </p:blipFill>
        <p:spPr>
          <a:xfrm>
            <a:off x="6158625" y="1849775"/>
            <a:ext cx="4932124" cy="3956450"/>
          </a:xfrm>
          <a:prstGeom prst="rect">
            <a:avLst/>
          </a:prstGeom>
          <a:noFill/>
          <a:ln>
            <a:noFill/>
          </a:ln>
        </p:spPr>
      </p:pic>
      <p:sp>
        <p:nvSpPr>
          <p:cNvPr id="383" name="Google Shape;383;p53"/>
          <p:cNvSpPr txBox="1"/>
          <p:nvPr/>
        </p:nvSpPr>
        <p:spPr>
          <a:xfrm>
            <a:off x="6529250" y="2044850"/>
            <a:ext cx="4463400" cy="35760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b="1" lang="en-US" sz="1700">
                <a:solidFill>
                  <a:srgbClr val="434343"/>
                </a:solidFill>
                <a:latin typeface="Calibri"/>
                <a:ea typeface="Calibri"/>
                <a:cs typeface="Calibri"/>
                <a:sym typeface="Calibri"/>
              </a:rPr>
              <a:t>Ideal Clients:</a:t>
            </a:r>
            <a:endParaRPr b="1" sz="17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High growth mid-sized companies (tech, SaaS, professional services)</a:t>
            </a:r>
            <a:endParaRPr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Private-equity backed </a:t>
            </a:r>
            <a:r>
              <a:rPr lang="en-US" sz="1600">
                <a:solidFill>
                  <a:srgbClr val="434343"/>
                </a:solidFill>
                <a:latin typeface="Calibri"/>
                <a:ea typeface="Calibri"/>
                <a:cs typeface="Calibri"/>
                <a:sym typeface="Calibri"/>
              </a:rPr>
              <a:t>portfolio</a:t>
            </a:r>
            <a:r>
              <a:rPr lang="en-US" sz="1600">
                <a:solidFill>
                  <a:srgbClr val="434343"/>
                </a:solidFill>
                <a:latin typeface="Calibri"/>
                <a:ea typeface="Calibri"/>
                <a:cs typeface="Calibri"/>
                <a:sym typeface="Calibri"/>
              </a:rPr>
              <a:t> companies</a:t>
            </a:r>
            <a:endParaRPr sz="1600">
              <a:solidFill>
                <a:srgbClr val="434343"/>
              </a:solidFill>
              <a:latin typeface="Calibri"/>
              <a:ea typeface="Calibri"/>
              <a:cs typeface="Calibri"/>
              <a:sym typeface="Calibri"/>
            </a:endParaRPr>
          </a:p>
          <a:p>
            <a:pPr indent="0" lvl="0" marL="0" rtl="0" algn="l">
              <a:spcBef>
                <a:spcPts val="1000"/>
              </a:spcBef>
              <a:spcAft>
                <a:spcPts val="0"/>
              </a:spcAft>
              <a:buNone/>
            </a:pPr>
            <a:r>
              <a:rPr b="1" lang="en-US" sz="1600">
                <a:solidFill>
                  <a:srgbClr val="434343"/>
                </a:solidFill>
                <a:latin typeface="Calibri"/>
                <a:ea typeface="Calibri"/>
                <a:cs typeface="Calibri"/>
                <a:sym typeface="Calibri"/>
              </a:rPr>
              <a:t>Move toward - why?</a:t>
            </a:r>
            <a:endParaRPr b="1"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Faster growing</a:t>
            </a:r>
            <a:endParaRPr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More responsive and make faster decisions</a:t>
            </a:r>
            <a:endParaRPr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Willing to invest in people development</a:t>
            </a:r>
            <a:endParaRPr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Leaders want to learn and grow</a:t>
            </a:r>
            <a:endParaRPr sz="1600">
              <a:solidFill>
                <a:srgbClr val="434343"/>
              </a:solidFill>
              <a:latin typeface="Calibri"/>
              <a:ea typeface="Calibri"/>
              <a:cs typeface="Calibri"/>
              <a:sym typeface="Calibri"/>
            </a:endParaRPr>
          </a:p>
          <a:p>
            <a:pPr indent="-298450" lvl="0" marL="285750" rtl="0" algn="l">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Appreciate customized leadership development over checkbox training</a:t>
            </a:r>
            <a:endParaRPr sz="1600">
              <a:solidFill>
                <a:srgbClr val="434343"/>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54"/>
          <p:cNvPicPr preferRelativeResize="0"/>
          <p:nvPr/>
        </p:nvPicPr>
        <p:blipFill rotWithShape="1">
          <a:blip r:embed="rId3">
            <a:alphaModFix/>
          </a:blip>
          <a:srcRect b="0" l="0" r="0" t="0"/>
          <a:stretch/>
        </p:blipFill>
        <p:spPr>
          <a:xfrm>
            <a:off x="990600" y="1728600"/>
            <a:ext cx="4463525" cy="4077624"/>
          </a:xfrm>
          <a:prstGeom prst="rect">
            <a:avLst/>
          </a:prstGeom>
          <a:noFill/>
          <a:ln>
            <a:noFill/>
          </a:ln>
        </p:spPr>
      </p:pic>
      <p:sp>
        <p:nvSpPr>
          <p:cNvPr id="389" name="Google Shape;389;p54"/>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800">
                <a:solidFill>
                  <a:srgbClr val="F36E25"/>
                </a:solidFill>
              </a:rPr>
              <a:t>Ideal Client Profile</a:t>
            </a:r>
            <a:endParaRPr b="0" i="1" sz="3800">
              <a:solidFill>
                <a:srgbClr val="F36E25"/>
              </a:solidFill>
              <a:latin typeface="Calibri"/>
              <a:ea typeface="Calibri"/>
              <a:cs typeface="Calibri"/>
              <a:sym typeface="Calibri"/>
            </a:endParaRPr>
          </a:p>
        </p:txBody>
      </p:sp>
      <p:sp>
        <p:nvSpPr>
          <p:cNvPr id="390" name="Google Shape;390;p54"/>
          <p:cNvSpPr txBox="1"/>
          <p:nvPr/>
        </p:nvSpPr>
        <p:spPr>
          <a:xfrm>
            <a:off x="1380750" y="1829275"/>
            <a:ext cx="3008400" cy="6816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Industry:</a:t>
            </a:r>
            <a:endParaRPr b="1" sz="17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
        <p:nvSpPr>
          <p:cNvPr id="391" name="Google Shape;391;p54"/>
          <p:cNvSpPr txBox="1"/>
          <p:nvPr/>
        </p:nvSpPr>
        <p:spPr>
          <a:xfrm>
            <a:off x="1255725" y="2200500"/>
            <a:ext cx="4198500" cy="3724800"/>
          </a:xfrm>
          <a:prstGeom prst="rect">
            <a:avLst/>
          </a:prstGeom>
          <a:noFill/>
          <a:ln>
            <a:noFill/>
          </a:ln>
        </p:spPr>
        <p:txBody>
          <a:bodyPr anchorCtr="0" anchor="t" bIns="91425" lIns="91425" spcFirstLastPara="1" rIns="91425" wrap="square" tIns="91425">
            <a:spAutoFit/>
          </a:bodyPr>
          <a:lstStyle/>
          <a:p>
            <a:pPr indent="-304800" lvl="0" marL="285750" rtl="0" algn="l">
              <a:spcBef>
                <a:spcPts val="0"/>
              </a:spcBef>
              <a:spcAft>
                <a:spcPts val="0"/>
              </a:spcAft>
              <a:buClr>
                <a:srgbClr val="434343"/>
              </a:buClr>
              <a:buSzPts val="1700"/>
              <a:buFont typeface="Calibri"/>
              <a:buChar char="✔"/>
            </a:pPr>
            <a:r>
              <a:rPr lang="en-US" sz="1700">
                <a:solidFill>
                  <a:srgbClr val="434343"/>
                </a:solidFill>
                <a:latin typeface="Calibri"/>
                <a:ea typeface="Calibri"/>
                <a:cs typeface="Calibri"/>
                <a:sym typeface="Calibri"/>
              </a:rPr>
              <a:t>Private sector companies, specifically:</a:t>
            </a:r>
            <a:endParaRPr sz="1700">
              <a:solidFill>
                <a:srgbClr val="434343"/>
              </a:solidFill>
              <a:latin typeface="Calibri"/>
              <a:ea typeface="Calibri"/>
              <a:cs typeface="Calibri"/>
              <a:sym typeface="Calibri"/>
            </a:endParaRPr>
          </a:p>
          <a:p>
            <a:pPr indent="-336550" lvl="1" marL="685800" rtl="0" algn="l">
              <a:spcBef>
                <a:spcPts val="0"/>
              </a:spcBef>
              <a:spcAft>
                <a:spcPts val="0"/>
              </a:spcAft>
              <a:buClr>
                <a:srgbClr val="434343"/>
              </a:buClr>
              <a:buSzPts val="1700"/>
              <a:buFont typeface="Calibri"/>
              <a:buChar char="○"/>
            </a:pPr>
            <a:r>
              <a:rPr lang="en-US" sz="1700">
                <a:solidFill>
                  <a:srgbClr val="434343"/>
                </a:solidFill>
                <a:latin typeface="Calibri"/>
                <a:ea typeface="Calibri"/>
                <a:cs typeface="Calibri"/>
                <a:sym typeface="Calibri"/>
              </a:rPr>
              <a:t>Tech, SaaS firms and professional services firms (legal, engineering)</a:t>
            </a:r>
            <a:endParaRPr sz="1700">
              <a:solidFill>
                <a:srgbClr val="434343"/>
              </a:solidFill>
              <a:latin typeface="Calibri"/>
              <a:ea typeface="Calibri"/>
              <a:cs typeface="Calibri"/>
              <a:sym typeface="Calibri"/>
            </a:endParaRPr>
          </a:p>
          <a:p>
            <a:pPr indent="-336550" lvl="1" marL="685800" rtl="0" algn="l">
              <a:spcBef>
                <a:spcPts val="0"/>
              </a:spcBef>
              <a:spcAft>
                <a:spcPts val="0"/>
              </a:spcAft>
              <a:buClr>
                <a:srgbClr val="434343"/>
              </a:buClr>
              <a:buSzPts val="1700"/>
              <a:buFont typeface="Calibri"/>
              <a:buChar char="○"/>
            </a:pPr>
            <a:r>
              <a:rPr lang="en-US" sz="1700">
                <a:solidFill>
                  <a:srgbClr val="434343"/>
                </a:solidFill>
                <a:latin typeface="Calibri"/>
                <a:ea typeface="Calibri"/>
                <a:cs typeface="Calibri"/>
                <a:sym typeface="Calibri"/>
              </a:rPr>
              <a:t>Private equity portfolio companies</a:t>
            </a:r>
            <a:endParaRPr sz="1700">
              <a:solidFill>
                <a:srgbClr val="434343"/>
              </a:solidFill>
              <a:latin typeface="Calibri"/>
              <a:ea typeface="Calibri"/>
              <a:cs typeface="Calibri"/>
              <a:sym typeface="Calibri"/>
            </a:endParaRPr>
          </a:p>
          <a:p>
            <a:pPr indent="-336550" lvl="1" marL="685800" rtl="0" algn="l">
              <a:spcBef>
                <a:spcPts val="0"/>
              </a:spcBef>
              <a:spcAft>
                <a:spcPts val="0"/>
              </a:spcAft>
              <a:buClr>
                <a:srgbClr val="434343"/>
              </a:buClr>
              <a:buSzPts val="1700"/>
              <a:buFont typeface="Calibri"/>
              <a:buChar char="○"/>
            </a:pPr>
            <a:r>
              <a:rPr lang="en-US" sz="1700">
                <a:solidFill>
                  <a:srgbClr val="434343"/>
                </a:solidFill>
                <a:latin typeface="Calibri"/>
                <a:ea typeface="Calibri"/>
                <a:cs typeface="Calibri"/>
                <a:sym typeface="Calibri"/>
              </a:rPr>
              <a:t>Scaleups (post-Series A/B with 25 – 2K employees - sweet spot 25 to 500)</a:t>
            </a:r>
            <a:endParaRPr sz="1700">
              <a:solidFill>
                <a:srgbClr val="434343"/>
              </a:solidFill>
              <a:latin typeface="Calibri"/>
              <a:ea typeface="Calibri"/>
              <a:cs typeface="Calibri"/>
              <a:sym typeface="Calibri"/>
            </a:endParaRPr>
          </a:p>
          <a:p>
            <a:pPr indent="0" lvl="0" marL="0" rtl="0" algn="l">
              <a:spcBef>
                <a:spcPts val="600"/>
              </a:spcBef>
              <a:spcAft>
                <a:spcPts val="0"/>
              </a:spcAft>
              <a:buNone/>
            </a:pPr>
            <a:r>
              <a:rPr b="1" lang="en-US" sz="1700">
                <a:solidFill>
                  <a:srgbClr val="434343"/>
                </a:solidFill>
                <a:latin typeface="Calibri"/>
                <a:ea typeface="Calibri"/>
                <a:cs typeface="Calibri"/>
                <a:sym typeface="Calibri"/>
              </a:rPr>
              <a:t>Attributes:</a:t>
            </a:r>
            <a:endParaRPr b="1" sz="1700">
              <a:solidFill>
                <a:srgbClr val="434343"/>
              </a:solidFill>
              <a:latin typeface="Calibri"/>
              <a:ea typeface="Calibri"/>
              <a:cs typeface="Calibri"/>
              <a:sym typeface="Calibri"/>
            </a:endParaRPr>
          </a:p>
          <a:p>
            <a:pPr indent="-336550" lvl="0" marL="457200" rtl="0" algn="l">
              <a:spcBef>
                <a:spcPts val="0"/>
              </a:spcBef>
              <a:spcAft>
                <a:spcPts val="0"/>
              </a:spcAft>
              <a:buClr>
                <a:srgbClr val="434343"/>
              </a:buClr>
              <a:buSzPts val="1700"/>
              <a:buFont typeface="Calibri"/>
              <a:buChar char="✔"/>
            </a:pPr>
            <a:r>
              <a:rPr lang="en-US" sz="1700">
                <a:solidFill>
                  <a:srgbClr val="434343"/>
                </a:solidFill>
                <a:latin typeface="Calibri"/>
                <a:ea typeface="Calibri"/>
                <a:cs typeface="Calibri"/>
                <a:sym typeface="Calibri"/>
              </a:rPr>
              <a:t>Companies in high-growth mode:</a:t>
            </a:r>
            <a:endParaRPr sz="1700">
              <a:solidFill>
                <a:srgbClr val="434343"/>
              </a:solidFill>
              <a:latin typeface="Calibri"/>
              <a:ea typeface="Calibri"/>
              <a:cs typeface="Calibri"/>
              <a:sym typeface="Calibri"/>
            </a:endParaRPr>
          </a:p>
          <a:p>
            <a:pPr indent="-336550" lvl="1" marL="914400" rtl="0" algn="l">
              <a:spcBef>
                <a:spcPts val="0"/>
              </a:spcBef>
              <a:spcAft>
                <a:spcPts val="0"/>
              </a:spcAft>
              <a:buClr>
                <a:srgbClr val="434343"/>
              </a:buClr>
              <a:buSzPts val="1700"/>
              <a:buFont typeface="Calibri"/>
              <a:buChar char="○"/>
            </a:pPr>
            <a:r>
              <a:rPr lang="en-US" sz="1700">
                <a:solidFill>
                  <a:srgbClr val="434343"/>
                </a:solidFill>
                <a:latin typeface="Calibri"/>
                <a:ea typeface="Calibri"/>
                <a:cs typeface="Calibri"/>
                <a:sym typeface="Calibri"/>
              </a:rPr>
              <a:t>Adding people quickly</a:t>
            </a:r>
            <a:endParaRPr sz="1700">
              <a:solidFill>
                <a:srgbClr val="434343"/>
              </a:solidFill>
              <a:latin typeface="Calibri"/>
              <a:ea typeface="Calibri"/>
              <a:cs typeface="Calibri"/>
              <a:sym typeface="Calibri"/>
            </a:endParaRPr>
          </a:p>
          <a:p>
            <a:pPr indent="-336550" lvl="1" marL="914400" rtl="0" algn="l">
              <a:spcBef>
                <a:spcPts val="0"/>
              </a:spcBef>
              <a:spcAft>
                <a:spcPts val="0"/>
              </a:spcAft>
              <a:buClr>
                <a:srgbClr val="434343"/>
              </a:buClr>
              <a:buSzPts val="1700"/>
              <a:buFont typeface="Calibri"/>
              <a:buChar char="○"/>
            </a:pPr>
            <a:r>
              <a:rPr lang="en-US" sz="1700">
                <a:solidFill>
                  <a:srgbClr val="434343"/>
                </a:solidFill>
                <a:latin typeface="Calibri"/>
                <a:ea typeface="Calibri"/>
                <a:cs typeface="Calibri"/>
                <a:sym typeface="Calibri"/>
              </a:rPr>
              <a:t>Experiencing leadership gaps</a:t>
            </a:r>
            <a:endParaRPr sz="1700">
              <a:solidFill>
                <a:srgbClr val="434343"/>
              </a:solidFill>
              <a:latin typeface="Calibri"/>
              <a:ea typeface="Calibri"/>
              <a:cs typeface="Calibri"/>
              <a:sym typeface="Calibri"/>
            </a:endParaRPr>
          </a:p>
          <a:p>
            <a:pPr indent="-336550" lvl="1" marL="914400" rtl="0" algn="l">
              <a:spcBef>
                <a:spcPts val="0"/>
              </a:spcBef>
              <a:spcAft>
                <a:spcPts val="0"/>
              </a:spcAft>
              <a:buClr>
                <a:srgbClr val="434343"/>
              </a:buClr>
              <a:buSzPts val="1700"/>
              <a:buFont typeface="Calibri"/>
              <a:buChar char="○"/>
            </a:pPr>
            <a:r>
              <a:rPr lang="en-US" sz="1700">
                <a:solidFill>
                  <a:srgbClr val="434343"/>
                </a:solidFill>
                <a:latin typeface="Calibri"/>
                <a:ea typeface="Calibri"/>
                <a:cs typeface="Calibri"/>
                <a:sym typeface="Calibri"/>
              </a:rPr>
              <a:t>Dealing with culture, retention, and performance challenges</a:t>
            </a:r>
            <a:endParaRPr sz="1700">
              <a:solidFill>
                <a:srgbClr val="434343"/>
              </a:solidFill>
              <a:latin typeface="Calibri"/>
              <a:ea typeface="Calibri"/>
              <a:cs typeface="Calibri"/>
              <a:sym typeface="Calibri"/>
            </a:endParaRPr>
          </a:p>
          <a:p>
            <a:pPr indent="0" lvl="0" marL="0" rtl="0" algn="l">
              <a:spcBef>
                <a:spcPts val="600"/>
              </a:spcBef>
              <a:spcAft>
                <a:spcPts val="0"/>
              </a:spcAft>
              <a:buNone/>
            </a:pPr>
            <a:r>
              <a:t/>
            </a:r>
            <a:endParaRPr sz="1600">
              <a:solidFill>
                <a:srgbClr val="434343"/>
              </a:solidFill>
              <a:latin typeface="Calibri"/>
              <a:ea typeface="Calibri"/>
              <a:cs typeface="Calibri"/>
              <a:sym typeface="Calibri"/>
            </a:endParaRPr>
          </a:p>
        </p:txBody>
      </p:sp>
      <p:pic>
        <p:nvPicPr>
          <p:cNvPr id="392" name="Google Shape;392;p54"/>
          <p:cNvPicPr preferRelativeResize="0"/>
          <p:nvPr/>
        </p:nvPicPr>
        <p:blipFill rotWithShape="1">
          <a:blip r:embed="rId4">
            <a:alphaModFix/>
          </a:blip>
          <a:srcRect b="0" l="0" r="0" t="0"/>
          <a:stretch/>
        </p:blipFill>
        <p:spPr>
          <a:xfrm>
            <a:off x="6158625" y="1728600"/>
            <a:ext cx="4932124" cy="4077624"/>
          </a:xfrm>
          <a:prstGeom prst="rect">
            <a:avLst/>
          </a:prstGeom>
          <a:noFill/>
          <a:ln>
            <a:noFill/>
          </a:ln>
        </p:spPr>
      </p:pic>
      <p:sp>
        <p:nvSpPr>
          <p:cNvPr id="393" name="Google Shape;393;p54"/>
          <p:cNvSpPr txBox="1"/>
          <p:nvPr/>
        </p:nvSpPr>
        <p:spPr>
          <a:xfrm>
            <a:off x="6529250" y="1991650"/>
            <a:ext cx="4293300" cy="377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900">
                <a:solidFill>
                  <a:srgbClr val="434343"/>
                </a:solidFill>
                <a:latin typeface="Calibri"/>
                <a:ea typeface="Calibri"/>
                <a:cs typeface="Calibri"/>
                <a:sym typeface="Calibri"/>
              </a:rPr>
              <a:t>Personas:</a:t>
            </a:r>
            <a:endParaRPr b="1" sz="1900">
              <a:solidFill>
                <a:srgbClr val="434343"/>
              </a:solidFill>
              <a:latin typeface="Calibri"/>
              <a:ea typeface="Calibri"/>
              <a:cs typeface="Calibri"/>
              <a:sym typeface="Calibri"/>
            </a:endParaRPr>
          </a:p>
          <a:p>
            <a:pPr indent="-342900" lvl="0" marL="457200" rtl="0" algn="l">
              <a:spcBef>
                <a:spcPts val="0"/>
              </a:spcBef>
              <a:spcAft>
                <a:spcPts val="0"/>
              </a:spcAft>
              <a:buClr>
                <a:srgbClr val="434343"/>
              </a:buClr>
              <a:buSzPts val="1800"/>
              <a:buFont typeface="Calibri"/>
              <a:buChar char="✔"/>
            </a:pPr>
            <a:r>
              <a:rPr lang="en-US" sz="1800">
                <a:solidFill>
                  <a:srgbClr val="434343"/>
                </a:solidFill>
                <a:latin typeface="Calibri"/>
                <a:ea typeface="Calibri"/>
                <a:cs typeface="Calibri"/>
                <a:sym typeface="Calibri"/>
              </a:rPr>
              <a:t>Senior decision-makers such as:</a:t>
            </a:r>
            <a:endParaRPr sz="1800">
              <a:solidFill>
                <a:srgbClr val="434343"/>
              </a:solidFill>
              <a:latin typeface="Calibri"/>
              <a:ea typeface="Calibri"/>
              <a:cs typeface="Calibri"/>
              <a:sym typeface="Calibri"/>
            </a:endParaRPr>
          </a:p>
          <a:p>
            <a:pPr indent="-342900" lvl="1" marL="914400" rtl="0" algn="l">
              <a:spcBef>
                <a:spcPts val="0"/>
              </a:spcBef>
              <a:spcAft>
                <a:spcPts val="0"/>
              </a:spcAft>
              <a:buClr>
                <a:srgbClr val="434343"/>
              </a:buClr>
              <a:buSzPts val="1800"/>
              <a:buFont typeface="Calibri"/>
              <a:buChar char="○"/>
            </a:pPr>
            <a:r>
              <a:rPr lang="en-US" sz="1800">
                <a:solidFill>
                  <a:srgbClr val="434343"/>
                </a:solidFill>
                <a:latin typeface="Calibri"/>
                <a:ea typeface="Calibri"/>
                <a:cs typeface="Calibri"/>
                <a:sym typeface="Calibri"/>
              </a:rPr>
              <a:t>CEOs and Founders</a:t>
            </a:r>
            <a:endParaRPr sz="1800">
              <a:solidFill>
                <a:srgbClr val="434343"/>
              </a:solidFill>
              <a:latin typeface="Calibri"/>
              <a:ea typeface="Calibri"/>
              <a:cs typeface="Calibri"/>
              <a:sym typeface="Calibri"/>
            </a:endParaRPr>
          </a:p>
          <a:p>
            <a:pPr indent="-342900" lvl="1" marL="914400" rtl="0" algn="l">
              <a:spcBef>
                <a:spcPts val="0"/>
              </a:spcBef>
              <a:spcAft>
                <a:spcPts val="0"/>
              </a:spcAft>
              <a:buClr>
                <a:srgbClr val="434343"/>
              </a:buClr>
              <a:buSzPts val="1800"/>
              <a:buFont typeface="Calibri"/>
              <a:buChar char="○"/>
            </a:pPr>
            <a:r>
              <a:rPr lang="en-US" sz="1800">
                <a:solidFill>
                  <a:srgbClr val="434343"/>
                </a:solidFill>
                <a:latin typeface="Calibri"/>
                <a:ea typeface="Calibri"/>
                <a:cs typeface="Calibri"/>
                <a:sym typeface="Calibri"/>
              </a:rPr>
              <a:t>Chief People Officers / HR Directors</a:t>
            </a:r>
            <a:endParaRPr sz="1800">
              <a:solidFill>
                <a:srgbClr val="434343"/>
              </a:solidFill>
              <a:latin typeface="Calibri"/>
              <a:ea typeface="Calibri"/>
              <a:cs typeface="Calibri"/>
              <a:sym typeface="Calibri"/>
            </a:endParaRPr>
          </a:p>
          <a:p>
            <a:pPr indent="-342900" lvl="1" marL="914400" rtl="0" algn="l">
              <a:spcBef>
                <a:spcPts val="0"/>
              </a:spcBef>
              <a:spcAft>
                <a:spcPts val="0"/>
              </a:spcAft>
              <a:buClr>
                <a:srgbClr val="434343"/>
              </a:buClr>
              <a:buSzPts val="1800"/>
              <a:buFont typeface="Calibri"/>
              <a:buChar char="○"/>
            </a:pPr>
            <a:r>
              <a:rPr lang="en-US" sz="1800">
                <a:solidFill>
                  <a:srgbClr val="434343"/>
                </a:solidFill>
                <a:latin typeface="Calibri"/>
                <a:ea typeface="Calibri"/>
                <a:cs typeface="Calibri"/>
                <a:sym typeface="Calibri"/>
              </a:rPr>
              <a:t>COOs or VP-level leaders</a:t>
            </a:r>
            <a:endParaRPr sz="1800">
              <a:solidFill>
                <a:srgbClr val="434343"/>
              </a:solidFill>
              <a:latin typeface="Calibri"/>
              <a:ea typeface="Calibri"/>
              <a:cs typeface="Calibri"/>
              <a:sym typeface="Calibri"/>
            </a:endParaRPr>
          </a:p>
          <a:p>
            <a:pPr indent="0" lvl="0" marL="0" rtl="0" algn="l">
              <a:spcBef>
                <a:spcPts val="0"/>
              </a:spcBef>
              <a:spcAft>
                <a:spcPts val="0"/>
              </a:spcAft>
              <a:buNone/>
            </a:pPr>
            <a:r>
              <a:rPr lang="en-US" sz="1800">
                <a:solidFill>
                  <a:srgbClr val="434343"/>
                </a:solidFill>
                <a:latin typeface="Calibri"/>
                <a:ea typeface="Calibri"/>
                <a:cs typeface="Calibri"/>
                <a:sym typeface="Calibri"/>
              </a:rPr>
              <a:t>Attributes:</a:t>
            </a:r>
            <a:endParaRPr sz="1800">
              <a:solidFill>
                <a:srgbClr val="434343"/>
              </a:solidFill>
              <a:latin typeface="Calibri"/>
              <a:ea typeface="Calibri"/>
              <a:cs typeface="Calibri"/>
              <a:sym typeface="Calibri"/>
            </a:endParaRPr>
          </a:p>
          <a:p>
            <a:pPr indent="-342900" lvl="0" marL="457200" rtl="0" algn="l">
              <a:spcBef>
                <a:spcPts val="0"/>
              </a:spcBef>
              <a:spcAft>
                <a:spcPts val="0"/>
              </a:spcAft>
              <a:buClr>
                <a:srgbClr val="434343"/>
              </a:buClr>
              <a:buSzPts val="1800"/>
              <a:buFont typeface="Calibri"/>
              <a:buChar char="✔"/>
            </a:pPr>
            <a:r>
              <a:rPr lang="en-US" sz="1800">
                <a:solidFill>
                  <a:srgbClr val="434343"/>
                </a:solidFill>
                <a:latin typeface="Calibri"/>
                <a:ea typeface="Calibri"/>
                <a:cs typeface="Calibri"/>
                <a:sym typeface="Calibri"/>
              </a:rPr>
              <a:t>Recognize leadership as a barrier to growth</a:t>
            </a:r>
            <a:endParaRPr sz="1800">
              <a:solidFill>
                <a:srgbClr val="434343"/>
              </a:solidFill>
              <a:latin typeface="Calibri"/>
              <a:ea typeface="Calibri"/>
              <a:cs typeface="Calibri"/>
              <a:sym typeface="Calibri"/>
            </a:endParaRPr>
          </a:p>
          <a:p>
            <a:pPr indent="-342900" lvl="0" marL="457200" rtl="0" algn="l">
              <a:spcBef>
                <a:spcPts val="0"/>
              </a:spcBef>
              <a:spcAft>
                <a:spcPts val="0"/>
              </a:spcAft>
              <a:buClr>
                <a:srgbClr val="434343"/>
              </a:buClr>
              <a:buSzPts val="1800"/>
              <a:buFont typeface="Calibri"/>
              <a:buChar char="✔"/>
            </a:pPr>
            <a:r>
              <a:rPr lang="en-US" sz="1800">
                <a:solidFill>
                  <a:srgbClr val="434343"/>
                </a:solidFill>
                <a:latin typeface="Calibri"/>
                <a:ea typeface="Calibri"/>
                <a:cs typeface="Calibri"/>
                <a:sym typeface="Calibri"/>
              </a:rPr>
              <a:t>Want a culture of accountability and clear communication</a:t>
            </a:r>
            <a:endParaRPr sz="1800">
              <a:solidFill>
                <a:srgbClr val="434343"/>
              </a:solidFill>
              <a:latin typeface="Calibri"/>
              <a:ea typeface="Calibri"/>
              <a:cs typeface="Calibri"/>
              <a:sym typeface="Calibri"/>
            </a:endParaRPr>
          </a:p>
          <a:p>
            <a:pPr indent="-342900" lvl="0" marL="457200" rtl="0" algn="l">
              <a:spcBef>
                <a:spcPts val="0"/>
              </a:spcBef>
              <a:spcAft>
                <a:spcPts val="0"/>
              </a:spcAft>
              <a:buClr>
                <a:srgbClr val="434343"/>
              </a:buClr>
              <a:buSzPts val="1800"/>
              <a:buFont typeface="Calibri"/>
              <a:buChar char="✔"/>
            </a:pPr>
            <a:r>
              <a:rPr lang="en-US" sz="1800">
                <a:solidFill>
                  <a:srgbClr val="434343"/>
                </a:solidFill>
                <a:latin typeface="Calibri"/>
                <a:ea typeface="Calibri"/>
                <a:cs typeface="Calibri"/>
                <a:sym typeface="Calibri"/>
              </a:rPr>
              <a:t>Open to strategic outside help </a:t>
            </a:r>
            <a:endParaRPr sz="1800">
              <a:solidFill>
                <a:srgbClr val="434343"/>
              </a:solidFill>
              <a:latin typeface="Calibri"/>
              <a:ea typeface="Calibri"/>
              <a:cs typeface="Calibri"/>
              <a:sym typeface="Calibri"/>
            </a:endParaRPr>
          </a:p>
          <a:p>
            <a:pPr indent="0" lvl="0" marL="0" rtl="0" algn="l">
              <a:spcBef>
                <a:spcPts val="0"/>
              </a:spcBef>
              <a:spcAft>
                <a:spcPts val="0"/>
              </a:spcAft>
              <a:buNone/>
            </a:pPr>
            <a:r>
              <a:t/>
            </a:r>
            <a:endParaRPr sz="1600">
              <a:solidFill>
                <a:srgbClr val="434343"/>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5"/>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solidFill>
                  <a:schemeClr val="accent5"/>
                </a:solidFill>
              </a:rPr>
              <a:t>Marketing Strategy </a:t>
            </a:r>
            <a:endParaRPr>
              <a:solidFill>
                <a:schemeClr val="accent5"/>
              </a:solidFill>
            </a:endParaRPr>
          </a:p>
          <a:p>
            <a:pPr indent="0" lvl="0" marL="0" rtl="0" algn="ctr">
              <a:lnSpc>
                <a:spcPct val="90000"/>
              </a:lnSpc>
              <a:spcBef>
                <a:spcPts val="0"/>
              </a:spcBef>
              <a:spcAft>
                <a:spcPts val="0"/>
              </a:spcAft>
              <a:buClr>
                <a:schemeClr val="accent2"/>
              </a:buClr>
              <a:buSzPts val="4400"/>
              <a:buFont typeface="Calibri"/>
              <a:buNone/>
            </a:pPr>
            <a:r>
              <a:rPr i="1" lang="en-US"/>
              <a:t>Foundation - Services</a:t>
            </a:r>
            <a:endParaRPr i="1"/>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6"/>
          <p:cNvSpPr txBox="1"/>
          <p:nvPr>
            <p:ph type="title"/>
          </p:nvPr>
        </p:nvSpPr>
        <p:spPr>
          <a:xfrm>
            <a:off x="725875" y="708025"/>
            <a:ext cx="11060400" cy="75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Services</a:t>
            </a:r>
            <a:r>
              <a:rPr b="0" i="1" lang="en-US" sz="3800">
                <a:solidFill>
                  <a:srgbClr val="073763"/>
                </a:solidFill>
                <a:latin typeface="Calibri"/>
                <a:ea typeface="Calibri"/>
                <a:cs typeface="Calibri"/>
                <a:sym typeface="Calibri"/>
              </a:rPr>
              <a:t> </a:t>
            </a:r>
            <a:r>
              <a:rPr b="0" i="1" lang="en-US" sz="3800">
                <a:solidFill>
                  <a:schemeClr val="accent4"/>
                </a:solidFill>
                <a:latin typeface="Calibri"/>
                <a:ea typeface="Calibri"/>
                <a:cs typeface="Calibri"/>
                <a:sym typeface="Calibri"/>
              </a:rPr>
              <a:t>Review</a:t>
            </a:r>
            <a:endParaRPr b="0" i="1" sz="3800">
              <a:solidFill>
                <a:schemeClr val="accent4"/>
              </a:solidFill>
              <a:latin typeface="Calibri"/>
              <a:ea typeface="Calibri"/>
              <a:cs typeface="Calibri"/>
              <a:sym typeface="Calibri"/>
            </a:endParaRPr>
          </a:p>
        </p:txBody>
      </p:sp>
      <p:sp>
        <p:nvSpPr>
          <p:cNvPr id="404" name="Google Shape;404;p56"/>
          <p:cNvSpPr txBox="1"/>
          <p:nvPr>
            <p:ph idx="1" type="body"/>
          </p:nvPr>
        </p:nvSpPr>
        <p:spPr>
          <a:xfrm>
            <a:off x="802100" y="1654850"/>
            <a:ext cx="68973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rPr b="1" lang="en-US" sz="1750"/>
              <a:t>Solutions and services on website</a:t>
            </a:r>
            <a:r>
              <a:rPr b="1" lang="en-US" sz="1750"/>
              <a:t>:</a:t>
            </a:r>
            <a:endParaRPr b="1" sz="1750"/>
          </a:p>
          <a:p>
            <a:pPr indent="-342900" lvl="1" marL="514350" marR="0" rtl="0" algn="l">
              <a:lnSpc>
                <a:spcPct val="100000"/>
              </a:lnSpc>
              <a:spcBef>
                <a:spcPts val="1000"/>
              </a:spcBef>
              <a:spcAft>
                <a:spcPts val="0"/>
              </a:spcAft>
              <a:buClr>
                <a:schemeClr val="accent2"/>
              </a:buClr>
              <a:buSzPts val="1650"/>
              <a:buFont typeface="Noto Sans Symbols"/>
              <a:buChar char="✔"/>
            </a:pPr>
            <a:r>
              <a:rPr lang="en-US" sz="1650"/>
              <a:t>Many different services offered:</a:t>
            </a:r>
            <a:endParaRPr sz="1650"/>
          </a:p>
          <a:p>
            <a:pPr indent="-219075" lvl="2" marL="1143000" marR="0" rtl="0" algn="l">
              <a:lnSpc>
                <a:spcPct val="100000"/>
              </a:lnSpc>
              <a:spcBef>
                <a:spcPts val="1000"/>
              </a:spcBef>
              <a:spcAft>
                <a:spcPts val="0"/>
              </a:spcAft>
              <a:buSzPts val="1650"/>
              <a:buChar char="•"/>
            </a:pPr>
            <a:r>
              <a:rPr lang="en-US" sz="1650"/>
              <a:t>Multiple names for similar services</a:t>
            </a:r>
            <a:endParaRPr sz="1650"/>
          </a:p>
          <a:p>
            <a:pPr indent="-219075" lvl="2" marL="1143000" marR="0" rtl="0" algn="l">
              <a:lnSpc>
                <a:spcPct val="100000"/>
              </a:lnSpc>
              <a:spcBef>
                <a:spcPts val="1000"/>
              </a:spcBef>
              <a:spcAft>
                <a:spcPts val="0"/>
              </a:spcAft>
              <a:buSzPts val="1650"/>
              <a:buChar char="•"/>
            </a:pPr>
            <a:r>
              <a:rPr lang="en-US" sz="1650"/>
              <a:t>Different services featured in different solutions areas on the website</a:t>
            </a:r>
            <a:endParaRPr sz="1650"/>
          </a:p>
          <a:p>
            <a:pPr indent="-219075" lvl="2" marL="1143000" marR="0" rtl="0" algn="l">
              <a:lnSpc>
                <a:spcPct val="100000"/>
              </a:lnSpc>
              <a:spcBef>
                <a:spcPts val="1000"/>
              </a:spcBef>
              <a:spcAft>
                <a:spcPts val="0"/>
              </a:spcAft>
              <a:buSzPts val="1650"/>
              <a:buChar char="•"/>
            </a:pPr>
            <a:r>
              <a:rPr lang="en-US" sz="1650"/>
              <a:t>Categories and services are inconsistent (eg - services under Organizational Development differ from one location to another)</a:t>
            </a:r>
            <a:endParaRPr sz="1650"/>
          </a:p>
          <a:p>
            <a:pPr indent="-219075" lvl="2" marL="1143000" marR="0" rtl="0" algn="l">
              <a:lnSpc>
                <a:spcPct val="100000"/>
              </a:lnSpc>
              <a:spcBef>
                <a:spcPts val="1000"/>
              </a:spcBef>
              <a:spcAft>
                <a:spcPts val="0"/>
              </a:spcAft>
              <a:buSzPts val="1650"/>
              <a:buChar char="•"/>
            </a:pPr>
            <a:r>
              <a:rPr lang="en-US" sz="1650"/>
              <a:t>Some products/services not on navigation</a:t>
            </a:r>
            <a:endParaRPr sz="1650"/>
          </a:p>
          <a:p>
            <a:pPr indent="-219075" lvl="1" marL="514350" rtl="0" algn="l">
              <a:lnSpc>
                <a:spcPct val="100000"/>
              </a:lnSpc>
              <a:spcBef>
                <a:spcPts val="1000"/>
              </a:spcBef>
              <a:spcAft>
                <a:spcPts val="0"/>
              </a:spcAft>
              <a:buClr>
                <a:schemeClr val="accent2"/>
              </a:buClr>
              <a:buSzPts val="1650"/>
              <a:buFont typeface="Noto Sans Symbols"/>
              <a:buChar char="✔"/>
            </a:pPr>
            <a:r>
              <a:rPr lang="en-US" sz="1650"/>
              <a:t>No clear guidance as to what service is right for whom:</a:t>
            </a:r>
            <a:endParaRPr sz="1650"/>
          </a:p>
          <a:p>
            <a:pPr indent="-219075" lvl="2" marL="1143000" marR="0" rtl="0" algn="l">
              <a:lnSpc>
                <a:spcPct val="100000"/>
              </a:lnSpc>
              <a:spcBef>
                <a:spcPts val="1000"/>
              </a:spcBef>
              <a:spcAft>
                <a:spcPts val="0"/>
              </a:spcAft>
              <a:buClr>
                <a:schemeClr val="accent2"/>
              </a:buClr>
              <a:buSzPts val="1650"/>
              <a:buFont typeface="Noto Sans Symbols"/>
              <a:buChar char="•"/>
            </a:pPr>
            <a:r>
              <a:rPr lang="en-US" sz="1650"/>
              <a:t>Up to the prospect to figure out if/how they work together/which service they need now/first</a:t>
            </a:r>
            <a:endParaRPr sz="1650"/>
          </a:p>
          <a:p>
            <a:pPr indent="0" lvl="0" marL="0" marR="0" rtl="0" algn="l">
              <a:lnSpc>
                <a:spcPct val="100000"/>
              </a:lnSpc>
              <a:spcBef>
                <a:spcPts val="1000"/>
              </a:spcBef>
              <a:spcAft>
                <a:spcPts val="0"/>
              </a:spcAft>
              <a:buNone/>
            </a:pPr>
            <a:r>
              <a:t/>
            </a:r>
            <a:endParaRPr sz="1650"/>
          </a:p>
          <a:p>
            <a:pPr indent="0" lvl="0" marL="0" marR="0" rtl="0" algn="l">
              <a:lnSpc>
                <a:spcPct val="100000"/>
              </a:lnSpc>
              <a:spcBef>
                <a:spcPts val="1000"/>
              </a:spcBef>
              <a:spcAft>
                <a:spcPts val="0"/>
              </a:spcAft>
              <a:buNone/>
            </a:pPr>
            <a:r>
              <a:t/>
            </a:r>
            <a:endParaRPr sz="1650"/>
          </a:p>
          <a:p>
            <a:pPr indent="0" lvl="0" marL="0" marR="0" rtl="0" algn="l">
              <a:lnSpc>
                <a:spcPct val="100000"/>
              </a:lnSpc>
              <a:spcBef>
                <a:spcPts val="1000"/>
              </a:spcBef>
              <a:spcAft>
                <a:spcPts val="0"/>
              </a:spcAft>
              <a:buNone/>
            </a:pPr>
            <a:r>
              <a:t/>
            </a:r>
            <a:endParaRPr sz="1850"/>
          </a:p>
          <a:p>
            <a:pPr indent="0" lvl="0" marL="685800" marR="0" rtl="0" algn="l">
              <a:lnSpc>
                <a:spcPct val="100000"/>
              </a:lnSpc>
              <a:spcBef>
                <a:spcPts val="1000"/>
              </a:spcBef>
              <a:spcAft>
                <a:spcPts val="0"/>
              </a:spcAft>
              <a:buNone/>
            </a:pPr>
            <a:r>
              <a:t/>
            </a:r>
            <a:endParaRPr sz="1850"/>
          </a:p>
          <a:p>
            <a:pPr indent="0" lvl="0" marL="0" marR="0" rtl="0" algn="l">
              <a:lnSpc>
                <a:spcPct val="100000"/>
              </a:lnSpc>
              <a:spcBef>
                <a:spcPts val="1000"/>
              </a:spcBef>
              <a:spcAft>
                <a:spcPts val="0"/>
              </a:spcAft>
              <a:buNone/>
            </a:pPr>
            <a:r>
              <a:t/>
            </a:r>
            <a:endParaRPr sz="1850"/>
          </a:p>
        </p:txBody>
      </p:sp>
      <p:pic>
        <p:nvPicPr>
          <p:cNvPr id="405" name="Google Shape;405;p56"/>
          <p:cNvPicPr preferRelativeResize="0"/>
          <p:nvPr/>
        </p:nvPicPr>
        <p:blipFill rotWithShape="1">
          <a:blip r:embed="rId3">
            <a:alphaModFix/>
          </a:blip>
          <a:srcRect b="0" l="0" r="0" t="0"/>
          <a:stretch/>
        </p:blipFill>
        <p:spPr>
          <a:xfrm>
            <a:off x="7797825" y="1883837"/>
            <a:ext cx="3026325" cy="3556300"/>
          </a:xfrm>
          <a:prstGeom prst="rect">
            <a:avLst/>
          </a:prstGeom>
          <a:noFill/>
          <a:ln>
            <a:noFill/>
          </a:ln>
        </p:spPr>
      </p:pic>
      <p:sp>
        <p:nvSpPr>
          <p:cNvPr id="406" name="Google Shape;406;p56"/>
          <p:cNvSpPr txBox="1"/>
          <p:nvPr/>
        </p:nvSpPr>
        <p:spPr>
          <a:xfrm>
            <a:off x="8140988" y="2109925"/>
            <a:ext cx="2340000" cy="25947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Challenges:</a:t>
            </a:r>
            <a:endParaRPr sz="1600">
              <a:solidFill>
                <a:srgbClr val="434343"/>
              </a:solidFill>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Too many choices makes it hard to decide and take action</a:t>
            </a:r>
            <a:endParaRPr sz="1600">
              <a:solidFill>
                <a:srgbClr val="434343"/>
              </a:solidFill>
              <a:latin typeface="Calibri"/>
              <a:ea typeface="Calibri"/>
              <a:cs typeface="Calibri"/>
              <a:sym typeface="Calibri"/>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Inconsistency leads to confusion</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7"/>
          <p:cNvSpPr txBox="1"/>
          <p:nvPr>
            <p:ph type="title"/>
          </p:nvPr>
        </p:nvSpPr>
        <p:spPr>
          <a:xfrm>
            <a:off x="768750" y="692900"/>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Services </a:t>
            </a:r>
            <a:r>
              <a:rPr b="0" i="1" lang="en-US" sz="3800">
                <a:solidFill>
                  <a:schemeClr val="accent4"/>
                </a:solidFill>
                <a:latin typeface="Calibri"/>
                <a:ea typeface="Calibri"/>
                <a:cs typeface="Calibri"/>
                <a:sym typeface="Calibri"/>
              </a:rPr>
              <a:t>Review - Website</a:t>
            </a:r>
            <a:endParaRPr b="0" i="1" sz="3800">
              <a:solidFill>
                <a:schemeClr val="accent4"/>
              </a:solidFill>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sz="3800"/>
          </a:p>
        </p:txBody>
      </p:sp>
      <p:graphicFrame>
        <p:nvGraphicFramePr>
          <p:cNvPr id="412" name="Google Shape;412;p57"/>
          <p:cNvGraphicFramePr/>
          <p:nvPr/>
        </p:nvGraphicFramePr>
        <p:xfrm>
          <a:off x="824775" y="1467946"/>
          <a:ext cx="3000000" cy="3000000"/>
        </p:xfrm>
        <a:graphic>
          <a:graphicData uri="http://schemas.openxmlformats.org/drawingml/2006/table">
            <a:tbl>
              <a:tblPr>
                <a:noFill/>
                <a:tableStyleId>{5BBB0059-F52F-4E20-A1E7-41198E15CC08}</a:tableStyleId>
              </a:tblPr>
              <a:tblGrid>
                <a:gridCol w="2212075"/>
                <a:gridCol w="2212075"/>
                <a:gridCol w="2212075"/>
                <a:gridCol w="2212075"/>
                <a:gridCol w="2212075"/>
              </a:tblGrid>
              <a:tr h="381000">
                <a:tc>
                  <a:txBody>
                    <a:bodyPr/>
                    <a:lstStyle/>
                    <a:p>
                      <a:pPr indent="0" lvl="0" marL="0" rtl="0" algn="l">
                        <a:spcBef>
                          <a:spcPts val="0"/>
                        </a:spcBef>
                        <a:spcAft>
                          <a:spcPts val="0"/>
                        </a:spcAft>
                        <a:buNone/>
                      </a:pPr>
                      <a:r>
                        <a:rPr b="1" lang="en-US">
                          <a:solidFill>
                            <a:schemeClr val="dk1"/>
                          </a:solidFill>
                          <a:latin typeface="Calibri"/>
                          <a:ea typeface="Calibri"/>
                          <a:cs typeface="Calibri"/>
                          <a:sym typeface="Calibri"/>
                        </a:rPr>
                        <a:t>Navigation</a:t>
                      </a:r>
                      <a:endParaRPr b="1">
                        <a:solidFill>
                          <a:schemeClr val="dk1"/>
                        </a:solidFill>
                        <a:latin typeface="Calibri"/>
                        <a:ea typeface="Calibri"/>
                        <a:cs typeface="Calibri"/>
                        <a:sym typeface="Calibri"/>
                      </a:endParaRPr>
                    </a:p>
                  </a:txBody>
                  <a:tcPr marT="91425" marB="91425" marR="91425" marL="91425">
                    <a:solidFill>
                      <a:schemeClr val="lt2"/>
                    </a:solidFill>
                  </a:tcPr>
                </a:tc>
                <a:tc>
                  <a:txBody>
                    <a:bodyPr/>
                    <a:lstStyle/>
                    <a:p>
                      <a:pPr indent="0" lvl="0" marL="0" rtl="0" algn="l">
                        <a:spcBef>
                          <a:spcPts val="0"/>
                        </a:spcBef>
                        <a:spcAft>
                          <a:spcPts val="0"/>
                        </a:spcAft>
                        <a:buNone/>
                      </a:pPr>
                      <a:r>
                        <a:rPr b="1" lang="en-US">
                          <a:solidFill>
                            <a:schemeClr val="dk1"/>
                          </a:solidFill>
                          <a:latin typeface="Calibri"/>
                          <a:ea typeface="Calibri"/>
                          <a:cs typeface="Calibri"/>
                          <a:sym typeface="Calibri"/>
                        </a:rPr>
                        <a:t>Homepage</a:t>
                      </a:r>
                      <a:r>
                        <a:rPr b="1" lang="en-US">
                          <a:solidFill>
                            <a:schemeClr val="dk1"/>
                          </a:solidFill>
                          <a:latin typeface="Calibri"/>
                          <a:ea typeface="Calibri"/>
                          <a:cs typeface="Calibri"/>
                          <a:sym typeface="Calibri"/>
                        </a:rPr>
                        <a:t> - Hero</a:t>
                      </a:r>
                      <a:endParaRPr b="1">
                        <a:solidFill>
                          <a:schemeClr val="dk1"/>
                        </a:solidFill>
                        <a:latin typeface="Calibri"/>
                        <a:ea typeface="Calibri"/>
                        <a:cs typeface="Calibri"/>
                        <a:sym typeface="Calibri"/>
                      </a:endParaRPr>
                    </a:p>
                  </a:txBody>
                  <a:tcPr marT="91425" marB="91425" marR="91425" marL="91425">
                    <a:solidFill>
                      <a:schemeClr val="lt2"/>
                    </a:solidFill>
                  </a:tcPr>
                </a:tc>
                <a:tc>
                  <a:txBody>
                    <a:bodyPr/>
                    <a:lstStyle/>
                    <a:p>
                      <a:pPr indent="0" lvl="0" marL="0" rtl="0" algn="l">
                        <a:spcBef>
                          <a:spcPts val="0"/>
                        </a:spcBef>
                        <a:spcAft>
                          <a:spcPts val="0"/>
                        </a:spcAft>
                        <a:buNone/>
                      </a:pPr>
                      <a:r>
                        <a:rPr b="1" lang="en-US">
                          <a:solidFill>
                            <a:schemeClr val="dk1"/>
                          </a:solidFill>
                          <a:latin typeface="Calibri"/>
                          <a:ea typeface="Calibri"/>
                          <a:cs typeface="Calibri"/>
                          <a:sym typeface="Calibri"/>
                        </a:rPr>
                        <a:t>Home Page - Solutions</a:t>
                      </a:r>
                      <a:endParaRPr b="1">
                        <a:solidFill>
                          <a:schemeClr val="dk1"/>
                        </a:solidFill>
                        <a:latin typeface="Calibri"/>
                        <a:ea typeface="Calibri"/>
                        <a:cs typeface="Calibri"/>
                        <a:sym typeface="Calibri"/>
                      </a:endParaRPr>
                    </a:p>
                  </a:txBody>
                  <a:tcPr marT="91425" marB="91425" marR="91425" marL="91425">
                    <a:solidFill>
                      <a:schemeClr val="lt2"/>
                    </a:solidFill>
                  </a:tcPr>
                </a:tc>
                <a:tc>
                  <a:txBody>
                    <a:bodyPr/>
                    <a:lstStyle/>
                    <a:p>
                      <a:pPr indent="0" lvl="0" marL="0" rtl="0" algn="l">
                        <a:spcBef>
                          <a:spcPts val="0"/>
                        </a:spcBef>
                        <a:spcAft>
                          <a:spcPts val="0"/>
                        </a:spcAft>
                        <a:buNone/>
                      </a:pPr>
                      <a:r>
                        <a:rPr b="1" lang="en-US">
                          <a:solidFill>
                            <a:schemeClr val="dk1"/>
                          </a:solidFill>
                          <a:latin typeface="Calibri"/>
                          <a:ea typeface="Calibri"/>
                          <a:cs typeface="Calibri"/>
                          <a:sym typeface="Calibri"/>
                        </a:rPr>
                        <a:t>Solutions Page</a:t>
                      </a:r>
                      <a:endParaRPr b="1">
                        <a:solidFill>
                          <a:schemeClr val="dk1"/>
                        </a:solidFill>
                        <a:latin typeface="Calibri"/>
                        <a:ea typeface="Calibri"/>
                        <a:cs typeface="Calibri"/>
                        <a:sym typeface="Calibri"/>
                      </a:endParaRPr>
                    </a:p>
                  </a:txBody>
                  <a:tcPr marT="91425" marB="91425" marR="91425" marL="91425">
                    <a:solidFill>
                      <a:schemeClr val="lt2"/>
                    </a:solidFill>
                  </a:tcPr>
                </a:tc>
                <a:tc>
                  <a:txBody>
                    <a:bodyPr/>
                    <a:lstStyle/>
                    <a:p>
                      <a:pPr indent="0" lvl="0" marL="0" rtl="0" algn="l">
                        <a:spcBef>
                          <a:spcPts val="0"/>
                        </a:spcBef>
                        <a:spcAft>
                          <a:spcPts val="0"/>
                        </a:spcAft>
                        <a:buNone/>
                      </a:pPr>
                      <a:r>
                        <a:rPr b="1" lang="en-US">
                          <a:solidFill>
                            <a:schemeClr val="dk1"/>
                          </a:solidFill>
                          <a:latin typeface="Calibri"/>
                          <a:ea typeface="Calibri"/>
                          <a:cs typeface="Calibri"/>
                          <a:sym typeface="Calibri"/>
                        </a:rPr>
                        <a:t>Capability Statement</a:t>
                      </a:r>
                      <a:endParaRPr b="1">
                        <a:solidFill>
                          <a:schemeClr val="dk1"/>
                        </a:solidFill>
                        <a:latin typeface="Calibri"/>
                        <a:ea typeface="Calibri"/>
                        <a:cs typeface="Calibri"/>
                        <a:sym typeface="Calibri"/>
                      </a:endParaRPr>
                    </a:p>
                  </a:txBody>
                  <a:tcPr marT="91425" marB="91425" marR="91425" marL="91425">
                    <a:solidFill>
                      <a:schemeClr val="lt2"/>
                    </a:solidFill>
                  </a:tcPr>
                </a:tc>
              </a:tr>
              <a:tr h="381000">
                <a:tc>
                  <a:txBody>
                    <a:bodyPr/>
                    <a:lstStyle/>
                    <a:p>
                      <a:pPr indent="0" lvl="0" marL="0" rtl="0" algn="l">
                        <a:spcBef>
                          <a:spcPts val="0"/>
                        </a:spcBef>
                        <a:spcAft>
                          <a:spcPts val="0"/>
                        </a:spcAft>
                        <a:buNone/>
                      </a:pPr>
                      <a:r>
                        <a:rPr lang="en-US" sz="1300">
                          <a:latin typeface="Calibri"/>
                          <a:ea typeface="Calibri"/>
                          <a:cs typeface="Calibri"/>
                          <a:sym typeface="Calibri"/>
                        </a:rPr>
                        <a:t>Leadership Coaching</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latin typeface="Calibri"/>
                          <a:ea typeface="Calibri"/>
                          <a:cs typeface="Calibri"/>
                          <a:sym typeface="Calibri"/>
                        </a:rPr>
                        <a:t>Executive Coaching</a:t>
                      </a:r>
                      <a:br>
                        <a:rPr lang="en-US" sz="1300">
                          <a:latin typeface="Calibri"/>
                          <a:ea typeface="Calibri"/>
                          <a:cs typeface="Calibri"/>
                          <a:sym typeface="Calibri"/>
                        </a:rPr>
                      </a:br>
                      <a:r>
                        <a:rPr lang="en-US" sz="1100">
                          <a:latin typeface="Calibri"/>
                          <a:ea typeface="Calibri"/>
                          <a:cs typeface="Calibri"/>
                          <a:sym typeface="Calibri"/>
                        </a:rPr>
                        <a:t>(links to Leadership Coaching page)</a:t>
                      </a:r>
                      <a:endParaRPr sz="11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latin typeface="Calibri"/>
                          <a:ea typeface="Calibri"/>
                          <a:cs typeface="Calibri"/>
                          <a:sym typeface="Calibri"/>
                        </a:rPr>
                        <a:t>Executive Coaching</a:t>
                      </a:r>
                      <a:br>
                        <a:rPr lang="en-US" sz="1300">
                          <a:latin typeface="Calibri"/>
                          <a:ea typeface="Calibri"/>
                          <a:cs typeface="Calibri"/>
                          <a:sym typeface="Calibri"/>
                        </a:rPr>
                      </a:br>
                      <a:r>
                        <a:rPr i="1" lang="en-US" sz="1300">
                          <a:latin typeface="Calibri"/>
                          <a:ea typeface="Calibri"/>
                          <a:cs typeface="Calibri"/>
                          <a:sym typeface="Calibri"/>
                        </a:rPr>
                        <a:t>Leadership Development</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latin typeface="Calibri"/>
                          <a:ea typeface="Calibri"/>
                          <a:cs typeface="Calibri"/>
                          <a:sym typeface="Calibri"/>
                        </a:rPr>
                        <a:t>Develop Leadership Skills</a:t>
                      </a:r>
                      <a:endParaRPr sz="1300">
                        <a:latin typeface="Calibri"/>
                        <a:ea typeface="Calibri"/>
                        <a:cs typeface="Calibri"/>
                        <a:sym typeface="Calibri"/>
                      </a:endParaRPr>
                    </a:p>
                    <a:p>
                      <a:pPr indent="0" lvl="0" marL="0" rtl="0" algn="l">
                        <a:spcBef>
                          <a:spcPts val="0"/>
                        </a:spcBef>
                        <a:spcAft>
                          <a:spcPts val="0"/>
                        </a:spcAft>
                        <a:buNone/>
                      </a:pPr>
                      <a:r>
                        <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latin typeface="Calibri"/>
                          <a:ea typeface="Calibri"/>
                          <a:cs typeface="Calibri"/>
                          <a:sym typeface="Calibri"/>
                        </a:rPr>
                        <a:t>Talent Roadmap</a:t>
                      </a:r>
                      <a:endParaRPr sz="1300">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US" sz="1300">
                          <a:latin typeface="Calibri"/>
                          <a:ea typeface="Calibri"/>
                          <a:cs typeface="Calibri"/>
                          <a:sym typeface="Calibri"/>
                        </a:rPr>
                        <a:t>Leadership Skills Development</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latin typeface="Calibri"/>
                          <a:ea typeface="Calibri"/>
                          <a:cs typeface="Calibri"/>
                          <a:sym typeface="Calibri"/>
                        </a:rPr>
                        <a:t>Leadership Skills</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solidFill>
                            <a:schemeClr val="dk1"/>
                          </a:solidFill>
                          <a:latin typeface="Calibri"/>
                          <a:ea typeface="Calibri"/>
                          <a:cs typeface="Calibri"/>
                          <a:sym typeface="Calibri"/>
                        </a:rPr>
                        <a:t>…</a:t>
                      </a:r>
                      <a:r>
                        <a:rPr i="1" lang="en-US" sz="1300">
                          <a:solidFill>
                            <a:schemeClr val="dk1"/>
                          </a:solidFill>
                          <a:latin typeface="Calibri"/>
                          <a:ea typeface="Calibri"/>
                          <a:cs typeface="Calibri"/>
                          <a:sym typeface="Calibri"/>
                        </a:rPr>
                        <a:t>Personalized Coaching</a:t>
                      </a:r>
                      <a:br>
                        <a:rPr lang="en-US" sz="1300">
                          <a:solidFill>
                            <a:schemeClr val="dk1"/>
                          </a:solidFill>
                          <a:latin typeface="Calibri"/>
                          <a:ea typeface="Calibri"/>
                          <a:cs typeface="Calibri"/>
                          <a:sym typeface="Calibri"/>
                        </a:rPr>
                      </a:b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solidFill>
                            <a:schemeClr val="dk1"/>
                          </a:solidFill>
                          <a:latin typeface="Calibri"/>
                          <a:ea typeface="Calibri"/>
                          <a:cs typeface="Calibri"/>
                          <a:sym typeface="Calibri"/>
                        </a:rPr>
                        <a:t>…</a:t>
                      </a:r>
                      <a:r>
                        <a:rPr i="1" lang="en-US" sz="1300">
                          <a:solidFill>
                            <a:schemeClr val="dk1"/>
                          </a:solidFill>
                          <a:latin typeface="Calibri"/>
                          <a:ea typeface="Calibri"/>
                          <a:cs typeface="Calibri"/>
                          <a:sym typeface="Calibri"/>
                        </a:rPr>
                        <a:t>1-on-1 Private Coaching</a:t>
                      </a:r>
                      <a:r>
                        <a:rPr lang="en-US" sz="1300">
                          <a:solidFill>
                            <a:schemeClr val="dk1"/>
                          </a:solidFill>
                          <a:latin typeface="Calibri"/>
                          <a:ea typeface="Calibri"/>
                          <a:cs typeface="Calibri"/>
                          <a:sym typeface="Calibri"/>
                        </a:rPr>
                        <a:t> </a:t>
                      </a:r>
                      <a:br>
                        <a:rPr lang="en-US" sz="1300">
                          <a:solidFill>
                            <a:schemeClr val="dk1"/>
                          </a:solidFill>
                          <a:latin typeface="Calibri"/>
                          <a:ea typeface="Calibri"/>
                          <a:cs typeface="Calibri"/>
                          <a:sym typeface="Calibri"/>
                        </a:rPr>
                      </a:br>
                      <a:r>
                        <a:rPr lang="en-US" sz="1100">
                          <a:solidFill>
                            <a:schemeClr val="dk1"/>
                          </a:solidFill>
                          <a:latin typeface="Calibri"/>
                          <a:ea typeface="Calibri"/>
                          <a:cs typeface="Calibri"/>
                          <a:sym typeface="Calibri"/>
                        </a:rPr>
                        <a:t>(links to Leadership Coaching page)</a:t>
                      </a:r>
                      <a:endParaRPr sz="11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latin typeface="Calibri"/>
                          <a:ea typeface="Calibri"/>
                          <a:cs typeface="Calibri"/>
                          <a:sym typeface="Calibri"/>
                        </a:rPr>
                        <a:t>Talent Assessments</a:t>
                      </a:r>
                      <a:endParaRPr sz="1300">
                        <a:latin typeface="Calibri"/>
                        <a:ea typeface="Calibri"/>
                        <a:cs typeface="Calibri"/>
                        <a:sym typeface="Calibri"/>
                      </a:endParaRPr>
                    </a:p>
                  </a:txBody>
                  <a:tcPr marT="91425" marB="91425" marR="91425" marL="91425"/>
                </a:tc>
              </a:tr>
              <a:tr h="592500">
                <a:tc>
                  <a:txBody>
                    <a:bodyPr/>
                    <a:lstStyle/>
                    <a:p>
                      <a:pPr indent="0" lvl="0" marL="0" rtl="0" algn="l">
                        <a:spcBef>
                          <a:spcPts val="0"/>
                        </a:spcBef>
                        <a:spcAft>
                          <a:spcPts val="0"/>
                        </a:spcAft>
                        <a:buNone/>
                      </a:pPr>
                      <a:r>
                        <a:rPr lang="en-US" sz="1300">
                          <a:latin typeface="Calibri"/>
                          <a:ea typeface="Calibri"/>
                          <a:cs typeface="Calibri"/>
                          <a:sym typeface="Calibri"/>
                        </a:rPr>
                        <a:t>Talent Assessments</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latin typeface="Calibri"/>
                          <a:ea typeface="Calibri"/>
                          <a:cs typeface="Calibri"/>
                          <a:sym typeface="Calibri"/>
                        </a:rPr>
                        <a:t>Talent Roadmap</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solidFill>
                            <a:schemeClr val="dk1"/>
                          </a:solidFill>
                          <a:latin typeface="Calibri"/>
                          <a:ea typeface="Calibri"/>
                          <a:cs typeface="Calibri"/>
                          <a:sym typeface="Calibri"/>
                        </a:rPr>
                        <a:t>…</a:t>
                      </a:r>
                      <a:r>
                        <a:rPr i="1" lang="en-US" sz="1300">
                          <a:solidFill>
                            <a:schemeClr val="dk1"/>
                          </a:solidFill>
                          <a:latin typeface="Calibri"/>
                          <a:ea typeface="Calibri"/>
                          <a:cs typeface="Calibri"/>
                          <a:sym typeface="Calibri"/>
                        </a:rPr>
                        <a:t> Talent Assessments</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i="1" lang="en-US" sz="1300">
                          <a:solidFill>
                            <a:schemeClr val="dk1"/>
                          </a:solidFill>
                          <a:latin typeface="Calibri"/>
                          <a:ea typeface="Calibri"/>
                          <a:cs typeface="Calibri"/>
                          <a:sym typeface="Calibri"/>
                        </a:rPr>
                        <a:t>…</a:t>
                      </a:r>
                      <a:r>
                        <a:rPr i="1" lang="en-US" sz="1300">
                          <a:solidFill>
                            <a:schemeClr val="dk1"/>
                          </a:solidFill>
                          <a:latin typeface="Calibri"/>
                          <a:ea typeface="Calibri"/>
                          <a:cs typeface="Calibri"/>
                          <a:sym typeface="Calibri"/>
                        </a:rPr>
                        <a:t>Leadership Coaching</a:t>
                      </a:r>
                      <a:endParaRPr i="1"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latin typeface="Calibri"/>
                          <a:ea typeface="Calibri"/>
                          <a:cs typeface="Calibri"/>
                          <a:sym typeface="Calibri"/>
                        </a:rPr>
                        <a:t>Virtual Executive &amp; Team Coaching</a:t>
                      </a:r>
                      <a:endParaRPr sz="1300">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US" sz="1300">
                          <a:latin typeface="Calibri"/>
                          <a:ea typeface="Calibri"/>
                          <a:cs typeface="Calibri"/>
                          <a:sym typeface="Calibri"/>
                        </a:rPr>
                        <a:t>Talent Roadmap</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i="1" lang="en-US" sz="1300">
                          <a:solidFill>
                            <a:schemeClr val="dk1"/>
                          </a:solidFill>
                          <a:latin typeface="Calibri"/>
                          <a:ea typeface="Calibri"/>
                          <a:cs typeface="Calibri"/>
                          <a:sym typeface="Calibri"/>
                        </a:rPr>
                        <a:t>…</a:t>
                      </a:r>
                      <a:r>
                        <a:rPr i="1" lang="en-US" sz="1300">
                          <a:solidFill>
                            <a:schemeClr val="dk1"/>
                          </a:solidFill>
                          <a:latin typeface="Calibri"/>
                          <a:ea typeface="Calibri"/>
                          <a:cs typeface="Calibri"/>
                          <a:sym typeface="Calibri"/>
                        </a:rPr>
                        <a:t>Leadership Development</a:t>
                      </a:r>
                      <a:endParaRPr i="1"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i="1" lang="en-US" sz="1300">
                          <a:solidFill>
                            <a:schemeClr val="dk1"/>
                          </a:solidFill>
                          <a:latin typeface="Calibri"/>
                          <a:ea typeface="Calibri"/>
                          <a:cs typeface="Calibri"/>
                          <a:sym typeface="Calibri"/>
                        </a:rPr>
                        <a:t>…</a:t>
                      </a:r>
                      <a:r>
                        <a:rPr i="1" lang="en-US" sz="1300">
                          <a:solidFill>
                            <a:schemeClr val="dk1"/>
                          </a:solidFill>
                          <a:latin typeface="Calibri"/>
                          <a:ea typeface="Calibri"/>
                          <a:cs typeface="Calibri"/>
                          <a:sym typeface="Calibri"/>
                        </a:rPr>
                        <a:t>Master Communication </a:t>
                      </a:r>
                      <a:br>
                        <a:rPr lang="en-US" sz="1300">
                          <a:solidFill>
                            <a:schemeClr val="dk1"/>
                          </a:solidFill>
                          <a:latin typeface="Calibri"/>
                          <a:ea typeface="Calibri"/>
                          <a:cs typeface="Calibri"/>
                          <a:sym typeface="Calibri"/>
                        </a:rPr>
                      </a:br>
                      <a:r>
                        <a:rPr lang="en-US" sz="1100">
                          <a:solidFill>
                            <a:schemeClr val="dk1"/>
                          </a:solidFill>
                          <a:latin typeface="Calibri"/>
                          <a:ea typeface="Calibri"/>
                          <a:cs typeface="Calibri"/>
                          <a:sym typeface="Calibri"/>
                        </a:rPr>
                        <a:t>(links to page not on menu)</a:t>
                      </a:r>
                      <a:endParaRPr sz="11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latin typeface="Calibri"/>
                          <a:ea typeface="Calibri"/>
                          <a:cs typeface="Calibri"/>
                          <a:sym typeface="Calibri"/>
                        </a:rPr>
                        <a:t>Leadership Development Programs</a:t>
                      </a:r>
                      <a:endParaRPr sz="1300">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US" sz="1300">
                          <a:latin typeface="Calibri"/>
                          <a:ea typeface="Calibri"/>
                          <a:cs typeface="Calibri"/>
                          <a:sym typeface="Calibri"/>
                        </a:rPr>
                        <a:t>Keynote Speaking</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300">
                          <a:solidFill>
                            <a:schemeClr val="dk1"/>
                          </a:solidFill>
                          <a:latin typeface="Calibri"/>
                          <a:ea typeface="Calibri"/>
                          <a:cs typeface="Calibri"/>
                          <a:sym typeface="Calibri"/>
                        </a:rPr>
                        <a:t>Organizational Development  </a:t>
                      </a:r>
                      <a:r>
                        <a:rPr i="1" lang="en-US" sz="1300">
                          <a:solidFill>
                            <a:schemeClr val="dk1"/>
                          </a:solidFill>
                          <a:latin typeface="Calibri"/>
                          <a:ea typeface="Calibri"/>
                          <a:cs typeface="Calibri"/>
                          <a:sym typeface="Calibri"/>
                        </a:rPr>
                        <a:t>Innovative Workplace Culture</a:t>
                      </a:r>
                      <a:endParaRPr i="1"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solidFill>
                            <a:schemeClr val="dk1"/>
                          </a:solidFill>
                          <a:latin typeface="Calibri"/>
                          <a:ea typeface="Calibri"/>
                          <a:cs typeface="Calibri"/>
                          <a:sym typeface="Calibri"/>
                        </a:rPr>
                        <a:t>Organizational Development</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latin typeface="Calibri"/>
                          <a:ea typeface="Calibri"/>
                          <a:cs typeface="Calibri"/>
                          <a:sym typeface="Calibri"/>
                        </a:rPr>
                        <a:t>Succession Planning</a:t>
                      </a:r>
                      <a:endParaRPr sz="1300">
                        <a:latin typeface="Calibri"/>
                        <a:ea typeface="Calibri"/>
                        <a:cs typeface="Calibri"/>
                        <a:sym typeface="Calibri"/>
                      </a:endParaRPr>
                    </a:p>
                  </a:txBody>
                  <a:tcPr marT="91425" marB="91425" marR="91425" marL="91425"/>
                </a:tc>
              </a:tr>
              <a:tr h="394425">
                <a:tc>
                  <a:txBody>
                    <a:bodyPr/>
                    <a:lstStyle/>
                    <a:p>
                      <a:pPr indent="0" lvl="0" marL="0" rtl="0" algn="l">
                        <a:spcBef>
                          <a:spcPts val="0"/>
                        </a:spcBef>
                        <a:spcAft>
                          <a:spcPts val="0"/>
                        </a:spcAft>
                        <a:buNone/>
                      </a:pPr>
                      <a:r>
                        <a:rPr lang="en-US" sz="1300">
                          <a:latin typeface="Calibri"/>
                          <a:ea typeface="Calibri"/>
                          <a:cs typeface="Calibri"/>
                          <a:sym typeface="Calibri"/>
                        </a:rPr>
                        <a:t>Emerging Leaders Scholarship </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solidFill>
                            <a:schemeClr val="dk1"/>
                          </a:solidFill>
                          <a:latin typeface="Calibri"/>
                          <a:ea typeface="Calibri"/>
                          <a:cs typeface="Calibri"/>
                          <a:sym typeface="Calibri"/>
                        </a:rPr>
                        <a:t>…</a:t>
                      </a:r>
                      <a:r>
                        <a:rPr i="1" lang="en-US" sz="1300">
                          <a:solidFill>
                            <a:schemeClr val="dk1"/>
                          </a:solidFill>
                          <a:latin typeface="Calibri"/>
                          <a:ea typeface="Calibri"/>
                          <a:cs typeface="Calibri"/>
                          <a:sym typeface="Calibri"/>
                        </a:rPr>
                        <a:t>Talent Roadmap</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solidFill>
                            <a:schemeClr val="dk1"/>
                          </a:solidFill>
                          <a:latin typeface="Calibri"/>
                          <a:ea typeface="Calibri"/>
                          <a:cs typeface="Calibri"/>
                          <a:sym typeface="Calibri"/>
                        </a:rPr>
                        <a:t>…</a:t>
                      </a:r>
                      <a:r>
                        <a:rPr lang="en-US" sz="1300">
                          <a:solidFill>
                            <a:schemeClr val="dk1"/>
                          </a:solidFill>
                          <a:latin typeface="Calibri"/>
                          <a:ea typeface="Calibri"/>
                          <a:cs typeface="Calibri"/>
                          <a:sym typeface="Calibri"/>
                        </a:rPr>
                        <a:t>Team Training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US" sz="800">
                          <a:solidFill>
                            <a:schemeClr val="dk1"/>
                          </a:solidFill>
                          <a:latin typeface="Calibri"/>
                          <a:ea typeface="Calibri"/>
                          <a:cs typeface="Calibri"/>
                          <a:sym typeface="Calibri"/>
                        </a:rPr>
                        <a:t>(links to Leadership Skills Development page)</a:t>
                      </a:r>
                      <a:endParaRPr sz="8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91425" marB="91425" marR="91425" marL="91425"/>
                </a:tc>
              </a:tr>
              <a:tr h="433575">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solidFill>
                            <a:schemeClr val="dk1"/>
                          </a:solidFill>
                          <a:latin typeface="Calibri"/>
                          <a:ea typeface="Calibri"/>
                          <a:cs typeface="Calibri"/>
                          <a:sym typeface="Calibri"/>
                        </a:rPr>
                        <a:t>…</a:t>
                      </a:r>
                      <a:r>
                        <a:rPr i="1" lang="en-US" sz="1300">
                          <a:solidFill>
                            <a:schemeClr val="dk1"/>
                          </a:solidFill>
                          <a:latin typeface="Calibri"/>
                          <a:ea typeface="Calibri"/>
                          <a:cs typeface="Calibri"/>
                          <a:sym typeface="Calibri"/>
                        </a:rPr>
                        <a:t>Coaching Skills Training </a:t>
                      </a:r>
                      <a:endParaRPr i="1" sz="1300">
                        <a:solidFill>
                          <a:schemeClr val="dk1"/>
                        </a:solidFill>
                        <a:latin typeface="Calibri"/>
                        <a:ea typeface="Calibri"/>
                        <a:cs typeface="Calibri"/>
                        <a:sym typeface="Calibri"/>
                      </a:endParaRPr>
                    </a:p>
                    <a:p>
                      <a:pPr indent="0" lvl="0" marL="0" rtl="0" algn="l">
                        <a:spcBef>
                          <a:spcPts val="0"/>
                        </a:spcBef>
                        <a:spcAft>
                          <a:spcPts val="0"/>
                        </a:spcAft>
                        <a:buNone/>
                      </a:pPr>
                      <a:r>
                        <a:rPr i="1" lang="en-US" sz="800">
                          <a:solidFill>
                            <a:schemeClr val="dk1"/>
                          </a:solidFill>
                          <a:latin typeface="Calibri"/>
                          <a:ea typeface="Calibri"/>
                          <a:cs typeface="Calibri"/>
                          <a:sym typeface="Calibri"/>
                        </a:rPr>
                        <a:t>(link from Leadership Skills Development page)</a:t>
                      </a:r>
                      <a:endParaRPr i="1" sz="8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300">
                          <a:solidFill>
                            <a:schemeClr val="dk1"/>
                          </a:solidFill>
                          <a:latin typeface="Calibri"/>
                          <a:ea typeface="Calibri"/>
                          <a:cs typeface="Calibri"/>
                          <a:sym typeface="Calibri"/>
                        </a:rPr>
                        <a:t>…</a:t>
                      </a:r>
                      <a:r>
                        <a:rPr i="1" lang="en-US" sz="1300">
                          <a:solidFill>
                            <a:schemeClr val="dk1"/>
                          </a:solidFill>
                          <a:latin typeface="Calibri"/>
                          <a:ea typeface="Calibri"/>
                          <a:cs typeface="Calibri"/>
                          <a:sym typeface="Calibri"/>
                        </a:rPr>
                        <a:t>Talent Roadmap</a:t>
                      </a:r>
                      <a:endParaRPr i="1" sz="13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91425" marB="91425" marR="91425" marL="91425"/>
                </a:tc>
              </a:tr>
              <a:tr h="394425">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t/>
                      </a:r>
                      <a:endParaRPr sz="13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i="1" lang="en-US" sz="1300">
                          <a:solidFill>
                            <a:schemeClr val="dk1"/>
                          </a:solidFill>
                          <a:latin typeface="Calibri"/>
                          <a:ea typeface="Calibri"/>
                          <a:cs typeface="Calibri"/>
                          <a:sym typeface="Calibri"/>
                        </a:rPr>
                        <a:t>…</a:t>
                      </a:r>
                      <a:r>
                        <a:rPr i="1" lang="en-US" sz="1300">
                          <a:solidFill>
                            <a:schemeClr val="dk1"/>
                          </a:solidFill>
                          <a:latin typeface="Calibri"/>
                          <a:ea typeface="Calibri"/>
                          <a:cs typeface="Calibri"/>
                          <a:sym typeface="Calibri"/>
                        </a:rPr>
                        <a:t>Succession Planning </a:t>
                      </a:r>
                      <a:br>
                        <a:rPr lang="en-US" sz="1300">
                          <a:solidFill>
                            <a:schemeClr val="dk1"/>
                          </a:solidFill>
                          <a:latin typeface="Calibri"/>
                          <a:ea typeface="Calibri"/>
                          <a:cs typeface="Calibri"/>
                          <a:sym typeface="Calibri"/>
                        </a:rPr>
                      </a:br>
                      <a:r>
                        <a:rPr lang="en-US" sz="900">
                          <a:solidFill>
                            <a:schemeClr val="dk1"/>
                          </a:solidFill>
                          <a:latin typeface="Calibri"/>
                          <a:ea typeface="Calibri"/>
                          <a:cs typeface="Calibri"/>
                          <a:sym typeface="Calibri"/>
                        </a:rPr>
                        <a:t>(links to page not on menu)</a:t>
                      </a:r>
                      <a:endParaRPr sz="9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t/>
                      </a:r>
                      <a:endParaRPr sz="1300">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8"/>
          <p:cNvSpPr txBox="1"/>
          <p:nvPr>
            <p:ph type="title"/>
          </p:nvPr>
        </p:nvSpPr>
        <p:spPr>
          <a:xfrm>
            <a:off x="720768" y="771177"/>
            <a:ext cx="10800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Services </a:t>
            </a:r>
            <a:r>
              <a:rPr b="0" i="1" lang="en-US" sz="3800">
                <a:solidFill>
                  <a:schemeClr val="accent4"/>
                </a:solidFill>
                <a:latin typeface="Calibri"/>
                <a:ea typeface="Calibri"/>
                <a:cs typeface="Calibri"/>
                <a:sym typeface="Calibri"/>
              </a:rPr>
              <a:t>Review - Naming</a:t>
            </a:r>
            <a:endParaRPr b="0" i="1" sz="2800">
              <a:solidFill>
                <a:srgbClr val="F36E25"/>
              </a:solidFill>
              <a:latin typeface="Calibri"/>
              <a:ea typeface="Calibri"/>
              <a:cs typeface="Calibri"/>
              <a:sym typeface="Calibri"/>
            </a:endParaRPr>
          </a:p>
        </p:txBody>
      </p:sp>
      <p:sp>
        <p:nvSpPr>
          <p:cNvPr id="418" name="Google Shape;418;p58"/>
          <p:cNvSpPr txBox="1"/>
          <p:nvPr>
            <p:ph idx="1" type="body"/>
          </p:nvPr>
        </p:nvSpPr>
        <p:spPr>
          <a:xfrm>
            <a:off x="838200" y="1604900"/>
            <a:ext cx="4629000" cy="4650000"/>
          </a:xfrm>
          <a:prstGeom prst="rect">
            <a:avLst/>
          </a:prstGeom>
          <a:noFill/>
          <a:ln>
            <a:noFill/>
          </a:ln>
        </p:spPr>
        <p:txBody>
          <a:bodyPr anchorCtr="0" anchor="t" bIns="45700" lIns="91425" spcFirstLastPara="1" rIns="91425" wrap="square" tIns="45700">
            <a:normAutofit fontScale="92500" lnSpcReduction="10000"/>
          </a:bodyPr>
          <a:lstStyle/>
          <a:p>
            <a:pPr indent="0" lvl="0" marL="0" marR="0" rtl="0" algn="l">
              <a:lnSpc>
                <a:spcPct val="130000"/>
              </a:lnSpc>
              <a:spcBef>
                <a:spcPts val="1000"/>
              </a:spcBef>
              <a:spcAft>
                <a:spcPts val="0"/>
              </a:spcAft>
              <a:buNone/>
            </a:pPr>
            <a:r>
              <a:rPr b="1" i="1" lang="en-US" sz="2000"/>
              <a:t>Leadership Development &amp; Coaching</a:t>
            </a:r>
            <a:endParaRPr b="1" i="1" sz="2000"/>
          </a:p>
          <a:p>
            <a:pPr indent="-358775" lvl="1" marL="800100" marR="0" rtl="0" algn="l">
              <a:lnSpc>
                <a:spcPct val="100000"/>
              </a:lnSpc>
              <a:spcBef>
                <a:spcPts val="1000"/>
              </a:spcBef>
              <a:spcAft>
                <a:spcPts val="0"/>
              </a:spcAft>
              <a:buClr>
                <a:schemeClr val="accent2"/>
              </a:buClr>
              <a:buSzPct val="100000"/>
              <a:buFont typeface="Noto Sans Symbols"/>
              <a:buChar char="✔"/>
            </a:pPr>
            <a:r>
              <a:rPr lang="en-US" sz="2000"/>
              <a:t>Leadership development</a:t>
            </a:r>
            <a:endParaRPr sz="2000"/>
          </a:p>
          <a:p>
            <a:pPr indent="-358775" lvl="1" marL="800100" marR="0" rtl="0" algn="l">
              <a:lnSpc>
                <a:spcPct val="100000"/>
              </a:lnSpc>
              <a:spcBef>
                <a:spcPts val="1000"/>
              </a:spcBef>
              <a:spcAft>
                <a:spcPts val="0"/>
              </a:spcAft>
              <a:buClr>
                <a:schemeClr val="accent2"/>
              </a:buClr>
              <a:buSzPct val="100000"/>
              <a:buFont typeface="Noto Sans Symbols"/>
              <a:buChar char="✔"/>
            </a:pPr>
            <a:r>
              <a:rPr lang="en-US" sz="2000"/>
              <a:t>Leadership </a:t>
            </a:r>
            <a:endParaRPr sz="2000"/>
          </a:p>
          <a:p>
            <a:pPr indent="-358775" lvl="1" marL="800100" marR="0" rtl="0" algn="l">
              <a:lnSpc>
                <a:spcPct val="100000"/>
              </a:lnSpc>
              <a:spcBef>
                <a:spcPts val="1000"/>
              </a:spcBef>
              <a:spcAft>
                <a:spcPts val="0"/>
              </a:spcAft>
              <a:buClr>
                <a:schemeClr val="accent2"/>
              </a:buClr>
              <a:buSzPct val="100000"/>
              <a:buFont typeface="Noto Sans Symbols"/>
              <a:buChar char="✔"/>
            </a:pPr>
            <a:r>
              <a:rPr lang="en-US" sz="2000"/>
              <a:t>Leadership coaching</a:t>
            </a:r>
            <a:endParaRPr sz="2000"/>
          </a:p>
          <a:p>
            <a:pPr indent="-358775" lvl="1" marL="800100" marR="0" rtl="0" algn="l">
              <a:lnSpc>
                <a:spcPct val="100000"/>
              </a:lnSpc>
              <a:spcBef>
                <a:spcPts val="1000"/>
              </a:spcBef>
              <a:spcAft>
                <a:spcPts val="0"/>
              </a:spcAft>
              <a:buClr>
                <a:schemeClr val="accent2"/>
              </a:buClr>
              <a:buSzPct val="100000"/>
              <a:buFont typeface="Noto Sans Symbols"/>
              <a:buChar char="✔"/>
            </a:pPr>
            <a:r>
              <a:rPr lang="en-US" sz="2000"/>
              <a:t>Executive coaching</a:t>
            </a:r>
            <a:endParaRPr sz="2000"/>
          </a:p>
          <a:p>
            <a:pPr indent="-358775" lvl="1" marL="800100" marR="0" rtl="0" algn="l">
              <a:lnSpc>
                <a:spcPct val="100000"/>
              </a:lnSpc>
              <a:spcBef>
                <a:spcPts val="1000"/>
              </a:spcBef>
              <a:spcAft>
                <a:spcPts val="0"/>
              </a:spcAft>
              <a:buClr>
                <a:schemeClr val="accent2"/>
              </a:buClr>
              <a:buSzPct val="100000"/>
              <a:buFont typeface="Noto Sans Symbols"/>
              <a:buChar char="✔"/>
            </a:pPr>
            <a:r>
              <a:rPr lang="en-US" sz="2000"/>
              <a:t>Personalized coaching</a:t>
            </a:r>
            <a:endParaRPr sz="2000"/>
          </a:p>
          <a:p>
            <a:pPr indent="-358775" lvl="1" marL="800100" marR="0" rtl="0" algn="l">
              <a:lnSpc>
                <a:spcPct val="100000"/>
              </a:lnSpc>
              <a:spcBef>
                <a:spcPts val="1000"/>
              </a:spcBef>
              <a:spcAft>
                <a:spcPts val="0"/>
              </a:spcAft>
              <a:buClr>
                <a:schemeClr val="accent2"/>
              </a:buClr>
              <a:buSzPct val="100000"/>
              <a:buFont typeface="Noto Sans Symbols"/>
              <a:buChar char="✔"/>
            </a:pPr>
            <a:r>
              <a:rPr lang="en-US" sz="2000"/>
              <a:t>1 on 1 private coaching</a:t>
            </a:r>
            <a:endParaRPr sz="2000"/>
          </a:p>
          <a:p>
            <a:pPr indent="-358775" lvl="1" marL="800100" marR="0" rtl="0" algn="l">
              <a:lnSpc>
                <a:spcPct val="100000"/>
              </a:lnSpc>
              <a:spcBef>
                <a:spcPts val="1000"/>
              </a:spcBef>
              <a:spcAft>
                <a:spcPts val="0"/>
              </a:spcAft>
              <a:buClr>
                <a:schemeClr val="accent2"/>
              </a:buClr>
              <a:buSzPct val="100000"/>
              <a:buFont typeface="Noto Sans Symbols"/>
              <a:buChar char="✔"/>
            </a:pPr>
            <a:r>
              <a:rPr lang="en-US" sz="2000"/>
              <a:t>Virtual executive and team coaching</a:t>
            </a:r>
            <a:endParaRPr sz="2000"/>
          </a:p>
          <a:p>
            <a:pPr indent="-358775" lvl="1" marL="800100" marR="0" rtl="0" algn="l">
              <a:lnSpc>
                <a:spcPct val="100000"/>
              </a:lnSpc>
              <a:spcBef>
                <a:spcPts val="1000"/>
              </a:spcBef>
              <a:spcAft>
                <a:spcPts val="0"/>
              </a:spcAft>
              <a:buClr>
                <a:schemeClr val="accent2"/>
              </a:buClr>
              <a:buSzPct val="100000"/>
              <a:buFont typeface="Noto Sans Symbols"/>
              <a:buChar char="✔"/>
            </a:pPr>
            <a:r>
              <a:rPr lang="en-US" sz="2000"/>
              <a:t>Leadership skills development</a:t>
            </a:r>
            <a:endParaRPr sz="2000"/>
          </a:p>
          <a:p>
            <a:pPr indent="-358775" lvl="1" marL="800100" marR="0" rtl="0" algn="l">
              <a:lnSpc>
                <a:spcPct val="100000"/>
              </a:lnSpc>
              <a:spcBef>
                <a:spcPts val="1000"/>
              </a:spcBef>
              <a:spcAft>
                <a:spcPts val="0"/>
              </a:spcAft>
              <a:buClr>
                <a:schemeClr val="accent2"/>
              </a:buClr>
              <a:buSzPct val="100000"/>
              <a:buFont typeface="Noto Sans Symbols"/>
              <a:buChar char="✔"/>
            </a:pPr>
            <a:r>
              <a:rPr lang="en-US" sz="2000"/>
              <a:t>Master communication</a:t>
            </a:r>
            <a:endParaRPr sz="2000"/>
          </a:p>
          <a:p>
            <a:pPr indent="-358775" lvl="1" marL="800100" marR="0" rtl="0" algn="l">
              <a:lnSpc>
                <a:spcPct val="100000"/>
              </a:lnSpc>
              <a:spcBef>
                <a:spcPts val="1000"/>
              </a:spcBef>
              <a:spcAft>
                <a:spcPts val="0"/>
              </a:spcAft>
              <a:buClr>
                <a:schemeClr val="accent2"/>
              </a:buClr>
              <a:buSzPct val="100000"/>
              <a:buFont typeface="Noto Sans Symbols"/>
              <a:buChar char="✔"/>
            </a:pPr>
            <a:r>
              <a:rPr lang="en-US" sz="2000"/>
              <a:t>Leadership skills</a:t>
            </a:r>
            <a:endParaRPr sz="2000"/>
          </a:p>
          <a:p>
            <a:pPr indent="0" lvl="0" marL="0" marR="0" rtl="0" algn="l">
              <a:lnSpc>
                <a:spcPct val="100000"/>
              </a:lnSpc>
              <a:spcBef>
                <a:spcPts val="1000"/>
              </a:spcBef>
              <a:spcAft>
                <a:spcPts val="0"/>
              </a:spcAft>
              <a:buNone/>
            </a:pPr>
            <a:r>
              <a:t/>
            </a:r>
            <a:endParaRPr sz="2000"/>
          </a:p>
        </p:txBody>
      </p:sp>
      <p:sp>
        <p:nvSpPr>
          <p:cNvPr id="419" name="Google Shape;419;p58"/>
          <p:cNvSpPr txBox="1"/>
          <p:nvPr>
            <p:ph idx="1" type="body"/>
          </p:nvPr>
        </p:nvSpPr>
        <p:spPr>
          <a:xfrm>
            <a:off x="6301100" y="1679000"/>
            <a:ext cx="4629000" cy="46500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30000"/>
              </a:lnSpc>
              <a:spcBef>
                <a:spcPts val="1000"/>
              </a:spcBef>
              <a:spcAft>
                <a:spcPts val="0"/>
              </a:spcAft>
              <a:buNone/>
            </a:pPr>
            <a:r>
              <a:rPr b="1" i="1" lang="en-US" sz="2000"/>
              <a:t>Talent and Organizational Development:</a:t>
            </a:r>
            <a:endParaRPr b="1" i="1"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Organizational development</a:t>
            </a:r>
            <a:endParaRPr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Talent roadmap</a:t>
            </a:r>
            <a:endParaRPr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Team training</a:t>
            </a:r>
            <a:endParaRPr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Talent assessments</a:t>
            </a:r>
            <a:endParaRPr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Coaching skills training</a:t>
            </a:r>
            <a:endParaRPr sz="2000"/>
          </a:p>
          <a:p>
            <a:pPr indent="-368300" lvl="1" marL="800100" marR="0" rtl="0" algn="l">
              <a:lnSpc>
                <a:spcPct val="100000"/>
              </a:lnSpc>
              <a:spcBef>
                <a:spcPts val="1000"/>
              </a:spcBef>
              <a:spcAft>
                <a:spcPts val="0"/>
              </a:spcAft>
              <a:buClr>
                <a:schemeClr val="accent2"/>
              </a:buClr>
              <a:buSzPts val="2000"/>
              <a:buFont typeface="Noto Sans Symbols"/>
              <a:buChar char="✔"/>
            </a:pPr>
            <a:r>
              <a:rPr lang="en-US" sz="2000"/>
              <a:t>Succession planning</a:t>
            </a:r>
            <a:endParaRPr sz="2000"/>
          </a:p>
          <a:p>
            <a:pPr indent="0" lvl="0" marL="0" rtl="0" algn="l">
              <a:lnSpc>
                <a:spcPct val="130000"/>
              </a:lnSpc>
              <a:spcBef>
                <a:spcPts val="1000"/>
              </a:spcBef>
              <a:spcAft>
                <a:spcPts val="0"/>
              </a:spcAft>
              <a:buNone/>
            </a:pPr>
            <a:r>
              <a:rPr b="1" i="1" lang="en-US" sz="2000"/>
              <a:t>Other:</a:t>
            </a:r>
            <a:endParaRPr b="1" i="1" sz="2000"/>
          </a:p>
          <a:p>
            <a:pPr indent="-241300" lvl="1" marL="685800" rtl="0" algn="l">
              <a:lnSpc>
                <a:spcPct val="100000"/>
              </a:lnSpc>
              <a:spcBef>
                <a:spcPts val="1000"/>
              </a:spcBef>
              <a:spcAft>
                <a:spcPts val="0"/>
              </a:spcAft>
              <a:buClr>
                <a:schemeClr val="accent2"/>
              </a:buClr>
              <a:buSzPts val="2000"/>
              <a:buFont typeface="Noto Sans Symbols"/>
              <a:buChar char="✔"/>
            </a:pPr>
            <a:r>
              <a:rPr lang="en-US" sz="2000"/>
              <a:t>Keynote speaking</a:t>
            </a:r>
            <a:endParaRPr sz="2000"/>
          </a:p>
          <a:p>
            <a:pPr indent="-241300" lvl="1" marL="685800" rtl="0" algn="l">
              <a:lnSpc>
                <a:spcPct val="100000"/>
              </a:lnSpc>
              <a:spcBef>
                <a:spcPts val="1000"/>
              </a:spcBef>
              <a:spcAft>
                <a:spcPts val="0"/>
              </a:spcAft>
              <a:buClr>
                <a:schemeClr val="accent2"/>
              </a:buClr>
              <a:buSzPts val="2000"/>
              <a:buFont typeface="Noto Sans Symbols"/>
              <a:buChar char="✔"/>
            </a:pPr>
            <a:r>
              <a:rPr lang="en-US" sz="2000"/>
              <a:t>Emerging leaders scholarship</a:t>
            </a:r>
            <a:endParaRPr sz="2000"/>
          </a:p>
          <a:p>
            <a:pPr indent="0" lvl="0" marL="685800" rtl="0" algn="l">
              <a:lnSpc>
                <a:spcPct val="100000"/>
              </a:lnSpc>
              <a:spcBef>
                <a:spcPts val="1000"/>
              </a:spcBef>
              <a:spcAft>
                <a:spcPts val="0"/>
              </a:spcAft>
              <a:buNone/>
            </a:pPr>
            <a:r>
              <a:t/>
            </a:r>
            <a:endParaRPr sz="2000"/>
          </a:p>
          <a:p>
            <a:pPr indent="0" lvl="0" marL="0" rtl="0" algn="l">
              <a:lnSpc>
                <a:spcPct val="100000"/>
              </a:lnSpc>
              <a:spcBef>
                <a:spcPts val="1000"/>
              </a:spcBef>
              <a:spcAft>
                <a:spcPts val="0"/>
              </a:spcAft>
              <a:buNone/>
            </a:pPr>
            <a:r>
              <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9"/>
          <p:cNvSpPr txBox="1"/>
          <p:nvPr>
            <p:ph type="title"/>
          </p:nvPr>
        </p:nvSpPr>
        <p:spPr>
          <a:xfrm>
            <a:off x="725875" y="708025"/>
            <a:ext cx="11060400" cy="75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Services</a:t>
            </a:r>
            <a:r>
              <a:rPr b="0" i="1" lang="en-US" sz="3800">
                <a:solidFill>
                  <a:srgbClr val="073763"/>
                </a:solidFill>
                <a:latin typeface="Calibri"/>
                <a:ea typeface="Calibri"/>
                <a:cs typeface="Calibri"/>
                <a:sym typeface="Calibri"/>
              </a:rPr>
              <a:t> </a:t>
            </a:r>
            <a:r>
              <a:rPr b="0" i="1" lang="en-US" sz="3800">
                <a:solidFill>
                  <a:schemeClr val="accent4"/>
                </a:solidFill>
                <a:latin typeface="Calibri"/>
                <a:ea typeface="Calibri"/>
                <a:cs typeface="Calibri"/>
                <a:sym typeface="Calibri"/>
              </a:rPr>
              <a:t>Opportunity</a:t>
            </a:r>
            <a:endParaRPr b="0" i="1" sz="3800">
              <a:solidFill>
                <a:schemeClr val="accent4"/>
              </a:solidFill>
              <a:latin typeface="Calibri"/>
              <a:ea typeface="Calibri"/>
              <a:cs typeface="Calibri"/>
              <a:sym typeface="Calibri"/>
            </a:endParaRPr>
          </a:p>
        </p:txBody>
      </p:sp>
      <p:sp>
        <p:nvSpPr>
          <p:cNvPr id="425" name="Google Shape;425;p59"/>
          <p:cNvSpPr txBox="1"/>
          <p:nvPr>
            <p:ph idx="1" type="body"/>
          </p:nvPr>
        </p:nvSpPr>
        <p:spPr>
          <a:xfrm>
            <a:off x="530175" y="1655225"/>
            <a:ext cx="5835000" cy="2211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None/>
            </a:pPr>
            <a:r>
              <a:rPr lang="en-US" sz="1950"/>
              <a:t>    </a:t>
            </a:r>
            <a:r>
              <a:rPr b="1" lang="en-US" sz="1950"/>
              <a:t> Streamline services and naming conventions:</a:t>
            </a:r>
            <a:endParaRPr b="1" sz="1950"/>
          </a:p>
          <a:p>
            <a:pPr indent="-219075" lvl="1" marL="685800" rtl="0" algn="l">
              <a:lnSpc>
                <a:spcPct val="115000"/>
              </a:lnSpc>
              <a:spcBef>
                <a:spcPts val="1000"/>
              </a:spcBef>
              <a:spcAft>
                <a:spcPts val="0"/>
              </a:spcAft>
              <a:buClr>
                <a:schemeClr val="accent2"/>
              </a:buClr>
              <a:buSzPts val="1650"/>
              <a:buFont typeface="Noto Sans Symbols"/>
              <a:buChar char="✔"/>
            </a:pPr>
            <a:r>
              <a:rPr lang="en-US" sz="1650"/>
              <a:t>Choose two clear solutions buckets (pending keyword research):</a:t>
            </a:r>
            <a:endParaRPr sz="1650"/>
          </a:p>
          <a:p>
            <a:pPr indent="-219075" lvl="2" marL="1143000" rtl="0" algn="l">
              <a:lnSpc>
                <a:spcPct val="115000"/>
              </a:lnSpc>
              <a:spcBef>
                <a:spcPts val="1000"/>
              </a:spcBef>
              <a:spcAft>
                <a:spcPts val="0"/>
              </a:spcAft>
              <a:buSzPts val="1650"/>
              <a:buChar char="•"/>
            </a:pPr>
            <a:r>
              <a:rPr lang="en-US" sz="1650"/>
              <a:t>Leadership Development</a:t>
            </a:r>
            <a:endParaRPr sz="1650"/>
          </a:p>
          <a:p>
            <a:pPr indent="-219075" lvl="2" marL="1143000" rtl="0" algn="l">
              <a:lnSpc>
                <a:spcPct val="115000"/>
              </a:lnSpc>
              <a:spcBef>
                <a:spcPts val="1000"/>
              </a:spcBef>
              <a:spcAft>
                <a:spcPts val="0"/>
              </a:spcAft>
              <a:buSzPts val="1650"/>
              <a:buChar char="•"/>
            </a:pPr>
            <a:r>
              <a:rPr lang="en-US" sz="1650"/>
              <a:t>Talent Transformation</a:t>
            </a:r>
            <a:endParaRPr sz="1650"/>
          </a:p>
          <a:p>
            <a:pPr indent="-219075" lvl="1" marL="685800" rtl="0" algn="l">
              <a:lnSpc>
                <a:spcPct val="115000"/>
              </a:lnSpc>
              <a:spcBef>
                <a:spcPts val="1000"/>
              </a:spcBef>
              <a:spcAft>
                <a:spcPts val="0"/>
              </a:spcAft>
              <a:buClr>
                <a:schemeClr val="accent2"/>
              </a:buClr>
              <a:buSzPts val="1650"/>
              <a:buFont typeface="Noto Sans Symbols"/>
              <a:buChar char="✔"/>
            </a:pPr>
            <a:r>
              <a:rPr lang="en-US" sz="1650"/>
              <a:t>Streamline main </a:t>
            </a:r>
            <a:r>
              <a:rPr lang="en-US" sz="1650"/>
              <a:t>services</a:t>
            </a:r>
            <a:r>
              <a:rPr lang="en-US" sz="1650"/>
              <a:t> offered in each area:</a:t>
            </a:r>
            <a:endParaRPr sz="1650"/>
          </a:p>
          <a:p>
            <a:pPr indent="-219075" lvl="2" marL="914400" rtl="0" algn="l">
              <a:lnSpc>
                <a:spcPct val="115000"/>
              </a:lnSpc>
              <a:spcBef>
                <a:spcPts val="1000"/>
              </a:spcBef>
              <a:spcAft>
                <a:spcPts val="0"/>
              </a:spcAft>
              <a:buClr>
                <a:schemeClr val="accent2"/>
              </a:buClr>
              <a:buSzPts val="1650"/>
              <a:buFont typeface="Noto Sans Symbols"/>
              <a:buChar char="•"/>
            </a:pPr>
            <a:r>
              <a:rPr lang="en-US" sz="1650"/>
              <a:t>Choose which services you want to direct prospects to - make the choice clear for them</a:t>
            </a:r>
            <a:endParaRPr sz="1650"/>
          </a:p>
          <a:p>
            <a:pPr indent="-219075" lvl="2" marL="914400" rtl="0" algn="l">
              <a:lnSpc>
                <a:spcPct val="115000"/>
              </a:lnSpc>
              <a:spcBef>
                <a:spcPts val="1000"/>
              </a:spcBef>
              <a:spcAft>
                <a:spcPts val="0"/>
              </a:spcAft>
              <a:buClr>
                <a:schemeClr val="accent2"/>
              </a:buClr>
              <a:buSzPts val="1650"/>
              <a:buFont typeface="Noto Sans Symbols"/>
              <a:buChar char="•"/>
            </a:pPr>
            <a:r>
              <a:rPr lang="en-US" sz="1650"/>
              <a:t>Only highlight core services (others you can market on an </a:t>
            </a:r>
            <a:r>
              <a:rPr lang="en-US" sz="1650"/>
              <a:t>individual</a:t>
            </a:r>
            <a:r>
              <a:rPr lang="en-US" sz="1650"/>
              <a:t> basis or have a marketing link)</a:t>
            </a:r>
            <a:endParaRPr sz="1650"/>
          </a:p>
          <a:p>
            <a:pPr indent="-219075" lvl="2" marL="914400" rtl="0" algn="l">
              <a:lnSpc>
                <a:spcPct val="115000"/>
              </a:lnSpc>
              <a:spcBef>
                <a:spcPts val="1000"/>
              </a:spcBef>
              <a:spcAft>
                <a:spcPts val="1000"/>
              </a:spcAft>
              <a:buClr>
                <a:schemeClr val="accent2"/>
              </a:buClr>
              <a:buSzPts val="1650"/>
              <a:buFont typeface="Noto Sans Symbols"/>
              <a:buChar char="•"/>
            </a:pPr>
            <a:r>
              <a:rPr lang="en-US" sz="1650"/>
              <a:t>Make naming consistent throughout the website and in all marketing</a:t>
            </a:r>
            <a:endParaRPr sz="1750"/>
          </a:p>
        </p:txBody>
      </p:sp>
      <p:pic>
        <p:nvPicPr>
          <p:cNvPr id="426" name="Google Shape;426;p59"/>
          <p:cNvPicPr preferRelativeResize="0"/>
          <p:nvPr/>
        </p:nvPicPr>
        <p:blipFill rotWithShape="1">
          <a:blip r:embed="rId3">
            <a:alphaModFix/>
          </a:blip>
          <a:srcRect b="0" l="0" r="0" t="0"/>
          <a:stretch/>
        </p:blipFill>
        <p:spPr>
          <a:xfrm>
            <a:off x="7797825" y="1883837"/>
            <a:ext cx="3026325" cy="3556300"/>
          </a:xfrm>
          <a:prstGeom prst="rect">
            <a:avLst/>
          </a:prstGeom>
          <a:noFill/>
          <a:ln>
            <a:noFill/>
          </a:ln>
        </p:spPr>
      </p:pic>
      <p:sp>
        <p:nvSpPr>
          <p:cNvPr id="427" name="Google Shape;427;p59"/>
          <p:cNvSpPr txBox="1"/>
          <p:nvPr/>
        </p:nvSpPr>
        <p:spPr>
          <a:xfrm>
            <a:off x="8140988" y="2109925"/>
            <a:ext cx="2340000" cy="25947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Benefits</a:t>
            </a:r>
            <a:r>
              <a:rPr b="1" lang="en-US" sz="1700">
                <a:solidFill>
                  <a:srgbClr val="434343"/>
                </a:solidFill>
                <a:latin typeface="Calibri"/>
                <a:ea typeface="Calibri"/>
                <a:cs typeface="Calibri"/>
                <a:sym typeface="Calibri"/>
              </a:rPr>
              <a:t>:</a:t>
            </a:r>
            <a:endParaRPr sz="1600">
              <a:solidFill>
                <a:srgbClr val="434343"/>
              </a:solidFill>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Clear choices make decisions easier for prospects</a:t>
            </a:r>
            <a:endParaRPr sz="1600">
              <a:solidFill>
                <a:srgbClr val="434343"/>
              </a:solidFill>
              <a:latin typeface="Calibri"/>
              <a:ea typeface="Calibri"/>
              <a:cs typeface="Calibri"/>
              <a:sym typeface="Calibri"/>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Consistency leads to clarity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0"/>
          <p:cNvSpPr txBox="1"/>
          <p:nvPr>
            <p:ph type="title"/>
          </p:nvPr>
        </p:nvSpPr>
        <p:spPr>
          <a:xfrm>
            <a:off x="725875" y="708025"/>
            <a:ext cx="11060400" cy="75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Services </a:t>
            </a:r>
            <a:r>
              <a:rPr b="0" i="1" lang="en-US" sz="3800">
                <a:solidFill>
                  <a:schemeClr val="accent4"/>
                </a:solidFill>
                <a:latin typeface="Calibri"/>
                <a:ea typeface="Calibri"/>
                <a:cs typeface="Calibri"/>
                <a:sym typeface="Calibri"/>
              </a:rPr>
              <a:t>Recommendation </a:t>
            </a:r>
            <a:endParaRPr b="0" i="1" sz="3800">
              <a:solidFill>
                <a:schemeClr val="accent4"/>
              </a:solidFill>
              <a:latin typeface="Calibri"/>
              <a:ea typeface="Calibri"/>
              <a:cs typeface="Calibri"/>
              <a:sym typeface="Calibri"/>
            </a:endParaRPr>
          </a:p>
        </p:txBody>
      </p:sp>
      <p:pic>
        <p:nvPicPr>
          <p:cNvPr id="433" name="Google Shape;433;p60"/>
          <p:cNvPicPr preferRelativeResize="0"/>
          <p:nvPr/>
        </p:nvPicPr>
        <p:blipFill rotWithShape="1">
          <a:blip r:embed="rId3">
            <a:alphaModFix/>
          </a:blip>
          <a:srcRect b="0" l="0" r="0" t="0"/>
          <a:stretch/>
        </p:blipFill>
        <p:spPr>
          <a:xfrm>
            <a:off x="7797825" y="1883837"/>
            <a:ext cx="3026325" cy="3556300"/>
          </a:xfrm>
          <a:prstGeom prst="rect">
            <a:avLst/>
          </a:prstGeom>
          <a:noFill/>
          <a:ln>
            <a:noFill/>
          </a:ln>
        </p:spPr>
      </p:pic>
      <p:sp>
        <p:nvSpPr>
          <p:cNvPr id="434" name="Google Shape;434;p60"/>
          <p:cNvSpPr txBox="1"/>
          <p:nvPr/>
        </p:nvSpPr>
        <p:spPr>
          <a:xfrm>
            <a:off x="8140988" y="2109925"/>
            <a:ext cx="2340000" cy="29904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PowerUp Leadership Solutions for High Growth Firms</a:t>
            </a:r>
            <a:endParaRPr sz="1600">
              <a:solidFill>
                <a:srgbClr val="434343"/>
              </a:solidFill>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Two clear paths</a:t>
            </a:r>
            <a:endParaRPr sz="1600">
              <a:solidFill>
                <a:srgbClr val="434343"/>
              </a:solidFill>
              <a:latin typeface="Calibri"/>
              <a:ea typeface="Calibri"/>
              <a:cs typeface="Calibri"/>
              <a:sym typeface="Calibri"/>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Naming reflects new PE and high growth firm focus</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graphicFrame>
        <p:nvGraphicFramePr>
          <p:cNvPr id="435" name="Google Shape;435;p60"/>
          <p:cNvGraphicFramePr/>
          <p:nvPr/>
        </p:nvGraphicFramePr>
        <p:xfrm>
          <a:off x="929800" y="2066033"/>
          <a:ext cx="3000000" cy="3000000"/>
        </p:xfrm>
        <a:graphic>
          <a:graphicData uri="http://schemas.openxmlformats.org/drawingml/2006/table">
            <a:tbl>
              <a:tblPr>
                <a:noFill/>
                <a:tableStyleId>{5BBB0059-F52F-4E20-A1E7-41198E15CC08}</a:tableStyleId>
              </a:tblPr>
              <a:tblGrid>
                <a:gridCol w="3281850"/>
                <a:gridCol w="3281850"/>
              </a:tblGrid>
              <a:tr h="381000">
                <a:tc>
                  <a:txBody>
                    <a:bodyPr/>
                    <a:lstStyle/>
                    <a:p>
                      <a:pPr indent="0" lvl="0" marL="0" rtl="0" algn="l">
                        <a:spcBef>
                          <a:spcPts val="0"/>
                        </a:spcBef>
                        <a:spcAft>
                          <a:spcPts val="0"/>
                        </a:spcAft>
                        <a:buNone/>
                      </a:pPr>
                      <a:r>
                        <a:rPr b="1" lang="en-US" sz="1600">
                          <a:solidFill>
                            <a:schemeClr val="dk1"/>
                          </a:solidFill>
                          <a:latin typeface="Calibri"/>
                          <a:ea typeface="Calibri"/>
                          <a:cs typeface="Calibri"/>
                          <a:sym typeface="Calibri"/>
                        </a:rPr>
                        <a:t>Leadership Development  for Growth</a:t>
                      </a:r>
                      <a:endParaRPr b="1" sz="1600">
                        <a:solidFill>
                          <a:schemeClr val="dk1"/>
                        </a:solidFill>
                        <a:latin typeface="Calibri"/>
                        <a:ea typeface="Calibri"/>
                        <a:cs typeface="Calibri"/>
                        <a:sym typeface="Calibri"/>
                      </a:endParaRPr>
                    </a:p>
                  </a:txBody>
                  <a:tcPr marT="91425" marB="91425" marR="91425" marL="91425">
                    <a:solidFill>
                      <a:schemeClr val="lt2"/>
                    </a:solidFill>
                  </a:tcPr>
                </a:tc>
                <a:tc>
                  <a:txBody>
                    <a:bodyPr/>
                    <a:lstStyle/>
                    <a:p>
                      <a:pPr indent="0" lvl="0" marL="0" rtl="0" algn="l">
                        <a:spcBef>
                          <a:spcPts val="0"/>
                        </a:spcBef>
                        <a:spcAft>
                          <a:spcPts val="0"/>
                        </a:spcAft>
                        <a:buNone/>
                      </a:pPr>
                      <a:r>
                        <a:rPr b="1" lang="en-US" sz="1600">
                          <a:solidFill>
                            <a:schemeClr val="dk1"/>
                          </a:solidFill>
                          <a:latin typeface="Calibri"/>
                          <a:ea typeface="Calibri"/>
                          <a:cs typeface="Calibri"/>
                          <a:sym typeface="Calibri"/>
                        </a:rPr>
                        <a:t>Talent Readiness for Scale</a:t>
                      </a:r>
                      <a:endParaRPr b="1" sz="1600">
                        <a:solidFill>
                          <a:schemeClr val="dk1"/>
                        </a:solidFill>
                        <a:latin typeface="Calibri"/>
                        <a:ea typeface="Calibri"/>
                        <a:cs typeface="Calibri"/>
                        <a:sym typeface="Calibri"/>
                      </a:endParaRPr>
                    </a:p>
                  </a:txBody>
                  <a:tcPr marT="91425" marB="91425" marR="91425" marL="91425">
                    <a:solidFill>
                      <a:schemeClr val="lt2"/>
                    </a:solidFill>
                  </a:tcPr>
                </a:tc>
              </a:tr>
              <a:tr h="381000">
                <a:tc>
                  <a:txBody>
                    <a:bodyPr/>
                    <a:lstStyle/>
                    <a:p>
                      <a:pPr indent="0" lvl="0" marL="0" rtl="0" algn="l">
                        <a:spcBef>
                          <a:spcPts val="0"/>
                        </a:spcBef>
                        <a:spcAft>
                          <a:spcPts val="0"/>
                        </a:spcAft>
                        <a:buNone/>
                      </a:pPr>
                      <a:r>
                        <a:rPr lang="en-US" sz="1500">
                          <a:latin typeface="Calibri"/>
                          <a:ea typeface="Calibri"/>
                          <a:cs typeface="Calibri"/>
                          <a:sym typeface="Calibri"/>
                        </a:rPr>
                        <a:t>Develop leadership capabilities to drive company growth and execution</a:t>
                      </a:r>
                      <a:endParaRPr sz="15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500">
                          <a:latin typeface="Calibri"/>
                          <a:ea typeface="Calibri"/>
                          <a:cs typeface="Calibri"/>
                          <a:sym typeface="Calibri"/>
                        </a:rPr>
                        <a:t>Build organizational capacity to scale sustainably and retain key talent</a:t>
                      </a:r>
                      <a:endParaRPr sz="1300">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US" sz="1500">
                          <a:latin typeface="Calibri"/>
                          <a:ea typeface="Calibri"/>
                          <a:cs typeface="Calibri"/>
                          <a:sym typeface="Calibri"/>
                        </a:rPr>
                        <a:t>Focused on individuals and leadership teams</a:t>
                      </a:r>
                      <a:endParaRPr sz="15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500">
                          <a:latin typeface="Calibri"/>
                          <a:ea typeface="Calibri"/>
                          <a:cs typeface="Calibri"/>
                          <a:sym typeface="Calibri"/>
                        </a:rPr>
                        <a:t>Focused on organizational structures and succession pipelines</a:t>
                      </a:r>
                      <a:endParaRPr sz="1500">
                        <a:latin typeface="Calibri"/>
                        <a:ea typeface="Calibri"/>
                        <a:cs typeface="Calibri"/>
                        <a:sym typeface="Calibri"/>
                      </a:endParaRPr>
                    </a:p>
                  </a:txBody>
                  <a:tcPr marT="91425" marB="91425" marR="91425" marL="91425"/>
                </a:tc>
              </a:tr>
              <a:tr h="592500">
                <a:tc>
                  <a:txBody>
                    <a:bodyPr/>
                    <a:lstStyle/>
                    <a:p>
                      <a:pPr indent="0" lvl="0" marL="0" rtl="0" algn="l">
                        <a:spcBef>
                          <a:spcPts val="0"/>
                        </a:spcBef>
                        <a:spcAft>
                          <a:spcPts val="0"/>
                        </a:spcAft>
                        <a:buNone/>
                      </a:pPr>
                      <a:r>
                        <a:rPr lang="en-US" sz="1500">
                          <a:latin typeface="Calibri"/>
                          <a:ea typeface="Calibri"/>
                          <a:cs typeface="Calibri"/>
                          <a:sym typeface="Calibri"/>
                        </a:rPr>
                        <a:t>Designed for founders, executives, and rising leaders</a:t>
                      </a:r>
                      <a:endParaRPr sz="15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1500">
                          <a:latin typeface="Calibri"/>
                          <a:ea typeface="Calibri"/>
                          <a:cs typeface="Calibri"/>
                          <a:sym typeface="Calibri"/>
                        </a:rPr>
                        <a:t>Designed for HR leaders, COOs, and scaling leadership teams</a:t>
                      </a:r>
                      <a:endParaRPr sz="1500">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b="1" lang="en-US" sz="1500">
                          <a:latin typeface="Calibri"/>
                          <a:ea typeface="Calibri"/>
                          <a:cs typeface="Calibri"/>
                          <a:sym typeface="Calibri"/>
                        </a:rPr>
                        <a:t>Outcome: </a:t>
                      </a:r>
                      <a:r>
                        <a:rPr lang="en-US" sz="1500">
                          <a:latin typeface="Calibri"/>
                          <a:ea typeface="Calibri"/>
                          <a:cs typeface="Calibri"/>
                          <a:sym typeface="Calibri"/>
                        </a:rPr>
                        <a:t>Stronger, growth-ready leadership bench</a:t>
                      </a:r>
                      <a:endParaRPr sz="15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n-US" sz="1500">
                          <a:latin typeface="Calibri"/>
                          <a:ea typeface="Calibri"/>
                          <a:cs typeface="Calibri"/>
                          <a:sym typeface="Calibri"/>
                        </a:rPr>
                        <a:t>Outcome: </a:t>
                      </a:r>
                      <a:r>
                        <a:rPr lang="en-US" sz="1500">
                          <a:latin typeface="Calibri"/>
                          <a:ea typeface="Calibri"/>
                          <a:cs typeface="Calibri"/>
                          <a:sym typeface="Calibri"/>
                        </a:rPr>
                        <a:t>Scalable, resilient organizational talent systems</a:t>
                      </a:r>
                      <a:endParaRPr sz="1500">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id="440" name="Google Shape;440;p61"/>
          <p:cNvPicPr preferRelativeResize="0"/>
          <p:nvPr/>
        </p:nvPicPr>
        <p:blipFill rotWithShape="1">
          <a:blip r:embed="rId3">
            <a:alphaModFix/>
          </a:blip>
          <a:srcRect b="0" l="0" r="0" t="0"/>
          <a:stretch/>
        </p:blipFill>
        <p:spPr>
          <a:xfrm>
            <a:off x="7249625" y="1883825"/>
            <a:ext cx="3792000" cy="3866200"/>
          </a:xfrm>
          <a:prstGeom prst="rect">
            <a:avLst/>
          </a:prstGeom>
          <a:noFill/>
          <a:ln>
            <a:noFill/>
          </a:ln>
        </p:spPr>
      </p:pic>
      <p:sp>
        <p:nvSpPr>
          <p:cNvPr id="441" name="Google Shape;441;p61"/>
          <p:cNvSpPr txBox="1"/>
          <p:nvPr>
            <p:ph type="title"/>
          </p:nvPr>
        </p:nvSpPr>
        <p:spPr>
          <a:xfrm>
            <a:off x="725875" y="708025"/>
            <a:ext cx="11060400" cy="75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Services </a:t>
            </a:r>
            <a:r>
              <a:rPr b="0" i="1" lang="en-US" sz="3800">
                <a:solidFill>
                  <a:schemeClr val="accent4"/>
                </a:solidFill>
                <a:latin typeface="Calibri"/>
                <a:ea typeface="Calibri"/>
                <a:cs typeface="Calibri"/>
                <a:sym typeface="Calibri"/>
              </a:rPr>
              <a:t>Recommendation </a:t>
            </a:r>
            <a:endParaRPr b="0" i="1" sz="3800">
              <a:solidFill>
                <a:schemeClr val="accent4"/>
              </a:solidFill>
              <a:latin typeface="Calibri"/>
              <a:ea typeface="Calibri"/>
              <a:cs typeface="Calibri"/>
              <a:sym typeface="Calibri"/>
            </a:endParaRPr>
          </a:p>
        </p:txBody>
      </p:sp>
      <p:sp>
        <p:nvSpPr>
          <p:cNvPr id="442" name="Google Shape;442;p61"/>
          <p:cNvSpPr txBox="1"/>
          <p:nvPr>
            <p:ph idx="1" type="body"/>
          </p:nvPr>
        </p:nvSpPr>
        <p:spPr>
          <a:xfrm>
            <a:off x="530175" y="1950900"/>
            <a:ext cx="5840700" cy="2211900"/>
          </a:xfrm>
          <a:prstGeom prst="rect">
            <a:avLst/>
          </a:prstGeom>
          <a:noFill/>
          <a:ln>
            <a:noFill/>
          </a:ln>
        </p:spPr>
        <p:txBody>
          <a:bodyPr anchorCtr="0" anchor="t" bIns="45700" lIns="91425" spcFirstLastPara="1" rIns="91425" wrap="square" tIns="45700">
            <a:noAutofit/>
          </a:bodyPr>
          <a:lstStyle/>
          <a:p>
            <a:pPr indent="0" lvl="0" marL="400050" rtl="0" algn="l">
              <a:lnSpc>
                <a:spcPct val="100000"/>
              </a:lnSpc>
              <a:spcBef>
                <a:spcPts val="600"/>
              </a:spcBef>
              <a:spcAft>
                <a:spcPts val="0"/>
              </a:spcAft>
              <a:buNone/>
            </a:pPr>
            <a:r>
              <a:rPr b="1" lang="en-US" sz="1950"/>
              <a:t>Leadership Development for Growth</a:t>
            </a:r>
            <a:br>
              <a:rPr b="1" lang="en-US" sz="1950"/>
            </a:br>
            <a:r>
              <a:rPr i="1" lang="en-US" sz="1750"/>
              <a:t>Empowering leaders to scale with confidence and clarity</a:t>
            </a:r>
            <a:br>
              <a:rPr i="1" lang="en-US" sz="1750"/>
            </a:br>
            <a:endParaRPr i="1" sz="1750"/>
          </a:p>
          <a:p>
            <a:pPr indent="-219075" lvl="1" marL="685800" rtl="0" algn="l">
              <a:lnSpc>
                <a:spcPct val="100000"/>
              </a:lnSpc>
              <a:spcBef>
                <a:spcPts val="600"/>
              </a:spcBef>
              <a:spcAft>
                <a:spcPts val="0"/>
              </a:spcAft>
              <a:buClr>
                <a:schemeClr val="accent2"/>
              </a:buClr>
              <a:buSzPts val="1650"/>
              <a:buFont typeface="Noto Sans Symbols"/>
              <a:buChar char="✔"/>
            </a:pPr>
            <a:r>
              <a:rPr b="1" lang="en-US" sz="1650"/>
              <a:t>Main Services:</a:t>
            </a:r>
            <a:endParaRPr b="1" sz="1650"/>
          </a:p>
          <a:p>
            <a:pPr indent="-219075" lvl="2" marL="1143000" rtl="0" algn="l">
              <a:lnSpc>
                <a:spcPct val="100000"/>
              </a:lnSpc>
              <a:spcBef>
                <a:spcPts val="600"/>
              </a:spcBef>
              <a:spcAft>
                <a:spcPts val="0"/>
              </a:spcAft>
              <a:buClr>
                <a:schemeClr val="accent2"/>
              </a:buClr>
              <a:buSzPts val="1650"/>
              <a:buFont typeface="Noto Sans Symbols"/>
              <a:buChar char="•"/>
            </a:pPr>
            <a:r>
              <a:rPr lang="en-US" sz="1650"/>
              <a:t>Executive Coaching for Founders and C-Suite Leaders</a:t>
            </a:r>
            <a:endParaRPr sz="1650"/>
          </a:p>
          <a:p>
            <a:pPr indent="-219075" lvl="2" marL="1143000" rtl="0" algn="l">
              <a:lnSpc>
                <a:spcPct val="100000"/>
              </a:lnSpc>
              <a:spcBef>
                <a:spcPts val="600"/>
              </a:spcBef>
              <a:spcAft>
                <a:spcPts val="0"/>
              </a:spcAft>
              <a:buClr>
                <a:schemeClr val="accent2"/>
              </a:buClr>
              <a:buSzPts val="1650"/>
              <a:buFont typeface="Noto Sans Symbols"/>
              <a:buChar char="•"/>
            </a:pPr>
            <a:r>
              <a:rPr lang="en-US" sz="1650"/>
              <a:t>Leadership Team Development </a:t>
            </a:r>
            <a:endParaRPr sz="1650"/>
          </a:p>
          <a:p>
            <a:pPr indent="-219075" lvl="3" marL="1600200" rtl="0" algn="l">
              <a:lnSpc>
                <a:spcPct val="100000"/>
              </a:lnSpc>
              <a:spcBef>
                <a:spcPts val="600"/>
              </a:spcBef>
              <a:spcAft>
                <a:spcPts val="0"/>
              </a:spcAft>
              <a:buSzPts val="1650"/>
              <a:buChar char="•"/>
            </a:pPr>
            <a:r>
              <a:rPr lang="en-US" sz="1650"/>
              <a:t>Leadership Assessment and Growth Planning</a:t>
            </a:r>
            <a:endParaRPr sz="1650"/>
          </a:p>
          <a:p>
            <a:pPr indent="-219075" lvl="3" marL="1600200" rtl="0" algn="l">
              <a:lnSpc>
                <a:spcPct val="100000"/>
              </a:lnSpc>
              <a:spcBef>
                <a:spcPts val="600"/>
              </a:spcBef>
              <a:spcAft>
                <a:spcPts val="0"/>
              </a:spcAft>
              <a:buSzPts val="1650"/>
              <a:buChar char="•"/>
            </a:pPr>
            <a:r>
              <a:rPr lang="en-US" sz="1650"/>
              <a:t>High Stakes Communication Workshops</a:t>
            </a:r>
            <a:endParaRPr sz="1650"/>
          </a:p>
          <a:p>
            <a:pPr indent="-219075" lvl="1" marL="685800" rtl="0" algn="l">
              <a:lnSpc>
                <a:spcPct val="100000"/>
              </a:lnSpc>
              <a:spcBef>
                <a:spcPts val="600"/>
              </a:spcBef>
              <a:spcAft>
                <a:spcPts val="0"/>
              </a:spcAft>
              <a:buClr>
                <a:schemeClr val="accent2"/>
              </a:buClr>
              <a:buSzPts val="1650"/>
              <a:buFont typeface="Noto Sans Symbols"/>
              <a:buChar char="✔"/>
            </a:pPr>
            <a:r>
              <a:rPr b="1" lang="en-US" sz="1650"/>
              <a:t>Other Services:</a:t>
            </a:r>
            <a:endParaRPr b="1" sz="1650"/>
          </a:p>
          <a:p>
            <a:pPr indent="-219075" lvl="2" marL="1143000" rtl="0" algn="l">
              <a:lnSpc>
                <a:spcPct val="100000"/>
              </a:lnSpc>
              <a:spcBef>
                <a:spcPts val="600"/>
              </a:spcBef>
              <a:spcAft>
                <a:spcPts val="600"/>
              </a:spcAft>
              <a:buClr>
                <a:schemeClr val="accent2"/>
              </a:buClr>
              <a:buSzPts val="1650"/>
              <a:buFont typeface="Noto Sans Symbols"/>
              <a:buChar char="•"/>
            </a:pPr>
            <a:r>
              <a:rPr lang="en-US" sz="1650"/>
              <a:t>Emerging Leader Development Programs</a:t>
            </a:r>
            <a:endParaRPr sz="1750"/>
          </a:p>
        </p:txBody>
      </p:sp>
      <p:sp>
        <p:nvSpPr>
          <p:cNvPr id="443" name="Google Shape;443;p61"/>
          <p:cNvSpPr txBox="1"/>
          <p:nvPr>
            <p:ph idx="1" type="body"/>
          </p:nvPr>
        </p:nvSpPr>
        <p:spPr>
          <a:xfrm>
            <a:off x="7383325" y="2109925"/>
            <a:ext cx="3390900" cy="2211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600"/>
              </a:spcBef>
              <a:spcAft>
                <a:spcPts val="0"/>
              </a:spcAft>
              <a:buNone/>
            </a:pPr>
            <a:r>
              <a:rPr b="1" lang="en-US" sz="1450"/>
              <a:t>Target Buyers:</a:t>
            </a:r>
            <a:endParaRPr b="1" sz="1450"/>
          </a:p>
          <a:p>
            <a:pPr indent="-206375" lvl="1" marL="685800" rtl="0" algn="l">
              <a:lnSpc>
                <a:spcPct val="100000"/>
              </a:lnSpc>
              <a:spcBef>
                <a:spcPts val="600"/>
              </a:spcBef>
              <a:spcAft>
                <a:spcPts val="0"/>
              </a:spcAft>
              <a:buClr>
                <a:schemeClr val="accent2"/>
              </a:buClr>
              <a:buSzPts val="1450"/>
              <a:buFont typeface="Noto Sans Symbols"/>
              <a:buChar char="✔"/>
            </a:pPr>
            <a:r>
              <a:rPr lang="en-US" sz="1450"/>
              <a:t>CEO / Founder</a:t>
            </a:r>
            <a:endParaRPr sz="1450"/>
          </a:p>
          <a:p>
            <a:pPr indent="-206375" lvl="1" marL="685800" rtl="0" algn="l">
              <a:lnSpc>
                <a:spcPct val="100000"/>
              </a:lnSpc>
              <a:spcBef>
                <a:spcPts val="600"/>
              </a:spcBef>
              <a:spcAft>
                <a:spcPts val="0"/>
              </a:spcAft>
              <a:buClr>
                <a:schemeClr val="accent2"/>
              </a:buClr>
              <a:buSzPts val="1450"/>
              <a:buFont typeface="Noto Sans Symbols"/>
              <a:buChar char="✔"/>
            </a:pPr>
            <a:r>
              <a:rPr lang="en-US" sz="1450"/>
              <a:t>COO</a:t>
            </a:r>
            <a:endParaRPr sz="1450"/>
          </a:p>
          <a:p>
            <a:pPr indent="-206375" lvl="1" marL="685800" rtl="0" algn="l">
              <a:lnSpc>
                <a:spcPct val="100000"/>
              </a:lnSpc>
              <a:spcBef>
                <a:spcPts val="600"/>
              </a:spcBef>
              <a:spcAft>
                <a:spcPts val="0"/>
              </a:spcAft>
              <a:buClr>
                <a:schemeClr val="accent2"/>
              </a:buClr>
              <a:buSzPts val="1450"/>
              <a:buFont typeface="Noto Sans Symbols"/>
              <a:buChar char="✔"/>
            </a:pPr>
            <a:r>
              <a:rPr lang="en-US" sz="1450"/>
              <a:t>Individual Executives (sponsored by the company)</a:t>
            </a:r>
            <a:endParaRPr sz="1450"/>
          </a:p>
          <a:p>
            <a:pPr indent="0" lvl="0" marL="0" rtl="0" algn="l">
              <a:lnSpc>
                <a:spcPct val="100000"/>
              </a:lnSpc>
              <a:spcBef>
                <a:spcPts val="600"/>
              </a:spcBef>
              <a:spcAft>
                <a:spcPts val="0"/>
              </a:spcAft>
              <a:buNone/>
            </a:pPr>
            <a:r>
              <a:rPr b="1" lang="en-US" sz="1450"/>
              <a:t>Business Outcomes:</a:t>
            </a:r>
            <a:endParaRPr b="1" sz="1450"/>
          </a:p>
          <a:p>
            <a:pPr indent="-206375" lvl="1" marL="685800" rtl="0" algn="l">
              <a:lnSpc>
                <a:spcPct val="100000"/>
              </a:lnSpc>
              <a:spcBef>
                <a:spcPts val="600"/>
              </a:spcBef>
              <a:spcAft>
                <a:spcPts val="0"/>
              </a:spcAft>
              <a:buClr>
                <a:schemeClr val="accent2"/>
              </a:buClr>
              <a:buSzPts val="1450"/>
              <a:buFont typeface="Noto Sans Symbols"/>
              <a:buChar char="✔"/>
            </a:pPr>
            <a:r>
              <a:rPr lang="en-US" sz="1450"/>
              <a:t>Accelerate leadership capacity to match company growth</a:t>
            </a:r>
            <a:endParaRPr sz="1450"/>
          </a:p>
          <a:p>
            <a:pPr indent="-206375" lvl="1" marL="685800" rtl="0" algn="l">
              <a:lnSpc>
                <a:spcPct val="100000"/>
              </a:lnSpc>
              <a:spcBef>
                <a:spcPts val="600"/>
              </a:spcBef>
              <a:spcAft>
                <a:spcPts val="0"/>
              </a:spcAft>
              <a:buClr>
                <a:schemeClr val="accent2"/>
              </a:buClr>
              <a:buSzPts val="1450"/>
              <a:buFont typeface="Noto Sans Symbols"/>
              <a:buChar char="✔"/>
            </a:pPr>
            <a:r>
              <a:rPr lang="en-US" sz="1450"/>
              <a:t>Strengthen decision-making and execution at all levels</a:t>
            </a:r>
            <a:endParaRPr sz="1450"/>
          </a:p>
          <a:p>
            <a:pPr indent="-206375" lvl="1" marL="685800" rtl="0" algn="l">
              <a:lnSpc>
                <a:spcPct val="100000"/>
              </a:lnSpc>
              <a:spcBef>
                <a:spcPts val="600"/>
              </a:spcBef>
              <a:spcAft>
                <a:spcPts val="0"/>
              </a:spcAft>
              <a:buClr>
                <a:schemeClr val="accent2"/>
              </a:buClr>
              <a:buSzPts val="1450"/>
              <a:buFont typeface="Noto Sans Symbols"/>
              <a:buChar char="✔"/>
            </a:pPr>
            <a:r>
              <a:rPr lang="en-US" sz="1450"/>
              <a:t>Improve retention and development of high-potential leaders</a:t>
            </a:r>
            <a:endParaRPr sz="1450"/>
          </a:p>
          <a:p>
            <a:pPr indent="-219075" lvl="2" marL="1143000" rtl="0" algn="l">
              <a:lnSpc>
                <a:spcPct val="115000"/>
              </a:lnSpc>
              <a:spcBef>
                <a:spcPts val="600"/>
              </a:spcBef>
              <a:spcAft>
                <a:spcPts val="1000"/>
              </a:spcAft>
              <a:buClr>
                <a:schemeClr val="accent2"/>
              </a:buClr>
              <a:buSzPts val="1650"/>
              <a:buFont typeface="Noto Sans Symbols"/>
              <a:buChar char="•"/>
            </a:pPr>
            <a:r>
              <a:t/>
            </a:r>
            <a:endParaRPr sz="175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id="448" name="Google Shape;448;p62"/>
          <p:cNvPicPr preferRelativeResize="0"/>
          <p:nvPr/>
        </p:nvPicPr>
        <p:blipFill rotWithShape="1">
          <a:blip r:embed="rId3">
            <a:alphaModFix/>
          </a:blip>
          <a:srcRect b="0" l="0" r="0" t="0"/>
          <a:stretch/>
        </p:blipFill>
        <p:spPr>
          <a:xfrm>
            <a:off x="983800" y="1877525"/>
            <a:ext cx="5138725" cy="2745425"/>
          </a:xfrm>
          <a:prstGeom prst="rect">
            <a:avLst/>
          </a:prstGeom>
          <a:noFill/>
          <a:ln>
            <a:noFill/>
          </a:ln>
        </p:spPr>
      </p:pic>
      <p:sp>
        <p:nvSpPr>
          <p:cNvPr id="449" name="Google Shape;449;p62"/>
          <p:cNvSpPr txBox="1"/>
          <p:nvPr>
            <p:ph type="title"/>
          </p:nvPr>
        </p:nvSpPr>
        <p:spPr>
          <a:xfrm>
            <a:off x="725875" y="708025"/>
            <a:ext cx="11060400" cy="75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Services </a:t>
            </a:r>
            <a:r>
              <a:rPr b="0" i="1" lang="en-US" sz="3800">
                <a:solidFill>
                  <a:schemeClr val="accent4"/>
                </a:solidFill>
                <a:latin typeface="Calibri"/>
                <a:ea typeface="Calibri"/>
                <a:cs typeface="Calibri"/>
                <a:sym typeface="Calibri"/>
              </a:rPr>
              <a:t>Assets</a:t>
            </a:r>
            <a:endParaRPr b="0" i="1" sz="3800">
              <a:solidFill>
                <a:schemeClr val="accent4"/>
              </a:solidFill>
              <a:latin typeface="Calibri"/>
              <a:ea typeface="Calibri"/>
              <a:cs typeface="Calibri"/>
              <a:sym typeface="Calibri"/>
            </a:endParaRPr>
          </a:p>
        </p:txBody>
      </p:sp>
      <p:sp>
        <p:nvSpPr>
          <p:cNvPr id="450" name="Google Shape;450;p62"/>
          <p:cNvSpPr txBox="1"/>
          <p:nvPr>
            <p:ph idx="1" type="body"/>
          </p:nvPr>
        </p:nvSpPr>
        <p:spPr>
          <a:xfrm>
            <a:off x="1451800" y="2208775"/>
            <a:ext cx="5769300" cy="2211900"/>
          </a:xfrm>
          <a:prstGeom prst="rect">
            <a:avLst/>
          </a:prstGeom>
          <a:noFill/>
          <a:ln>
            <a:noFill/>
          </a:ln>
        </p:spPr>
        <p:txBody>
          <a:bodyPr anchorCtr="0" anchor="t" bIns="45700" lIns="91425" spcFirstLastPara="1" rIns="91425" wrap="square" tIns="45700">
            <a:noAutofit/>
          </a:bodyPr>
          <a:lstStyle/>
          <a:p>
            <a:pPr indent="-238125" lvl="0" marL="228600" rtl="0" algn="l">
              <a:lnSpc>
                <a:spcPct val="100000"/>
              </a:lnSpc>
              <a:spcBef>
                <a:spcPts val="600"/>
              </a:spcBef>
              <a:spcAft>
                <a:spcPts val="0"/>
              </a:spcAft>
              <a:buClr>
                <a:schemeClr val="accent2"/>
              </a:buClr>
              <a:buSzPts val="1950"/>
              <a:buFont typeface="Noto Sans Symbols"/>
              <a:buChar char="➔"/>
            </a:pPr>
            <a:r>
              <a:rPr b="1" lang="en-US" sz="1950"/>
              <a:t>Bonus Services Assets</a:t>
            </a:r>
            <a:r>
              <a:rPr b="1" lang="en-US" sz="1950"/>
              <a:t>:</a:t>
            </a:r>
            <a:endParaRPr b="1" sz="1950"/>
          </a:p>
          <a:p>
            <a:pPr indent="-219075" lvl="1" marL="685800" rtl="0" algn="l">
              <a:lnSpc>
                <a:spcPct val="100000"/>
              </a:lnSpc>
              <a:spcBef>
                <a:spcPts val="600"/>
              </a:spcBef>
              <a:spcAft>
                <a:spcPts val="0"/>
              </a:spcAft>
              <a:buClr>
                <a:schemeClr val="accent2"/>
              </a:buClr>
              <a:buSzPts val="1650"/>
              <a:buFont typeface="Noto Sans Symbols"/>
              <a:buChar char="◆"/>
            </a:pPr>
            <a:r>
              <a:rPr lang="en-US" sz="1650"/>
              <a:t>Services overview</a:t>
            </a:r>
            <a:endParaRPr sz="1650"/>
          </a:p>
          <a:p>
            <a:pPr indent="-219075" lvl="1" marL="685800" rtl="0" algn="l">
              <a:lnSpc>
                <a:spcPct val="100000"/>
              </a:lnSpc>
              <a:spcBef>
                <a:spcPts val="600"/>
              </a:spcBef>
              <a:spcAft>
                <a:spcPts val="0"/>
              </a:spcAft>
              <a:buClr>
                <a:schemeClr val="accent2"/>
              </a:buClr>
              <a:buSzPts val="1650"/>
              <a:buFont typeface="Noto Sans Symbols"/>
              <a:buChar char="◆"/>
            </a:pPr>
            <a:r>
              <a:rPr lang="en-US" sz="1650"/>
              <a:t>Services website copy</a:t>
            </a:r>
            <a:endParaRPr sz="1650"/>
          </a:p>
          <a:p>
            <a:pPr indent="-219075" lvl="2" marL="1143000" rtl="0" algn="l">
              <a:lnSpc>
                <a:spcPct val="100000"/>
              </a:lnSpc>
              <a:spcBef>
                <a:spcPts val="600"/>
              </a:spcBef>
              <a:spcAft>
                <a:spcPts val="0"/>
              </a:spcAft>
              <a:buSzPts val="1650"/>
              <a:buChar char="●"/>
            </a:pPr>
            <a:r>
              <a:rPr lang="en-US" sz="1650"/>
              <a:t>Main services page</a:t>
            </a:r>
            <a:endParaRPr sz="1650"/>
          </a:p>
          <a:p>
            <a:pPr indent="-219075" lvl="2" marL="1143000" rtl="0" algn="l">
              <a:lnSpc>
                <a:spcPct val="100000"/>
              </a:lnSpc>
              <a:spcBef>
                <a:spcPts val="600"/>
              </a:spcBef>
              <a:spcAft>
                <a:spcPts val="0"/>
              </a:spcAft>
              <a:buSzPts val="1650"/>
              <a:buChar char="●"/>
            </a:pPr>
            <a:r>
              <a:rPr lang="en-US" sz="1650"/>
              <a:t>Leadership </a:t>
            </a:r>
            <a:r>
              <a:rPr lang="en-US" sz="1650"/>
              <a:t>development</a:t>
            </a:r>
            <a:r>
              <a:rPr lang="en-US" sz="1650"/>
              <a:t> page</a:t>
            </a:r>
            <a:endParaRPr sz="1650"/>
          </a:p>
          <a:p>
            <a:pPr indent="-219075" lvl="2" marL="1143000" rtl="0" algn="l">
              <a:lnSpc>
                <a:spcPct val="100000"/>
              </a:lnSpc>
              <a:spcBef>
                <a:spcPts val="600"/>
              </a:spcBef>
              <a:spcAft>
                <a:spcPts val="0"/>
              </a:spcAft>
              <a:buSzPts val="1650"/>
              <a:buChar char="●"/>
            </a:pPr>
            <a:r>
              <a:rPr lang="en-US" sz="1650"/>
              <a:t>Talent readiness page</a:t>
            </a:r>
            <a:endParaRPr sz="1650"/>
          </a:p>
          <a:p>
            <a:pPr indent="0" lvl="0" marL="0" rtl="0" algn="l">
              <a:lnSpc>
                <a:spcPct val="100000"/>
              </a:lnSpc>
              <a:spcBef>
                <a:spcPts val="600"/>
              </a:spcBef>
              <a:spcAft>
                <a:spcPts val="600"/>
              </a:spcAft>
              <a:buNone/>
            </a:pPr>
            <a:r>
              <a:t/>
            </a:r>
            <a:endParaRPr sz="175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3"/>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solidFill>
                  <a:srgbClr val="202124"/>
                </a:solidFill>
              </a:rPr>
              <a:t>Marketing Strategy </a:t>
            </a:r>
            <a:endParaRPr>
              <a:solidFill>
                <a:srgbClr val="202124"/>
              </a:solidFill>
            </a:endParaRPr>
          </a:p>
          <a:p>
            <a:pPr indent="0" lvl="0" marL="0" rtl="0" algn="ctr">
              <a:lnSpc>
                <a:spcPct val="90000"/>
              </a:lnSpc>
              <a:spcBef>
                <a:spcPts val="0"/>
              </a:spcBef>
              <a:spcAft>
                <a:spcPts val="0"/>
              </a:spcAft>
              <a:buClr>
                <a:schemeClr val="accent2"/>
              </a:buClr>
              <a:buSzPts val="4400"/>
              <a:buFont typeface="Calibri"/>
              <a:buNone/>
            </a:pPr>
            <a:r>
              <a:rPr i="1" lang="en-US"/>
              <a:t>Foundation - Core Difference &amp; Messaging</a:t>
            </a:r>
            <a:endParaRPr i="1"/>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4"/>
          <p:cNvSpPr txBox="1"/>
          <p:nvPr>
            <p:ph type="title"/>
          </p:nvPr>
        </p:nvSpPr>
        <p:spPr>
          <a:xfrm>
            <a:off x="791375" y="73077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4000">
                <a:solidFill>
                  <a:srgbClr val="073763"/>
                </a:solidFill>
                <a:latin typeface="Calibri"/>
                <a:ea typeface="Calibri"/>
                <a:cs typeface="Calibri"/>
                <a:sym typeface="Calibri"/>
              </a:rPr>
              <a:t>Core Difference </a:t>
            </a:r>
            <a:r>
              <a:rPr b="0" i="1" lang="en-US" sz="4000">
                <a:solidFill>
                  <a:schemeClr val="accent4"/>
                </a:solidFill>
                <a:latin typeface="Calibri"/>
                <a:ea typeface="Calibri"/>
                <a:cs typeface="Calibri"/>
                <a:sym typeface="Calibri"/>
              </a:rPr>
              <a:t>Review</a:t>
            </a:r>
            <a:endParaRPr b="0" i="1" sz="4000">
              <a:solidFill>
                <a:schemeClr val="accent4"/>
              </a:solidFill>
              <a:latin typeface="Calibri"/>
              <a:ea typeface="Calibri"/>
              <a:cs typeface="Calibri"/>
              <a:sym typeface="Calibri"/>
            </a:endParaRPr>
          </a:p>
        </p:txBody>
      </p:sp>
      <p:sp>
        <p:nvSpPr>
          <p:cNvPr id="461" name="Google Shape;461;p64"/>
          <p:cNvSpPr txBox="1"/>
          <p:nvPr>
            <p:ph idx="1" type="body"/>
          </p:nvPr>
        </p:nvSpPr>
        <p:spPr>
          <a:xfrm>
            <a:off x="456075" y="1575175"/>
            <a:ext cx="7097100" cy="4630200"/>
          </a:xfrm>
          <a:prstGeom prst="rect">
            <a:avLst/>
          </a:prstGeom>
          <a:noFill/>
          <a:ln>
            <a:noFill/>
          </a:ln>
        </p:spPr>
        <p:txBody>
          <a:bodyPr anchorCtr="0" anchor="t" bIns="45700" lIns="91425" spcFirstLastPara="1" rIns="91425" wrap="square" tIns="45700">
            <a:noAutofit/>
          </a:bodyPr>
          <a:lstStyle/>
          <a:p>
            <a:pPr indent="-244475" lvl="1" marL="685800" rtl="0" algn="l">
              <a:lnSpc>
                <a:spcPct val="100000"/>
              </a:lnSpc>
              <a:spcBef>
                <a:spcPts val="1000"/>
              </a:spcBef>
              <a:spcAft>
                <a:spcPts val="0"/>
              </a:spcAft>
              <a:buClr>
                <a:schemeClr val="accent2"/>
              </a:buClr>
              <a:buSzPts val="2050"/>
              <a:buFont typeface="Noto Sans Symbols"/>
              <a:buChar char="✔"/>
            </a:pPr>
            <a:r>
              <a:rPr lang="en-US" sz="1850"/>
              <a:t>Our client interviews indicate that PowerUp’s ideal customers most value:</a:t>
            </a:r>
            <a:endParaRPr sz="1850"/>
          </a:p>
          <a:p>
            <a:pPr indent="-244475" lvl="3" marL="914400" rtl="0" algn="l">
              <a:lnSpc>
                <a:spcPct val="100000"/>
              </a:lnSpc>
              <a:spcBef>
                <a:spcPts val="1000"/>
              </a:spcBef>
              <a:spcAft>
                <a:spcPts val="0"/>
              </a:spcAft>
              <a:buClr>
                <a:schemeClr val="accent2"/>
              </a:buClr>
              <a:buSzPts val="2050"/>
              <a:buFont typeface="Noto Sans Symbols"/>
              <a:buChar char="•"/>
            </a:pPr>
            <a:r>
              <a:rPr lang="en-US" sz="1850"/>
              <a:t>Flexible and customizable services to meet their unique needs vs. out-of-the-box rigid solutions</a:t>
            </a:r>
            <a:endParaRPr sz="1850"/>
          </a:p>
          <a:p>
            <a:pPr indent="-244475" lvl="3" marL="914400" rtl="0" algn="l">
              <a:lnSpc>
                <a:spcPct val="100000"/>
              </a:lnSpc>
              <a:spcBef>
                <a:spcPts val="1000"/>
              </a:spcBef>
              <a:spcAft>
                <a:spcPts val="0"/>
              </a:spcAft>
              <a:buClr>
                <a:schemeClr val="accent2"/>
              </a:buClr>
              <a:buSzPts val="2050"/>
              <a:buFont typeface="Noto Sans Symbols"/>
              <a:buChar char="•"/>
            </a:pPr>
            <a:r>
              <a:rPr lang="en-US" sz="1850"/>
              <a:t>Ability to scale and offer support across leadership development and talent transformation from teams to executives</a:t>
            </a:r>
            <a:endParaRPr sz="1850"/>
          </a:p>
          <a:p>
            <a:pPr indent="-244475" lvl="3" marL="914400" rtl="0" algn="l">
              <a:lnSpc>
                <a:spcPct val="100000"/>
              </a:lnSpc>
              <a:spcBef>
                <a:spcPts val="1000"/>
              </a:spcBef>
              <a:spcAft>
                <a:spcPts val="0"/>
              </a:spcAft>
              <a:buClr>
                <a:schemeClr val="accent2"/>
              </a:buClr>
              <a:buSzPts val="2050"/>
              <a:buFont typeface="Noto Sans Symbols"/>
              <a:buChar char="•"/>
            </a:pPr>
            <a:r>
              <a:rPr lang="en-US" sz="1850"/>
              <a:t>True partner/human touch - they feel PowerUp really cares, and believe they are with them to support their future</a:t>
            </a:r>
            <a:endParaRPr sz="1850"/>
          </a:p>
          <a:p>
            <a:pPr indent="-244475" lvl="1" marL="685800" rtl="0" algn="l">
              <a:lnSpc>
                <a:spcPct val="100000"/>
              </a:lnSpc>
              <a:spcBef>
                <a:spcPts val="1000"/>
              </a:spcBef>
              <a:spcAft>
                <a:spcPts val="0"/>
              </a:spcAft>
              <a:buClr>
                <a:schemeClr val="accent2"/>
              </a:buClr>
              <a:buSzPts val="2050"/>
              <a:buFont typeface="Noto Sans Symbols"/>
              <a:buChar char="✔"/>
            </a:pPr>
            <a:r>
              <a:rPr lang="en-US" sz="1850"/>
              <a:t>Our competitive research reveals that not many competitors in the private company arena offer true customization/flexibility</a:t>
            </a:r>
            <a:endParaRPr sz="1850"/>
          </a:p>
          <a:p>
            <a:pPr indent="0" lvl="0" marL="1600200" rtl="0" algn="l">
              <a:lnSpc>
                <a:spcPct val="100000"/>
              </a:lnSpc>
              <a:spcBef>
                <a:spcPts val="1000"/>
              </a:spcBef>
              <a:spcAft>
                <a:spcPts val="0"/>
              </a:spcAft>
              <a:buNone/>
            </a:pPr>
            <a:r>
              <a:t/>
            </a:r>
            <a:endParaRPr sz="1850"/>
          </a:p>
        </p:txBody>
      </p:sp>
      <p:pic>
        <p:nvPicPr>
          <p:cNvPr id="462" name="Google Shape;462;p64"/>
          <p:cNvPicPr preferRelativeResize="0"/>
          <p:nvPr/>
        </p:nvPicPr>
        <p:blipFill rotWithShape="1">
          <a:blip r:embed="rId3">
            <a:alphaModFix/>
          </a:blip>
          <a:srcRect b="0" l="0" r="0" t="0"/>
          <a:stretch/>
        </p:blipFill>
        <p:spPr>
          <a:xfrm>
            <a:off x="7751475" y="1724700"/>
            <a:ext cx="3759125" cy="4227499"/>
          </a:xfrm>
          <a:prstGeom prst="rect">
            <a:avLst/>
          </a:prstGeom>
          <a:noFill/>
          <a:ln>
            <a:noFill/>
          </a:ln>
        </p:spPr>
      </p:pic>
      <p:sp>
        <p:nvSpPr>
          <p:cNvPr id="463" name="Google Shape;463;p64"/>
          <p:cNvSpPr txBox="1"/>
          <p:nvPr/>
        </p:nvSpPr>
        <p:spPr>
          <a:xfrm>
            <a:off x="8122275" y="1949225"/>
            <a:ext cx="3412200" cy="34062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Insights:</a:t>
            </a:r>
            <a:endParaRPr sz="1600">
              <a:solidFill>
                <a:srgbClr val="434343"/>
              </a:solidFill>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Flexible and customizable solutions are hard to deliver at scale</a:t>
            </a:r>
            <a:endParaRPr sz="1600">
              <a:solidFill>
                <a:srgbClr val="434343"/>
              </a:solidFill>
              <a:latin typeface="Calibri"/>
              <a:ea typeface="Calibri"/>
              <a:cs typeface="Calibri"/>
              <a:sym typeface="Calibri"/>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PowerUp has been </a:t>
            </a:r>
            <a:r>
              <a:rPr lang="en-US" sz="1600">
                <a:solidFill>
                  <a:srgbClr val="434343"/>
                </a:solidFill>
                <a:latin typeface="Calibri"/>
                <a:ea typeface="Calibri"/>
                <a:cs typeface="Calibri"/>
                <a:sym typeface="Calibri"/>
              </a:rPr>
              <a:t>successful</a:t>
            </a:r>
            <a:r>
              <a:rPr lang="en-US" sz="1600">
                <a:solidFill>
                  <a:srgbClr val="434343"/>
                </a:solidFill>
                <a:latin typeface="Calibri"/>
                <a:ea typeface="Calibri"/>
                <a:cs typeface="Calibri"/>
                <a:sym typeface="Calibri"/>
              </a:rPr>
              <a:t> in a way other firms have not</a:t>
            </a:r>
            <a:endParaRPr sz="1600">
              <a:solidFill>
                <a:srgbClr val="434343"/>
              </a:solidFill>
              <a:latin typeface="Calibri"/>
              <a:ea typeface="Calibri"/>
              <a:cs typeface="Calibri"/>
              <a:sym typeface="Calibri"/>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Customer truly value these core differences, which would allow PowerUp to scale through referrals and case studies</a:t>
            </a:r>
            <a:endParaRPr sz="1600">
              <a:solidFill>
                <a:srgbClr val="434343"/>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5"/>
          <p:cNvSpPr txBox="1"/>
          <p:nvPr>
            <p:ph type="title"/>
          </p:nvPr>
        </p:nvSpPr>
        <p:spPr>
          <a:xfrm>
            <a:off x="8020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4000">
                <a:solidFill>
                  <a:srgbClr val="073763"/>
                </a:solidFill>
                <a:latin typeface="Calibri"/>
                <a:ea typeface="Calibri"/>
                <a:cs typeface="Calibri"/>
                <a:sym typeface="Calibri"/>
              </a:rPr>
              <a:t>Core Difference </a:t>
            </a:r>
            <a:r>
              <a:rPr b="0" i="1" lang="en-US" sz="4000">
                <a:solidFill>
                  <a:srgbClr val="62C9D7"/>
                </a:solidFill>
                <a:latin typeface="Calibri"/>
                <a:ea typeface="Calibri"/>
                <a:cs typeface="Calibri"/>
                <a:sym typeface="Calibri"/>
              </a:rPr>
              <a:t>Opportunity</a:t>
            </a:r>
            <a:endParaRPr b="0" i="1" sz="4000">
              <a:solidFill>
                <a:srgbClr val="62C9D7"/>
              </a:solidFill>
              <a:latin typeface="Calibri"/>
              <a:ea typeface="Calibri"/>
              <a:cs typeface="Calibri"/>
              <a:sym typeface="Calibri"/>
            </a:endParaRPr>
          </a:p>
        </p:txBody>
      </p:sp>
      <p:sp>
        <p:nvSpPr>
          <p:cNvPr id="469" name="Google Shape;469;p65"/>
          <p:cNvSpPr txBox="1"/>
          <p:nvPr>
            <p:ph idx="1" type="body"/>
          </p:nvPr>
        </p:nvSpPr>
        <p:spPr>
          <a:xfrm>
            <a:off x="1138225" y="1826950"/>
            <a:ext cx="97740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rPr b="1" lang="en-US" sz="1950"/>
              <a:t>Opportunity to really differentiate PowerUp in two key areas:</a:t>
            </a:r>
            <a:br>
              <a:rPr b="1" lang="en-US" sz="1250"/>
            </a:br>
            <a:endParaRPr b="1" sz="1250"/>
          </a:p>
          <a:p>
            <a:pPr indent="-238125" lvl="1" marL="685800" marR="0" rtl="0" algn="l">
              <a:lnSpc>
                <a:spcPct val="100000"/>
              </a:lnSpc>
              <a:spcBef>
                <a:spcPts val="1000"/>
              </a:spcBef>
              <a:spcAft>
                <a:spcPts val="0"/>
              </a:spcAft>
              <a:buClr>
                <a:schemeClr val="accent2"/>
              </a:buClr>
              <a:buSzPts val="1950"/>
              <a:buFont typeface="Noto Sans Symbols"/>
              <a:buChar char="✔"/>
            </a:pPr>
            <a:r>
              <a:rPr lang="en-US" sz="1950"/>
              <a:t>While all the competitors offer off-the-shelf solutions in focused areas… </a:t>
            </a:r>
            <a:r>
              <a:rPr b="1" i="1" lang="en-US" sz="1950"/>
              <a:t>PowerUp</a:t>
            </a:r>
            <a:r>
              <a:rPr b="1" i="1" lang="en-US" sz="1950"/>
              <a:t> can stand out by focusing on the ability to provide customized leadership development and talent transformation solutions organization-wide from teams to executives. </a:t>
            </a:r>
            <a:endParaRPr b="1" i="1" sz="1950"/>
          </a:p>
          <a:p>
            <a:pPr indent="-238125" lvl="2" marL="1143000" marR="0" rtl="0" algn="l">
              <a:lnSpc>
                <a:spcPct val="100000"/>
              </a:lnSpc>
              <a:spcBef>
                <a:spcPts val="1000"/>
              </a:spcBef>
              <a:spcAft>
                <a:spcPts val="0"/>
              </a:spcAft>
              <a:buSzPts val="1950"/>
              <a:buChar char="•"/>
            </a:pPr>
            <a:r>
              <a:rPr i="1" lang="en-US" sz="1950"/>
              <a:t>Opportunity to streamline service offerings to make customization and flexibility as efficient as possible</a:t>
            </a:r>
            <a:endParaRPr i="1" sz="1950"/>
          </a:p>
          <a:p>
            <a:pPr indent="-238125" lvl="1" marL="685800" marR="0" rtl="0" algn="l">
              <a:lnSpc>
                <a:spcPct val="100000"/>
              </a:lnSpc>
              <a:spcBef>
                <a:spcPts val="1000"/>
              </a:spcBef>
              <a:spcAft>
                <a:spcPts val="0"/>
              </a:spcAft>
              <a:buClr>
                <a:schemeClr val="accent2"/>
              </a:buClr>
              <a:buSzPts val="1950"/>
              <a:buFont typeface="Noto Sans Symbols"/>
              <a:buChar char="✔"/>
            </a:pPr>
            <a:r>
              <a:rPr lang="en-US" sz="1950"/>
              <a:t>While large entrenched competitors in new markets are rigid in their offerings and follow a formula, </a:t>
            </a:r>
            <a:r>
              <a:rPr b="1" i="1" lang="en-US" sz="1950"/>
              <a:t>PowerUp</a:t>
            </a:r>
            <a:r>
              <a:rPr b="1" i="1" lang="en-US" sz="1950"/>
              <a:t> can position themselves as a nimble and flexible boutique leadership development and talent transformation firm.</a:t>
            </a:r>
            <a:endParaRPr b="1" i="1" sz="1950"/>
          </a:p>
          <a:p>
            <a:pPr indent="-238125" lvl="2" marL="1143000" marR="0" rtl="0" algn="l">
              <a:lnSpc>
                <a:spcPct val="100000"/>
              </a:lnSpc>
              <a:spcBef>
                <a:spcPts val="1000"/>
              </a:spcBef>
              <a:spcAft>
                <a:spcPts val="0"/>
              </a:spcAft>
              <a:buClr>
                <a:schemeClr val="accent2"/>
              </a:buClr>
              <a:buSzPts val="1950"/>
              <a:buFont typeface="Noto Sans Symbols"/>
              <a:buChar char="•"/>
            </a:pPr>
            <a:r>
              <a:rPr i="1" lang="en-US" sz="1950"/>
              <a:t>Because of their smaller size, PowerUp can be flexible, responsive and nimble in a way larger firms can’t - but has the credibility and trust and clients to back them up</a:t>
            </a:r>
            <a:endParaRPr i="1" sz="195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6"/>
          <p:cNvSpPr txBox="1"/>
          <p:nvPr>
            <p:ph type="title"/>
          </p:nvPr>
        </p:nvSpPr>
        <p:spPr>
          <a:xfrm>
            <a:off x="786975" y="754000"/>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a:solidFill>
                  <a:srgbClr val="073763"/>
                </a:solidFill>
                <a:latin typeface="Calibri"/>
                <a:ea typeface="Calibri"/>
                <a:cs typeface="Calibri"/>
                <a:sym typeface="Calibri"/>
              </a:rPr>
              <a:t>Positioning &amp; Messaging</a:t>
            </a:r>
            <a:endParaRPr b="0" i="1">
              <a:solidFill>
                <a:srgbClr val="073763"/>
              </a:solidFill>
              <a:latin typeface="Calibri"/>
              <a:ea typeface="Calibri"/>
              <a:cs typeface="Calibri"/>
              <a:sym typeface="Calibri"/>
            </a:endParaRPr>
          </a:p>
        </p:txBody>
      </p:sp>
      <p:sp>
        <p:nvSpPr>
          <p:cNvPr id="475" name="Google Shape;475;p66"/>
          <p:cNvSpPr txBox="1"/>
          <p:nvPr>
            <p:ph idx="1" type="body"/>
          </p:nvPr>
        </p:nvSpPr>
        <p:spPr>
          <a:xfrm>
            <a:off x="786975" y="1714500"/>
            <a:ext cx="5974800" cy="3302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None/>
            </a:pPr>
            <a:r>
              <a:rPr lang="en-US" sz="1950"/>
              <a:t>Your high level positioning &amp; message is an opportunity to immediately grab the attention of your ideal people and let them know that what you have to offer is for them.</a:t>
            </a:r>
            <a:endParaRPr sz="1950"/>
          </a:p>
          <a:p>
            <a:pPr indent="-352425" lvl="0" marL="457200" rtl="0" algn="l">
              <a:lnSpc>
                <a:spcPct val="100000"/>
              </a:lnSpc>
              <a:spcBef>
                <a:spcPts val="1000"/>
              </a:spcBef>
              <a:spcAft>
                <a:spcPts val="0"/>
              </a:spcAft>
              <a:buSzPts val="1950"/>
              <a:buChar char="•"/>
            </a:pPr>
            <a:r>
              <a:rPr lang="en-US" sz="1950"/>
              <a:t>Only then will they read further and take action. </a:t>
            </a:r>
            <a:endParaRPr sz="1950"/>
          </a:p>
          <a:p>
            <a:pPr indent="-352425" lvl="0" marL="457200" rtl="0" algn="l">
              <a:lnSpc>
                <a:spcPct val="100000"/>
              </a:lnSpc>
              <a:spcBef>
                <a:spcPts val="0"/>
              </a:spcBef>
              <a:spcAft>
                <a:spcPts val="0"/>
              </a:spcAft>
              <a:buSzPts val="1950"/>
              <a:buChar char="•"/>
            </a:pPr>
            <a:r>
              <a:rPr lang="en-US" sz="1950"/>
              <a:t>If not, they will bounce away and assume what you offer is for someone else - not them.</a:t>
            </a:r>
            <a:endParaRPr sz="1950"/>
          </a:p>
          <a:p>
            <a:pPr indent="0" lvl="0" marL="0" rtl="0" algn="l">
              <a:lnSpc>
                <a:spcPct val="100000"/>
              </a:lnSpc>
              <a:spcBef>
                <a:spcPts val="1000"/>
              </a:spcBef>
              <a:spcAft>
                <a:spcPts val="0"/>
              </a:spcAft>
              <a:buNone/>
            </a:pPr>
            <a:r>
              <a:rPr b="1" lang="en-US" sz="1950"/>
              <a:t>Your positioning includes:</a:t>
            </a:r>
            <a:endParaRPr b="1" sz="1950"/>
          </a:p>
          <a:p>
            <a:pPr indent="-352425" lvl="0" marL="457200" rtl="0" algn="l">
              <a:lnSpc>
                <a:spcPct val="100000"/>
              </a:lnSpc>
              <a:spcBef>
                <a:spcPts val="1000"/>
              </a:spcBef>
              <a:spcAft>
                <a:spcPts val="0"/>
              </a:spcAft>
              <a:buSzPts val="1950"/>
              <a:buChar char="•"/>
            </a:pPr>
            <a:r>
              <a:rPr lang="en-US" sz="1950"/>
              <a:t>Product structure &amp; naming</a:t>
            </a:r>
            <a:endParaRPr sz="1950"/>
          </a:p>
          <a:p>
            <a:pPr indent="-352425" lvl="0" marL="457200" rtl="0" algn="l">
              <a:lnSpc>
                <a:spcPct val="100000"/>
              </a:lnSpc>
              <a:spcBef>
                <a:spcPts val="0"/>
              </a:spcBef>
              <a:spcAft>
                <a:spcPts val="0"/>
              </a:spcAft>
              <a:buSzPts val="1950"/>
              <a:buChar char="•"/>
            </a:pPr>
            <a:r>
              <a:rPr lang="en-US" sz="1950"/>
              <a:t>Core messages</a:t>
            </a:r>
            <a:endParaRPr sz="1950"/>
          </a:p>
          <a:p>
            <a:pPr indent="-352425" lvl="0" marL="457200" rtl="0" algn="l">
              <a:lnSpc>
                <a:spcPct val="100000"/>
              </a:lnSpc>
              <a:spcBef>
                <a:spcPts val="0"/>
              </a:spcBef>
              <a:spcAft>
                <a:spcPts val="0"/>
              </a:spcAft>
              <a:buSzPts val="1950"/>
              <a:buChar char="•"/>
            </a:pPr>
            <a:r>
              <a:rPr lang="en-US" sz="1950"/>
              <a:t>Look and feel </a:t>
            </a:r>
            <a:endParaRPr sz="1950"/>
          </a:p>
          <a:p>
            <a:pPr indent="-352425" lvl="0" marL="457200" rtl="0" algn="l">
              <a:lnSpc>
                <a:spcPct val="100000"/>
              </a:lnSpc>
              <a:spcBef>
                <a:spcPts val="0"/>
              </a:spcBef>
              <a:spcAft>
                <a:spcPts val="0"/>
              </a:spcAft>
              <a:buSzPts val="1950"/>
              <a:buChar char="•"/>
            </a:pPr>
            <a:r>
              <a:rPr lang="en-US" sz="1950"/>
              <a:t>Any images you use</a:t>
            </a:r>
            <a:endParaRPr sz="1950"/>
          </a:p>
          <a:p>
            <a:pPr indent="0" lvl="0" marL="685800" rtl="0" algn="l">
              <a:lnSpc>
                <a:spcPct val="100000"/>
              </a:lnSpc>
              <a:spcBef>
                <a:spcPts val="1000"/>
              </a:spcBef>
              <a:spcAft>
                <a:spcPts val="0"/>
              </a:spcAft>
              <a:buNone/>
            </a:pPr>
            <a:r>
              <a:t/>
            </a:r>
            <a:endParaRPr sz="1950"/>
          </a:p>
        </p:txBody>
      </p:sp>
      <p:pic>
        <p:nvPicPr>
          <p:cNvPr id="476" name="Google Shape;476;p66"/>
          <p:cNvPicPr preferRelativeResize="0"/>
          <p:nvPr/>
        </p:nvPicPr>
        <p:blipFill>
          <a:blip r:embed="rId3">
            <a:alphaModFix/>
          </a:blip>
          <a:stretch>
            <a:fillRect/>
          </a:stretch>
        </p:blipFill>
        <p:spPr>
          <a:xfrm>
            <a:off x="6761775" y="2116050"/>
            <a:ext cx="5125426" cy="2780882"/>
          </a:xfrm>
          <a:prstGeom prst="rect">
            <a:avLst/>
          </a:prstGeom>
          <a:noFill/>
          <a:ln>
            <a:noFill/>
          </a:ln>
        </p:spPr>
      </p:pic>
      <p:pic>
        <p:nvPicPr>
          <p:cNvPr id="477" name="Google Shape;477;p66"/>
          <p:cNvPicPr preferRelativeResize="0"/>
          <p:nvPr/>
        </p:nvPicPr>
        <p:blipFill rotWithShape="1">
          <a:blip r:embed="rId4">
            <a:alphaModFix/>
          </a:blip>
          <a:srcRect b="0" l="0" r="0" t="5141"/>
          <a:stretch/>
        </p:blipFill>
        <p:spPr>
          <a:xfrm>
            <a:off x="6457050" y="4933275"/>
            <a:ext cx="6115952" cy="14060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7"/>
          <p:cNvSpPr txBox="1"/>
          <p:nvPr>
            <p:ph type="title"/>
          </p:nvPr>
        </p:nvSpPr>
        <p:spPr>
          <a:xfrm>
            <a:off x="725875" y="708025"/>
            <a:ext cx="11060400" cy="75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Messaging</a:t>
            </a:r>
            <a:r>
              <a:rPr b="0" i="1" lang="en-US" sz="3800">
                <a:solidFill>
                  <a:srgbClr val="073763"/>
                </a:solidFill>
                <a:latin typeface="Calibri"/>
                <a:ea typeface="Calibri"/>
                <a:cs typeface="Calibri"/>
                <a:sym typeface="Calibri"/>
              </a:rPr>
              <a:t> </a:t>
            </a:r>
            <a:r>
              <a:rPr b="0" i="1" lang="en-US" sz="3800">
                <a:solidFill>
                  <a:schemeClr val="accent4"/>
                </a:solidFill>
                <a:latin typeface="Calibri"/>
                <a:ea typeface="Calibri"/>
                <a:cs typeface="Calibri"/>
                <a:sym typeface="Calibri"/>
              </a:rPr>
              <a:t>Review</a:t>
            </a:r>
            <a:endParaRPr b="0" i="1" sz="3800">
              <a:solidFill>
                <a:schemeClr val="accent4"/>
              </a:solidFill>
              <a:latin typeface="Calibri"/>
              <a:ea typeface="Calibri"/>
              <a:cs typeface="Calibri"/>
              <a:sym typeface="Calibri"/>
            </a:endParaRPr>
          </a:p>
        </p:txBody>
      </p:sp>
      <p:sp>
        <p:nvSpPr>
          <p:cNvPr id="483" name="Google Shape;483;p67"/>
          <p:cNvSpPr txBox="1"/>
          <p:nvPr>
            <p:ph idx="1" type="body"/>
          </p:nvPr>
        </p:nvSpPr>
        <p:spPr>
          <a:xfrm>
            <a:off x="849225" y="1588000"/>
            <a:ext cx="5432100" cy="4630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None/>
            </a:pPr>
            <a:r>
              <a:rPr b="1" lang="en-US" sz="1900"/>
              <a:t>Messaging:</a:t>
            </a:r>
            <a:endParaRPr b="1" sz="1900"/>
          </a:p>
          <a:p>
            <a:pPr indent="-234950" lvl="1" marL="457200" rtl="0" algn="l">
              <a:lnSpc>
                <a:spcPct val="125000"/>
              </a:lnSpc>
              <a:spcBef>
                <a:spcPts val="0"/>
              </a:spcBef>
              <a:spcAft>
                <a:spcPts val="0"/>
              </a:spcAft>
              <a:buClr>
                <a:schemeClr val="accent2"/>
              </a:buClr>
              <a:buSzPts val="1900"/>
              <a:buFont typeface="Noto Sans Symbols"/>
              <a:buChar char="✔"/>
            </a:pPr>
            <a:r>
              <a:rPr lang="en-US" sz="1900"/>
              <a:t>Current messaging is focused more at the team and mid-manager level</a:t>
            </a:r>
            <a:endParaRPr sz="1900"/>
          </a:p>
          <a:p>
            <a:pPr indent="-234950" lvl="1" marL="457200" rtl="0" algn="l">
              <a:lnSpc>
                <a:spcPct val="125000"/>
              </a:lnSpc>
              <a:spcBef>
                <a:spcPts val="1000"/>
              </a:spcBef>
              <a:spcAft>
                <a:spcPts val="0"/>
              </a:spcAft>
              <a:buClr>
                <a:schemeClr val="accent2"/>
              </a:buClr>
              <a:buSzPts val="1900"/>
              <a:buFont typeface="Noto Sans Symbols"/>
              <a:buChar char="✔"/>
            </a:pPr>
            <a:r>
              <a:rPr lang="en-US" sz="1900"/>
              <a:t>Needs and benefits in messaging speak more to current government and non-profit clients (potential, productivity, </a:t>
            </a:r>
            <a:r>
              <a:rPr lang="en-US" sz="1900"/>
              <a:t>efficiency, costs</a:t>
            </a:r>
            <a:r>
              <a:rPr lang="en-US" sz="1900"/>
              <a:t>)</a:t>
            </a:r>
            <a:endParaRPr sz="1900"/>
          </a:p>
          <a:p>
            <a:pPr indent="-234950" lvl="1" marL="457200" rtl="0" algn="l">
              <a:lnSpc>
                <a:spcPct val="125000"/>
              </a:lnSpc>
              <a:spcBef>
                <a:spcPts val="1000"/>
              </a:spcBef>
              <a:spcAft>
                <a:spcPts val="0"/>
              </a:spcAft>
              <a:buClr>
                <a:schemeClr val="accent2"/>
              </a:buClr>
              <a:buSzPts val="1900"/>
              <a:buFont typeface="Noto Sans Symbols"/>
              <a:buChar char="✔"/>
            </a:pPr>
            <a:r>
              <a:rPr lang="en-US" sz="1900"/>
              <a:t>Current messaging may not speak to new fast growing private sector and PE prospects:</a:t>
            </a:r>
            <a:endParaRPr sz="1900"/>
          </a:p>
          <a:p>
            <a:pPr indent="-234950" lvl="2" marL="1143000" rtl="0" algn="l">
              <a:lnSpc>
                <a:spcPct val="125000"/>
              </a:lnSpc>
              <a:spcBef>
                <a:spcPts val="1000"/>
              </a:spcBef>
              <a:spcAft>
                <a:spcPts val="0"/>
              </a:spcAft>
              <a:buClr>
                <a:schemeClr val="accent2"/>
              </a:buClr>
              <a:buSzPts val="1900"/>
              <a:buFont typeface="Noto Sans Symbols"/>
              <a:buChar char="•"/>
            </a:pPr>
            <a:r>
              <a:rPr lang="en-US" sz="1900"/>
              <a:t>Concerned more with growth, reaching new stages, scaling, innovation</a:t>
            </a:r>
            <a:endParaRPr sz="1900"/>
          </a:p>
          <a:p>
            <a:pPr indent="0" lvl="0" marL="685800" rtl="0" algn="l">
              <a:lnSpc>
                <a:spcPct val="115000"/>
              </a:lnSpc>
              <a:spcBef>
                <a:spcPts val="1000"/>
              </a:spcBef>
              <a:spcAft>
                <a:spcPts val="0"/>
              </a:spcAft>
              <a:buNone/>
            </a:pPr>
            <a:r>
              <a:t/>
            </a:r>
            <a:endParaRPr sz="1800"/>
          </a:p>
          <a:p>
            <a:pPr indent="0" lvl="0" marL="1143000" rtl="0" algn="l">
              <a:lnSpc>
                <a:spcPct val="115000"/>
              </a:lnSpc>
              <a:spcBef>
                <a:spcPts val="0"/>
              </a:spcBef>
              <a:spcAft>
                <a:spcPts val="0"/>
              </a:spcAft>
              <a:buNone/>
            </a:pPr>
            <a:r>
              <a:t/>
            </a:r>
            <a:endParaRPr sz="1700"/>
          </a:p>
          <a:p>
            <a:pPr indent="0" lvl="0" marL="0" marR="0" rtl="0" algn="l">
              <a:lnSpc>
                <a:spcPct val="100000"/>
              </a:lnSpc>
              <a:spcBef>
                <a:spcPts val="1000"/>
              </a:spcBef>
              <a:spcAft>
                <a:spcPts val="0"/>
              </a:spcAft>
              <a:buNone/>
            </a:pPr>
            <a:r>
              <a:t/>
            </a:r>
            <a:endParaRPr sz="1650"/>
          </a:p>
          <a:p>
            <a:pPr indent="0" lvl="0" marL="0" marR="0" rtl="0" algn="l">
              <a:lnSpc>
                <a:spcPct val="100000"/>
              </a:lnSpc>
              <a:spcBef>
                <a:spcPts val="1000"/>
              </a:spcBef>
              <a:spcAft>
                <a:spcPts val="0"/>
              </a:spcAft>
              <a:buNone/>
            </a:pPr>
            <a:r>
              <a:t/>
            </a:r>
            <a:endParaRPr sz="1850"/>
          </a:p>
          <a:p>
            <a:pPr indent="0" lvl="0" marL="685800" marR="0" rtl="0" algn="l">
              <a:lnSpc>
                <a:spcPct val="100000"/>
              </a:lnSpc>
              <a:spcBef>
                <a:spcPts val="1000"/>
              </a:spcBef>
              <a:spcAft>
                <a:spcPts val="0"/>
              </a:spcAft>
              <a:buNone/>
            </a:pPr>
            <a:r>
              <a:t/>
            </a:r>
            <a:endParaRPr sz="1850"/>
          </a:p>
          <a:p>
            <a:pPr indent="0" lvl="0" marL="0" marR="0" rtl="0" algn="l">
              <a:lnSpc>
                <a:spcPct val="100000"/>
              </a:lnSpc>
              <a:spcBef>
                <a:spcPts val="1000"/>
              </a:spcBef>
              <a:spcAft>
                <a:spcPts val="0"/>
              </a:spcAft>
              <a:buNone/>
            </a:pPr>
            <a:r>
              <a:t/>
            </a:r>
            <a:endParaRPr sz="1850"/>
          </a:p>
        </p:txBody>
      </p:sp>
      <p:pic>
        <p:nvPicPr>
          <p:cNvPr id="484" name="Google Shape;484;p67"/>
          <p:cNvPicPr preferRelativeResize="0"/>
          <p:nvPr/>
        </p:nvPicPr>
        <p:blipFill>
          <a:blip r:embed="rId3">
            <a:alphaModFix/>
          </a:blip>
          <a:stretch>
            <a:fillRect/>
          </a:stretch>
        </p:blipFill>
        <p:spPr>
          <a:xfrm>
            <a:off x="6729975" y="2109925"/>
            <a:ext cx="4825851" cy="826225"/>
          </a:xfrm>
          <a:prstGeom prst="rect">
            <a:avLst/>
          </a:prstGeom>
          <a:noFill/>
          <a:ln>
            <a:noFill/>
          </a:ln>
        </p:spPr>
      </p:pic>
      <p:pic>
        <p:nvPicPr>
          <p:cNvPr id="485" name="Google Shape;485;p67"/>
          <p:cNvPicPr preferRelativeResize="0"/>
          <p:nvPr/>
        </p:nvPicPr>
        <p:blipFill>
          <a:blip r:embed="rId4">
            <a:alphaModFix/>
          </a:blip>
          <a:stretch>
            <a:fillRect/>
          </a:stretch>
        </p:blipFill>
        <p:spPr>
          <a:xfrm>
            <a:off x="6729977" y="3207275"/>
            <a:ext cx="5069949" cy="17422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8"/>
          <p:cNvSpPr/>
          <p:nvPr/>
        </p:nvSpPr>
        <p:spPr>
          <a:xfrm>
            <a:off x="915175" y="2789450"/>
            <a:ext cx="7085700" cy="3187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68"/>
          <p:cNvSpPr txBox="1"/>
          <p:nvPr>
            <p:ph type="title"/>
          </p:nvPr>
        </p:nvSpPr>
        <p:spPr>
          <a:xfrm>
            <a:off x="725875" y="708025"/>
            <a:ext cx="11060400" cy="75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Messaging</a:t>
            </a:r>
            <a:r>
              <a:rPr b="0" i="1" lang="en-US" sz="3800">
                <a:solidFill>
                  <a:srgbClr val="073763"/>
                </a:solidFill>
                <a:latin typeface="Calibri"/>
                <a:ea typeface="Calibri"/>
                <a:cs typeface="Calibri"/>
                <a:sym typeface="Calibri"/>
              </a:rPr>
              <a:t> </a:t>
            </a:r>
            <a:r>
              <a:rPr b="0" i="1" lang="en-US" sz="3800">
                <a:solidFill>
                  <a:schemeClr val="accent4"/>
                </a:solidFill>
                <a:latin typeface="Calibri"/>
                <a:ea typeface="Calibri"/>
                <a:cs typeface="Calibri"/>
                <a:sym typeface="Calibri"/>
              </a:rPr>
              <a:t>Opportunity</a:t>
            </a:r>
            <a:endParaRPr b="0" i="1" sz="3800">
              <a:solidFill>
                <a:schemeClr val="accent4"/>
              </a:solidFill>
              <a:latin typeface="Calibri"/>
              <a:ea typeface="Calibri"/>
              <a:cs typeface="Calibri"/>
              <a:sym typeface="Calibri"/>
            </a:endParaRPr>
          </a:p>
        </p:txBody>
      </p:sp>
      <p:sp>
        <p:nvSpPr>
          <p:cNvPr id="492" name="Google Shape;492;p68"/>
          <p:cNvSpPr txBox="1"/>
          <p:nvPr>
            <p:ph idx="1" type="body"/>
          </p:nvPr>
        </p:nvSpPr>
        <p:spPr>
          <a:xfrm>
            <a:off x="725875" y="1654850"/>
            <a:ext cx="7321800" cy="1134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None/>
            </a:pPr>
            <a:r>
              <a:rPr b="1" lang="en-US" sz="1650"/>
              <a:t>Messaging:</a:t>
            </a:r>
            <a:endParaRPr b="1" sz="1650"/>
          </a:p>
          <a:p>
            <a:pPr indent="-219075" lvl="1" marL="400050" rtl="0" algn="l">
              <a:lnSpc>
                <a:spcPct val="100000"/>
              </a:lnSpc>
              <a:spcBef>
                <a:spcPts val="1000"/>
              </a:spcBef>
              <a:spcAft>
                <a:spcPts val="0"/>
              </a:spcAft>
              <a:buClr>
                <a:schemeClr val="accent2"/>
              </a:buClr>
              <a:buSzPts val="1650"/>
              <a:buFont typeface="Noto Sans Symbols"/>
              <a:buChar char="✔"/>
            </a:pPr>
            <a:r>
              <a:rPr lang="en-US" sz="1650"/>
              <a:t>Clearly position PowerUp with messaging that clearly speaks to high growth private sector and PE customers:</a:t>
            </a:r>
            <a:endParaRPr sz="1650"/>
          </a:p>
          <a:p>
            <a:pPr indent="0" lvl="0" marL="1143000" rtl="0" algn="l">
              <a:lnSpc>
                <a:spcPct val="100000"/>
              </a:lnSpc>
              <a:spcBef>
                <a:spcPts val="1000"/>
              </a:spcBef>
              <a:spcAft>
                <a:spcPts val="0"/>
              </a:spcAft>
              <a:buNone/>
            </a:pPr>
            <a:r>
              <a:t/>
            </a:r>
            <a:endParaRPr sz="1650"/>
          </a:p>
          <a:p>
            <a:pPr indent="0" lvl="0" marL="0" marR="0" rtl="0" algn="l">
              <a:lnSpc>
                <a:spcPct val="100000"/>
              </a:lnSpc>
              <a:spcBef>
                <a:spcPts val="1000"/>
              </a:spcBef>
              <a:spcAft>
                <a:spcPts val="0"/>
              </a:spcAft>
              <a:buNone/>
            </a:pPr>
            <a:r>
              <a:t/>
            </a:r>
            <a:endParaRPr sz="1850"/>
          </a:p>
          <a:p>
            <a:pPr indent="0" lvl="0" marL="0" marR="0" rtl="0" algn="l">
              <a:lnSpc>
                <a:spcPct val="100000"/>
              </a:lnSpc>
              <a:spcBef>
                <a:spcPts val="1000"/>
              </a:spcBef>
              <a:spcAft>
                <a:spcPts val="0"/>
              </a:spcAft>
              <a:buNone/>
            </a:pPr>
            <a:r>
              <a:t/>
            </a:r>
            <a:endParaRPr sz="1850"/>
          </a:p>
        </p:txBody>
      </p:sp>
      <p:pic>
        <p:nvPicPr>
          <p:cNvPr id="493" name="Google Shape;493;p68"/>
          <p:cNvPicPr preferRelativeResize="0"/>
          <p:nvPr/>
        </p:nvPicPr>
        <p:blipFill rotWithShape="1">
          <a:blip r:embed="rId3">
            <a:alphaModFix/>
          </a:blip>
          <a:srcRect b="0" l="0" r="0" t="0"/>
          <a:stretch/>
        </p:blipFill>
        <p:spPr>
          <a:xfrm>
            <a:off x="8537750" y="1792300"/>
            <a:ext cx="3026325" cy="3945999"/>
          </a:xfrm>
          <a:prstGeom prst="rect">
            <a:avLst/>
          </a:prstGeom>
          <a:noFill/>
          <a:ln>
            <a:noFill/>
          </a:ln>
        </p:spPr>
      </p:pic>
      <p:sp>
        <p:nvSpPr>
          <p:cNvPr id="494" name="Google Shape;494;p68"/>
          <p:cNvSpPr txBox="1"/>
          <p:nvPr/>
        </p:nvSpPr>
        <p:spPr>
          <a:xfrm>
            <a:off x="8943200" y="2002200"/>
            <a:ext cx="2340000" cy="41559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Insights:</a:t>
            </a:r>
            <a:endParaRPr sz="1600">
              <a:solidFill>
                <a:srgbClr val="434343"/>
              </a:solidFill>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Make sure all client personas know right away that they’re in the right place &amp; what PowerUp has to offer is for them.</a:t>
            </a:r>
            <a:endParaRPr sz="16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
        <p:nvSpPr>
          <p:cNvPr id="495" name="Google Shape;495;p68"/>
          <p:cNvSpPr txBox="1"/>
          <p:nvPr/>
        </p:nvSpPr>
        <p:spPr>
          <a:xfrm>
            <a:off x="2298200" y="3100150"/>
            <a:ext cx="4254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latin typeface="Calibri"/>
                <a:ea typeface="Calibri"/>
                <a:cs typeface="Calibri"/>
                <a:sym typeface="Calibri"/>
              </a:rPr>
              <a:t>Turn your managers into growth-ready leaders</a:t>
            </a:r>
            <a:endParaRPr b="1" sz="1600">
              <a:latin typeface="Calibri"/>
              <a:ea typeface="Calibri"/>
              <a:cs typeface="Calibri"/>
              <a:sym typeface="Calibri"/>
            </a:endParaRPr>
          </a:p>
        </p:txBody>
      </p:sp>
      <p:sp>
        <p:nvSpPr>
          <p:cNvPr id="496" name="Google Shape;496;p68"/>
          <p:cNvSpPr txBox="1"/>
          <p:nvPr/>
        </p:nvSpPr>
        <p:spPr>
          <a:xfrm>
            <a:off x="1638650" y="3458800"/>
            <a:ext cx="5725500" cy="2779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200">
                <a:latin typeface="Calibri"/>
                <a:ea typeface="Calibri"/>
                <a:cs typeface="Calibri"/>
                <a:sym typeface="Calibri"/>
              </a:rPr>
              <a:t>We help privately held companies, scaleups, and private equity firms build the leadership and talent capacity to grow faster, align better, and scale with confidence.</a:t>
            </a:r>
            <a:endParaRPr sz="1200">
              <a:latin typeface="Calibri"/>
              <a:ea typeface="Calibri"/>
              <a:cs typeface="Calibri"/>
              <a:sym typeface="Calibri"/>
            </a:endParaRPr>
          </a:p>
          <a:p>
            <a:pPr indent="0" lvl="0" marL="0" rtl="0" algn="ctr">
              <a:spcBef>
                <a:spcPts val="0"/>
              </a:spcBef>
              <a:spcAft>
                <a:spcPts val="0"/>
              </a:spcAft>
              <a:buNone/>
            </a:pPr>
            <a:r>
              <a:t/>
            </a:r>
            <a:endParaRPr b="1" sz="1200">
              <a:latin typeface="Calibri"/>
              <a:ea typeface="Calibri"/>
              <a:cs typeface="Calibri"/>
              <a:sym typeface="Calibri"/>
            </a:endParaRPr>
          </a:p>
          <a:p>
            <a:pPr indent="0" lvl="0" marL="0" rtl="0" algn="ctr">
              <a:lnSpc>
                <a:spcPct val="100000"/>
              </a:lnSpc>
              <a:spcBef>
                <a:spcPts val="1200"/>
              </a:spcBef>
              <a:spcAft>
                <a:spcPts val="0"/>
              </a:spcAft>
              <a:buClr>
                <a:schemeClr val="dk1"/>
              </a:buClr>
              <a:buSzPts val="1100"/>
              <a:buFont typeface="Arial"/>
              <a:buNone/>
            </a:pPr>
            <a:r>
              <a:rPr b="1" lang="en-US" sz="1300">
                <a:solidFill>
                  <a:schemeClr val="dk1"/>
                </a:solidFill>
                <a:latin typeface="Calibri"/>
                <a:ea typeface="Calibri"/>
                <a:cs typeface="Calibri"/>
                <a:sym typeface="Calibri"/>
              </a:rPr>
              <a:t>Customized leadership development and talent transformation </a:t>
            </a:r>
            <a:br>
              <a:rPr b="1" lang="en-US" sz="1300">
                <a:solidFill>
                  <a:schemeClr val="dk1"/>
                </a:solidFill>
                <a:latin typeface="Calibri"/>
                <a:ea typeface="Calibri"/>
                <a:cs typeface="Calibri"/>
                <a:sym typeface="Calibri"/>
              </a:rPr>
            </a:br>
            <a:r>
              <a:rPr b="1" lang="en-US" sz="1300">
                <a:solidFill>
                  <a:schemeClr val="dk1"/>
                </a:solidFill>
                <a:latin typeface="Calibri"/>
                <a:ea typeface="Calibri"/>
                <a:cs typeface="Calibri"/>
                <a:sym typeface="Calibri"/>
              </a:rPr>
              <a:t>planning for fast-moving organizations</a:t>
            </a:r>
            <a:endParaRPr b="1" sz="1300">
              <a:solidFill>
                <a:schemeClr val="dk1"/>
              </a:solidFill>
              <a:latin typeface="Calibri"/>
              <a:ea typeface="Calibri"/>
              <a:cs typeface="Calibri"/>
              <a:sym typeface="Calibri"/>
            </a:endParaRPr>
          </a:p>
          <a:p>
            <a:pPr indent="0" lvl="0" marL="0" rtl="0" algn="ctr">
              <a:lnSpc>
                <a:spcPct val="115000"/>
              </a:lnSpc>
              <a:spcBef>
                <a:spcPts val="1200"/>
              </a:spcBef>
              <a:spcAft>
                <a:spcPts val="0"/>
              </a:spcAft>
              <a:buClr>
                <a:schemeClr val="dk1"/>
              </a:buClr>
              <a:buSzPts val="1100"/>
              <a:buFont typeface="Arial"/>
              <a:buNone/>
            </a:pPr>
            <a:r>
              <a:rPr lang="en-US" sz="1100">
                <a:solidFill>
                  <a:schemeClr val="dk1"/>
                </a:solidFill>
              </a:rPr>
              <a:t>Growing businesses outpace their leadership all the time. We work with executive teams, founders, and people leaders to close that gap—fast. PowerUp Leadership delivers tailored leadership development, talent transformation, and executive coaching programs that improve team performance, reduce churn, and build cultures that scale.</a:t>
            </a:r>
            <a:endParaRPr sz="1100">
              <a:solidFill>
                <a:schemeClr val="dk1"/>
              </a:solidFill>
            </a:endParaRPr>
          </a:p>
          <a:p>
            <a:pPr indent="0" lvl="0" marL="0" rtl="0" algn="ctr">
              <a:spcBef>
                <a:spcPts val="1200"/>
              </a:spcBef>
              <a:spcAft>
                <a:spcPts val="0"/>
              </a:spcAft>
              <a:buNone/>
            </a:pPr>
            <a:r>
              <a:t/>
            </a:r>
            <a:endParaRPr b="1" sz="1200">
              <a:latin typeface="Calibri"/>
              <a:ea typeface="Calibri"/>
              <a:cs typeface="Calibri"/>
              <a:sym typeface="Calibri"/>
            </a:endParaRPr>
          </a:p>
          <a:p>
            <a:pPr indent="0" lvl="0" marL="0" rtl="0" algn="ctr">
              <a:spcBef>
                <a:spcPts val="0"/>
              </a:spcBef>
              <a:spcAft>
                <a:spcPts val="0"/>
              </a:spcAft>
              <a:buNone/>
            </a:pPr>
            <a:r>
              <a:t/>
            </a:r>
            <a:endParaRPr b="1">
              <a:latin typeface="Calibri"/>
              <a:ea typeface="Calibri"/>
              <a:cs typeface="Calibri"/>
              <a:sym typeface="Calibri"/>
            </a:endParaRPr>
          </a:p>
        </p:txBody>
      </p:sp>
      <p:pic>
        <p:nvPicPr>
          <p:cNvPr id="497" name="Google Shape;497;p68"/>
          <p:cNvPicPr preferRelativeResize="0"/>
          <p:nvPr/>
        </p:nvPicPr>
        <p:blipFill>
          <a:blip r:embed="rId4">
            <a:alphaModFix/>
          </a:blip>
          <a:stretch>
            <a:fillRect/>
          </a:stretch>
        </p:blipFill>
        <p:spPr>
          <a:xfrm>
            <a:off x="1117125" y="2984775"/>
            <a:ext cx="1011575" cy="3323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pic>
        <p:nvPicPr>
          <p:cNvPr id="502" name="Google Shape;502;p69"/>
          <p:cNvPicPr preferRelativeResize="0"/>
          <p:nvPr/>
        </p:nvPicPr>
        <p:blipFill rotWithShape="1">
          <a:blip r:embed="rId3">
            <a:alphaModFix/>
          </a:blip>
          <a:srcRect b="0" l="0" r="0" t="0"/>
          <a:stretch/>
        </p:blipFill>
        <p:spPr>
          <a:xfrm>
            <a:off x="983800" y="1877525"/>
            <a:ext cx="5434825" cy="3070174"/>
          </a:xfrm>
          <a:prstGeom prst="rect">
            <a:avLst/>
          </a:prstGeom>
          <a:noFill/>
          <a:ln>
            <a:noFill/>
          </a:ln>
        </p:spPr>
      </p:pic>
      <p:sp>
        <p:nvSpPr>
          <p:cNvPr id="503" name="Google Shape;503;p69"/>
          <p:cNvSpPr txBox="1"/>
          <p:nvPr>
            <p:ph type="title"/>
          </p:nvPr>
        </p:nvSpPr>
        <p:spPr>
          <a:xfrm>
            <a:off x="725875" y="708025"/>
            <a:ext cx="11060400" cy="75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Messaging and Copy</a:t>
            </a:r>
            <a:r>
              <a:rPr b="0" i="1" lang="en-US" sz="3800">
                <a:solidFill>
                  <a:srgbClr val="073763"/>
                </a:solidFill>
                <a:latin typeface="Calibri"/>
                <a:ea typeface="Calibri"/>
                <a:cs typeface="Calibri"/>
                <a:sym typeface="Calibri"/>
              </a:rPr>
              <a:t> </a:t>
            </a:r>
            <a:r>
              <a:rPr b="0" i="1" lang="en-US" sz="3800">
                <a:solidFill>
                  <a:schemeClr val="accent4"/>
                </a:solidFill>
                <a:latin typeface="Calibri"/>
                <a:ea typeface="Calibri"/>
                <a:cs typeface="Calibri"/>
                <a:sym typeface="Calibri"/>
              </a:rPr>
              <a:t>Assets</a:t>
            </a:r>
            <a:endParaRPr b="0" i="1" sz="3800">
              <a:solidFill>
                <a:schemeClr val="accent4"/>
              </a:solidFill>
              <a:latin typeface="Calibri"/>
              <a:ea typeface="Calibri"/>
              <a:cs typeface="Calibri"/>
              <a:sym typeface="Calibri"/>
            </a:endParaRPr>
          </a:p>
        </p:txBody>
      </p:sp>
      <p:sp>
        <p:nvSpPr>
          <p:cNvPr id="504" name="Google Shape;504;p69"/>
          <p:cNvSpPr txBox="1"/>
          <p:nvPr>
            <p:ph idx="1" type="body"/>
          </p:nvPr>
        </p:nvSpPr>
        <p:spPr>
          <a:xfrm>
            <a:off x="1451800" y="2208775"/>
            <a:ext cx="5769300" cy="2211900"/>
          </a:xfrm>
          <a:prstGeom prst="rect">
            <a:avLst/>
          </a:prstGeom>
          <a:noFill/>
          <a:ln>
            <a:noFill/>
          </a:ln>
        </p:spPr>
        <p:txBody>
          <a:bodyPr anchorCtr="0" anchor="t" bIns="45700" lIns="91425" spcFirstLastPara="1" rIns="91425" wrap="square" tIns="45700">
            <a:noAutofit/>
          </a:bodyPr>
          <a:lstStyle/>
          <a:p>
            <a:pPr indent="-238125" lvl="0" marL="228600" rtl="0" algn="l">
              <a:lnSpc>
                <a:spcPct val="100000"/>
              </a:lnSpc>
              <a:spcBef>
                <a:spcPts val="600"/>
              </a:spcBef>
              <a:spcAft>
                <a:spcPts val="0"/>
              </a:spcAft>
              <a:buClr>
                <a:schemeClr val="accent2"/>
              </a:buClr>
              <a:buSzPts val="1950"/>
              <a:buFont typeface="Noto Sans Symbols"/>
              <a:buChar char="➔"/>
            </a:pPr>
            <a:r>
              <a:rPr b="1" lang="en-US" sz="1950"/>
              <a:t>Bonus Messaging and Copy Assets:</a:t>
            </a:r>
            <a:endParaRPr b="1" sz="1950"/>
          </a:p>
          <a:p>
            <a:pPr indent="-219075" lvl="1" marL="685800" rtl="0" algn="l">
              <a:lnSpc>
                <a:spcPct val="100000"/>
              </a:lnSpc>
              <a:spcBef>
                <a:spcPts val="600"/>
              </a:spcBef>
              <a:spcAft>
                <a:spcPts val="0"/>
              </a:spcAft>
              <a:buClr>
                <a:schemeClr val="accent2"/>
              </a:buClr>
              <a:buSzPts val="1650"/>
              <a:buFont typeface="Noto Sans Symbols"/>
              <a:buChar char="◆"/>
            </a:pPr>
            <a:r>
              <a:rPr lang="en-US" sz="1650"/>
              <a:t>Messaging guide</a:t>
            </a:r>
            <a:endParaRPr sz="1650"/>
          </a:p>
          <a:p>
            <a:pPr indent="-219075" lvl="1" marL="685800" rtl="0" algn="l">
              <a:lnSpc>
                <a:spcPct val="100000"/>
              </a:lnSpc>
              <a:spcBef>
                <a:spcPts val="600"/>
              </a:spcBef>
              <a:spcAft>
                <a:spcPts val="0"/>
              </a:spcAft>
              <a:buClr>
                <a:schemeClr val="accent2"/>
              </a:buClr>
              <a:buSzPts val="1650"/>
              <a:buFont typeface="Noto Sans Symbols"/>
              <a:buChar char="◆"/>
            </a:pPr>
            <a:r>
              <a:rPr lang="en-US" sz="1650"/>
              <a:t>Website copy</a:t>
            </a:r>
            <a:endParaRPr sz="1650"/>
          </a:p>
          <a:p>
            <a:pPr indent="-219075" lvl="2" marL="1143000" rtl="0" algn="l">
              <a:lnSpc>
                <a:spcPct val="100000"/>
              </a:lnSpc>
              <a:spcBef>
                <a:spcPts val="600"/>
              </a:spcBef>
              <a:spcAft>
                <a:spcPts val="0"/>
              </a:spcAft>
              <a:buSzPts val="1650"/>
              <a:buChar char="●"/>
            </a:pPr>
            <a:r>
              <a:rPr lang="en-US" sz="1650"/>
              <a:t>Home page</a:t>
            </a:r>
            <a:endParaRPr sz="1650"/>
          </a:p>
          <a:p>
            <a:pPr indent="-219075" lvl="2" marL="1143000" rtl="0" algn="l">
              <a:lnSpc>
                <a:spcPct val="100000"/>
              </a:lnSpc>
              <a:spcBef>
                <a:spcPts val="600"/>
              </a:spcBef>
              <a:spcAft>
                <a:spcPts val="0"/>
              </a:spcAft>
              <a:buSzPts val="1650"/>
              <a:buChar char="●"/>
            </a:pPr>
            <a:r>
              <a:rPr lang="en-US" sz="1650"/>
              <a:t>Main services page</a:t>
            </a:r>
            <a:endParaRPr sz="1650"/>
          </a:p>
          <a:p>
            <a:pPr indent="-219075" lvl="2" marL="1143000" rtl="0" algn="l">
              <a:lnSpc>
                <a:spcPct val="100000"/>
              </a:lnSpc>
              <a:spcBef>
                <a:spcPts val="600"/>
              </a:spcBef>
              <a:spcAft>
                <a:spcPts val="0"/>
              </a:spcAft>
              <a:buSzPts val="1650"/>
              <a:buChar char="●"/>
            </a:pPr>
            <a:r>
              <a:rPr lang="en-US" sz="1650"/>
              <a:t>Leadership development page</a:t>
            </a:r>
            <a:endParaRPr sz="1650"/>
          </a:p>
          <a:p>
            <a:pPr indent="-219075" lvl="2" marL="1143000" rtl="0" algn="l">
              <a:lnSpc>
                <a:spcPct val="100000"/>
              </a:lnSpc>
              <a:spcBef>
                <a:spcPts val="600"/>
              </a:spcBef>
              <a:spcAft>
                <a:spcPts val="0"/>
              </a:spcAft>
              <a:buSzPts val="1650"/>
              <a:buChar char="●"/>
            </a:pPr>
            <a:r>
              <a:rPr lang="en-US" sz="1650"/>
              <a:t>Talent readiness page</a:t>
            </a:r>
            <a:endParaRPr sz="1650"/>
          </a:p>
          <a:p>
            <a:pPr indent="0" lvl="0" marL="0" rtl="0" algn="l">
              <a:lnSpc>
                <a:spcPct val="100000"/>
              </a:lnSpc>
              <a:spcBef>
                <a:spcPts val="600"/>
              </a:spcBef>
              <a:spcAft>
                <a:spcPts val="600"/>
              </a:spcAft>
              <a:buNone/>
            </a:pPr>
            <a:r>
              <a:t/>
            </a:r>
            <a:endParaRPr sz="175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70"/>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solidFill>
                  <a:schemeClr val="accent5"/>
                </a:solidFill>
              </a:rPr>
              <a:t>Marketing Strategy </a:t>
            </a:r>
            <a:endParaRPr>
              <a:solidFill>
                <a:schemeClr val="accent5"/>
              </a:solidFill>
            </a:endParaRPr>
          </a:p>
          <a:p>
            <a:pPr indent="0" lvl="0" marL="0" rtl="0" algn="ctr">
              <a:lnSpc>
                <a:spcPct val="90000"/>
              </a:lnSpc>
              <a:spcBef>
                <a:spcPts val="0"/>
              </a:spcBef>
              <a:spcAft>
                <a:spcPts val="0"/>
              </a:spcAft>
              <a:buClr>
                <a:schemeClr val="accent2"/>
              </a:buClr>
              <a:buSzPts val="4400"/>
              <a:buFont typeface="Calibri"/>
              <a:buNone/>
            </a:pPr>
            <a:r>
              <a:rPr i="1" lang="en-US"/>
              <a:t>Foundation - Website</a:t>
            </a:r>
            <a:endParaRPr i="1"/>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pic>
        <p:nvPicPr>
          <p:cNvPr id="514" name="Google Shape;514;p71"/>
          <p:cNvPicPr preferRelativeResize="0"/>
          <p:nvPr/>
        </p:nvPicPr>
        <p:blipFill rotWithShape="1">
          <a:blip r:embed="rId3">
            <a:alphaModFix/>
          </a:blip>
          <a:srcRect b="0" l="0" r="0" t="0"/>
          <a:stretch/>
        </p:blipFill>
        <p:spPr>
          <a:xfrm>
            <a:off x="7990825" y="1611500"/>
            <a:ext cx="3566725" cy="3987425"/>
          </a:xfrm>
          <a:prstGeom prst="rect">
            <a:avLst/>
          </a:prstGeom>
          <a:noFill/>
          <a:ln>
            <a:noFill/>
          </a:ln>
        </p:spPr>
      </p:pic>
      <p:sp>
        <p:nvSpPr>
          <p:cNvPr id="515" name="Google Shape;515;p71"/>
          <p:cNvSpPr txBox="1"/>
          <p:nvPr>
            <p:ph type="title"/>
          </p:nvPr>
        </p:nvSpPr>
        <p:spPr>
          <a:xfrm>
            <a:off x="75212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a:solidFill>
                  <a:schemeClr val="accent5"/>
                </a:solidFill>
                <a:latin typeface="Calibri"/>
                <a:ea typeface="Calibri"/>
                <a:cs typeface="Calibri"/>
                <a:sym typeface="Calibri"/>
              </a:rPr>
              <a:t>Website </a:t>
            </a:r>
            <a:r>
              <a:rPr b="0" i="1" lang="en-US">
                <a:solidFill>
                  <a:schemeClr val="accent4"/>
                </a:solidFill>
                <a:latin typeface="Calibri"/>
                <a:ea typeface="Calibri"/>
                <a:cs typeface="Calibri"/>
                <a:sym typeface="Calibri"/>
              </a:rPr>
              <a:t>review</a:t>
            </a:r>
            <a:endParaRPr b="0" i="1">
              <a:solidFill>
                <a:schemeClr val="accent4"/>
              </a:solidFill>
              <a:latin typeface="Calibri"/>
              <a:ea typeface="Calibri"/>
              <a:cs typeface="Calibri"/>
              <a:sym typeface="Calibri"/>
            </a:endParaRPr>
          </a:p>
        </p:txBody>
      </p:sp>
      <p:sp>
        <p:nvSpPr>
          <p:cNvPr id="516" name="Google Shape;516;p71"/>
          <p:cNvSpPr txBox="1"/>
          <p:nvPr>
            <p:ph idx="1" type="body"/>
          </p:nvPr>
        </p:nvSpPr>
        <p:spPr>
          <a:xfrm>
            <a:off x="430525" y="1826625"/>
            <a:ext cx="7560300" cy="4619700"/>
          </a:xfrm>
          <a:prstGeom prst="rect">
            <a:avLst/>
          </a:prstGeom>
          <a:noFill/>
          <a:ln>
            <a:noFill/>
          </a:ln>
        </p:spPr>
        <p:txBody>
          <a:bodyPr anchorCtr="0" anchor="t" bIns="45700" lIns="91425" spcFirstLastPara="1" rIns="91425" wrap="square" tIns="45700">
            <a:noAutofit/>
          </a:bodyPr>
          <a:lstStyle/>
          <a:p>
            <a:pPr indent="-231775" lvl="1" marL="685800" rtl="0" algn="l">
              <a:lnSpc>
                <a:spcPct val="115000"/>
              </a:lnSpc>
              <a:spcBef>
                <a:spcPts val="0"/>
              </a:spcBef>
              <a:spcAft>
                <a:spcPts val="0"/>
              </a:spcAft>
              <a:buClr>
                <a:schemeClr val="accent2"/>
              </a:buClr>
              <a:buSzPts val="1850"/>
              <a:buFont typeface="Noto Sans Symbols"/>
              <a:buChar char="✔"/>
            </a:pPr>
            <a:r>
              <a:rPr lang="en-US" sz="1850"/>
              <a:t>Your website is: </a:t>
            </a:r>
            <a:endParaRPr sz="1850"/>
          </a:p>
          <a:p>
            <a:pPr indent="-231775" lvl="2" marL="1143000" rtl="0" algn="l">
              <a:lnSpc>
                <a:spcPct val="115000"/>
              </a:lnSpc>
              <a:spcBef>
                <a:spcPts val="0"/>
              </a:spcBef>
              <a:spcAft>
                <a:spcPts val="0"/>
              </a:spcAft>
              <a:buClr>
                <a:schemeClr val="accent2"/>
              </a:buClr>
              <a:buSzPts val="1850"/>
              <a:buFont typeface="Noto Sans Symbols"/>
              <a:buChar char="•"/>
            </a:pPr>
            <a:r>
              <a:rPr lang="en-US" sz="1850"/>
              <a:t>Your marketing hub that all marketing activities drive to</a:t>
            </a:r>
            <a:endParaRPr sz="1850"/>
          </a:p>
          <a:p>
            <a:pPr indent="-231775" lvl="2" marL="1143000" rtl="0" algn="l">
              <a:lnSpc>
                <a:spcPct val="115000"/>
              </a:lnSpc>
              <a:spcBef>
                <a:spcPts val="0"/>
              </a:spcBef>
              <a:spcAft>
                <a:spcPts val="0"/>
              </a:spcAft>
              <a:buClr>
                <a:schemeClr val="accent2"/>
              </a:buClr>
              <a:buSzPts val="1850"/>
              <a:buFont typeface="Noto Sans Symbols"/>
              <a:buChar char="•"/>
            </a:pPr>
            <a:r>
              <a:rPr lang="en-US" sz="1850"/>
              <a:t>Your inbound marketing hub that can help people find you </a:t>
            </a:r>
            <a:endParaRPr sz="1850"/>
          </a:p>
          <a:p>
            <a:pPr indent="-231775" lvl="1" marL="685800" rtl="0" algn="l">
              <a:lnSpc>
                <a:spcPct val="115000"/>
              </a:lnSpc>
              <a:spcBef>
                <a:spcPts val="0"/>
              </a:spcBef>
              <a:spcAft>
                <a:spcPts val="0"/>
              </a:spcAft>
              <a:buClr>
                <a:schemeClr val="accent2"/>
              </a:buClr>
              <a:buSzPts val="1850"/>
              <a:buFont typeface="Noto Sans Symbols"/>
              <a:buChar char="✔"/>
            </a:pPr>
            <a:r>
              <a:rPr lang="en-US" sz="1850"/>
              <a:t>Your website needs to:</a:t>
            </a:r>
            <a:endParaRPr sz="1850"/>
          </a:p>
          <a:p>
            <a:pPr indent="-231775" lvl="2" marL="1143000" rtl="0" algn="l">
              <a:lnSpc>
                <a:spcPct val="115000"/>
              </a:lnSpc>
              <a:spcBef>
                <a:spcPts val="0"/>
              </a:spcBef>
              <a:spcAft>
                <a:spcPts val="0"/>
              </a:spcAft>
              <a:buClr>
                <a:schemeClr val="accent2"/>
              </a:buClr>
              <a:buSzPts val="1850"/>
              <a:buFont typeface="Noto Sans Symbols"/>
              <a:buChar char="•"/>
            </a:pPr>
            <a:r>
              <a:rPr lang="en-US" sz="1850"/>
              <a:t>Immediately let your ideal clients know that they’re in the right place, and that what you have to offer is for them</a:t>
            </a:r>
            <a:endParaRPr sz="1850"/>
          </a:p>
          <a:p>
            <a:pPr indent="-231775" lvl="2" marL="1143000" marR="0" rtl="0" algn="l">
              <a:lnSpc>
                <a:spcPct val="115000"/>
              </a:lnSpc>
              <a:spcBef>
                <a:spcPts val="0"/>
              </a:spcBef>
              <a:spcAft>
                <a:spcPts val="0"/>
              </a:spcAft>
              <a:buClr>
                <a:schemeClr val="accent2"/>
              </a:buClr>
              <a:buSzPts val="1850"/>
              <a:buFont typeface="Noto Sans Symbols"/>
              <a:buChar char="•"/>
            </a:pPr>
            <a:r>
              <a:rPr lang="en-US" sz="1850"/>
              <a:t>Move your clients in the direction you want them to take (direct them to the right product, get them on your lead nurture list)</a:t>
            </a:r>
            <a:endParaRPr sz="1850"/>
          </a:p>
          <a:p>
            <a:pPr indent="-231775" lvl="2" marL="1143000" marR="0" rtl="0" algn="l">
              <a:lnSpc>
                <a:spcPct val="115000"/>
              </a:lnSpc>
              <a:spcBef>
                <a:spcPts val="0"/>
              </a:spcBef>
              <a:spcAft>
                <a:spcPts val="0"/>
              </a:spcAft>
              <a:buClr>
                <a:schemeClr val="accent2"/>
              </a:buClr>
              <a:buSzPts val="1850"/>
              <a:buFont typeface="Noto Sans Symbols"/>
              <a:buChar char="•"/>
            </a:pPr>
            <a:r>
              <a:rPr lang="en-US" sz="1850"/>
              <a:t>Enable your prospects to take themselves through their own customer journey</a:t>
            </a:r>
            <a:endParaRPr sz="1850"/>
          </a:p>
          <a:p>
            <a:pPr indent="-231775" lvl="2" marL="1143000" marR="0" rtl="0" algn="l">
              <a:lnSpc>
                <a:spcPct val="115000"/>
              </a:lnSpc>
              <a:spcBef>
                <a:spcPts val="0"/>
              </a:spcBef>
              <a:spcAft>
                <a:spcPts val="0"/>
              </a:spcAft>
              <a:buClr>
                <a:schemeClr val="accent2"/>
              </a:buClr>
              <a:buSzPts val="1850"/>
              <a:buFont typeface="Noto Sans Symbols"/>
              <a:buChar char="•"/>
            </a:pPr>
            <a:r>
              <a:rPr lang="en-US" sz="1850"/>
              <a:t>Act as an entry point to continue marketing to them and supporting them through the customer journey</a:t>
            </a:r>
            <a:endParaRPr sz="1850"/>
          </a:p>
          <a:p>
            <a:pPr indent="0" lvl="0" marL="0" rtl="0" algn="l">
              <a:lnSpc>
                <a:spcPct val="115000"/>
              </a:lnSpc>
              <a:spcBef>
                <a:spcPts val="0"/>
              </a:spcBef>
              <a:spcAft>
                <a:spcPts val="0"/>
              </a:spcAft>
              <a:buNone/>
            </a:pPr>
            <a:r>
              <a:t/>
            </a:r>
            <a:endParaRPr sz="1850"/>
          </a:p>
          <a:p>
            <a:pPr indent="0" lvl="0" marL="0" rtl="0" algn="l">
              <a:lnSpc>
                <a:spcPct val="115000"/>
              </a:lnSpc>
              <a:spcBef>
                <a:spcPts val="0"/>
              </a:spcBef>
              <a:spcAft>
                <a:spcPts val="0"/>
              </a:spcAft>
              <a:buNone/>
            </a:pPr>
            <a:r>
              <a:t/>
            </a:r>
            <a:endParaRPr sz="1950"/>
          </a:p>
        </p:txBody>
      </p:sp>
      <p:sp>
        <p:nvSpPr>
          <p:cNvPr id="517" name="Google Shape;517;p71"/>
          <p:cNvSpPr txBox="1"/>
          <p:nvPr/>
        </p:nvSpPr>
        <p:spPr>
          <a:xfrm>
            <a:off x="8244038" y="1954525"/>
            <a:ext cx="3060300" cy="40788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Insights:</a:t>
            </a:r>
            <a:endParaRPr sz="1600">
              <a:solidFill>
                <a:srgbClr val="434343"/>
              </a:solidFill>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Your website can become a powerful tool to both attract and convert prospects.</a:t>
            </a:r>
            <a:endParaRPr sz="1600">
              <a:solidFill>
                <a:srgbClr val="434343"/>
              </a:solidFill>
              <a:latin typeface="Calibri"/>
              <a:ea typeface="Calibri"/>
              <a:cs typeface="Calibri"/>
              <a:sym typeface="Calibri"/>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Needs a thorough review and updates to match branding, messaging, positioning, persona, content, funnel &amp; marketing recommendations.</a:t>
            </a:r>
            <a:endParaRPr sz="16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72"/>
          <p:cNvSpPr txBox="1"/>
          <p:nvPr>
            <p:ph type="title"/>
          </p:nvPr>
        </p:nvSpPr>
        <p:spPr>
          <a:xfrm>
            <a:off x="8020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4000">
                <a:solidFill>
                  <a:srgbClr val="073763"/>
                </a:solidFill>
                <a:latin typeface="Calibri"/>
                <a:ea typeface="Calibri"/>
                <a:cs typeface="Calibri"/>
                <a:sym typeface="Calibri"/>
              </a:rPr>
              <a:t>Website Pages &amp; Navigation</a:t>
            </a:r>
            <a:r>
              <a:rPr b="0" i="1" lang="en-US" sz="4000">
                <a:solidFill>
                  <a:srgbClr val="073763"/>
                </a:solidFill>
                <a:latin typeface="Calibri"/>
                <a:ea typeface="Calibri"/>
                <a:cs typeface="Calibri"/>
                <a:sym typeface="Calibri"/>
              </a:rPr>
              <a:t> </a:t>
            </a:r>
            <a:r>
              <a:rPr b="0" i="1" lang="en-US" sz="4000">
                <a:solidFill>
                  <a:srgbClr val="62C9D7"/>
                </a:solidFill>
                <a:latin typeface="Calibri"/>
                <a:ea typeface="Calibri"/>
                <a:cs typeface="Calibri"/>
                <a:sym typeface="Calibri"/>
              </a:rPr>
              <a:t>Recommendation </a:t>
            </a:r>
            <a:endParaRPr b="0" i="1" sz="4000">
              <a:solidFill>
                <a:srgbClr val="62C9D7"/>
              </a:solidFill>
              <a:latin typeface="Calibri"/>
              <a:ea typeface="Calibri"/>
              <a:cs typeface="Calibri"/>
              <a:sym typeface="Calibri"/>
            </a:endParaRPr>
          </a:p>
        </p:txBody>
      </p:sp>
      <p:sp>
        <p:nvSpPr>
          <p:cNvPr id="523" name="Google Shape;523;p72"/>
          <p:cNvSpPr txBox="1"/>
          <p:nvPr>
            <p:ph idx="1" type="body"/>
          </p:nvPr>
        </p:nvSpPr>
        <p:spPr>
          <a:xfrm>
            <a:off x="4363200" y="1797900"/>
            <a:ext cx="34656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1650"/>
              <a:t>Streamline Navigation:</a:t>
            </a:r>
            <a:endParaRPr b="1" sz="1650"/>
          </a:p>
          <a:p>
            <a:pPr indent="-193675" lvl="1" marL="685800" marR="0" rtl="0" algn="l">
              <a:lnSpc>
                <a:spcPct val="100000"/>
              </a:lnSpc>
              <a:spcBef>
                <a:spcPts val="0"/>
              </a:spcBef>
              <a:spcAft>
                <a:spcPts val="0"/>
              </a:spcAft>
              <a:buClr>
                <a:schemeClr val="accent2"/>
              </a:buClr>
              <a:buSzPts val="1250"/>
              <a:buFont typeface="Noto Sans Symbols"/>
              <a:buChar char="✔"/>
            </a:pPr>
            <a:r>
              <a:rPr b="1" lang="en-US" sz="1250"/>
              <a:t>Home</a:t>
            </a:r>
            <a:endParaRPr b="1" sz="1250"/>
          </a:p>
          <a:p>
            <a:pPr indent="-193675" lvl="1" marL="685800" marR="0" rtl="0" algn="l">
              <a:lnSpc>
                <a:spcPct val="100000"/>
              </a:lnSpc>
              <a:spcBef>
                <a:spcPts val="0"/>
              </a:spcBef>
              <a:spcAft>
                <a:spcPts val="0"/>
              </a:spcAft>
              <a:buClr>
                <a:schemeClr val="accent2"/>
              </a:buClr>
              <a:buSzPts val="1250"/>
              <a:buFont typeface="Noto Sans Symbols"/>
              <a:buChar char="✔"/>
            </a:pPr>
            <a:r>
              <a:rPr b="1" lang="en-US" sz="1250"/>
              <a:t>Who We Help</a:t>
            </a:r>
            <a:endParaRPr b="1"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Private Companies</a:t>
            </a:r>
            <a:endParaRPr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Private Equity Firms</a:t>
            </a:r>
            <a:endParaRPr sz="1250"/>
          </a:p>
          <a:p>
            <a:pPr indent="-193675" lvl="1" marL="685800" marR="0" rtl="0" algn="l">
              <a:lnSpc>
                <a:spcPct val="100000"/>
              </a:lnSpc>
              <a:spcBef>
                <a:spcPts val="0"/>
              </a:spcBef>
              <a:spcAft>
                <a:spcPts val="0"/>
              </a:spcAft>
              <a:buClr>
                <a:schemeClr val="accent2"/>
              </a:buClr>
              <a:buSzPts val="1250"/>
              <a:buFont typeface="Noto Sans Symbols"/>
              <a:buChar char="✔"/>
            </a:pPr>
            <a:r>
              <a:rPr b="1" lang="en-US" sz="1250"/>
              <a:t>Services</a:t>
            </a:r>
            <a:endParaRPr b="1"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Leadership Development</a:t>
            </a:r>
            <a:endParaRPr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Talent Transformation</a:t>
            </a:r>
            <a:endParaRPr sz="1250"/>
          </a:p>
          <a:p>
            <a:pPr indent="-193675" lvl="1" marL="685800" marR="0" rtl="0" algn="l">
              <a:lnSpc>
                <a:spcPct val="100000"/>
              </a:lnSpc>
              <a:spcBef>
                <a:spcPts val="0"/>
              </a:spcBef>
              <a:spcAft>
                <a:spcPts val="0"/>
              </a:spcAft>
              <a:buClr>
                <a:schemeClr val="accent2"/>
              </a:buClr>
              <a:buSzPts val="1250"/>
              <a:buFont typeface="Noto Sans Symbols"/>
              <a:buChar char="✔"/>
            </a:pPr>
            <a:r>
              <a:rPr b="1" lang="en-US" sz="1250"/>
              <a:t>Results</a:t>
            </a:r>
            <a:endParaRPr b="1"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Client Stories</a:t>
            </a:r>
            <a:endParaRPr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What Clients Say</a:t>
            </a:r>
            <a:endParaRPr sz="1250"/>
          </a:p>
          <a:p>
            <a:pPr indent="-193675" lvl="1" marL="685800" marR="0" rtl="0" algn="l">
              <a:lnSpc>
                <a:spcPct val="100000"/>
              </a:lnSpc>
              <a:spcBef>
                <a:spcPts val="0"/>
              </a:spcBef>
              <a:spcAft>
                <a:spcPts val="0"/>
              </a:spcAft>
              <a:buClr>
                <a:schemeClr val="accent2"/>
              </a:buClr>
              <a:buSzPts val="1250"/>
              <a:buFont typeface="Noto Sans Symbols"/>
              <a:buChar char="✔"/>
            </a:pPr>
            <a:r>
              <a:rPr b="1" lang="en-US" sz="1250"/>
              <a:t>Locations</a:t>
            </a:r>
            <a:endParaRPr b="1"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Halifax</a:t>
            </a:r>
            <a:endParaRPr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Toronto</a:t>
            </a:r>
            <a:endParaRPr sz="1250"/>
          </a:p>
          <a:p>
            <a:pPr indent="-193675" lvl="1" marL="685800" marR="0" rtl="0" algn="l">
              <a:lnSpc>
                <a:spcPct val="100000"/>
              </a:lnSpc>
              <a:spcBef>
                <a:spcPts val="0"/>
              </a:spcBef>
              <a:spcAft>
                <a:spcPts val="0"/>
              </a:spcAft>
              <a:buClr>
                <a:schemeClr val="accent2"/>
              </a:buClr>
              <a:buSzPts val="1250"/>
              <a:buFont typeface="Noto Sans Symbols"/>
              <a:buChar char="✔"/>
            </a:pPr>
            <a:r>
              <a:rPr b="1" lang="en-US" sz="1250"/>
              <a:t>Insights</a:t>
            </a:r>
            <a:endParaRPr b="1"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Blog</a:t>
            </a:r>
            <a:endParaRPr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Resources</a:t>
            </a:r>
            <a:endParaRPr sz="1250"/>
          </a:p>
          <a:p>
            <a:pPr indent="-193675" lvl="1" marL="685800" marR="0" rtl="0" algn="l">
              <a:lnSpc>
                <a:spcPct val="100000"/>
              </a:lnSpc>
              <a:spcBef>
                <a:spcPts val="0"/>
              </a:spcBef>
              <a:spcAft>
                <a:spcPts val="0"/>
              </a:spcAft>
              <a:buClr>
                <a:schemeClr val="accent2"/>
              </a:buClr>
              <a:buSzPts val="1250"/>
              <a:buFont typeface="Noto Sans Symbols"/>
              <a:buChar char="✔"/>
            </a:pPr>
            <a:r>
              <a:rPr b="1" lang="en-US" sz="1250"/>
              <a:t>About </a:t>
            </a:r>
            <a:endParaRPr b="1"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Our Story</a:t>
            </a:r>
            <a:endParaRPr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Our Team</a:t>
            </a:r>
            <a:endParaRPr sz="1250"/>
          </a:p>
          <a:p>
            <a:pPr indent="-193675" lvl="1" marL="685800" marR="0" rtl="0" algn="l">
              <a:lnSpc>
                <a:spcPct val="100000"/>
              </a:lnSpc>
              <a:spcBef>
                <a:spcPts val="0"/>
              </a:spcBef>
              <a:spcAft>
                <a:spcPts val="0"/>
              </a:spcAft>
              <a:buClr>
                <a:schemeClr val="accent2"/>
              </a:buClr>
              <a:buSzPts val="1250"/>
              <a:buFont typeface="Noto Sans Symbols"/>
              <a:buChar char="✔"/>
            </a:pPr>
            <a:r>
              <a:rPr b="1" lang="en-US" sz="1250"/>
              <a:t>Contact</a:t>
            </a:r>
            <a:endParaRPr b="1" sz="1250"/>
          </a:p>
          <a:p>
            <a:pPr indent="0" lvl="0" marL="0" rtl="0" algn="l">
              <a:lnSpc>
                <a:spcPct val="100000"/>
              </a:lnSpc>
              <a:spcBef>
                <a:spcPts val="1000"/>
              </a:spcBef>
              <a:spcAft>
                <a:spcPts val="0"/>
              </a:spcAft>
              <a:buNone/>
            </a:pPr>
            <a:r>
              <a:t/>
            </a:r>
            <a:endParaRPr i="1" sz="1950"/>
          </a:p>
        </p:txBody>
      </p:sp>
      <p:sp>
        <p:nvSpPr>
          <p:cNvPr id="524" name="Google Shape;524;p72"/>
          <p:cNvSpPr txBox="1"/>
          <p:nvPr>
            <p:ph idx="1" type="body"/>
          </p:nvPr>
        </p:nvSpPr>
        <p:spPr>
          <a:xfrm>
            <a:off x="1013600" y="1797900"/>
            <a:ext cx="34656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1650"/>
              <a:t>Add New Landing Pages:</a:t>
            </a:r>
            <a:endParaRPr b="1" sz="1650"/>
          </a:p>
          <a:p>
            <a:pPr indent="0" lvl="0" marL="0" marR="0" rtl="0" algn="l">
              <a:lnSpc>
                <a:spcPct val="100000"/>
              </a:lnSpc>
              <a:spcBef>
                <a:spcPts val="0"/>
              </a:spcBef>
              <a:spcAft>
                <a:spcPts val="0"/>
              </a:spcAft>
              <a:buNone/>
            </a:pPr>
            <a:r>
              <a:t/>
            </a:r>
            <a:endParaRPr b="1" sz="1250"/>
          </a:p>
          <a:p>
            <a:pPr indent="-193675" lvl="1" marL="685800" marR="0" rtl="0" algn="l">
              <a:lnSpc>
                <a:spcPct val="100000"/>
              </a:lnSpc>
              <a:spcBef>
                <a:spcPts val="0"/>
              </a:spcBef>
              <a:spcAft>
                <a:spcPts val="0"/>
              </a:spcAft>
              <a:buClr>
                <a:schemeClr val="accent2"/>
              </a:buClr>
              <a:buSzPts val="1250"/>
              <a:buFont typeface="Noto Sans Symbols"/>
              <a:buChar char="✔"/>
            </a:pPr>
            <a:r>
              <a:rPr b="1" lang="en-US" sz="1250"/>
              <a:t>Who We Help</a:t>
            </a:r>
            <a:endParaRPr b="1"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Private Companies</a:t>
            </a:r>
            <a:endParaRPr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Private Equity Firms</a:t>
            </a:r>
            <a:endParaRPr sz="1250"/>
          </a:p>
          <a:p>
            <a:pPr indent="-193675" lvl="1" marL="685800" marR="0" rtl="0" algn="l">
              <a:lnSpc>
                <a:spcPct val="100000"/>
              </a:lnSpc>
              <a:spcBef>
                <a:spcPts val="0"/>
              </a:spcBef>
              <a:spcAft>
                <a:spcPts val="0"/>
              </a:spcAft>
              <a:buClr>
                <a:schemeClr val="accent2"/>
              </a:buClr>
              <a:buSzPts val="1250"/>
              <a:buFont typeface="Noto Sans Symbols"/>
              <a:buChar char="✔"/>
            </a:pPr>
            <a:r>
              <a:rPr b="1" lang="en-US" sz="1250"/>
              <a:t>Services</a:t>
            </a:r>
            <a:endParaRPr b="1"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Leadership Development</a:t>
            </a:r>
            <a:endParaRPr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Talent Transformation</a:t>
            </a:r>
            <a:endParaRPr sz="1250"/>
          </a:p>
          <a:p>
            <a:pPr indent="-193675" lvl="1" marL="685800" marR="0" rtl="0" algn="l">
              <a:lnSpc>
                <a:spcPct val="100000"/>
              </a:lnSpc>
              <a:spcBef>
                <a:spcPts val="0"/>
              </a:spcBef>
              <a:spcAft>
                <a:spcPts val="0"/>
              </a:spcAft>
              <a:buClr>
                <a:schemeClr val="accent2"/>
              </a:buClr>
              <a:buSzPts val="1250"/>
              <a:buFont typeface="Noto Sans Symbols"/>
              <a:buChar char="✔"/>
            </a:pPr>
            <a:r>
              <a:rPr b="1" lang="en-US" sz="1250"/>
              <a:t>Locations</a:t>
            </a:r>
            <a:endParaRPr b="1"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Halifax</a:t>
            </a:r>
            <a:endParaRPr sz="1250"/>
          </a:p>
          <a:p>
            <a:pPr indent="-193675" lvl="2" marL="1143000" marR="0" rtl="0" algn="l">
              <a:lnSpc>
                <a:spcPct val="100000"/>
              </a:lnSpc>
              <a:spcBef>
                <a:spcPts val="0"/>
              </a:spcBef>
              <a:spcAft>
                <a:spcPts val="0"/>
              </a:spcAft>
              <a:buClr>
                <a:schemeClr val="accent2"/>
              </a:buClr>
              <a:buSzPts val="1250"/>
              <a:buFont typeface="Noto Sans Symbols"/>
              <a:buChar char="•"/>
            </a:pPr>
            <a:r>
              <a:rPr lang="en-US" sz="1250"/>
              <a:t>Toronto</a:t>
            </a:r>
            <a:endParaRPr b="1" sz="1250"/>
          </a:p>
          <a:p>
            <a:pPr indent="0" lvl="0" marL="0" rtl="0" algn="l">
              <a:lnSpc>
                <a:spcPct val="100000"/>
              </a:lnSpc>
              <a:spcBef>
                <a:spcPts val="1000"/>
              </a:spcBef>
              <a:spcAft>
                <a:spcPts val="0"/>
              </a:spcAft>
              <a:buNone/>
            </a:pPr>
            <a:r>
              <a:t/>
            </a:r>
            <a:endParaRPr i="1" sz="195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pic>
        <p:nvPicPr>
          <p:cNvPr id="529" name="Google Shape;529;p73"/>
          <p:cNvPicPr preferRelativeResize="0"/>
          <p:nvPr/>
        </p:nvPicPr>
        <p:blipFill rotWithShape="1">
          <a:blip r:embed="rId3">
            <a:alphaModFix/>
          </a:blip>
          <a:srcRect b="0" l="0" r="0" t="0"/>
          <a:stretch/>
        </p:blipFill>
        <p:spPr>
          <a:xfrm>
            <a:off x="8497250" y="1611500"/>
            <a:ext cx="3060300" cy="3987425"/>
          </a:xfrm>
          <a:prstGeom prst="rect">
            <a:avLst/>
          </a:prstGeom>
          <a:noFill/>
          <a:ln>
            <a:noFill/>
          </a:ln>
        </p:spPr>
      </p:pic>
      <p:sp>
        <p:nvSpPr>
          <p:cNvPr id="530" name="Google Shape;530;p73"/>
          <p:cNvSpPr txBox="1"/>
          <p:nvPr>
            <p:ph type="title"/>
          </p:nvPr>
        </p:nvSpPr>
        <p:spPr>
          <a:xfrm>
            <a:off x="75212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a:solidFill>
                  <a:schemeClr val="accent5"/>
                </a:solidFill>
                <a:latin typeface="Calibri"/>
                <a:ea typeface="Calibri"/>
                <a:cs typeface="Calibri"/>
                <a:sym typeface="Calibri"/>
              </a:rPr>
              <a:t>Website </a:t>
            </a:r>
            <a:r>
              <a:rPr b="0" i="1" lang="en-US">
                <a:solidFill>
                  <a:schemeClr val="accent4"/>
                </a:solidFill>
                <a:latin typeface="Calibri"/>
                <a:ea typeface="Calibri"/>
                <a:cs typeface="Calibri"/>
                <a:sym typeface="Calibri"/>
              </a:rPr>
              <a:t>new audience landing pages</a:t>
            </a:r>
            <a:endParaRPr b="0" i="1">
              <a:solidFill>
                <a:schemeClr val="accent4"/>
              </a:solidFill>
              <a:latin typeface="Calibri"/>
              <a:ea typeface="Calibri"/>
              <a:cs typeface="Calibri"/>
              <a:sym typeface="Calibri"/>
            </a:endParaRPr>
          </a:p>
        </p:txBody>
      </p:sp>
      <p:sp>
        <p:nvSpPr>
          <p:cNvPr id="531" name="Google Shape;531;p73"/>
          <p:cNvSpPr txBox="1"/>
          <p:nvPr>
            <p:ph idx="1" type="body"/>
          </p:nvPr>
        </p:nvSpPr>
        <p:spPr>
          <a:xfrm>
            <a:off x="916925" y="1611500"/>
            <a:ext cx="7074000" cy="675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US" sz="1850">
                <a:solidFill>
                  <a:schemeClr val="accent2"/>
                </a:solidFill>
              </a:rPr>
              <a:t>Private Equity Portfolio Companies:</a:t>
            </a:r>
            <a:endParaRPr b="1" sz="1850">
              <a:solidFill>
                <a:schemeClr val="accent2"/>
              </a:solidFill>
            </a:endParaRPr>
          </a:p>
          <a:p>
            <a:pPr indent="0" lvl="0" marL="0" rtl="0" algn="l">
              <a:lnSpc>
                <a:spcPct val="115000"/>
              </a:lnSpc>
              <a:spcBef>
                <a:spcPts val="0"/>
              </a:spcBef>
              <a:spcAft>
                <a:spcPts val="0"/>
              </a:spcAft>
              <a:buNone/>
            </a:pPr>
            <a:r>
              <a:t/>
            </a:r>
            <a:endParaRPr sz="1850"/>
          </a:p>
          <a:p>
            <a:pPr indent="0" lvl="0" marL="0" rtl="0" algn="l">
              <a:lnSpc>
                <a:spcPct val="115000"/>
              </a:lnSpc>
              <a:spcBef>
                <a:spcPts val="0"/>
              </a:spcBef>
              <a:spcAft>
                <a:spcPts val="0"/>
              </a:spcAft>
              <a:buNone/>
            </a:pPr>
            <a:r>
              <a:t/>
            </a:r>
            <a:endParaRPr sz="1950"/>
          </a:p>
        </p:txBody>
      </p:sp>
      <p:sp>
        <p:nvSpPr>
          <p:cNvPr id="532" name="Google Shape;532;p73"/>
          <p:cNvSpPr txBox="1"/>
          <p:nvPr/>
        </p:nvSpPr>
        <p:spPr>
          <a:xfrm>
            <a:off x="8825623" y="1954525"/>
            <a:ext cx="2478600" cy="42330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Insights:</a:t>
            </a:r>
            <a:endParaRPr sz="1600">
              <a:solidFill>
                <a:srgbClr val="434343"/>
              </a:solidFill>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Speaks to unique audience benefits</a:t>
            </a:r>
            <a:endParaRPr sz="1600">
              <a:solidFill>
                <a:srgbClr val="434343"/>
              </a:solidFill>
              <a:latin typeface="Calibri"/>
              <a:ea typeface="Calibri"/>
              <a:cs typeface="Calibri"/>
              <a:sym typeface="Calibri"/>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Serves as a landing page for marketing campaigns</a:t>
            </a:r>
            <a:endParaRPr sz="1600">
              <a:solidFill>
                <a:srgbClr val="434343"/>
              </a:solidFill>
              <a:latin typeface="Calibri"/>
              <a:ea typeface="Calibri"/>
              <a:cs typeface="Calibri"/>
              <a:sym typeface="Calibri"/>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Optimized to be found by PE firms and portfolio companies</a:t>
            </a:r>
            <a:endParaRPr sz="1600">
              <a:solidFill>
                <a:srgbClr val="434343"/>
              </a:solidFill>
              <a:latin typeface="Calibri"/>
              <a:ea typeface="Calibri"/>
              <a:cs typeface="Calibri"/>
              <a:sym typeface="Calibri"/>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Adds trust</a:t>
            </a:r>
            <a:endParaRPr sz="16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
        <p:nvSpPr>
          <p:cNvPr id="533" name="Google Shape;533;p73"/>
          <p:cNvSpPr txBox="1"/>
          <p:nvPr/>
        </p:nvSpPr>
        <p:spPr>
          <a:xfrm>
            <a:off x="958025" y="2109925"/>
            <a:ext cx="6991800" cy="414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a:t>
            </a:r>
            <a:r>
              <a:rPr b="1" lang="en-US" sz="1600">
                <a:solidFill>
                  <a:schemeClr val="dk1"/>
                </a:solidFill>
                <a:latin typeface="Calibri"/>
                <a:ea typeface="Calibri"/>
                <a:cs typeface="Calibri"/>
                <a:sym typeface="Calibri"/>
              </a:rPr>
              <a:t>Stronger Leadership. Faster Execution. Lower Risk.</a:t>
            </a:r>
            <a:endParaRPr b="1" sz="16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i="1" lang="en-US" sz="1200">
                <a:solidFill>
                  <a:schemeClr val="dk1"/>
                </a:solidFill>
                <a:latin typeface="Calibri"/>
                <a:ea typeface="Calibri"/>
                <a:cs typeface="Calibri"/>
                <a:sym typeface="Calibri"/>
              </a:rPr>
              <a:t>We help operationally focused private equity firms accelerate portfolio company performance by strengthening leadership teams during critical growth and post-acquisition stages.</a:t>
            </a:r>
            <a:endParaRPr i="1"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 Talk to Us About Portfolio Leadership Support → ]</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US" sz="1100">
                <a:solidFill>
                  <a:schemeClr val="dk1"/>
                </a:solidFill>
                <a:latin typeface="Calibri"/>
                <a:ea typeface="Calibri"/>
                <a:cs typeface="Calibri"/>
                <a:sym typeface="Calibri"/>
              </a:rPr>
              <a:t>Post-close execution depends on more than strategy — it depends on people. </a:t>
            </a:r>
            <a:r>
              <a:rPr lang="en-US" sz="1100">
                <a:solidFill>
                  <a:schemeClr val="dk1"/>
                </a:solidFill>
                <a:latin typeface="Calibri"/>
                <a:ea typeface="Calibri"/>
                <a:cs typeface="Calibri"/>
                <a:sym typeface="Calibri"/>
              </a:rPr>
              <a:t>Leadership gaps, unclear accountabilities, and team misalignment are common failure points that derail growth plans.  In the first 12–24 months post-acquisition, human capital risks can quietly erode even the strongest investment thesis.</a:t>
            </a:r>
            <a:endParaRPr b="1" sz="17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US" sz="1200">
                <a:solidFill>
                  <a:schemeClr val="dk1"/>
                </a:solidFill>
                <a:latin typeface="Calibri"/>
                <a:ea typeface="Calibri"/>
                <a:cs typeface="Calibri"/>
                <a:sym typeface="Calibri"/>
              </a:rPr>
              <a:t>PowerUp Leadership partners with PE firms to:</a:t>
            </a:r>
            <a:endParaRPr b="1" sz="12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Strengthen CEO and C-suite alignment post-close</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Build leadership bench strength to support aggressive growth targets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Accelerate leadership onboarding and role clarity during transitions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Improve executive team decision-making, delegation, and resilience</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Support sustainable leadership structures that reduce execution risk</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lang="en-US" sz="1100">
                <a:solidFill>
                  <a:schemeClr val="dk1"/>
                </a:solidFill>
                <a:latin typeface="Calibri"/>
                <a:ea typeface="Calibri"/>
                <a:cs typeface="Calibri"/>
                <a:sym typeface="Calibri"/>
              </a:rPr>
              <a:t>Our programs integrate seamlessly with your operating cadence — offering flexible, targeted leadership development without adding internal headcount.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pic>
        <p:nvPicPr>
          <p:cNvPr id="538" name="Google Shape;538;p74"/>
          <p:cNvPicPr preferRelativeResize="0"/>
          <p:nvPr/>
        </p:nvPicPr>
        <p:blipFill rotWithShape="1">
          <a:blip r:embed="rId3">
            <a:alphaModFix/>
          </a:blip>
          <a:srcRect b="0" l="0" r="0" t="0"/>
          <a:stretch/>
        </p:blipFill>
        <p:spPr>
          <a:xfrm>
            <a:off x="8497250" y="1611500"/>
            <a:ext cx="3060300" cy="3479475"/>
          </a:xfrm>
          <a:prstGeom prst="rect">
            <a:avLst/>
          </a:prstGeom>
          <a:noFill/>
          <a:ln>
            <a:noFill/>
          </a:ln>
        </p:spPr>
      </p:pic>
      <p:sp>
        <p:nvSpPr>
          <p:cNvPr id="539" name="Google Shape;539;p74"/>
          <p:cNvSpPr txBox="1"/>
          <p:nvPr>
            <p:ph type="title"/>
          </p:nvPr>
        </p:nvSpPr>
        <p:spPr>
          <a:xfrm>
            <a:off x="75212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a:solidFill>
                  <a:schemeClr val="accent5"/>
                </a:solidFill>
                <a:latin typeface="Calibri"/>
                <a:ea typeface="Calibri"/>
                <a:cs typeface="Calibri"/>
                <a:sym typeface="Calibri"/>
              </a:rPr>
              <a:t>Website </a:t>
            </a:r>
            <a:r>
              <a:rPr b="0" i="1" lang="en-US">
                <a:solidFill>
                  <a:schemeClr val="accent4"/>
                </a:solidFill>
                <a:latin typeface="Calibri"/>
                <a:ea typeface="Calibri"/>
                <a:cs typeface="Calibri"/>
                <a:sym typeface="Calibri"/>
              </a:rPr>
              <a:t>new audience landing pages</a:t>
            </a:r>
            <a:endParaRPr b="0" i="1">
              <a:solidFill>
                <a:schemeClr val="accent4"/>
              </a:solidFill>
              <a:latin typeface="Calibri"/>
              <a:ea typeface="Calibri"/>
              <a:cs typeface="Calibri"/>
              <a:sym typeface="Calibri"/>
            </a:endParaRPr>
          </a:p>
        </p:txBody>
      </p:sp>
      <p:sp>
        <p:nvSpPr>
          <p:cNvPr id="540" name="Google Shape;540;p74"/>
          <p:cNvSpPr txBox="1"/>
          <p:nvPr>
            <p:ph idx="1" type="body"/>
          </p:nvPr>
        </p:nvSpPr>
        <p:spPr>
          <a:xfrm>
            <a:off x="916925" y="1611500"/>
            <a:ext cx="7074000" cy="675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US" sz="1850">
                <a:solidFill>
                  <a:schemeClr val="accent2"/>
                </a:solidFill>
              </a:rPr>
              <a:t>High Growth Private Companies</a:t>
            </a:r>
            <a:r>
              <a:rPr b="1" lang="en-US" sz="1850">
                <a:solidFill>
                  <a:schemeClr val="accent2"/>
                </a:solidFill>
              </a:rPr>
              <a:t>:</a:t>
            </a:r>
            <a:endParaRPr b="1" sz="1850">
              <a:solidFill>
                <a:schemeClr val="accent2"/>
              </a:solidFill>
            </a:endParaRPr>
          </a:p>
          <a:p>
            <a:pPr indent="0" lvl="0" marL="0" rtl="0" algn="l">
              <a:lnSpc>
                <a:spcPct val="115000"/>
              </a:lnSpc>
              <a:spcBef>
                <a:spcPts val="0"/>
              </a:spcBef>
              <a:spcAft>
                <a:spcPts val="0"/>
              </a:spcAft>
              <a:buNone/>
            </a:pPr>
            <a:r>
              <a:t/>
            </a:r>
            <a:endParaRPr sz="1850"/>
          </a:p>
          <a:p>
            <a:pPr indent="0" lvl="0" marL="0" rtl="0" algn="l">
              <a:lnSpc>
                <a:spcPct val="115000"/>
              </a:lnSpc>
              <a:spcBef>
                <a:spcPts val="0"/>
              </a:spcBef>
              <a:spcAft>
                <a:spcPts val="0"/>
              </a:spcAft>
              <a:buNone/>
            </a:pPr>
            <a:r>
              <a:t/>
            </a:r>
            <a:endParaRPr sz="1950"/>
          </a:p>
        </p:txBody>
      </p:sp>
      <p:sp>
        <p:nvSpPr>
          <p:cNvPr id="541" name="Google Shape;541;p74"/>
          <p:cNvSpPr txBox="1"/>
          <p:nvPr/>
        </p:nvSpPr>
        <p:spPr>
          <a:xfrm>
            <a:off x="8825623" y="1954525"/>
            <a:ext cx="2478600" cy="35733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Insights:</a:t>
            </a:r>
            <a:endParaRPr sz="1600">
              <a:solidFill>
                <a:srgbClr val="434343"/>
              </a:solidFill>
            </a:endParaRPr>
          </a:p>
          <a:p>
            <a:pPr indent="-285750" lvl="0" marL="285750" marR="0" rtl="0" algn="l">
              <a:lnSpc>
                <a:spcPct val="142857"/>
              </a:lnSpc>
              <a:spcBef>
                <a:spcPts val="600"/>
              </a:spcBef>
              <a:spcAft>
                <a:spcPts val="0"/>
              </a:spcAft>
              <a:buClr>
                <a:srgbClr val="434343"/>
              </a:buClr>
              <a:buSzPts val="1400"/>
              <a:buFont typeface="Calibri"/>
              <a:buChar char="✔"/>
            </a:pPr>
            <a:r>
              <a:rPr lang="en-US">
                <a:solidFill>
                  <a:srgbClr val="434343"/>
                </a:solidFill>
                <a:latin typeface="Calibri"/>
                <a:ea typeface="Calibri"/>
                <a:cs typeface="Calibri"/>
                <a:sym typeface="Calibri"/>
              </a:rPr>
              <a:t>Speaks to unique audience benefits</a:t>
            </a:r>
            <a:endParaRPr>
              <a:solidFill>
                <a:srgbClr val="434343"/>
              </a:solidFill>
              <a:latin typeface="Calibri"/>
              <a:ea typeface="Calibri"/>
              <a:cs typeface="Calibri"/>
              <a:sym typeface="Calibri"/>
            </a:endParaRPr>
          </a:p>
          <a:p>
            <a:pPr indent="-285750" lvl="0" marL="285750" marR="0" rtl="0" algn="l">
              <a:lnSpc>
                <a:spcPct val="142857"/>
              </a:lnSpc>
              <a:spcBef>
                <a:spcPts val="600"/>
              </a:spcBef>
              <a:spcAft>
                <a:spcPts val="0"/>
              </a:spcAft>
              <a:buClr>
                <a:srgbClr val="434343"/>
              </a:buClr>
              <a:buSzPts val="1400"/>
              <a:buFont typeface="Calibri"/>
              <a:buChar char="✔"/>
            </a:pPr>
            <a:r>
              <a:rPr lang="en-US">
                <a:solidFill>
                  <a:srgbClr val="434343"/>
                </a:solidFill>
                <a:latin typeface="Calibri"/>
                <a:ea typeface="Calibri"/>
                <a:cs typeface="Calibri"/>
                <a:sym typeface="Calibri"/>
              </a:rPr>
              <a:t>Serves as a landing page for marketing campaigns</a:t>
            </a:r>
            <a:endParaRPr>
              <a:solidFill>
                <a:srgbClr val="434343"/>
              </a:solidFill>
              <a:latin typeface="Calibri"/>
              <a:ea typeface="Calibri"/>
              <a:cs typeface="Calibri"/>
              <a:sym typeface="Calibri"/>
            </a:endParaRPr>
          </a:p>
          <a:p>
            <a:pPr indent="-285750" lvl="0" marL="285750" marR="0" rtl="0" algn="l">
              <a:lnSpc>
                <a:spcPct val="142857"/>
              </a:lnSpc>
              <a:spcBef>
                <a:spcPts val="600"/>
              </a:spcBef>
              <a:spcAft>
                <a:spcPts val="0"/>
              </a:spcAft>
              <a:buClr>
                <a:srgbClr val="434343"/>
              </a:buClr>
              <a:buSzPts val="1400"/>
              <a:buFont typeface="Calibri"/>
              <a:buChar char="✔"/>
            </a:pPr>
            <a:r>
              <a:rPr lang="en-US">
                <a:solidFill>
                  <a:srgbClr val="434343"/>
                </a:solidFill>
                <a:latin typeface="Calibri"/>
                <a:ea typeface="Calibri"/>
                <a:cs typeface="Calibri"/>
                <a:sym typeface="Calibri"/>
              </a:rPr>
              <a:t>Optimized to be found by private companies</a:t>
            </a:r>
            <a:endParaRPr>
              <a:solidFill>
                <a:srgbClr val="434343"/>
              </a:solidFill>
              <a:latin typeface="Calibri"/>
              <a:ea typeface="Calibri"/>
              <a:cs typeface="Calibri"/>
              <a:sym typeface="Calibri"/>
            </a:endParaRPr>
          </a:p>
          <a:p>
            <a:pPr indent="-285750" lvl="0" marL="285750" marR="0" rtl="0" algn="l">
              <a:lnSpc>
                <a:spcPct val="142857"/>
              </a:lnSpc>
              <a:spcBef>
                <a:spcPts val="600"/>
              </a:spcBef>
              <a:spcAft>
                <a:spcPts val="0"/>
              </a:spcAft>
              <a:buClr>
                <a:srgbClr val="434343"/>
              </a:buClr>
              <a:buSzPts val="1400"/>
              <a:buFont typeface="Calibri"/>
              <a:buChar char="✔"/>
            </a:pPr>
            <a:r>
              <a:rPr lang="en-US">
                <a:solidFill>
                  <a:srgbClr val="434343"/>
                </a:solidFill>
                <a:latin typeface="Calibri"/>
                <a:ea typeface="Calibri"/>
                <a:cs typeface="Calibri"/>
                <a:sym typeface="Calibri"/>
              </a:rPr>
              <a:t>Adds trust</a:t>
            </a:r>
            <a:endParaRPr>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
        <p:nvSpPr>
          <p:cNvPr id="542" name="Google Shape;542;p74"/>
          <p:cNvSpPr txBox="1"/>
          <p:nvPr/>
        </p:nvSpPr>
        <p:spPr>
          <a:xfrm>
            <a:off x="958025" y="2023950"/>
            <a:ext cx="7199100" cy="477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500">
                <a:solidFill>
                  <a:schemeClr val="dk1"/>
                </a:solidFill>
                <a:latin typeface="Calibri"/>
                <a:ea typeface="Calibri"/>
                <a:cs typeface="Calibri"/>
                <a:sym typeface="Calibri"/>
              </a:rPr>
              <a:t>Your Business Is Scaling — Is Your Leadership Team Ready?</a:t>
            </a:r>
            <a:br>
              <a:rPr b="1" lang="en-US" sz="1500">
                <a:solidFill>
                  <a:schemeClr val="dk1"/>
                </a:solidFill>
                <a:latin typeface="Calibri"/>
                <a:ea typeface="Calibri"/>
                <a:cs typeface="Calibri"/>
                <a:sym typeface="Calibri"/>
              </a:rPr>
            </a:br>
            <a:r>
              <a:rPr i="1" lang="en-US" sz="1100">
                <a:solidFill>
                  <a:schemeClr val="dk1"/>
                </a:solidFill>
                <a:latin typeface="Calibri"/>
                <a:ea typeface="Calibri"/>
                <a:cs typeface="Calibri"/>
                <a:sym typeface="Calibri"/>
              </a:rPr>
              <a:t>We help privately held companies strengthen their leadership capacity so they can grow faster, align better, and scale without chaos or burnout.</a:t>
            </a:r>
            <a:endParaRPr i="1"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000">
                <a:solidFill>
                  <a:schemeClr val="dk1"/>
                </a:solidFill>
                <a:latin typeface="Calibri"/>
                <a:ea typeface="Calibri"/>
                <a:cs typeface="Calibri"/>
                <a:sym typeface="Calibri"/>
              </a:rPr>
              <a:t> [ Book a Leadership Strategy Call → ]</a:t>
            </a:r>
            <a:endParaRPr b="1" sz="16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US" sz="1000">
                <a:solidFill>
                  <a:schemeClr val="dk1"/>
                </a:solidFill>
                <a:latin typeface="Calibri"/>
                <a:ea typeface="Calibri"/>
                <a:cs typeface="Calibri"/>
                <a:sym typeface="Calibri"/>
              </a:rPr>
              <a:t>Growth is good — until leadership becomes the bottleneck.</a:t>
            </a:r>
            <a:endParaRPr b="1" sz="1000">
              <a:solidFill>
                <a:schemeClr val="dk1"/>
              </a:solidFill>
              <a:latin typeface="Calibri"/>
              <a:ea typeface="Calibri"/>
              <a:cs typeface="Calibri"/>
              <a:sym typeface="Calibri"/>
            </a:endParaRPr>
          </a:p>
          <a:p>
            <a:pPr indent="-292100" lvl="0" marL="457200" rtl="0" algn="l">
              <a:lnSpc>
                <a:spcPct val="115000"/>
              </a:lnSpc>
              <a:spcBef>
                <a:spcPts val="120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Your team’s outgrowing direct oversight from the founder or CEO.</a:t>
            </a:r>
            <a:endParaRPr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Mid-level managers are struggling to lead effectively.</a:t>
            </a:r>
            <a:endParaRPr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The culture that helped you grow now feels strained.</a:t>
            </a:r>
            <a:endParaRPr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Important decisions are delayed or inconsistent.</a:t>
            </a:r>
            <a:endParaRPr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You're hiring quickly but not always building leadership capacity.</a:t>
            </a:r>
            <a:endParaRPr sz="10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US" sz="1000">
                <a:solidFill>
                  <a:schemeClr val="dk1"/>
                </a:solidFill>
                <a:latin typeface="Calibri"/>
                <a:ea typeface="Calibri"/>
                <a:cs typeface="Calibri"/>
                <a:sym typeface="Calibri"/>
              </a:rPr>
              <a:t>Sound familiar? You’re not alone. </a:t>
            </a:r>
            <a:r>
              <a:rPr lang="en-US" sz="1000">
                <a:solidFill>
                  <a:schemeClr val="dk1"/>
                </a:solidFill>
                <a:latin typeface="Calibri"/>
                <a:ea typeface="Calibri"/>
                <a:cs typeface="Calibri"/>
                <a:sym typeface="Calibri"/>
              </a:rPr>
              <a:t>These challenges are common in companies between </a:t>
            </a:r>
            <a:r>
              <a:rPr b="1" lang="en-US" sz="1000">
                <a:solidFill>
                  <a:schemeClr val="dk1"/>
                </a:solidFill>
                <a:latin typeface="Calibri"/>
                <a:ea typeface="Calibri"/>
                <a:cs typeface="Calibri"/>
                <a:sym typeface="Calibri"/>
              </a:rPr>
              <a:t>$5M–$50M in revenue</a:t>
            </a:r>
            <a:r>
              <a:rPr lang="en-US" sz="1000">
                <a:solidFill>
                  <a:schemeClr val="dk1"/>
                </a:solidFill>
                <a:latin typeface="Calibri"/>
                <a:ea typeface="Calibri"/>
                <a:cs typeface="Calibri"/>
                <a:sym typeface="Calibri"/>
              </a:rPr>
              <a:t>, and they don’t fix themselves with time.</a:t>
            </a:r>
            <a:endParaRPr b="1" sz="16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US" sz="1200">
                <a:solidFill>
                  <a:schemeClr val="dk1"/>
                </a:solidFill>
                <a:latin typeface="Calibri"/>
                <a:ea typeface="Calibri"/>
                <a:cs typeface="Calibri"/>
                <a:sym typeface="Calibri"/>
              </a:rPr>
              <a:t>PowerUp Leadership helps fast-growing businesses:</a:t>
            </a:r>
            <a:endParaRPr b="1" sz="1200">
              <a:solidFill>
                <a:schemeClr val="dk1"/>
              </a:solidFill>
              <a:latin typeface="Calibri"/>
              <a:ea typeface="Calibri"/>
              <a:cs typeface="Calibri"/>
              <a:sym typeface="Calibri"/>
            </a:endParaRPr>
          </a:p>
          <a:p>
            <a:pPr indent="-292100" lvl="0" marL="457200" rtl="0" algn="l">
              <a:lnSpc>
                <a:spcPct val="115000"/>
              </a:lnSpc>
              <a:spcBef>
                <a:spcPts val="120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Identify and close leadership gaps before they impact performance</a:t>
            </a:r>
            <a:endParaRPr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Turn rising managers into confident, accountable leaders</a:t>
            </a:r>
            <a:endParaRPr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Support CEOs and COOs in scaling decision-making beyond themselves</a:t>
            </a:r>
            <a:endParaRPr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Reduce founder dependence and clarify leadership roles</a:t>
            </a:r>
            <a:endParaRPr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Build internal leadership pipelines that reduce turnover and grow with the company</a:t>
            </a:r>
            <a:endParaRPr sz="10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t/>
            </a:r>
            <a:endParaRPr sz="11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pic>
        <p:nvPicPr>
          <p:cNvPr id="547" name="Google Shape;547;p75"/>
          <p:cNvPicPr preferRelativeResize="0"/>
          <p:nvPr/>
        </p:nvPicPr>
        <p:blipFill rotWithShape="1">
          <a:blip r:embed="rId3">
            <a:alphaModFix/>
          </a:blip>
          <a:srcRect b="0" l="0" r="0" t="0"/>
          <a:stretch/>
        </p:blipFill>
        <p:spPr>
          <a:xfrm>
            <a:off x="8497250" y="1611500"/>
            <a:ext cx="3060300" cy="3479475"/>
          </a:xfrm>
          <a:prstGeom prst="rect">
            <a:avLst/>
          </a:prstGeom>
          <a:noFill/>
          <a:ln>
            <a:noFill/>
          </a:ln>
        </p:spPr>
      </p:pic>
      <p:sp>
        <p:nvSpPr>
          <p:cNvPr id="548" name="Google Shape;548;p75"/>
          <p:cNvSpPr txBox="1"/>
          <p:nvPr>
            <p:ph type="title"/>
          </p:nvPr>
        </p:nvSpPr>
        <p:spPr>
          <a:xfrm>
            <a:off x="75212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a:solidFill>
                  <a:schemeClr val="accent5"/>
                </a:solidFill>
                <a:latin typeface="Calibri"/>
                <a:ea typeface="Calibri"/>
                <a:cs typeface="Calibri"/>
                <a:sym typeface="Calibri"/>
              </a:rPr>
              <a:t>Website </a:t>
            </a:r>
            <a:r>
              <a:rPr b="0" i="1" lang="en-US">
                <a:solidFill>
                  <a:schemeClr val="accent4"/>
                </a:solidFill>
                <a:latin typeface="Calibri"/>
                <a:ea typeface="Calibri"/>
                <a:cs typeface="Calibri"/>
                <a:sym typeface="Calibri"/>
              </a:rPr>
              <a:t>new location landing pages</a:t>
            </a:r>
            <a:endParaRPr b="0" i="1">
              <a:solidFill>
                <a:schemeClr val="accent4"/>
              </a:solidFill>
              <a:latin typeface="Calibri"/>
              <a:ea typeface="Calibri"/>
              <a:cs typeface="Calibri"/>
              <a:sym typeface="Calibri"/>
            </a:endParaRPr>
          </a:p>
        </p:txBody>
      </p:sp>
      <p:sp>
        <p:nvSpPr>
          <p:cNvPr id="549" name="Google Shape;549;p75"/>
          <p:cNvSpPr txBox="1"/>
          <p:nvPr>
            <p:ph idx="1" type="body"/>
          </p:nvPr>
        </p:nvSpPr>
        <p:spPr>
          <a:xfrm>
            <a:off x="916925" y="1611500"/>
            <a:ext cx="7074000" cy="675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US" sz="1850">
                <a:solidFill>
                  <a:schemeClr val="accent2"/>
                </a:solidFill>
              </a:rPr>
              <a:t>Halifax</a:t>
            </a:r>
            <a:r>
              <a:rPr b="1" lang="en-US" sz="1850">
                <a:solidFill>
                  <a:schemeClr val="accent2"/>
                </a:solidFill>
              </a:rPr>
              <a:t>:</a:t>
            </a:r>
            <a:endParaRPr b="1" sz="1850">
              <a:solidFill>
                <a:schemeClr val="accent2"/>
              </a:solidFill>
            </a:endParaRPr>
          </a:p>
          <a:p>
            <a:pPr indent="0" lvl="0" marL="0" rtl="0" algn="l">
              <a:lnSpc>
                <a:spcPct val="115000"/>
              </a:lnSpc>
              <a:spcBef>
                <a:spcPts val="0"/>
              </a:spcBef>
              <a:spcAft>
                <a:spcPts val="0"/>
              </a:spcAft>
              <a:buNone/>
            </a:pPr>
            <a:r>
              <a:t/>
            </a:r>
            <a:endParaRPr sz="1850"/>
          </a:p>
          <a:p>
            <a:pPr indent="0" lvl="0" marL="0" rtl="0" algn="l">
              <a:lnSpc>
                <a:spcPct val="115000"/>
              </a:lnSpc>
              <a:spcBef>
                <a:spcPts val="0"/>
              </a:spcBef>
              <a:spcAft>
                <a:spcPts val="0"/>
              </a:spcAft>
              <a:buNone/>
            </a:pPr>
            <a:r>
              <a:t/>
            </a:r>
            <a:endParaRPr sz="1950"/>
          </a:p>
        </p:txBody>
      </p:sp>
      <p:sp>
        <p:nvSpPr>
          <p:cNvPr id="550" name="Google Shape;550;p75"/>
          <p:cNvSpPr txBox="1"/>
          <p:nvPr/>
        </p:nvSpPr>
        <p:spPr>
          <a:xfrm>
            <a:off x="8825623" y="1954525"/>
            <a:ext cx="2478600" cy="32652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Insights:</a:t>
            </a:r>
            <a:endParaRPr sz="1600">
              <a:solidFill>
                <a:srgbClr val="434343"/>
              </a:solidFill>
            </a:endParaRPr>
          </a:p>
          <a:p>
            <a:pPr indent="-285750" lvl="0" marL="285750" marR="0" rtl="0" algn="l">
              <a:lnSpc>
                <a:spcPct val="142857"/>
              </a:lnSpc>
              <a:spcBef>
                <a:spcPts val="600"/>
              </a:spcBef>
              <a:spcAft>
                <a:spcPts val="0"/>
              </a:spcAft>
              <a:buClr>
                <a:srgbClr val="434343"/>
              </a:buClr>
              <a:buSzPts val="1400"/>
              <a:buFont typeface="Calibri"/>
              <a:buChar char="✔"/>
            </a:pPr>
            <a:r>
              <a:rPr lang="en-US">
                <a:solidFill>
                  <a:srgbClr val="434343"/>
                </a:solidFill>
                <a:latin typeface="Calibri"/>
                <a:ea typeface="Calibri"/>
                <a:cs typeface="Calibri"/>
                <a:sym typeface="Calibri"/>
              </a:rPr>
              <a:t>Speaks to local area</a:t>
            </a:r>
            <a:endParaRPr>
              <a:solidFill>
                <a:srgbClr val="434343"/>
              </a:solidFill>
              <a:latin typeface="Calibri"/>
              <a:ea typeface="Calibri"/>
              <a:cs typeface="Calibri"/>
              <a:sym typeface="Calibri"/>
            </a:endParaRPr>
          </a:p>
          <a:p>
            <a:pPr indent="-285750" lvl="0" marL="285750" marR="0" rtl="0" algn="l">
              <a:lnSpc>
                <a:spcPct val="142857"/>
              </a:lnSpc>
              <a:spcBef>
                <a:spcPts val="600"/>
              </a:spcBef>
              <a:spcAft>
                <a:spcPts val="0"/>
              </a:spcAft>
              <a:buClr>
                <a:srgbClr val="434343"/>
              </a:buClr>
              <a:buSzPts val="1400"/>
              <a:buFont typeface="Calibri"/>
              <a:buChar char="✔"/>
            </a:pPr>
            <a:r>
              <a:rPr lang="en-US">
                <a:solidFill>
                  <a:srgbClr val="434343"/>
                </a:solidFill>
                <a:latin typeface="Calibri"/>
                <a:ea typeface="Calibri"/>
                <a:cs typeface="Calibri"/>
                <a:sym typeface="Calibri"/>
              </a:rPr>
              <a:t>Serves as a landing page for marketing campaigns</a:t>
            </a:r>
            <a:endParaRPr>
              <a:solidFill>
                <a:srgbClr val="434343"/>
              </a:solidFill>
              <a:latin typeface="Calibri"/>
              <a:ea typeface="Calibri"/>
              <a:cs typeface="Calibri"/>
              <a:sym typeface="Calibri"/>
            </a:endParaRPr>
          </a:p>
          <a:p>
            <a:pPr indent="-285750" lvl="0" marL="285750" marR="0" rtl="0" algn="l">
              <a:lnSpc>
                <a:spcPct val="142857"/>
              </a:lnSpc>
              <a:spcBef>
                <a:spcPts val="600"/>
              </a:spcBef>
              <a:spcAft>
                <a:spcPts val="0"/>
              </a:spcAft>
              <a:buClr>
                <a:srgbClr val="434343"/>
              </a:buClr>
              <a:buSzPts val="1400"/>
              <a:buFont typeface="Calibri"/>
              <a:buChar char="✔"/>
            </a:pPr>
            <a:r>
              <a:rPr lang="en-US">
                <a:solidFill>
                  <a:srgbClr val="434343"/>
                </a:solidFill>
                <a:latin typeface="Calibri"/>
                <a:ea typeface="Calibri"/>
                <a:cs typeface="Calibri"/>
                <a:sym typeface="Calibri"/>
              </a:rPr>
              <a:t>Optimized to be found locally in Halifax</a:t>
            </a:r>
            <a:endParaRPr>
              <a:solidFill>
                <a:srgbClr val="434343"/>
              </a:solidFill>
              <a:latin typeface="Calibri"/>
              <a:ea typeface="Calibri"/>
              <a:cs typeface="Calibri"/>
              <a:sym typeface="Calibri"/>
            </a:endParaRPr>
          </a:p>
          <a:p>
            <a:pPr indent="-285750" lvl="0" marL="285750" marR="0" rtl="0" algn="l">
              <a:lnSpc>
                <a:spcPct val="142857"/>
              </a:lnSpc>
              <a:spcBef>
                <a:spcPts val="600"/>
              </a:spcBef>
              <a:spcAft>
                <a:spcPts val="0"/>
              </a:spcAft>
              <a:buClr>
                <a:srgbClr val="434343"/>
              </a:buClr>
              <a:buSzPts val="1400"/>
              <a:buFont typeface="Calibri"/>
              <a:buChar char="✔"/>
            </a:pPr>
            <a:r>
              <a:rPr lang="en-US">
                <a:solidFill>
                  <a:srgbClr val="434343"/>
                </a:solidFill>
                <a:latin typeface="Calibri"/>
                <a:ea typeface="Calibri"/>
                <a:cs typeface="Calibri"/>
                <a:sym typeface="Calibri"/>
              </a:rPr>
              <a:t>Adds trust</a:t>
            </a:r>
            <a:endParaRPr>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
        <p:nvSpPr>
          <p:cNvPr id="551" name="Google Shape;551;p75"/>
          <p:cNvSpPr txBox="1"/>
          <p:nvPr/>
        </p:nvSpPr>
        <p:spPr>
          <a:xfrm>
            <a:off x="958025" y="2023950"/>
            <a:ext cx="7199100" cy="418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300">
                <a:solidFill>
                  <a:schemeClr val="dk1"/>
                </a:solidFill>
                <a:latin typeface="Calibri"/>
                <a:ea typeface="Calibri"/>
                <a:cs typeface="Calibri"/>
                <a:sym typeface="Calibri"/>
              </a:rPr>
              <a:t>Leadership Development and Talent Strategy for Halifax-Based Growth Companies</a:t>
            </a:r>
            <a:br>
              <a:rPr b="1" lang="en-US" sz="1600">
                <a:solidFill>
                  <a:schemeClr val="dk1"/>
                </a:solidFill>
                <a:latin typeface="Calibri"/>
                <a:ea typeface="Calibri"/>
                <a:cs typeface="Calibri"/>
                <a:sym typeface="Calibri"/>
              </a:rPr>
            </a:br>
            <a:br>
              <a:rPr b="1" lang="en-US" sz="1100">
                <a:solidFill>
                  <a:schemeClr val="dk1"/>
                </a:solidFill>
                <a:latin typeface="Calibri"/>
                <a:ea typeface="Calibri"/>
                <a:cs typeface="Calibri"/>
                <a:sym typeface="Calibri"/>
              </a:rPr>
            </a:br>
            <a:r>
              <a:rPr lang="en-US" sz="1100">
                <a:solidFill>
                  <a:schemeClr val="dk1"/>
                </a:solidFill>
                <a:latin typeface="Calibri"/>
                <a:ea typeface="Calibri"/>
                <a:cs typeface="Calibri"/>
                <a:sym typeface="Calibri"/>
              </a:rPr>
              <a:t>We support Halifax and Atlantic Canada founders, executives, and private equity portfolio leaders with customized leadership and talent programs that align teams, reduce turnover, and unlock scale.</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Book a Halifax-Based Strategy Call → ]</a:t>
            </a:r>
            <a:endParaRPr b="1" sz="17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i="1" lang="en-US" sz="1100">
                <a:solidFill>
                  <a:schemeClr val="dk1"/>
                </a:solidFill>
                <a:latin typeface="Calibri"/>
                <a:ea typeface="Calibri"/>
                <a:cs typeface="Calibri"/>
                <a:sym typeface="Calibri"/>
              </a:rPr>
              <a:t>Halifax is becoming one of Atlantic Canada’s most important innovation and growth hubs.</a:t>
            </a:r>
            <a:r>
              <a:rPr lang="en-US" sz="1100">
                <a:solidFill>
                  <a:schemeClr val="dk1"/>
                </a:solidFill>
                <a:latin typeface="Calibri"/>
                <a:ea typeface="Calibri"/>
                <a:cs typeface="Calibri"/>
                <a:sym typeface="Calibri"/>
              </a:rPr>
              <a:t> But with scale comes leadership strain — and many growing businesses outpace the capacity of their leadership teams.</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PowerUp Leadership helps Halifax companies and local investment firms strengthen their leadership core, align teams, and build a people strategy that scales with the business.</a:t>
            </a:r>
            <a:endParaRPr sz="1100">
              <a:solidFill>
                <a:schemeClr val="dk1"/>
              </a:solidFill>
              <a:latin typeface="Calibri"/>
              <a:ea typeface="Calibri"/>
              <a:cs typeface="Calibri"/>
              <a:sym typeface="Calibri"/>
            </a:endParaRPr>
          </a:p>
          <a:p>
            <a:pPr indent="0" lvl="0" marL="0" rtl="0" algn="l">
              <a:lnSpc>
                <a:spcPct val="115000"/>
              </a:lnSpc>
              <a:spcBef>
                <a:spcPts val="1800"/>
              </a:spcBef>
              <a:spcAft>
                <a:spcPts val="0"/>
              </a:spcAft>
              <a:buNone/>
            </a:pPr>
            <a:r>
              <a:rPr b="1" lang="en-US" sz="1500">
                <a:solidFill>
                  <a:schemeClr val="dk1"/>
                </a:solidFill>
                <a:latin typeface="Calibri"/>
                <a:ea typeface="Calibri"/>
                <a:cs typeface="Calibri"/>
                <a:sym typeface="Calibri"/>
              </a:rPr>
              <a:t>Our Services for Halifax High Growth and Private Equity Firms:</a:t>
            </a:r>
            <a:endParaRPr b="1" sz="15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Executive coaching for founders and growth-stage leadership teams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Group leadership development for rising managers in scaling firms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Post-acquisition support for local private equity portfolio companies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Talent roadmapping and internal leadership pipeline design</a:t>
            </a:r>
            <a:endParaRPr b="1" sz="15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t/>
            </a:r>
            <a:endParaRPr sz="11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pic>
        <p:nvPicPr>
          <p:cNvPr id="556" name="Google Shape;556;p76"/>
          <p:cNvPicPr preferRelativeResize="0"/>
          <p:nvPr/>
        </p:nvPicPr>
        <p:blipFill rotWithShape="1">
          <a:blip r:embed="rId3">
            <a:alphaModFix/>
          </a:blip>
          <a:srcRect b="0" l="0" r="0" t="0"/>
          <a:stretch/>
        </p:blipFill>
        <p:spPr>
          <a:xfrm>
            <a:off x="8497250" y="1611500"/>
            <a:ext cx="3060300" cy="3479475"/>
          </a:xfrm>
          <a:prstGeom prst="rect">
            <a:avLst/>
          </a:prstGeom>
          <a:noFill/>
          <a:ln>
            <a:noFill/>
          </a:ln>
        </p:spPr>
      </p:pic>
      <p:sp>
        <p:nvSpPr>
          <p:cNvPr id="557" name="Google Shape;557;p76"/>
          <p:cNvSpPr txBox="1"/>
          <p:nvPr>
            <p:ph type="title"/>
          </p:nvPr>
        </p:nvSpPr>
        <p:spPr>
          <a:xfrm>
            <a:off x="75212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a:solidFill>
                  <a:schemeClr val="accent5"/>
                </a:solidFill>
                <a:latin typeface="Calibri"/>
                <a:ea typeface="Calibri"/>
                <a:cs typeface="Calibri"/>
                <a:sym typeface="Calibri"/>
              </a:rPr>
              <a:t>Website </a:t>
            </a:r>
            <a:r>
              <a:rPr b="0" i="1" lang="en-US">
                <a:solidFill>
                  <a:schemeClr val="accent4"/>
                </a:solidFill>
                <a:latin typeface="Calibri"/>
                <a:ea typeface="Calibri"/>
                <a:cs typeface="Calibri"/>
                <a:sym typeface="Calibri"/>
              </a:rPr>
              <a:t>new location landing pages</a:t>
            </a:r>
            <a:endParaRPr b="0" i="1">
              <a:solidFill>
                <a:schemeClr val="accent4"/>
              </a:solidFill>
              <a:latin typeface="Calibri"/>
              <a:ea typeface="Calibri"/>
              <a:cs typeface="Calibri"/>
              <a:sym typeface="Calibri"/>
            </a:endParaRPr>
          </a:p>
        </p:txBody>
      </p:sp>
      <p:sp>
        <p:nvSpPr>
          <p:cNvPr id="558" name="Google Shape;558;p76"/>
          <p:cNvSpPr txBox="1"/>
          <p:nvPr>
            <p:ph idx="1" type="body"/>
          </p:nvPr>
        </p:nvSpPr>
        <p:spPr>
          <a:xfrm>
            <a:off x="916925" y="1611500"/>
            <a:ext cx="7074000" cy="675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US" sz="1850">
                <a:solidFill>
                  <a:schemeClr val="accent2"/>
                </a:solidFill>
              </a:rPr>
              <a:t>Toronto</a:t>
            </a:r>
            <a:r>
              <a:rPr b="1" lang="en-US" sz="1850">
                <a:solidFill>
                  <a:schemeClr val="accent2"/>
                </a:solidFill>
              </a:rPr>
              <a:t>:</a:t>
            </a:r>
            <a:endParaRPr b="1" sz="1850">
              <a:solidFill>
                <a:schemeClr val="accent2"/>
              </a:solidFill>
            </a:endParaRPr>
          </a:p>
          <a:p>
            <a:pPr indent="0" lvl="0" marL="0" rtl="0" algn="l">
              <a:lnSpc>
                <a:spcPct val="115000"/>
              </a:lnSpc>
              <a:spcBef>
                <a:spcPts val="0"/>
              </a:spcBef>
              <a:spcAft>
                <a:spcPts val="0"/>
              </a:spcAft>
              <a:buNone/>
            </a:pPr>
            <a:r>
              <a:t/>
            </a:r>
            <a:endParaRPr sz="1850"/>
          </a:p>
          <a:p>
            <a:pPr indent="0" lvl="0" marL="0" rtl="0" algn="l">
              <a:lnSpc>
                <a:spcPct val="115000"/>
              </a:lnSpc>
              <a:spcBef>
                <a:spcPts val="0"/>
              </a:spcBef>
              <a:spcAft>
                <a:spcPts val="0"/>
              </a:spcAft>
              <a:buNone/>
            </a:pPr>
            <a:r>
              <a:t/>
            </a:r>
            <a:endParaRPr sz="1950"/>
          </a:p>
        </p:txBody>
      </p:sp>
      <p:sp>
        <p:nvSpPr>
          <p:cNvPr id="559" name="Google Shape;559;p76"/>
          <p:cNvSpPr txBox="1"/>
          <p:nvPr/>
        </p:nvSpPr>
        <p:spPr>
          <a:xfrm>
            <a:off x="8825623" y="1954525"/>
            <a:ext cx="2478600" cy="32652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Insights:</a:t>
            </a:r>
            <a:endParaRPr sz="1600">
              <a:solidFill>
                <a:srgbClr val="434343"/>
              </a:solidFill>
            </a:endParaRPr>
          </a:p>
          <a:p>
            <a:pPr indent="-285750" lvl="0" marL="285750" marR="0" rtl="0" algn="l">
              <a:lnSpc>
                <a:spcPct val="142857"/>
              </a:lnSpc>
              <a:spcBef>
                <a:spcPts val="600"/>
              </a:spcBef>
              <a:spcAft>
                <a:spcPts val="0"/>
              </a:spcAft>
              <a:buClr>
                <a:srgbClr val="434343"/>
              </a:buClr>
              <a:buSzPts val="1400"/>
              <a:buFont typeface="Calibri"/>
              <a:buChar char="✔"/>
            </a:pPr>
            <a:r>
              <a:rPr lang="en-US">
                <a:solidFill>
                  <a:srgbClr val="434343"/>
                </a:solidFill>
                <a:latin typeface="Calibri"/>
                <a:ea typeface="Calibri"/>
                <a:cs typeface="Calibri"/>
                <a:sym typeface="Calibri"/>
              </a:rPr>
              <a:t>Speaks to local area</a:t>
            </a:r>
            <a:endParaRPr>
              <a:solidFill>
                <a:srgbClr val="434343"/>
              </a:solidFill>
              <a:latin typeface="Calibri"/>
              <a:ea typeface="Calibri"/>
              <a:cs typeface="Calibri"/>
              <a:sym typeface="Calibri"/>
            </a:endParaRPr>
          </a:p>
          <a:p>
            <a:pPr indent="-285750" lvl="0" marL="285750" marR="0" rtl="0" algn="l">
              <a:lnSpc>
                <a:spcPct val="142857"/>
              </a:lnSpc>
              <a:spcBef>
                <a:spcPts val="600"/>
              </a:spcBef>
              <a:spcAft>
                <a:spcPts val="0"/>
              </a:spcAft>
              <a:buClr>
                <a:srgbClr val="434343"/>
              </a:buClr>
              <a:buSzPts val="1400"/>
              <a:buFont typeface="Calibri"/>
              <a:buChar char="✔"/>
            </a:pPr>
            <a:r>
              <a:rPr lang="en-US">
                <a:solidFill>
                  <a:srgbClr val="434343"/>
                </a:solidFill>
                <a:latin typeface="Calibri"/>
                <a:ea typeface="Calibri"/>
                <a:cs typeface="Calibri"/>
                <a:sym typeface="Calibri"/>
              </a:rPr>
              <a:t>Serves as a landing page for marketing campaigns</a:t>
            </a:r>
            <a:endParaRPr>
              <a:solidFill>
                <a:srgbClr val="434343"/>
              </a:solidFill>
              <a:latin typeface="Calibri"/>
              <a:ea typeface="Calibri"/>
              <a:cs typeface="Calibri"/>
              <a:sym typeface="Calibri"/>
            </a:endParaRPr>
          </a:p>
          <a:p>
            <a:pPr indent="-285750" lvl="0" marL="285750" marR="0" rtl="0" algn="l">
              <a:lnSpc>
                <a:spcPct val="142857"/>
              </a:lnSpc>
              <a:spcBef>
                <a:spcPts val="600"/>
              </a:spcBef>
              <a:spcAft>
                <a:spcPts val="0"/>
              </a:spcAft>
              <a:buClr>
                <a:srgbClr val="434343"/>
              </a:buClr>
              <a:buSzPts val="1400"/>
              <a:buFont typeface="Calibri"/>
              <a:buChar char="✔"/>
            </a:pPr>
            <a:r>
              <a:rPr lang="en-US">
                <a:solidFill>
                  <a:srgbClr val="434343"/>
                </a:solidFill>
                <a:latin typeface="Calibri"/>
                <a:ea typeface="Calibri"/>
                <a:cs typeface="Calibri"/>
                <a:sym typeface="Calibri"/>
              </a:rPr>
              <a:t>Optimized to be found locally in Toronto</a:t>
            </a:r>
            <a:endParaRPr>
              <a:solidFill>
                <a:srgbClr val="434343"/>
              </a:solidFill>
              <a:latin typeface="Calibri"/>
              <a:ea typeface="Calibri"/>
              <a:cs typeface="Calibri"/>
              <a:sym typeface="Calibri"/>
            </a:endParaRPr>
          </a:p>
          <a:p>
            <a:pPr indent="-285750" lvl="0" marL="285750" marR="0" rtl="0" algn="l">
              <a:lnSpc>
                <a:spcPct val="142857"/>
              </a:lnSpc>
              <a:spcBef>
                <a:spcPts val="600"/>
              </a:spcBef>
              <a:spcAft>
                <a:spcPts val="0"/>
              </a:spcAft>
              <a:buClr>
                <a:srgbClr val="434343"/>
              </a:buClr>
              <a:buSzPts val="1400"/>
              <a:buFont typeface="Calibri"/>
              <a:buChar char="✔"/>
            </a:pPr>
            <a:r>
              <a:rPr lang="en-US">
                <a:solidFill>
                  <a:srgbClr val="434343"/>
                </a:solidFill>
                <a:latin typeface="Calibri"/>
                <a:ea typeface="Calibri"/>
                <a:cs typeface="Calibri"/>
                <a:sym typeface="Calibri"/>
              </a:rPr>
              <a:t>Adds trust</a:t>
            </a:r>
            <a:endParaRPr>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
        <p:nvSpPr>
          <p:cNvPr id="560" name="Google Shape;560;p76"/>
          <p:cNvSpPr txBox="1"/>
          <p:nvPr/>
        </p:nvSpPr>
        <p:spPr>
          <a:xfrm>
            <a:off x="958025" y="2023950"/>
            <a:ext cx="7199100" cy="444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a:solidFill>
                  <a:schemeClr val="dk1"/>
                </a:solidFill>
                <a:latin typeface="Calibri"/>
                <a:ea typeface="Calibri"/>
                <a:cs typeface="Calibri"/>
                <a:sym typeface="Calibri"/>
              </a:rPr>
              <a:t>Leadership and Talent Development for Toronto’s Scaling Companies and Investment Firms</a:t>
            </a:r>
            <a:br>
              <a:rPr b="1" lang="en-US" sz="1100">
                <a:solidFill>
                  <a:schemeClr val="dk1"/>
                </a:solidFill>
                <a:latin typeface="Calibri"/>
                <a:ea typeface="Calibri"/>
                <a:cs typeface="Calibri"/>
                <a:sym typeface="Calibri"/>
              </a:rPr>
            </a:br>
            <a:br>
              <a:rPr lang="en-US" sz="1100">
                <a:solidFill>
                  <a:schemeClr val="dk1"/>
                </a:solidFill>
                <a:latin typeface="Calibri"/>
                <a:ea typeface="Calibri"/>
                <a:cs typeface="Calibri"/>
                <a:sym typeface="Calibri"/>
              </a:rPr>
            </a:br>
            <a:r>
              <a:rPr lang="en-US" sz="1100">
                <a:solidFill>
                  <a:schemeClr val="dk1"/>
                </a:solidFill>
                <a:latin typeface="Calibri"/>
                <a:ea typeface="Calibri"/>
                <a:cs typeface="Calibri"/>
                <a:sym typeface="Calibri"/>
              </a:rPr>
              <a:t>We work with Toronto-based private companies and private equity firms to strengthen leadership capacity, accelerate execution, and prepare teams for sustainable growth.</a:t>
            </a:r>
            <a:br>
              <a:rPr lang="en-US" sz="1100">
                <a:solidFill>
                  <a:schemeClr val="dk1"/>
                </a:solidFill>
                <a:latin typeface="Calibri"/>
                <a:ea typeface="Calibri"/>
                <a:cs typeface="Calibri"/>
                <a:sym typeface="Calibri"/>
              </a:rPr>
            </a:br>
            <a:br>
              <a:rPr b="1" lang="en-US" sz="1100">
                <a:solidFill>
                  <a:schemeClr val="dk1"/>
                </a:solidFill>
                <a:latin typeface="Calibri"/>
                <a:ea typeface="Calibri"/>
                <a:cs typeface="Calibri"/>
                <a:sym typeface="Calibri"/>
              </a:rPr>
            </a:br>
            <a:r>
              <a:rPr lang="en-US" sz="1100">
                <a:solidFill>
                  <a:schemeClr val="dk1"/>
                </a:solidFill>
                <a:latin typeface="Calibri"/>
                <a:ea typeface="Calibri"/>
                <a:cs typeface="Calibri"/>
                <a:sym typeface="Calibri"/>
              </a:rPr>
              <a:t>[ Book a Toronto-Based Strategy Call → ]</a:t>
            </a:r>
            <a:endParaRPr b="1" sz="17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Toronto is home to Canada’s most dynamic business ecosystem — but rapid growth brings pressure on leadership, alignment, and team performance.</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PowerUp Leadership partners with fast-growing Toronto companies and hands-on private equity firms to close leadership gaps, build strong internal talent pipelines, and align executive teams around clear, scalable structures.</a:t>
            </a:r>
            <a:endParaRPr sz="1100">
              <a:solidFill>
                <a:schemeClr val="dk1"/>
              </a:solidFill>
              <a:latin typeface="Calibri"/>
              <a:ea typeface="Calibri"/>
              <a:cs typeface="Calibri"/>
              <a:sym typeface="Calibri"/>
            </a:endParaRPr>
          </a:p>
          <a:p>
            <a:pPr indent="0" lvl="0" marL="0" rtl="0" algn="l">
              <a:lnSpc>
                <a:spcPct val="115000"/>
              </a:lnSpc>
              <a:spcBef>
                <a:spcPts val="1800"/>
              </a:spcBef>
              <a:spcAft>
                <a:spcPts val="0"/>
              </a:spcAft>
              <a:buNone/>
            </a:pPr>
            <a:r>
              <a:rPr b="1" lang="en-US" sz="1300">
                <a:solidFill>
                  <a:schemeClr val="dk1"/>
                </a:solidFill>
                <a:latin typeface="Calibri"/>
                <a:ea typeface="Calibri"/>
                <a:cs typeface="Calibri"/>
                <a:sym typeface="Calibri"/>
              </a:rPr>
              <a:t>Our Toronto and Ontario Leadership and Talent Services:</a:t>
            </a:r>
            <a:endParaRPr b="1" sz="13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latin typeface="Calibri"/>
                <a:ea typeface="Calibri"/>
                <a:cs typeface="Calibri"/>
                <a:sym typeface="Calibri"/>
              </a:rPr>
              <a:t>Executive Coaching and Leadership Development</a:t>
            </a:r>
            <a:r>
              <a:rPr lang="en-US" sz="1100">
                <a:solidFill>
                  <a:schemeClr val="dk1"/>
                </a:solidFill>
                <a:latin typeface="Calibri"/>
                <a:ea typeface="Calibri"/>
                <a:cs typeface="Calibri"/>
                <a:sym typeface="Calibri"/>
              </a:rPr>
              <a:t> for founders, senior leaders, and rising managers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latin typeface="Calibri"/>
                <a:ea typeface="Calibri"/>
                <a:cs typeface="Calibri"/>
                <a:sym typeface="Calibri"/>
              </a:rPr>
              <a:t>Post-acquisition leadership alignment</a:t>
            </a:r>
            <a:r>
              <a:rPr lang="en-US" sz="1100">
                <a:solidFill>
                  <a:schemeClr val="dk1"/>
                </a:solidFill>
                <a:latin typeface="Calibri"/>
                <a:ea typeface="Calibri"/>
                <a:cs typeface="Calibri"/>
                <a:sym typeface="Calibri"/>
              </a:rPr>
              <a:t> and organizational consulting for PE-backed portfolio companies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latin typeface="Calibri"/>
                <a:ea typeface="Calibri"/>
                <a:cs typeface="Calibri"/>
                <a:sym typeface="Calibri"/>
              </a:rPr>
              <a:t>Custom talent strategy and succession planning</a:t>
            </a:r>
            <a:r>
              <a:rPr lang="en-US" sz="1100">
                <a:solidFill>
                  <a:schemeClr val="dk1"/>
                </a:solidFill>
                <a:latin typeface="Calibri"/>
                <a:ea typeface="Calibri"/>
                <a:cs typeface="Calibri"/>
                <a:sym typeface="Calibri"/>
              </a:rPr>
              <a:t> for teams scaling past the startup phase</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latin typeface="Calibri"/>
                <a:ea typeface="Calibri"/>
                <a:cs typeface="Calibri"/>
                <a:sym typeface="Calibri"/>
              </a:rPr>
              <a:t>Leadership team diagnostics and coaching</a:t>
            </a:r>
            <a:r>
              <a:rPr lang="en-US" sz="1100">
                <a:solidFill>
                  <a:schemeClr val="dk1"/>
                </a:solidFill>
                <a:latin typeface="Calibri"/>
                <a:ea typeface="Calibri"/>
                <a:cs typeface="Calibri"/>
                <a:sym typeface="Calibri"/>
              </a:rPr>
              <a:t> for organizational clarity and performance</a:t>
            </a:r>
            <a:br>
              <a:rPr lang="en-US" sz="1100">
                <a:solidFill>
                  <a:schemeClr val="dk1"/>
                </a:solidFill>
                <a:latin typeface="Calibri"/>
                <a:ea typeface="Calibri"/>
                <a:cs typeface="Calibri"/>
                <a:sym typeface="Calibri"/>
              </a:rPr>
            </a:br>
            <a:endParaRPr b="1" sz="13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t/>
            </a:r>
            <a:endParaRPr sz="11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pic>
        <p:nvPicPr>
          <p:cNvPr id="565" name="Google Shape;565;p77"/>
          <p:cNvPicPr preferRelativeResize="0"/>
          <p:nvPr/>
        </p:nvPicPr>
        <p:blipFill rotWithShape="1">
          <a:blip r:embed="rId3">
            <a:alphaModFix/>
          </a:blip>
          <a:srcRect b="0" l="0" r="0" t="0"/>
          <a:stretch/>
        </p:blipFill>
        <p:spPr>
          <a:xfrm>
            <a:off x="983800" y="1877525"/>
            <a:ext cx="5434825" cy="4311874"/>
          </a:xfrm>
          <a:prstGeom prst="rect">
            <a:avLst/>
          </a:prstGeom>
          <a:noFill/>
          <a:ln>
            <a:noFill/>
          </a:ln>
        </p:spPr>
      </p:pic>
      <p:sp>
        <p:nvSpPr>
          <p:cNvPr id="566" name="Google Shape;566;p77"/>
          <p:cNvSpPr txBox="1"/>
          <p:nvPr>
            <p:ph type="title"/>
          </p:nvPr>
        </p:nvSpPr>
        <p:spPr>
          <a:xfrm>
            <a:off x="725875" y="708025"/>
            <a:ext cx="11060400" cy="75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Messaging and Copy </a:t>
            </a:r>
            <a:r>
              <a:rPr b="0" i="1" lang="en-US" sz="3800">
                <a:solidFill>
                  <a:schemeClr val="accent4"/>
                </a:solidFill>
                <a:latin typeface="Calibri"/>
                <a:ea typeface="Calibri"/>
                <a:cs typeface="Calibri"/>
                <a:sym typeface="Calibri"/>
              </a:rPr>
              <a:t>Assets</a:t>
            </a:r>
            <a:endParaRPr b="0" i="1" sz="3800">
              <a:solidFill>
                <a:schemeClr val="accent4"/>
              </a:solidFill>
              <a:latin typeface="Calibri"/>
              <a:ea typeface="Calibri"/>
              <a:cs typeface="Calibri"/>
              <a:sym typeface="Calibri"/>
            </a:endParaRPr>
          </a:p>
        </p:txBody>
      </p:sp>
      <p:sp>
        <p:nvSpPr>
          <p:cNvPr id="567" name="Google Shape;567;p77"/>
          <p:cNvSpPr txBox="1"/>
          <p:nvPr>
            <p:ph idx="1" type="body"/>
          </p:nvPr>
        </p:nvSpPr>
        <p:spPr>
          <a:xfrm>
            <a:off x="1451800" y="2208775"/>
            <a:ext cx="5769300" cy="2211900"/>
          </a:xfrm>
          <a:prstGeom prst="rect">
            <a:avLst/>
          </a:prstGeom>
          <a:noFill/>
          <a:ln>
            <a:noFill/>
          </a:ln>
        </p:spPr>
        <p:txBody>
          <a:bodyPr anchorCtr="0" anchor="t" bIns="45700" lIns="91425" spcFirstLastPara="1" rIns="91425" wrap="square" tIns="45700">
            <a:noAutofit/>
          </a:bodyPr>
          <a:lstStyle/>
          <a:p>
            <a:pPr indent="-231775" lvl="0" marL="228600" rtl="0" algn="l">
              <a:lnSpc>
                <a:spcPct val="100000"/>
              </a:lnSpc>
              <a:spcBef>
                <a:spcPts val="600"/>
              </a:spcBef>
              <a:spcAft>
                <a:spcPts val="0"/>
              </a:spcAft>
              <a:buClr>
                <a:schemeClr val="accent2"/>
              </a:buClr>
              <a:buSzPts val="1850"/>
              <a:buFont typeface="Noto Sans Symbols"/>
              <a:buChar char="➔"/>
            </a:pPr>
            <a:r>
              <a:rPr b="1" lang="en-US" sz="1850"/>
              <a:t>Bonus Website Copy Examples:</a:t>
            </a:r>
            <a:endParaRPr b="1" sz="1850"/>
          </a:p>
          <a:p>
            <a:pPr indent="-212725" lvl="1" marL="685800" rtl="0" algn="l">
              <a:lnSpc>
                <a:spcPct val="100000"/>
              </a:lnSpc>
              <a:spcBef>
                <a:spcPts val="600"/>
              </a:spcBef>
              <a:spcAft>
                <a:spcPts val="0"/>
              </a:spcAft>
              <a:buClr>
                <a:schemeClr val="accent2"/>
              </a:buClr>
              <a:buSzPts val="1550"/>
              <a:buFont typeface="Noto Sans Symbols"/>
              <a:buChar char="◆"/>
            </a:pPr>
            <a:r>
              <a:rPr lang="en-US" sz="1550"/>
              <a:t>Home page</a:t>
            </a:r>
            <a:endParaRPr sz="1550"/>
          </a:p>
          <a:p>
            <a:pPr indent="-212725" lvl="1" marL="685800" rtl="0" algn="l">
              <a:lnSpc>
                <a:spcPct val="100000"/>
              </a:lnSpc>
              <a:spcBef>
                <a:spcPts val="600"/>
              </a:spcBef>
              <a:spcAft>
                <a:spcPts val="0"/>
              </a:spcAft>
              <a:buClr>
                <a:schemeClr val="accent2"/>
              </a:buClr>
              <a:buSzPts val="1550"/>
              <a:buFont typeface="Noto Sans Symbols"/>
              <a:buChar char="◆"/>
            </a:pPr>
            <a:r>
              <a:rPr lang="en-US" sz="1550"/>
              <a:t>Services Pages</a:t>
            </a:r>
            <a:endParaRPr sz="1550"/>
          </a:p>
          <a:p>
            <a:pPr indent="-212725" lvl="2" marL="1143000" rtl="0" algn="l">
              <a:lnSpc>
                <a:spcPct val="100000"/>
              </a:lnSpc>
              <a:spcBef>
                <a:spcPts val="600"/>
              </a:spcBef>
              <a:spcAft>
                <a:spcPts val="0"/>
              </a:spcAft>
              <a:buClr>
                <a:schemeClr val="accent2"/>
              </a:buClr>
              <a:buSzPts val="1550"/>
              <a:buFont typeface="Noto Sans Symbols"/>
              <a:buChar char="●"/>
            </a:pPr>
            <a:r>
              <a:rPr lang="en-US" sz="1550"/>
              <a:t>Services overview</a:t>
            </a:r>
            <a:endParaRPr sz="1550"/>
          </a:p>
          <a:p>
            <a:pPr indent="-212725" lvl="3" marL="1600200" rtl="0" algn="l">
              <a:lnSpc>
                <a:spcPct val="100000"/>
              </a:lnSpc>
              <a:spcBef>
                <a:spcPts val="600"/>
              </a:spcBef>
              <a:spcAft>
                <a:spcPts val="0"/>
              </a:spcAft>
              <a:buClr>
                <a:schemeClr val="accent2"/>
              </a:buClr>
              <a:buSzPts val="1550"/>
              <a:buFont typeface="Noto Sans Symbols"/>
              <a:buChar char="○"/>
            </a:pPr>
            <a:r>
              <a:rPr lang="en-US" sz="1550"/>
              <a:t>Leadership development</a:t>
            </a:r>
            <a:endParaRPr sz="1550"/>
          </a:p>
          <a:p>
            <a:pPr indent="-212725" lvl="3" marL="1600200" rtl="0" algn="l">
              <a:lnSpc>
                <a:spcPct val="100000"/>
              </a:lnSpc>
              <a:spcBef>
                <a:spcPts val="600"/>
              </a:spcBef>
              <a:spcAft>
                <a:spcPts val="0"/>
              </a:spcAft>
              <a:buClr>
                <a:schemeClr val="accent2"/>
              </a:buClr>
              <a:buSzPts val="1550"/>
              <a:buFont typeface="Noto Sans Symbols"/>
              <a:buChar char="○"/>
            </a:pPr>
            <a:r>
              <a:rPr lang="en-US" sz="1550"/>
              <a:t>Talent readiness</a:t>
            </a:r>
            <a:endParaRPr sz="1550"/>
          </a:p>
          <a:p>
            <a:pPr indent="-212725" lvl="1" marL="685800" rtl="0" algn="l">
              <a:lnSpc>
                <a:spcPct val="100000"/>
              </a:lnSpc>
              <a:spcBef>
                <a:spcPts val="600"/>
              </a:spcBef>
              <a:spcAft>
                <a:spcPts val="0"/>
              </a:spcAft>
              <a:buClr>
                <a:schemeClr val="accent2"/>
              </a:buClr>
              <a:buSzPts val="1550"/>
              <a:buFont typeface="Noto Sans Symbols"/>
              <a:buChar char="◆"/>
            </a:pPr>
            <a:r>
              <a:rPr lang="en-US" sz="1550"/>
              <a:t>Audience landing pages</a:t>
            </a:r>
            <a:endParaRPr sz="1550"/>
          </a:p>
          <a:p>
            <a:pPr indent="-212725" lvl="2" marL="1143000" rtl="0" algn="l">
              <a:lnSpc>
                <a:spcPct val="100000"/>
              </a:lnSpc>
              <a:spcBef>
                <a:spcPts val="600"/>
              </a:spcBef>
              <a:spcAft>
                <a:spcPts val="0"/>
              </a:spcAft>
              <a:buClr>
                <a:schemeClr val="accent2"/>
              </a:buClr>
              <a:buSzPts val="1550"/>
              <a:buFont typeface="Noto Sans Symbols"/>
              <a:buChar char="●"/>
            </a:pPr>
            <a:r>
              <a:rPr lang="en-US" sz="1550"/>
              <a:t>High growth private firms</a:t>
            </a:r>
            <a:endParaRPr sz="1550"/>
          </a:p>
          <a:p>
            <a:pPr indent="-212725" lvl="2" marL="1143000" rtl="0" algn="l">
              <a:lnSpc>
                <a:spcPct val="100000"/>
              </a:lnSpc>
              <a:spcBef>
                <a:spcPts val="600"/>
              </a:spcBef>
              <a:spcAft>
                <a:spcPts val="0"/>
              </a:spcAft>
              <a:buClr>
                <a:schemeClr val="accent2"/>
              </a:buClr>
              <a:buSzPts val="1550"/>
              <a:buFont typeface="Noto Sans Symbols"/>
              <a:buChar char="●"/>
            </a:pPr>
            <a:r>
              <a:rPr lang="en-US" sz="1550"/>
              <a:t>PE portfolio companies</a:t>
            </a:r>
            <a:endParaRPr sz="1550"/>
          </a:p>
          <a:p>
            <a:pPr indent="-212725" lvl="1" marL="685800" rtl="0" algn="l">
              <a:lnSpc>
                <a:spcPct val="100000"/>
              </a:lnSpc>
              <a:spcBef>
                <a:spcPts val="600"/>
              </a:spcBef>
              <a:spcAft>
                <a:spcPts val="0"/>
              </a:spcAft>
              <a:buClr>
                <a:schemeClr val="accent2"/>
              </a:buClr>
              <a:buSzPts val="1550"/>
              <a:buFont typeface="Noto Sans Symbols"/>
              <a:buChar char="◆"/>
            </a:pPr>
            <a:r>
              <a:rPr lang="en-US" sz="1550"/>
              <a:t>Local landing pages</a:t>
            </a:r>
            <a:endParaRPr sz="1550"/>
          </a:p>
          <a:p>
            <a:pPr indent="-212725" lvl="2" marL="1143000" rtl="0" algn="l">
              <a:lnSpc>
                <a:spcPct val="100000"/>
              </a:lnSpc>
              <a:spcBef>
                <a:spcPts val="600"/>
              </a:spcBef>
              <a:spcAft>
                <a:spcPts val="0"/>
              </a:spcAft>
              <a:buClr>
                <a:schemeClr val="accent2"/>
              </a:buClr>
              <a:buSzPts val="1550"/>
              <a:buFont typeface="Noto Sans Symbols"/>
              <a:buChar char="●"/>
            </a:pPr>
            <a:r>
              <a:rPr lang="en-US" sz="1550"/>
              <a:t>Toronto</a:t>
            </a:r>
            <a:endParaRPr sz="1550"/>
          </a:p>
          <a:p>
            <a:pPr indent="-212725" lvl="2" marL="1143000" rtl="0" algn="l">
              <a:lnSpc>
                <a:spcPct val="100000"/>
              </a:lnSpc>
              <a:spcBef>
                <a:spcPts val="600"/>
              </a:spcBef>
              <a:spcAft>
                <a:spcPts val="0"/>
              </a:spcAft>
              <a:buClr>
                <a:schemeClr val="accent2"/>
              </a:buClr>
              <a:buSzPts val="1550"/>
              <a:buFont typeface="Noto Sans Symbols"/>
              <a:buChar char="●"/>
            </a:pPr>
            <a:r>
              <a:rPr lang="en-US" sz="1550"/>
              <a:t>Halifax</a:t>
            </a:r>
            <a:endParaRPr sz="1550"/>
          </a:p>
          <a:p>
            <a:pPr indent="0" lvl="0" marL="0" rtl="0" algn="l">
              <a:lnSpc>
                <a:spcPct val="100000"/>
              </a:lnSpc>
              <a:spcBef>
                <a:spcPts val="600"/>
              </a:spcBef>
              <a:spcAft>
                <a:spcPts val="0"/>
              </a:spcAft>
              <a:buNone/>
            </a:pPr>
            <a:r>
              <a:t/>
            </a:r>
            <a:endParaRPr sz="1650"/>
          </a:p>
          <a:p>
            <a:pPr indent="0" lvl="0" marL="0" rtl="0" algn="l">
              <a:lnSpc>
                <a:spcPct val="100000"/>
              </a:lnSpc>
              <a:spcBef>
                <a:spcPts val="600"/>
              </a:spcBef>
              <a:spcAft>
                <a:spcPts val="600"/>
              </a:spcAft>
              <a:buNone/>
            </a:pPr>
            <a:r>
              <a:t/>
            </a:r>
            <a:endParaRPr sz="175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78"/>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solidFill>
                  <a:schemeClr val="accent5"/>
                </a:solidFill>
              </a:rPr>
              <a:t>Marketing Strategy </a:t>
            </a:r>
            <a:endParaRPr>
              <a:solidFill>
                <a:schemeClr val="accent5"/>
              </a:solidFill>
            </a:endParaRPr>
          </a:p>
          <a:p>
            <a:pPr indent="0" lvl="0" marL="0" rtl="0" algn="ctr">
              <a:lnSpc>
                <a:spcPct val="90000"/>
              </a:lnSpc>
              <a:spcBef>
                <a:spcPts val="0"/>
              </a:spcBef>
              <a:spcAft>
                <a:spcPts val="0"/>
              </a:spcAft>
              <a:buClr>
                <a:schemeClr val="accent2"/>
              </a:buClr>
              <a:buSzPts val="4400"/>
              <a:buFont typeface="Calibri"/>
              <a:buNone/>
            </a:pPr>
            <a:r>
              <a:rPr i="1" lang="en-US"/>
              <a:t>Foundation - Marketing Funnel</a:t>
            </a:r>
            <a:endParaRPr i="1"/>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9"/>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4200">
                <a:solidFill>
                  <a:srgbClr val="073763"/>
                </a:solidFill>
              </a:rPr>
              <a:t>Key Insights: </a:t>
            </a:r>
            <a:r>
              <a:rPr b="0" i="1" lang="en-US" sz="4200">
                <a:solidFill>
                  <a:srgbClr val="073763"/>
                </a:solidFill>
                <a:latin typeface="Calibri"/>
                <a:ea typeface="Calibri"/>
                <a:cs typeface="Calibri"/>
                <a:sym typeface="Calibri"/>
              </a:rPr>
              <a:t>Marketing Funnel/Process</a:t>
            </a:r>
            <a:endParaRPr b="0" i="1" sz="4200">
              <a:solidFill>
                <a:srgbClr val="073763"/>
              </a:solidFill>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sz="4200"/>
          </a:p>
        </p:txBody>
      </p:sp>
      <p:sp>
        <p:nvSpPr>
          <p:cNvPr id="578" name="Google Shape;578;p79"/>
          <p:cNvSpPr txBox="1"/>
          <p:nvPr>
            <p:ph idx="1" type="body"/>
          </p:nvPr>
        </p:nvSpPr>
        <p:spPr>
          <a:xfrm>
            <a:off x="838200" y="1661625"/>
            <a:ext cx="7741800" cy="45771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1000"/>
              </a:spcBef>
              <a:spcAft>
                <a:spcPts val="0"/>
              </a:spcAft>
              <a:buNone/>
            </a:pPr>
            <a:r>
              <a:rPr b="1" lang="en-US" sz="1700">
                <a:solidFill>
                  <a:srgbClr val="202124"/>
                </a:solidFill>
                <a:highlight>
                  <a:srgbClr val="FFFFFF"/>
                </a:highlight>
              </a:rPr>
              <a:t>What is a Marketing Funnel?</a:t>
            </a:r>
            <a:endParaRPr b="1" sz="1700">
              <a:solidFill>
                <a:srgbClr val="202124"/>
              </a:solidFill>
              <a:highlight>
                <a:srgbClr val="FFFFFF"/>
              </a:highlight>
            </a:endParaRPr>
          </a:p>
          <a:p>
            <a:pPr indent="-323850" lvl="1" marL="800100" marR="0" rtl="0" algn="l">
              <a:lnSpc>
                <a:spcPct val="100000"/>
              </a:lnSpc>
              <a:spcBef>
                <a:spcPts val="1000"/>
              </a:spcBef>
              <a:spcAft>
                <a:spcPts val="0"/>
              </a:spcAft>
              <a:buSzPts val="1300"/>
              <a:buChar char="✔"/>
            </a:pPr>
            <a:r>
              <a:rPr b="1" lang="en-US" sz="1300">
                <a:solidFill>
                  <a:srgbClr val="202124"/>
                </a:solidFill>
                <a:highlight>
                  <a:srgbClr val="FFFFFF"/>
                </a:highlight>
              </a:rPr>
              <a:t>The journey a potential client goes through from initial lead to member through educational and promotional email communications</a:t>
            </a:r>
            <a:r>
              <a:rPr lang="en-US" sz="1300">
                <a:solidFill>
                  <a:srgbClr val="202124"/>
                </a:solidFill>
                <a:highlight>
                  <a:srgbClr val="FFFFFF"/>
                </a:highlight>
              </a:rPr>
              <a:t>.</a:t>
            </a:r>
            <a:endParaRPr sz="1300">
              <a:solidFill>
                <a:srgbClr val="202124"/>
              </a:solidFill>
              <a:highlight>
                <a:srgbClr val="FFFFFF"/>
              </a:highlight>
            </a:endParaRPr>
          </a:p>
          <a:p>
            <a:pPr indent="-323850" lvl="1" marL="800100" marR="0" rtl="0" algn="l">
              <a:lnSpc>
                <a:spcPct val="100000"/>
              </a:lnSpc>
              <a:spcBef>
                <a:spcPts val="1000"/>
              </a:spcBef>
              <a:spcAft>
                <a:spcPts val="0"/>
              </a:spcAft>
              <a:buSzPts val="1300"/>
              <a:buFont typeface="Calibri"/>
              <a:buChar char="✔"/>
            </a:pPr>
            <a:r>
              <a:rPr lang="en-US" sz="1300">
                <a:solidFill>
                  <a:srgbClr val="202124"/>
                </a:solidFill>
                <a:highlight>
                  <a:srgbClr val="FFFFFF"/>
                </a:highlight>
              </a:rPr>
              <a:t>Helps educate and  convert new prospects - ties into all marketing outreach activities</a:t>
            </a:r>
            <a:endParaRPr sz="1300">
              <a:solidFill>
                <a:srgbClr val="202124"/>
              </a:solidFill>
              <a:highlight>
                <a:srgbClr val="FFFFFF"/>
              </a:highlight>
            </a:endParaRPr>
          </a:p>
          <a:p>
            <a:pPr indent="-323850" lvl="1" marL="800100" marR="0" rtl="0" algn="l">
              <a:lnSpc>
                <a:spcPct val="100000"/>
              </a:lnSpc>
              <a:spcBef>
                <a:spcPts val="1000"/>
              </a:spcBef>
              <a:spcAft>
                <a:spcPts val="0"/>
              </a:spcAft>
              <a:buClr>
                <a:srgbClr val="202124"/>
              </a:buClr>
              <a:buSzPts val="1300"/>
              <a:buFont typeface="Calibri"/>
              <a:buChar char="✔"/>
            </a:pPr>
            <a:r>
              <a:rPr lang="en-US" sz="1300">
                <a:solidFill>
                  <a:srgbClr val="202124"/>
                </a:solidFill>
                <a:highlight>
                  <a:srgbClr val="FFFFFF"/>
                </a:highlight>
              </a:rPr>
              <a:t>Example email funnel below:</a:t>
            </a:r>
            <a:endParaRPr sz="1300">
              <a:solidFill>
                <a:srgbClr val="202124"/>
              </a:solidFill>
              <a:highlight>
                <a:srgbClr val="FFFFFF"/>
              </a:highlight>
            </a:endParaRPr>
          </a:p>
        </p:txBody>
      </p:sp>
      <p:pic>
        <p:nvPicPr>
          <p:cNvPr id="579" name="Google Shape;579;p79"/>
          <p:cNvPicPr preferRelativeResize="0"/>
          <p:nvPr/>
        </p:nvPicPr>
        <p:blipFill rotWithShape="1">
          <a:blip r:embed="rId3">
            <a:alphaModFix/>
          </a:blip>
          <a:srcRect b="0" l="0" r="0" t="0"/>
          <a:stretch/>
        </p:blipFill>
        <p:spPr>
          <a:xfrm>
            <a:off x="8987900" y="1825625"/>
            <a:ext cx="2536525" cy="3725901"/>
          </a:xfrm>
          <a:prstGeom prst="rect">
            <a:avLst/>
          </a:prstGeom>
          <a:noFill/>
          <a:ln>
            <a:noFill/>
          </a:ln>
        </p:spPr>
      </p:pic>
      <p:sp>
        <p:nvSpPr>
          <p:cNvPr id="580" name="Google Shape;580;p79"/>
          <p:cNvSpPr txBox="1"/>
          <p:nvPr/>
        </p:nvSpPr>
        <p:spPr>
          <a:xfrm>
            <a:off x="9169175" y="2126350"/>
            <a:ext cx="2184900" cy="38568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Our Insights</a:t>
            </a:r>
            <a:endParaRPr b="1" sz="1700">
              <a:solidFill>
                <a:srgbClr val="434343"/>
              </a:solidFill>
              <a:latin typeface="Calibri"/>
              <a:ea typeface="Calibri"/>
              <a:cs typeface="Calibri"/>
              <a:sym typeface="Calibri"/>
            </a:endParaRPr>
          </a:p>
          <a:p>
            <a:pPr indent="-298450" lvl="0" marL="28575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Educate</a:t>
            </a:r>
            <a:endParaRPr sz="1600">
              <a:solidFill>
                <a:srgbClr val="434343"/>
              </a:solidFill>
              <a:latin typeface="Calibri"/>
              <a:ea typeface="Calibri"/>
              <a:cs typeface="Calibri"/>
              <a:sym typeface="Calibri"/>
            </a:endParaRPr>
          </a:p>
          <a:p>
            <a:pPr indent="-298450" lvl="0" marL="28575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Gauge interest (analytics) </a:t>
            </a:r>
            <a:endParaRPr sz="1600">
              <a:solidFill>
                <a:srgbClr val="434343"/>
              </a:solidFill>
              <a:latin typeface="Calibri"/>
              <a:ea typeface="Calibri"/>
              <a:cs typeface="Calibri"/>
              <a:sym typeface="Calibri"/>
            </a:endParaRPr>
          </a:p>
          <a:p>
            <a:pPr indent="-298450" lvl="0" marL="28575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Warm up at different paces</a:t>
            </a:r>
            <a:endParaRPr sz="1600">
              <a:solidFill>
                <a:srgbClr val="434343"/>
              </a:solidFill>
              <a:latin typeface="Calibri"/>
              <a:ea typeface="Calibri"/>
              <a:cs typeface="Calibri"/>
              <a:sym typeface="Calibri"/>
            </a:endParaRPr>
          </a:p>
          <a:p>
            <a:pPr indent="-298450" lvl="0" marL="28575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Invited in…not like social media</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b="1" sz="17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rPr lang="en-US" sz="1600">
                <a:solidFill>
                  <a:srgbClr val="434343"/>
                </a:solidFill>
                <a:latin typeface="Calibri"/>
                <a:ea typeface="Calibri"/>
                <a:cs typeface="Calibri"/>
                <a:sym typeface="Calibri"/>
              </a:rPr>
              <a:t> </a:t>
            </a:r>
            <a:endParaRPr sz="1400">
              <a:solidFill>
                <a:schemeClr val="lt1"/>
              </a:solidFill>
              <a:latin typeface="Calibri"/>
              <a:ea typeface="Calibri"/>
              <a:cs typeface="Calibri"/>
              <a:sym typeface="Calibri"/>
            </a:endParaRPr>
          </a:p>
        </p:txBody>
      </p:sp>
      <p:grpSp>
        <p:nvGrpSpPr>
          <p:cNvPr id="581" name="Google Shape;581;p79"/>
          <p:cNvGrpSpPr/>
          <p:nvPr/>
        </p:nvGrpSpPr>
        <p:grpSpPr>
          <a:xfrm>
            <a:off x="1523945" y="3289059"/>
            <a:ext cx="3785761" cy="2823269"/>
            <a:chOff x="838177" y="2003854"/>
            <a:chExt cx="5830526" cy="4166572"/>
          </a:xfrm>
        </p:grpSpPr>
        <p:sp>
          <p:nvSpPr>
            <p:cNvPr id="582" name="Google Shape;582;p79"/>
            <p:cNvSpPr/>
            <p:nvPr/>
          </p:nvSpPr>
          <p:spPr>
            <a:xfrm rot="5400000">
              <a:off x="3642548" y="2802678"/>
              <a:ext cx="222279" cy="306696"/>
            </a:xfrm>
            <a:custGeom>
              <a:rect b="b" l="l" r="r" t="t"/>
              <a:pathLst>
                <a:path extrusionOk="0" h="306696" w="222279">
                  <a:moveTo>
                    <a:pt x="0" y="0"/>
                  </a:moveTo>
                  <a:lnTo>
                    <a:pt x="0" y="306696"/>
                  </a:lnTo>
                  <a:lnTo>
                    <a:pt x="222280" y="153348"/>
                  </a:lnTo>
                  <a:lnTo>
                    <a:pt x="0" y="0"/>
                  </a:lnTo>
                  <a:close/>
                </a:path>
              </a:pathLst>
            </a:custGeom>
            <a:solidFill>
              <a:srgbClr val="AFDFE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3" name="Google Shape;583;p79"/>
            <p:cNvSpPr/>
            <p:nvPr/>
          </p:nvSpPr>
          <p:spPr>
            <a:xfrm rot="5400000">
              <a:off x="3642548" y="3929096"/>
              <a:ext cx="222279" cy="306696"/>
            </a:xfrm>
            <a:custGeom>
              <a:rect b="b" l="l" r="r" t="t"/>
              <a:pathLst>
                <a:path extrusionOk="0" h="306696" w="222279">
                  <a:moveTo>
                    <a:pt x="0" y="0"/>
                  </a:moveTo>
                  <a:lnTo>
                    <a:pt x="0" y="306696"/>
                  </a:lnTo>
                  <a:lnTo>
                    <a:pt x="222280" y="153348"/>
                  </a:lnTo>
                  <a:lnTo>
                    <a:pt x="0" y="0"/>
                  </a:lnTo>
                  <a:close/>
                </a:path>
              </a:pathLst>
            </a:custGeom>
            <a:solidFill>
              <a:srgbClr val="AFDFE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4" name="Google Shape;584;p79"/>
            <p:cNvSpPr/>
            <p:nvPr/>
          </p:nvSpPr>
          <p:spPr>
            <a:xfrm rot="5400000">
              <a:off x="3642549" y="5087446"/>
              <a:ext cx="222279" cy="306696"/>
            </a:xfrm>
            <a:custGeom>
              <a:rect b="b" l="l" r="r" t="t"/>
              <a:pathLst>
                <a:path extrusionOk="0" h="306696" w="222279">
                  <a:moveTo>
                    <a:pt x="0" y="0"/>
                  </a:moveTo>
                  <a:lnTo>
                    <a:pt x="0" y="306696"/>
                  </a:lnTo>
                  <a:lnTo>
                    <a:pt x="222280" y="153348"/>
                  </a:lnTo>
                  <a:lnTo>
                    <a:pt x="0" y="0"/>
                  </a:lnTo>
                  <a:close/>
                </a:path>
              </a:pathLst>
            </a:custGeom>
            <a:solidFill>
              <a:srgbClr val="AFDFE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5" name="Google Shape;585;p79"/>
            <p:cNvSpPr/>
            <p:nvPr/>
          </p:nvSpPr>
          <p:spPr>
            <a:xfrm>
              <a:off x="838200" y="2003854"/>
              <a:ext cx="58305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2000">
                  <a:solidFill>
                    <a:srgbClr val="413F5E"/>
                  </a:solidFill>
                  <a:latin typeface="Calibri"/>
                  <a:ea typeface="Calibri"/>
                  <a:cs typeface="Calibri"/>
                  <a:sym typeface="Calibri"/>
                </a:rPr>
                <a:t>Download an ebook</a:t>
              </a:r>
              <a:r>
                <a:rPr lang="en-US" sz="2000">
                  <a:solidFill>
                    <a:srgbClr val="413F5E"/>
                  </a:solidFill>
                  <a:latin typeface="Calibri"/>
                  <a:ea typeface="Calibri"/>
                  <a:cs typeface="Calibri"/>
                  <a:sym typeface="Calibri"/>
                </a:rPr>
                <a:t> </a:t>
              </a:r>
              <a:endParaRPr/>
            </a:p>
          </p:txBody>
        </p:sp>
        <p:grpSp>
          <p:nvGrpSpPr>
            <p:cNvPr id="586" name="Google Shape;586;p79"/>
            <p:cNvGrpSpPr/>
            <p:nvPr/>
          </p:nvGrpSpPr>
          <p:grpSpPr>
            <a:xfrm>
              <a:off x="838177" y="3129175"/>
              <a:ext cx="5830526" cy="722561"/>
              <a:chOff x="838200" y="3465113"/>
              <a:chExt cx="5983095" cy="769500"/>
            </a:xfrm>
          </p:grpSpPr>
          <p:sp>
            <p:nvSpPr>
              <p:cNvPr id="587" name="Google Shape;587;p79"/>
              <p:cNvSpPr/>
              <p:nvPr/>
            </p:nvSpPr>
            <p:spPr>
              <a:xfrm>
                <a:off x="838200" y="3465113"/>
                <a:ext cx="2915400" cy="7695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900">
                    <a:solidFill>
                      <a:srgbClr val="413F5E"/>
                    </a:solidFill>
                    <a:latin typeface="Calibri"/>
                    <a:ea typeface="Calibri"/>
                    <a:cs typeface="Calibri"/>
                    <a:sym typeface="Calibri"/>
                  </a:rPr>
                  <a:t>Thank You Page</a:t>
                </a:r>
                <a:endParaRPr sz="1300"/>
              </a:p>
            </p:txBody>
          </p:sp>
          <p:sp>
            <p:nvSpPr>
              <p:cNvPr id="588" name="Google Shape;588;p79"/>
              <p:cNvSpPr/>
              <p:nvPr/>
            </p:nvSpPr>
            <p:spPr>
              <a:xfrm>
                <a:off x="3905895" y="3465113"/>
                <a:ext cx="2915400" cy="7695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900">
                    <a:solidFill>
                      <a:srgbClr val="413F5E"/>
                    </a:solidFill>
                    <a:latin typeface="Calibri"/>
                    <a:ea typeface="Calibri"/>
                    <a:cs typeface="Calibri"/>
                    <a:sym typeface="Calibri"/>
                  </a:rPr>
                  <a:t>Auto Reply Email</a:t>
                </a:r>
                <a:endParaRPr sz="1300"/>
              </a:p>
            </p:txBody>
          </p:sp>
        </p:grpSp>
        <p:sp>
          <p:nvSpPr>
            <p:cNvPr id="589" name="Google Shape;589;p79"/>
            <p:cNvSpPr/>
            <p:nvPr/>
          </p:nvSpPr>
          <p:spPr>
            <a:xfrm>
              <a:off x="838200" y="4288454"/>
              <a:ext cx="58305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rgbClr val="413F5E"/>
                  </a:solidFill>
                  <a:latin typeface="Calibri"/>
                  <a:ea typeface="Calibri"/>
                  <a:cs typeface="Calibri"/>
                  <a:sym typeface="Calibri"/>
                </a:rPr>
                <a:t>Email Nurturing Series</a:t>
              </a:r>
              <a:br>
                <a:rPr b="1" lang="en-US" sz="1500">
                  <a:solidFill>
                    <a:srgbClr val="413F5E"/>
                  </a:solidFill>
                  <a:latin typeface="Calibri"/>
                  <a:ea typeface="Calibri"/>
                  <a:cs typeface="Calibri"/>
                  <a:sym typeface="Calibri"/>
                </a:rPr>
              </a:br>
              <a:r>
                <a:rPr lang="en-US" sz="1500">
                  <a:solidFill>
                    <a:srgbClr val="413F5E"/>
                  </a:solidFill>
                  <a:latin typeface="Calibri"/>
                  <a:ea typeface="Calibri"/>
                  <a:cs typeface="Calibri"/>
                  <a:sym typeface="Calibri"/>
                </a:rPr>
                <a:t>(4 emails over 2-4 weeks)</a:t>
              </a:r>
              <a:endParaRPr sz="900"/>
            </a:p>
          </p:txBody>
        </p:sp>
        <p:sp>
          <p:nvSpPr>
            <p:cNvPr id="590" name="Google Shape;590;p79"/>
            <p:cNvSpPr/>
            <p:nvPr/>
          </p:nvSpPr>
          <p:spPr>
            <a:xfrm>
              <a:off x="838200" y="5447726"/>
              <a:ext cx="58305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2000">
                  <a:solidFill>
                    <a:srgbClr val="413F5E"/>
                  </a:solidFill>
                  <a:latin typeface="Calibri"/>
                  <a:ea typeface="Calibri"/>
                  <a:cs typeface="Calibri"/>
                  <a:sym typeface="Calibri"/>
                </a:rPr>
                <a:t>Ongoing Newsletter</a:t>
              </a:r>
              <a:endParaRPr/>
            </a:p>
          </p:txBody>
        </p:sp>
      </p:grpSp>
      <p:sp>
        <p:nvSpPr>
          <p:cNvPr id="591" name="Google Shape;591;p79"/>
          <p:cNvSpPr/>
          <p:nvPr/>
        </p:nvSpPr>
        <p:spPr>
          <a:xfrm>
            <a:off x="5996825" y="3289050"/>
            <a:ext cx="1691814" cy="2799174"/>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rgbClr val="AF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200">
                <a:solidFill>
                  <a:srgbClr val="413F5E"/>
                </a:solidFill>
                <a:latin typeface="Calibri"/>
                <a:ea typeface="Calibri"/>
                <a:cs typeface="Calibri"/>
                <a:sym typeface="Calibri"/>
              </a:rPr>
              <a:t>Next Step: </a:t>
            </a:r>
            <a:endParaRPr sz="1200"/>
          </a:p>
          <a:p>
            <a:pPr indent="0" lvl="0" marL="0" marR="0" rtl="0" algn="ctr">
              <a:spcBef>
                <a:spcPts val="0"/>
              </a:spcBef>
              <a:spcAft>
                <a:spcPts val="0"/>
              </a:spcAft>
              <a:buNone/>
            </a:pPr>
            <a:r>
              <a:rPr b="1" lang="en-US" sz="2200">
                <a:solidFill>
                  <a:srgbClr val="413F5E"/>
                </a:solidFill>
                <a:latin typeface="Calibri"/>
                <a:ea typeface="Calibri"/>
                <a:cs typeface="Calibri"/>
                <a:sym typeface="Calibri"/>
              </a:rPr>
              <a:t>Book a Demo</a:t>
            </a:r>
            <a:endParaRPr sz="1200"/>
          </a:p>
        </p:txBody>
      </p:sp>
      <p:pic>
        <p:nvPicPr>
          <p:cNvPr id="592" name="Google Shape;592;p79"/>
          <p:cNvPicPr preferRelativeResize="0"/>
          <p:nvPr/>
        </p:nvPicPr>
        <p:blipFill rotWithShape="1">
          <a:blip r:embed="rId4">
            <a:alphaModFix/>
          </a:blip>
          <a:srcRect b="0" l="0" r="0" t="0"/>
          <a:stretch/>
        </p:blipFill>
        <p:spPr>
          <a:xfrm>
            <a:off x="5581367" y="4189506"/>
            <a:ext cx="144083" cy="209192"/>
          </a:xfrm>
          <a:prstGeom prst="rect">
            <a:avLst/>
          </a:prstGeom>
          <a:noFill/>
          <a:ln>
            <a:noFill/>
          </a:ln>
        </p:spPr>
      </p:pic>
      <p:pic>
        <p:nvPicPr>
          <p:cNvPr id="593" name="Google Shape;593;p79"/>
          <p:cNvPicPr preferRelativeResize="0"/>
          <p:nvPr/>
        </p:nvPicPr>
        <p:blipFill rotWithShape="1">
          <a:blip r:embed="rId4">
            <a:alphaModFix/>
          </a:blip>
          <a:srcRect b="0" l="0" r="0" t="0"/>
          <a:stretch/>
        </p:blipFill>
        <p:spPr>
          <a:xfrm>
            <a:off x="4895567" y="4977346"/>
            <a:ext cx="144083" cy="209192"/>
          </a:xfrm>
          <a:prstGeom prst="rect">
            <a:avLst/>
          </a:prstGeom>
          <a:noFill/>
          <a:ln>
            <a:noFill/>
          </a:ln>
        </p:spPr>
      </p:pic>
      <p:pic>
        <p:nvPicPr>
          <p:cNvPr id="594" name="Google Shape;594;p79"/>
          <p:cNvPicPr preferRelativeResize="0"/>
          <p:nvPr/>
        </p:nvPicPr>
        <p:blipFill rotWithShape="1">
          <a:blip r:embed="rId4">
            <a:alphaModFix/>
          </a:blip>
          <a:srcRect b="0" l="0" r="0" t="0"/>
          <a:stretch/>
        </p:blipFill>
        <p:spPr>
          <a:xfrm>
            <a:off x="5581217" y="4977356"/>
            <a:ext cx="144083" cy="209192"/>
          </a:xfrm>
          <a:prstGeom prst="rect">
            <a:avLst/>
          </a:prstGeom>
          <a:noFill/>
          <a:ln>
            <a:noFill/>
          </a:ln>
        </p:spPr>
      </p:pic>
      <p:pic>
        <p:nvPicPr>
          <p:cNvPr id="595" name="Google Shape;595;p79"/>
          <p:cNvPicPr preferRelativeResize="0"/>
          <p:nvPr/>
        </p:nvPicPr>
        <p:blipFill rotWithShape="1">
          <a:blip r:embed="rId4">
            <a:alphaModFix/>
          </a:blip>
          <a:srcRect b="0" l="0" r="0" t="0"/>
          <a:stretch/>
        </p:blipFill>
        <p:spPr>
          <a:xfrm>
            <a:off x="5530067" y="3439043"/>
            <a:ext cx="144083" cy="20919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80"/>
          <p:cNvSpPr txBox="1"/>
          <p:nvPr>
            <p:ph type="title"/>
          </p:nvPr>
        </p:nvSpPr>
        <p:spPr>
          <a:xfrm>
            <a:off x="791400" y="7441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4100">
                <a:solidFill>
                  <a:srgbClr val="073763"/>
                </a:solidFill>
              </a:rPr>
              <a:t>Key Insights - </a:t>
            </a:r>
            <a:r>
              <a:rPr b="0" i="1" lang="en-US" sz="4100">
                <a:solidFill>
                  <a:srgbClr val="073763"/>
                </a:solidFill>
                <a:latin typeface="Calibri"/>
                <a:ea typeface="Calibri"/>
                <a:cs typeface="Calibri"/>
                <a:sym typeface="Calibri"/>
              </a:rPr>
              <a:t>Marketing Funnel/Process</a:t>
            </a:r>
            <a:endParaRPr b="0" i="1" sz="4100">
              <a:solidFill>
                <a:srgbClr val="073763"/>
              </a:solidFill>
              <a:latin typeface="Calibri"/>
              <a:ea typeface="Calibri"/>
              <a:cs typeface="Calibri"/>
              <a:sym typeface="Calibri"/>
            </a:endParaRPr>
          </a:p>
        </p:txBody>
      </p:sp>
      <p:sp>
        <p:nvSpPr>
          <p:cNvPr id="601" name="Google Shape;601;p80"/>
          <p:cNvSpPr txBox="1"/>
          <p:nvPr>
            <p:ph idx="1" type="body"/>
          </p:nvPr>
        </p:nvSpPr>
        <p:spPr>
          <a:xfrm>
            <a:off x="334975" y="1792300"/>
            <a:ext cx="6156000" cy="1100400"/>
          </a:xfrm>
          <a:prstGeom prst="rect">
            <a:avLst/>
          </a:prstGeom>
          <a:noFill/>
          <a:ln>
            <a:noFill/>
          </a:ln>
        </p:spPr>
        <p:txBody>
          <a:bodyPr anchorCtr="0" anchor="t" bIns="45700" lIns="91425" spcFirstLastPara="1" rIns="91425" wrap="square" tIns="45700">
            <a:noAutofit/>
          </a:bodyPr>
          <a:lstStyle/>
          <a:p>
            <a:pPr indent="-238125" lvl="1" marL="685800" rtl="0" algn="l">
              <a:lnSpc>
                <a:spcPct val="115000"/>
              </a:lnSpc>
              <a:spcBef>
                <a:spcPts val="0"/>
              </a:spcBef>
              <a:spcAft>
                <a:spcPts val="0"/>
              </a:spcAft>
              <a:buClr>
                <a:schemeClr val="accent2"/>
              </a:buClr>
              <a:buSzPts val="1950"/>
              <a:buFont typeface="Noto Sans Symbols"/>
              <a:buChar char="✔"/>
            </a:pPr>
            <a:r>
              <a:rPr lang="en-US" sz="1950"/>
              <a:t>There is an opportunity to build out unique funnels for:</a:t>
            </a:r>
            <a:endParaRPr sz="1950"/>
          </a:p>
          <a:p>
            <a:pPr indent="-238125" lvl="2" marL="1143000" rtl="0" algn="l">
              <a:lnSpc>
                <a:spcPct val="115000"/>
              </a:lnSpc>
              <a:spcBef>
                <a:spcPts val="0"/>
              </a:spcBef>
              <a:spcAft>
                <a:spcPts val="0"/>
              </a:spcAft>
              <a:buClr>
                <a:schemeClr val="accent2"/>
              </a:buClr>
              <a:buSzPts val="1950"/>
              <a:buFont typeface="Noto Sans Symbols"/>
              <a:buChar char="•"/>
            </a:pPr>
            <a:r>
              <a:rPr lang="en-US" sz="1950"/>
              <a:t>PE Portfolio Companies</a:t>
            </a:r>
            <a:endParaRPr sz="1950"/>
          </a:p>
          <a:p>
            <a:pPr indent="-238125" lvl="2" marL="1143000" rtl="0" algn="l">
              <a:lnSpc>
                <a:spcPct val="115000"/>
              </a:lnSpc>
              <a:spcBef>
                <a:spcPts val="0"/>
              </a:spcBef>
              <a:spcAft>
                <a:spcPts val="0"/>
              </a:spcAft>
              <a:buClr>
                <a:schemeClr val="accent2"/>
              </a:buClr>
              <a:buSzPts val="1950"/>
              <a:buFont typeface="Noto Sans Symbols"/>
              <a:buChar char="•"/>
            </a:pPr>
            <a:r>
              <a:rPr lang="en-US" sz="1950"/>
              <a:t>High Growth Private Firms</a:t>
            </a:r>
            <a:endParaRPr sz="1950"/>
          </a:p>
          <a:p>
            <a:pPr indent="-238125" lvl="1" marL="685800" marR="0" rtl="0" algn="l">
              <a:lnSpc>
                <a:spcPct val="115000"/>
              </a:lnSpc>
              <a:spcBef>
                <a:spcPts val="0"/>
              </a:spcBef>
              <a:spcAft>
                <a:spcPts val="0"/>
              </a:spcAft>
              <a:buClr>
                <a:schemeClr val="accent2"/>
              </a:buClr>
              <a:buSzPts val="1950"/>
              <a:buFont typeface="Noto Sans Symbols"/>
              <a:buChar char="✔"/>
            </a:pPr>
            <a:r>
              <a:rPr lang="en-US" sz="1950"/>
              <a:t>Adding on a next step message and nurture email sequence (4-6 emails) that will educate each persona on the product &amp; move them to booking a demo</a:t>
            </a:r>
            <a:endParaRPr sz="1950"/>
          </a:p>
          <a:p>
            <a:pPr indent="0" lvl="0" marL="0" rtl="0" algn="l">
              <a:lnSpc>
                <a:spcPct val="100000"/>
              </a:lnSpc>
              <a:spcBef>
                <a:spcPts val="1000"/>
              </a:spcBef>
              <a:spcAft>
                <a:spcPts val="0"/>
              </a:spcAft>
              <a:buNone/>
            </a:pPr>
            <a:r>
              <a:t/>
            </a:r>
            <a:endParaRPr sz="1950"/>
          </a:p>
          <a:p>
            <a:pPr indent="0" lvl="0" marL="0" rtl="0" algn="l">
              <a:lnSpc>
                <a:spcPct val="100000"/>
              </a:lnSpc>
              <a:spcBef>
                <a:spcPts val="1000"/>
              </a:spcBef>
              <a:spcAft>
                <a:spcPts val="0"/>
              </a:spcAft>
              <a:buNone/>
            </a:pPr>
            <a:r>
              <a:t/>
            </a:r>
            <a:endParaRPr sz="1950"/>
          </a:p>
          <a:p>
            <a:pPr indent="0" lvl="0" marL="0" rtl="0" algn="l">
              <a:lnSpc>
                <a:spcPct val="100000"/>
              </a:lnSpc>
              <a:spcBef>
                <a:spcPts val="1000"/>
              </a:spcBef>
              <a:spcAft>
                <a:spcPts val="0"/>
              </a:spcAft>
              <a:buNone/>
            </a:pPr>
            <a:r>
              <a:t/>
            </a:r>
            <a:endParaRPr sz="1950"/>
          </a:p>
        </p:txBody>
      </p:sp>
      <p:pic>
        <p:nvPicPr>
          <p:cNvPr id="602" name="Google Shape;602;p80"/>
          <p:cNvPicPr preferRelativeResize="0"/>
          <p:nvPr/>
        </p:nvPicPr>
        <p:blipFill rotWithShape="1">
          <a:blip r:embed="rId3">
            <a:alphaModFix/>
          </a:blip>
          <a:srcRect b="0" l="0" r="0" t="0"/>
          <a:stretch/>
        </p:blipFill>
        <p:spPr>
          <a:xfrm>
            <a:off x="7590025" y="1792300"/>
            <a:ext cx="3974050" cy="3945999"/>
          </a:xfrm>
          <a:prstGeom prst="rect">
            <a:avLst/>
          </a:prstGeom>
          <a:noFill/>
          <a:ln>
            <a:noFill/>
          </a:ln>
        </p:spPr>
      </p:pic>
      <p:sp>
        <p:nvSpPr>
          <p:cNvPr id="603" name="Google Shape;603;p80"/>
          <p:cNvSpPr txBox="1"/>
          <p:nvPr/>
        </p:nvSpPr>
        <p:spPr>
          <a:xfrm>
            <a:off x="7870950" y="2002200"/>
            <a:ext cx="3412200" cy="43539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800">
                <a:solidFill>
                  <a:srgbClr val="434343"/>
                </a:solidFill>
                <a:latin typeface="Calibri"/>
                <a:ea typeface="Calibri"/>
                <a:cs typeface="Calibri"/>
                <a:sym typeface="Calibri"/>
              </a:rPr>
              <a:t>Benefits:</a:t>
            </a:r>
            <a:endParaRPr sz="1700">
              <a:solidFill>
                <a:srgbClr val="434343"/>
              </a:solidFill>
            </a:endParaRPr>
          </a:p>
          <a:p>
            <a:pPr indent="-304800" lvl="0" marL="285750" marR="0" rtl="0" algn="l">
              <a:lnSpc>
                <a:spcPct val="142857"/>
              </a:lnSpc>
              <a:spcBef>
                <a:spcPts val="600"/>
              </a:spcBef>
              <a:spcAft>
                <a:spcPts val="0"/>
              </a:spcAft>
              <a:buClr>
                <a:srgbClr val="434343"/>
              </a:buClr>
              <a:buSzPts val="1700"/>
              <a:buFont typeface="Calibri"/>
              <a:buChar char="✔"/>
            </a:pPr>
            <a:r>
              <a:rPr lang="en-US" sz="1700">
                <a:solidFill>
                  <a:srgbClr val="434343"/>
                </a:solidFill>
                <a:latin typeface="Calibri"/>
                <a:ea typeface="Calibri"/>
                <a:cs typeface="Calibri"/>
                <a:sym typeface="Calibri"/>
              </a:rPr>
              <a:t>Builds a marketing foundation on the website for the launch of marketing awareness and outreach activities</a:t>
            </a:r>
            <a:endParaRPr sz="1700">
              <a:solidFill>
                <a:srgbClr val="434343"/>
              </a:solidFill>
              <a:latin typeface="Calibri"/>
              <a:ea typeface="Calibri"/>
              <a:cs typeface="Calibri"/>
              <a:sym typeface="Calibri"/>
            </a:endParaRPr>
          </a:p>
          <a:p>
            <a:pPr indent="-304800" lvl="0" marL="285750" marR="0" rtl="0" algn="l">
              <a:lnSpc>
                <a:spcPct val="142857"/>
              </a:lnSpc>
              <a:spcBef>
                <a:spcPts val="600"/>
              </a:spcBef>
              <a:spcAft>
                <a:spcPts val="0"/>
              </a:spcAft>
              <a:buClr>
                <a:srgbClr val="434343"/>
              </a:buClr>
              <a:buSzPts val="1700"/>
              <a:buFont typeface="Calibri"/>
              <a:buChar char="✔"/>
            </a:pPr>
            <a:r>
              <a:rPr lang="en-US" sz="1700">
                <a:solidFill>
                  <a:srgbClr val="434343"/>
                </a:solidFill>
                <a:latin typeface="Calibri"/>
                <a:ea typeface="Calibri"/>
                <a:cs typeface="Calibri"/>
                <a:sym typeface="Calibri"/>
              </a:rPr>
              <a:t>All activities drive to the website, and then the funnel converts</a:t>
            </a:r>
            <a:endParaRPr sz="1700">
              <a:solidFill>
                <a:srgbClr val="434343"/>
              </a:solidFill>
              <a:latin typeface="Calibri"/>
              <a:ea typeface="Calibri"/>
              <a:cs typeface="Calibri"/>
              <a:sym typeface="Calibri"/>
            </a:endParaRPr>
          </a:p>
          <a:p>
            <a:pPr indent="-304800" lvl="0" marL="285750" marR="0" rtl="0" algn="l">
              <a:lnSpc>
                <a:spcPct val="142857"/>
              </a:lnSpc>
              <a:spcBef>
                <a:spcPts val="600"/>
              </a:spcBef>
              <a:spcAft>
                <a:spcPts val="0"/>
              </a:spcAft>
              <a:buClr>
                <a:srgbClr val="434343"/>
              </a:buClr>
              <a:buSzPts val="1700"/>
              <a:buFont typeface="Calibri"/>
              <a:buChar char="✔"/>
            </a:pPr>
            <a:r>
              <a:rPr lang="en-US" sz="1700">
                <a:solidFill>
                  <a:srgbClr val="434343"/>
                </a:solidFill>
                <a:latin typeface="Calibri"/>
                <a:ea typeface="Calibri"/>
                <a:cs typeface="Calibri"/>
                <a:sym typeface="Calibri"/>
              </a:rPr>
              <a:t>Set up to execute online marketing efforts</a:t>
            </a:r>
            <a:endParaRPr sz="17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81"/>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3100">
                <a:solidFill>
                  <a:srgbClr val="073763"/>
                </a:solidFill>
              </a:rPr>
              <a:t>PUL Kickstart</a:t>
            </a:r>
            <a:r>
              <a:rPr lang="en-US" sz="3100">
                <a:solidFill>
                  <a:srgbClr val="073763"/>
                </a:solidFill>
              </a:rPr>
              <a:t>: </a:t>
            </a:r>
            <a:r>
              <a:rPr b="0" i="1" lang="en-US" sz="3100">
                <a:solidFill>
                  <a:srgbClr val="073763"/>
                </a:solidFill>
                <a:latin typeface="Calibri"/>
                <a:ea typeface="Calibri"/>
                <a:cs typeface="Calibri"/>
                <a:sym typeface="Calibri"/>
              </a:rPr>
              <a:t>Lead </a:t>
            </a:r>
            <a:r>
              <a:rPr b="0" i="1" lang="en-US" sz="3100">
                <a:solidFill>
                  <a:srgbClr val="073763"/>
                </a:solidFill>
                <a:latin typeface="Calibri"/>
                <a:ea typeface="Calibri"/>
                <a:cs typeface="Calibri"/>
                <a:sym typeface="Calibri"/>
              </a:rPr>
              <a:t>Nurture</a:t>
            </a:r>
            <a:r>
              <a:rPr b="0" i="1" lang="en-US" sz="3100">
                <a:solidFill>
                  <a:srgbClr val="073763"/>
                </a:solidFill>
                <a:latin typeface="Calibri"/>
                <a:ea typeface="Calibri"/>
                <a:cs typeface="Calibri"/>
                <a:sym typeface="Calibri"/>
              </a:rPr>
              <a:t> Sequence</a:t>
            </a:r>
            <a:endParaRPr b="0" i="1" sz="3100">
              <a:solidFill>
                <a:srgbClr val="073763"/>
              </a:solidFill>
              <a:latin typeface="Calibri"/>
              <a:ea typeface="Calibri"/>
              <a:cs typeface="Calibri"/>
              <a:sym typeface="Calibri"/>
            </a:endParaRPr>
          </a:p>
          <a:p>
            <a:pPr indent="0" lvl="0" marL="0" rtl="0" algn="l">
              <a:lnSpc>
                <a:spcPct val="90000"/>
              </a:lnSpc>
              <a:spcBef>
                <a:spcPts val="0"/>
              </a:spcBef>
              <a:spcAft>
                <a:spcPts val="0"/>
              </a:spcAft>
              <a:buNone/>
            </a:pPr>
            <a:r>
              <a:t/>
            </a:r>
            <a:endParaRPr/>
          </a:p>
        </p:txBody>
      </p:sp>
      <p:sp>
        <p:nvSpPr>
          <p:cNvPr id="609" name="Google Shape;609;p81"/>
          <p:cNvSpPr/>
          <p:nvPr/>
        </p:nvSpPr>
        <p:spPr>
          <a:xfrm>
            <a:off x="713275" y="1936400"/>
            <a:ext cx="1452000" cy="16248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300">
                <a:solidFill>
                  <a:schemeClr val="accent5"/>
                </a:solidFill>
                <a:latin typeface="Calibri"/>
                <a:ea typeface="Calibri"/>
                <a:cs typeface="Calibri"/>
                <a:sym typeface="Calibri"/>
              </a:rPr>
              <a:t>Inbound Marketing:</a:t>
            </a:r>
            <a:endParaRPr b="1" sz="1300">
              <a:solidFill>
                <a:schemeClr val="accent5"/>
              </a:solidFill>
              <a:latin typeface="Calibri"/>
              <a:ea typeface="Calibri"/>
              <a:cs typeface="Calibri"/>
              <a:sym typeface="Calibri"/>
            </a:endParaRPr>
          </a:p>
          <a:p>
            <a:pPr indent="0" lvl="0" marL="0" marR="0" rtl="0" algn="ctr">
              <a:lnSpc>
                <a:spcPct val="105000"/>
              </a:lnSpc>
              <a:spcBef>
                <a:spcPts val="0"/>
              </a:spcBef>
              <a:spcAft>
                <a:spcPts val="0"/>
              </a:spcAft>
              <a:buNone/>
            </a:pPr>
            <a:r>
              <a:rPr lang="en-US" sz="1300">
                <a:solidFill>
                  <a:schemeClr val="accent5"/>
                </a:solidFill>
                <a:latin typeface="Calibri"/>
                <a:ea typeface="Calibri"/>
                <a:cs typeface="Calibri"/>
                <a:sym typeface="Calibri"/>
              </a:rPr>
              <a:t>Content Marketing Social Media</a:t>
            </a:r>
            <a:endParaRPr sz="1300">
              <a:solidFill>
                <a:schemeClr val="accent5"/>
              </a:solidFill>
              <a:latin typeface="Calibri"/>
              <a:ea typeface="Calibri"/>
              <a:cs typeface="Calibri"/>
              <a:sym typeface="Calibri"/>
            </a:endParaRPr>
          </a:p>
          <a:p>
            <a:pPr indent="0" lvl="0" marL="0" marR="0" rtl="0" algn="ctr">
              <a:lnSpc>
                <a:spcPct val="105000"/>
              </a:lnSpc>
              <a:spcBef>
                <a:spcPts val="0"/>
              </a:spcBef>
              <a:spcAft>
                <a:spcPts val="0"/>
              </a:spcAft>
              <a:buNone/>
            </a:pPr>
            <a:r>
              <a:rPr lang="en-US" sz="1300">
                <a:solidFill>
                  <a:schemeClr val="accent5"/>
                </a:solidFill>
                <a:latin typeface="Calibri"/>
                <a:ea typeface="Calibri"/>
                <a:cs typeface="Calibri"/>
                <a:sym typeface="Calibri"/>
              </a:rPr>
              <a:t>SEO/Hub Pages</a:t>
            </a:r>
            <a:endParaRPr sz="1300">
              <a:solidFill>
                <a:schemeClr val="accent5"/>
              </a:solidFill>
              <a:latin typeface="Calibri"/>
              <a:ea typeface="Calibri"/>
              <a:cs typeface="Calibri"/>
              <a:sym typeface="Calibri"/>
            </a:endParaRPr>
          </a:p>
        </p:txBody>
      </p:sp>
      <p:sp>
        <p:nvSpPr>
          <p:cNvPr id="610" name="Google Shape;610;p81"/>
          <p:cNvSpPr/>
          <p:nvPr/>
        </p:nvSpPr>
        <p:spPr>
          <a:xfrm>
            <a:off x="2739925" y="1943100"/>
            <a:ext cx="1704440" cy="3243487"/>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accent5"/>
                </a:solidFill>
                <a:latin typeface="Calibri"/>
                <a:ea typeface="Calibri"/>
                <a:cs typeface="Calibri"/>
                <a:sym typeface="Calibri"/>
              </a:rPr>
              <a:t>Sign up for….</a:t>
            </a:r>
            <a:br>
              <a:rPr b="1" lang="en-US" sz="1600">
                <a:solidFill>
                  <a:schemeClr val="accent5"/>
                </a:solidFill>
                <a:latin typeface="Calibri"/>
                <a:ea typeface="Calibri"/>
                <a:cs typeface="Calibri"/>
                <a:sym typeface="Calibri"/>
              </a:rPr>
            </a:br>
            <a:endParaRPr b="1" sz="1600">
              <a:solidFill>
                <a:schemeClr val="accent5"/>
              </a:solidFill>
              <a:latin typeface="Calibri"/>
              <a:ea typeface="Calibri"/>
              <a:cs typeface="Calibri"/>
              <a:sym typeface="Calibri"/>
            </a:endParaRPr>
          </a:p>
          <a:p>
            <a:pPr indent="0" lvl="0" marL="0" marR="0" rtl="0" algn="ctr">
              <a:spcBef>
                <a:spcPts val="0"/>
              </a:spcBef>
              <a:spcAft>
                <a:spcPts val="0"/>
              </a:spcAft>
              <a:buNone/>
            </a:pPr>
            <a:r>
              <a:rPr b="1" lang="en-US" sz="1600">
                <a:solidFill>
                  <a:schemeClr val="accent5"/>
                </a:solidFill>
                <a:latin typeface="Calibri"/>
                <a:ea typeface="Calibri"/>
                <a:cs typeface="Calibri"/>
                <a:sym typeface="Calibri"/>
              </a:rPr>
              <a:t>Newsletter</a:t>
            </a:r>
            <a:endParaRPr b="1" sz="1600">
              <a:solidFill>
                <a:schemeClr val="accent5"/>
              </a:solidFill>
              <a:latin typeface="Calibri"/>
              <a:ea typeface="Calibri"/>
              <a:cs typeface="Calibri"/>
              <a:sym typeface="Calibri"/>
            </a:endParaRPr>
          </a:p>
          <a:p>
            <a:pPr indent="0" lvl="0" marL="0" marR="0" rtl="0" algn="ctr">
              <a:spcBef>
                <a:spcPts val="0"/>
              </a:spcBef>
              <a:spcAft>
                <a:spcPts val="0"/>
              </a:spcAft>
              <a:buNone/>
            </a:pPr>
            <a:br>
              <a:rPr b="1" lang="en-US" sz="1600">
                <a:solidFill>
                  <a:schemeClr val="accent5"/>
                </a:solidFill>
                <a:latin typeface="Calibri"/>
                <a:ea typeface="Calibri"/>
                <a:cs typeface="Calibri"/>
                <a:sym typeface="Calibri"/>
              </a:rPr>
            </a:br>
            <a:r>
              <a:rPr b="1" lang="en-US" sz="1600">
                <a:solidFill>
                  <a:schemeClr val="accent5"/>
                </a:solidFill>
                <a:latin typeface="Calibri"/>
                <a:ea typeface="Calibri"/>
                <a:cs typeface="Calibri"/>
                <a:sym typeface="Calibri"/>
              </a:rPr>
              <a:t>Free Resources</a:t>
            </a:r>
            <a:endParaRPr b="1" sz="1600">
              <a:solidFill>
                <a:schemeClr val="accent5"/>
              </a:solidFill>
              <a:latin typeface="Calibri"/>
              <a:ea typeface="Calibri"/>
              <a:cs typeface="Calibri"/>
              <a:sym typeface="Calibri"/>
            </a:endParaRPr>
          </a:p>
          <a:p>
            <a:pPr indent="0" lvl="0" marL="0" marR="0" rtl="0" algn="ctr">
              <a:spcBef>
                <a:spcPts val="0"/>
              </a:spcBef>
              <a:spcAft>
                <a:spcPts val="0"/>
              </a:spcAft>
              <a:buNone/>
            </a:pPr>
            <a:br>
              <a:rPr b="1" lang="en-US" sz="1600">
                <a:solidFill>
                  <a:schemeClr val="accent5"/>
                </a:solidFill>
                <a:latin typeface="Calibri"/>
                <a:ea typeface="Calibri"/>
                <a:cs typeface="Calibri"/>
                <a:sym typeface="Calibri"/>
              </a:rPr>
            </a:br>
            <a:r>
              <a:rPr b="1" lang="en-US" sz="1600">
                <a:solidFill>
                  <a:schemeClr val="accent5"/>
                </a:solidFill>
                <a:latin typeface="Calibri"/>
                <a:ea typeface="Calibri"/>
                <a:cs typeface="Calibri"/>
                <a:sym typeface="Calibri"/>
              </a:rPr>
              <a:t>Consultation</a:t>
            </a:r>
            <a:endParaRPr b="1" sz="1600">
              <a:solidFill>
                <a:schemeClr val="accent5"/>
              </a:solidFill>
              <a:latin typeface="Calibri"/>
              <a:ea typeface="Calibri"/>
              <a:cs typeface="Calibri"/>
              <a:sym typeface="Calibri"/>
            </a:endParaRPr>
          </a:p>
          <a:p>
            <a:pPr indent="0" lvl="0" marL="457200" marR="0" rtl="0" algn="l">
              <a:spcBef>
                <a:spcPts val="0"/>
              </a:spcBef>
              <a:spcAft>
                <a:spcPts val="0"/>
              </a:spcAft>
              <a:buNone/>
            </a:pPr>
            <a:r>
              <a:t/>
            </a:r>
            <a:endParaRPr sz="1600"/>
          </a:p>
        </p:txBody>
      </p:sp>
      <p:pic>
        <p:nvPicPr>
          <p:cNvPr id="611" name="Google Shape;611;p81"/>
          <p:cNvPicPr preferRelativeResize="0"/>
          <p:nvPr/>
        </p:nvPicPr>
        <p:blipFill rotWithShape="1">
          <a:blip r:embed="rId3">
            <a:alphaModFix/>
          </a:blip>
          <a:srcRect b="0" l="0" r="0" t="0"/>
          <a:stretch/>
        </p:blipFill>
        <p:spPr>
          <a:xfrm>
            <a:off x="2345975" y="3375927"/>
            <a:ext cx="221894" cy="308722"/>
          </a:xfrm>
          <a:prstGeom prst="rect">
            <a:avLst/>
          </a:prstGeom>
          <a:noFill/>
          <a:ln>
            <a:noFill/>
          </a:ln>
        </p:spPr>
      </p:pic>
      <p:pic>
        <p:nvPicPr>
          <p:cNvPr id="612" name="Google Shape;612;p81"/>
          <p:cNvPicPr preferRelativeResize="0"/>
          <p:nvPr/>
        </p:nvPicPr>
        <p:blipFill rotWithShape="1">
          <a:blip r:embed="rId3">
            <a:alphaModFix/>
          </a:blip>
          <a:srcRect b="0" l="0" r="0" t="0"/>
          <a:stretch/>
        </p:blipFill>
        <p:spPr>
          <a:xfrm>
            <a:off x="4616425" y="3375918"/>
            <a:ext cx="221894" cy="308722"/>
          </a:xfrm>
          <a:prstGeom prst="rect">
            <a:avLst/>
          </a:prstGeom>
          <a:noFill/>
          <a:ln>
            <a:noFill/>
          </a:ln>
        </p:spPr>
      </p:pic>
      <p:sp>
        <p:nvSpPr>
          <p:cNvPr id="613" name="Google Shape;613;p81"/>
          <p:cNvSpPr/>
          <p:nvPr/>
        </p:nvSpPr>
        <p:spPr>
          <a:xfrm>
            <a:off x="4975275" y="1650725"/>
            <a:ext cx="29061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rtl="0" algn="ctr">
              <a:lnSpc>
                <a:spcPct val="105000"/>
              </a:lnSpc>
              <a:spcBef>
                <a:spcPts val="0"/>
              </a:spcBef>
              <a:spcAft>
                <a:spcPts val="0"/>
              </a:spcAft>
              <a:buNone/>
            </a:pPr>
            <a:r>
              <a:rPr b="1" lang="en-US" sz="1300">
                <a:solidFill>
                  <a:schemeClr val="accent5"/>
                </a:solidFill>
                <a:latin typeface="Calibri"/>
                <a:ea typeface="Calibri"/>
                <a:cs typeface="Calibri"/>
                <a:sym typeface="Calibri"/>
              </a:rPr>
              <a:t>Intro and credentials</a:t>
            </a:r>
            <a:endParaRPr b="1" sz="1300"/>
          </a:p>
        </p:txBody>
      </p:sp>
      <p:sp>
        <p:nvSpPr>
          <p:cNvPr id="614" name="Google Shape;614;p81"/>
          <p:cNvSpPr/>
          <p:nvPr/>
        </p:nvSpPr>
        <p:spPr>
          <a:xfrm>
            <a:off x="4975275" y="2570275"/>
            <a:ext cx="2906100" cy="6654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rtl="0" algn="ctr">
              <a:lnSpc>
                <a:spcPct val="105000"/>
              </a:lnSpc>
              <a:spcBef>
                <a:spcPts val="0"/>
              </a:spcBef>
              <a:spcAft>
                <a:spcPts val="0"/>
              </a:spcAft>
              <a:buClr>
                <a:schemeClr val="dk1"/>
              </a:buClr>
              <a:buFont typeface="Arial"/>
              <a:buNone/>
            </a:pPr>
            <a:r>
              <a:rPr b="1" lang="en-US" sz="1300">
                <a:solidFill>
                  <a:schemeClr val="accent5"/>
                </a:solidFill>
                <a:latin typeface="Calibri"/>
                <a:ea typeface="Calibri"/>
                <a:cs typeface="Calibri"/>
                <a:sym typeface="Calibri"/>
              </a:rPr>
              <a:t>What’s Really Slowing Growth?</a:t>
            </a:r>
            <a:endParaRPr b="1" sz="1300">
              <a:solidFill>
                <a:schemeClr val="accent5"/>
              </a:solidFill>
              <a:latin typeface="Calibri"/>
              <a:ea typeface="Calibri"/>
              <a:cs typeface="Calibri"/>
              <a:sym typeface="Calibri"/>
            </a:endParaRPr>
          </a:p>
        </p:txBody>
      </p:sp>
      <p:sp>
        <p:nvSpPr>
          <p:cNvPr id="615" name="Google Shape;615;p81"/>
          <p:cNvSpPr/>
          <p:nvPr/>
        </p:nvSpPr>
        <p:spPr>
          <a:xfrm>
            <a:off x="4978988" y="3419063"/>
            <a:ext cx="29061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rtl="0" algn="ctr">
              <a:lnSpc>
                <a:spcPct val="105000"/>
              </a:lnSpc>
              <a:spcBef>
                <a:spcPts val="0"/>
              </a:spcBef>
              <a:spcAft>
                <a:spcPts val="0"/>
              </a:spcAft>
              <a:buClr>
                <a:schemeClr val="dk1"/>
              </a:buClr>
              <a:buFont typeface="Arial"/>
              <a:buNone/>
            </a:pPr>
            <a:r>
              <a:rPr b="1" lang="en-US" sz="1300">
                <a:solidFill>
                  <a:schemeClr val="accent5"/>
                </a:solidFill>
                <a:latin typeface="Calibri"/>
                <a:ea typeface="Calibri"/>
                <a:cs typeface="Calibri"/>
                <a:sym typeface="Calibri"/>
              </a:rPr>
              <a:t>How Fast-Growing Companies Build Leadership Strength That Lasts</a:t>
            </a:r>
            <a:endParaRPr sz="1300"/>
          </a:p>
        </p:txBody>
      </p:sp>
      <p:pic>
        <p:nvPicPr>
          <p:cNvPr id="616" name="Google Shape;616;p81"/>
          <p:cNvPicPr preferRelativeResize="0"/>
          <p:nvPr/>
        </p:nvPicPr>
        <p:blipFill rotWithShape="1">
          <a:blip r:embed="rId3">
            <a:alphaModFix/>
          </a:blip>
          <a:srcRect b="0" l="0" r="0" t="0"/>
          <a:stretch/>
        </p:blipFill>
        <p:spPr>
          <a:xfrm>
            <a:off x="10184000" y="4566481"/>
            <a:ext cx="221894" cy="308722"/>
          </a:xfrm>
          <a:prstGeom prst="rect">
            <a:avLst/>
          </a:prstGeom>
          <a:noFill/>
          <a:ln>
            <a:noFill/>
          </a:ln>
        </p:spPr>
      </p:pic>
      <p:sp>
        <p:nvSpPr>
          <p:cNvPr id="617" name="Google Shape;617;p81"/>
          <p:cNvSpPr/>
          <p:nvPr/>
        </p:nvSpPr>
        <p:spPr>
          <a:xfrm>
            <a:off x="8870451" y="2163500"/>
            <a:ext cx="1085791" cy="1325535"/>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a:solidFill>
                  <a:schemeClr val="accent5"/>
                </a:solidFill>
                <a:latin typeface="Calibri"/>
                <a:ea typeface="Calibri"/>
                <a:cs typeface="Calibri"/>
                <a:sym typeface="Calibri"/>
              </a:rPr>
              <a:t>Ready?</a:t>
            </a:r>
            <a:endParaRPr b="1">
              <a:solidFill>
                <a:schemeClr val="accent5"/>
              </a:solidFill>
              <a:latin typeface="Calibri"/>
              <a:ea typeface="Calibri"/>
              <a:cs typeface="Calibri"/>
              <a:sym typeface="Calibri"/>
            </a:endParaRPr>
          </a:p>
          <a:p>
            <a:pPr indent="0" lvl="0" marL="0" marR="0" rtl="0" algn="ctr">
              <a:spcBef>
                <a:spcPts val="0"/>
              </a:spcBef>
              <a:spcAft>
                <a:spcPts val="0"/>
              </a:spcAft>
              <a:buNone/>
            </a:pPr>
            <a:r>
              <a:rPr lang="en-US" sz="1300">
                <a:solidFill>
                  <a:schemeClr val="accent5"/>
                </a:solidFill>
                <a:latin typeface="Calibri"/>
                <a:ea typeface="Calibri"/>
                <a:cs typeface="Calibri"/>
                <a:sym typeface="Calibri"/>
              </a:rPr>
              <a:t>Book a Consultation</a:t>
            </a:r>
            <a:endParaRPr sz="1300"/>
          </a:p>
        </p:txBody>
      </p:sp>
      <p:pic>
        <p:nvPicPr>
          <p:cNvPr id="618" name="Google Shape;618;p81"/>
          <p:cNvPicPr preferRelativeResize="0"/>
          <p:nvPr/>
        </p:nvPicPr>
        <p:blipFill rotWithShape="1">
          <a:blip r:embed="rId3">
            <a:alphaModFix/>
          </a:blip>
          <a:srcRect b="0" l="0" r="0" t="0"/>
          <a:stretch/>
        </p:blipFill>
        <p:spPr>
          <a:xfrm rot="5400000">
            <a:off x="9381838" y="3635818"/>
            <a:ext cx="221894" cy="308722"/>
          </a:xfrm>
          <a:prstGeom prst="rect">
            <a:avLst/>
          </a:prstGeom>
          <a:noFill/>
          <a:ln>
            <a:noFill/>
          </a:ln>
        </p:spPr>
      </p:pic>
      <p:sp>
        <p:nvSpPr>
          <p:cNvPr id="619" name="Google Shape;619;p81"/>
          <p:cNvSpPr/>
          <p:nvPr/>
        </p:nvSpPr>
        <p:spPr>
          <a:xfrm>
            <a:off x="8870451" y="4091325"/>
            <a:ext cx="1085791" cy="1325535"/>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a:solidFill>
                  <a:schemeClr val="accent5"/>
                </a:solidFill>
                <a:latin typeface="Calibri"/>
                <a:ea typeface="Calibri"/>
                <a:cs typeface="Calibri"/>
                <a:sym typeface="Calibri"/>
              </a:rPr>
              <a:t>Not Ready? </a:t>
            </a:r>
            <a:r>
              <a:rPr lang="en-US">
                <a:solidFill>
                  <a:schemeClr val="accent5"/>
                </a:solidFill>
                <a:latin typeface="Calibri"/>
                <a:ea typeface="Calibri"/>
                <a:cs typeface="Calibri"/>
                <a:sym typeface="Calibri"/>
              </a:rPr>
              <a:t>Ongoing Newsletter</a:t>
            </a:r>
            <a:endParaRPr/>
          </a:p>
        </p:txBody>
      </p:sp>
      <p:pic>
        <p:nvPicPr>
          <p:cNvPr id="620" name="Google Shape;620;p81"/>
          <p:cNvPicPr preferRelativeResize="0"/>
          <p:nvPr/>
        </p:nvPicPr>
        <p:blipFill rotWithShape="1">
          <a:blip r:embed="rId3">
            <a:alphaModFix/>
          </a:blip>
          <a:srcRect b="0" l="0" r="0" t="0"/>
          <a:stretch/>
        </p:blipFill>
        <p:spPr>
          <a:xfrm>
            <a:off x="8233200" y="3635806"/>
            <a:ext cx="221894" cy="308722"/>
          </a:xfrm>
          <a:prstGeom prst="rect">
            <a:avLst/>
          </a:prstGeom>
          <a:noFill/>
          <a:ln>
            <a:noFill/>
          </a:ln>
        </p:spPr>
      </p:pic>
      <p:sp>
        <p:nvSpPr>
          <p:cNvPr id="621" name="Google Shape;621;p81"/>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Funnels</a:t>
            </a:r>
            <a:endParaRPr b="0" i="1" sz="1900">
              <a:solidFill>
                <a:schemeClr val="accent5"/>
              </a:solidFill>
              <a:latin typeface="Calibri"/>
              <a:ea typeface="Calibri"/>
              <a:cs typeface="Calibri"/>
              <a:sym typeface="Calibri"/>
            </a:endParaRPr>
          </a:p>
        </p:txBody>
      </p:sp>
      <p:sp>
        <p:nvSpPr>
          <p:cNvPr id="622" name="Google Shape;622;p81"/>
          <p:cNvSpPr/>
          <p:nvPr/>
        </p:nvSpPr>
        <p:spPr>
          <a:xfrm>
            <a:off x="671575" y="3913250"/>
            <a:ext cx="1493700" cy="12339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300">
                <a:solidFill>
                  <a:schemeClr val="accent5"/>
                </a:solidFill>
                <a:latin typeface="Calibri"/>
                <a:ea typeface="Calibri"/>
                <a:cs typeface="Calibri"/>
                <a:sym typeface="Calibri"/>
              </a:rPr>
              <a:t>Outbound Marketing</a:t>
            </a:r>
            <a:endParaRPr b="1" sz="1300">
              <a:solidFill>
                <a:schemeClr val="accent5"/>
              </a:solidFill>
              <a:latin typeface="Calibri"/>
              <a:ea typeface="Calibri"/>
              <a:cs typeface="Calibri"/>
              <a:sym typeface="Calibri"/>
            </a:endParaRPr>
          </a:p>
          <a:p>
            <a:pPr indent="0" lvl="0" marL="0" marR="0" rtl="0" algn="ctr">
              <a:lnSpc>
                <a:spcPct val="105000"/>
              </a:lnSpc>
              <a:spcBef>
                <a:spcPts val="0"/>
              </a:spcBef>
              <a:spcAft>
                <a:spcPts val="0"/>
              </a:spcAft>
              <a:buNone/>
            </a:pPr>
            <a:r>
              <a:rPr lang="en-US" sz="1300">
                <a:solidFill>
                  <a:schemeClr val="accent5"/>
                </a:solidFill>
                <a:latin typeface="Calibri"/>
                <a:ea typeface="Calibri"/>
                <a:cs typeface="Calibri"/>
                <a:sym typeface="Calibri"/>
              </a:rPr>
              <a:t>Events/Associations</a:t>
            </a:r>
            <a:endParaRPr sz="1300">
              <a:solidFill>
                <a:schemeClr val="accent5"/>
              </a:solidFill>
              <a:latin typeface="Calibri"/>
              <a:ea typeface="Calibri"/>
              <a:cs typeface="Calibri"/>
              <a:sym typeface="Calibri"/>
            </a:endParaRPr>
          </a:p>
          <a:p>
            <a:pPr indent="0" lvl="0" marL="0" marR="0" rtl="0" algn="ctr">
              <a:lnSpc>
                <a:spcPct val="105000"/>
              </a:lnSpc>
              <a:spcBef>
                <a:spcPts val="0"/>
              </a:spcBef>
              <a:spcAft>
                <a:spcPts val="0"/>
              </a:spcAft>
              <a:buNone/>
            </a:pPr>
            <a:r>
              <a:t/>
            </a:r>
            <a:endParaRPr sz="1300">
              <a:solidFill>
                <a:schemeClr val="accent5"/>
              </a:solidFill>
              <a:latin typeface="Calibri"/>
              <a:ea typeface="Calibri"/>
              <a:cs typeface="Calibri"/>
              <a:sym typeface="Calibri"/>
            </a:endParaRPr>
          </a:p>
        </p:txBody>
      </p:sp>
      <p:sp>
        <p:nvSpPr>
          <p:cNvPr id="623" name="Google Shape;623;p81"/>
          <p:cNvSpPr/>
          <p:nvPr/>
        </p:nvSpPr>
        <p:spPr>
          <a:xfrm>
            <a:off x="4979000" y="4325175"/>
            <a:ext cx="29061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rtl="0" algn="ctr">
              <a:lnSpc>
                <a:spcPct val="105000"/>
              </a:lnSpc>
              <a:spcBef>
                <a:spcPts val="0"/>
              </a:spcBef>
              <a:spcAft>
                <a:spcPts val="0"/>
              </a:spcAft>
              <a:buClr>
                <a:schemeClr val="dk1"/>
              </a:buClr>
              <a:buFont typeface="Arial"/>
              <a:buNone/>
            </a:pPr>
            <a:r>
              <a:rPr b="1" lang="en-US" sz="1300">
                <a:solidFill>
                  <a:schemeClr val="accent5"/>
                </a:solidFill>
                <a:latin typeface="Calibri"/>
                <a:ea typeface="Calibri"/>
                <a:cs typeface="Calibri"/>
                <a:sym typeface="Calibri"/>
              </a:rPr>
              <a:t>Off-the-Shelf Leadership Training </a:t>
            </a:r>
            <a:br>
              <a:rPr b="1" lang="en-US" sz="1300">
                <a:solidFill>
                  <a:schemeClr val="accent5"/>
                </a:solidFill>
                <a:latin typeface="Calibri"/>
                <a:ea typeface="Calibri"/>
                <a:cs typeface="Calibri"/>
                <a:sym typeface="Calibri"/>
              </a:rPr>
            </a:br>
            <a:r>
              <a:rPr b="1" lang="en-US" sz="1300">
                <a:solidFill>
                  <a:schemeClr val="accent5"/>
                </a:solidFill>
                <a:latin typeface="Calibri"/>
                <a:ea typeface="Calibri"/>
                <a:cs typeface="Calibri"/>
                <a:sym typeface="Calibri"/>
              </a:rPr>
              <a:t>Won’t Scale Your Business</a:t>
            </a:r>
            <a:endParaRPr sz="1300"/>
          </a:p>
        </p:txBody>
      </p:sp>
      <p:sp>
        <p:nvSpPr>
          <p:cNvPr id="624" name="Google Shape;624;p81"/>
          <p:cNvSpPr/>
          <p:nvPr/>
        </p:nvSpPr>
        <p:spPr>
          <a:xfrm>
            <a:off x="4975275" y="5231275"/>
            <a:ext cx="2906100" cy="7770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rtl="0" algn="ctr">
              <a:lnSpc>
                <a:spcPct val="105000"/>
              </a:lnSpc>
              <a:spcBef>
                <a:spcPts val="0"/>
              </a:spcBef>
              <a:spcAft>
                <a:spcPts val="0"/>
              </a:spcAft>
              <a:buClr>
                <a:schemeClr val="dk1"/>
              </a:buClr>
              <a:buFont typeface="Arial"/>
              <a:buNone/>
            </a:pPr>
            <a:r>
              <a:rPr b="1" lang="en-US" sz="1300">
                <a:solidFill>
                  <a:schemeClr val="accent5"/>
                </a:solidFill>
                <a:latin typeface="Calibri"/>
                <a:ea typeface="Calibri"/>
                <a:cs typeface="Calibri"/>
                <a:sym typeface="Calibri"/>
              </a:rPr>
              <a:t>They Won’t Stay Without a Future: </a:t>
            </a:r>
            <a:br>
              <a:rPr b="1" lang="en-US" sz="1300">
                <a:solidFill>
                  <a:schemeClr val="accent5"/>
                </a:solidFill>
                <a:latin typeface="Calibri"/>
                <a:ea typeface="Calibri"/>
                <a:cs typeface="Calibri"/>
                <a:sym typeface="Calibri"/>
              </a:rPr>
            </a:br>
            <a:r>
              <a:rPr b="1" lang="en-US" sz="1300">
                <a:solidFill>
                  <a:schemeClr val="accent5"/>
                </a:solidFill>
                <a:latin typeface="Calibri"/>
                <a:ea typeface="Calibri"/>
                <a:cs typeface="Calibri"/>
                <a:sym typeface="Calibri"/>
              </a:rPr>
              <a:t>Why You Need a Talent Roadmap</a:t>
            </a:r>
            <a:endParaRPr b="1" sz="1300">
              <a:solidFill>
                <a:schemeClr val="accent5"/>
              </a:solidFill>
              <a:latin typeface="Calibri"/>
              <a:ea typeface="Calibri"/>
              <a:cs typeface="Calibri"/>
              <a:sym typeface="Calibri"/>
            </a:endParaRPr>
          </a:p>
          <a:p>
            <a:pPr indent="0" lvl="0" marL="0" rtl="0" algn="ctr">
              <a:lnSpc>
                <a:spcPct val="105000"/>
              </a:lnSpc>
              <a:spcBef>
                <a:spcPts val="0"/>
              </a:spcBef>
              <a:spcAft>
                <a:spcPts val="0"/>
              </a:spcAft>
              <a:buClr>
                <a:schemeClr val="dk1"/>
              </a:buClr>
              <a:buFont typeface="Arial"/>
              <a:buNone/>
            </a:pPr>
            <a:r>
              <a:t/>
            </a:r>
            <a:endParaRPr b="1" sz="1300">
              <a:solidFill>
                <a:schemeClr val="accent5"/>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pic>
        <p:nvPicPr>
          <p:cNvPr id="629" name="Google Shape;629;p82"/>
          <p:cNvPicPr preferRelativeResize="0"/>
          <p:nvPr/>
        </p:nvPicPr>
        <p:blipFill rotWithShape="1">
          <a:blip r:embed="rId3">
            <a:alphaModFix/>
          </a:blip>
          <a:srcRect b="0" l="0" r="0" t="0"/>
          <a:stretch/>
        </p:blipFill>
        <p:spPr>
          <a:xfrm>
            <a:off x="983800" y="1877525"/>
            <a:ext cx="5434825" cy="1752050"/>
          </a:xfrm>
          <a:prstGeom prst="rect">
            <a:avLst/>
          </a:prstGeom>
          <a:noFill/>
          <a:ln>
            <a:noFill/>
          </a:ln>
        </p:spPr>
      </p:pic>
      <p:sp>
        <p:nvSpPr>
          <p:cNvPr id="630" name="Google Shape;630;p82"/>
          <p:cNvSpPr txBox="1"/>
          <p:nvPr>
            <p:ph type="title"/>
          </p:nvPr>
        </p:nvSpPr>
        <p:spPr>
          <a:xfrm>
            <a:off x="725875" y="708025"/>
            <a:ext cx="11060400" cy="75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Marketing Funnel</a:t>
            </a:r>
            <a:r>
              <a:rPr b="0" i="1" lang="en-US" sz="3800">
                <a:solidFill>
                  <a:srgbClr val="073763"/>
                </a:solidFill>
                <a:latin typeface="Calibri"/>
                <a:ea typeface="Calibri"/>
                <a:cs typeface="Calibri"/>
                <a:sym typeface="Calibri"/>
              </a:rPr>
              <a:t> </a:t>
            </a:r>
            <a:r>
              <a:rPr b="0" i="1" lang="en-US" sz="3800">
                <a:solidFill>
                  <a:schemeClr val="accent4"/>
                </a:solidFill>
                <a:latin typeface="Calibri"/>
                <a:ea typeface="Calibri"/>
                <a:cs typeface="Calibri"/>
                <a:sym typeface="Calibri"/>
              </a:rPr>
              <a:t>Assets</a:t>
            </a:r>
            <a:endParaRPr b="0" i="1" sz="3800">
              <a:solidFill>
                <a:schemeClr val="accent4"/>
              </a:solidFill>
              <a:latin typeface="Calibri"/>
              <a:ea typeface="Calibri"/>
              <a:cs typeface="Calibri"/>
              <a:sym typeface="Calibri"/>
            </a:endParaRPr>
          </a:p>
        </p:txBody>
      </p:sp>
      <p:sp>
        <p:nvSpPr>
          <p:cNvPr id="631" name="Google Shape;631;p82"/>
          <p:cNvSpPr txBox="1"/>
          <p:nvPr>
            <p:ph idx="1" type="body"/>
          </p:nvPr>
        </p:nvSpPr>
        <p:spPr>
          <a:xfrm>
            <a:off x="1451800" y="2208775"/>
            <a:ext cx="5769300" cy="2211900"/>
          </a:xfrm>
          <a:prstGeom prst="rect">
            <a:avLst/>
          </a:prstGeom>
          <a:noFill/>
          <a:ln>
            <a:noFill/>
          </a:ln>
        </p:spPr>
        <p:txBody>
          <a:bodyPr anchorCtr="0" anchor="t" bIns="45700" lIns="91425" spcFirstLastPara="1" rIns="91425" wrap="square" tIns="45700">
            <a:noAutofit/>
          </a:bodyPr>
          <a:lstStyle/>
          <a:p>
            <a:pPr indent="-238125" lvl="0" marL="228600" rtl="0" algn="l">
              <a:lnSpc>
                <a:spcPct val="100000"/>
              </a:lnSpc>
              <a:spcBef>
                <a:spcPts val="600"/>
              </a:spcBef>
              <a:spcAft>
                <a:spcPts val="0"/>
              </a:spcAft>
              <a:buClr>
                <a:schemeClr val="accent2"/>
              </a:buClr>
              <a:buSzPts val="1950"/>
              <a:buFont typeface="Noto Sans Symbols"/>
              <a:buChar char="➔"/>
            </a:pPr>
            <a:r>
              <a:rPr b="1" lang="en-US" sz="1950"/>
              <a:t>Bonus Marketing Funnel Assets:</a:t>
            </a:r>
            <a:endParaRPr b="1" sz="1950"/>
          </a:p>
          <a:p>
            <a:pPr indent="-219075" lvl="1" marL="685800" rtl="0" algn="l">
              <a:lnSpc>
                <a:spcPct val="100000"/>
              </a:lnSpc>
              <a:spcBef>
                <a:spcPts val="600"/>
              </a:spcBef>
              <a:spcAft>
                <a:spcPts val="0"/>
              </a:spcAft>
              <a:buClr>
                <a:schemeClr val="accent2"/>
              </a:buClr>
              <a:buSzPts val="1650"/>
              <a:buFont typeface="Noto Sans Symbols"/>
              <a:buChar char="◆"/>
            </a:pPr>
            <a:r>
              <a:rPr lang="en-US" sz="1650"/>
              <a:t>Funnel overview</a:t>
            </a:r>
            <a:endParaRPr sz="1650"/>
          </a:p>
          <a:p>
            <a:pPr indent="-219075" lvl="1" marL="685800" rtl="0" algn="l">
              <a:lnSpc>
                <a:spcPct val="100000"/>
              </a:lnSpc>
              <a:spcBef>
                <a:spcPts val="600"/>
              </a:spcBef>
              <a:spcAft>
                <a:spcPts val="0"/>
              </a:spcAft>
              <a:buClr>
                <a:schemeClr val="accent2"/>
              </a:buClr>
              <a:buSzPts val="1650"/>
              <a:buFont typeface="Noto Sans Symbols"/>
              <a:buChar char="◆"/>
            </a:pPr>
            <a:r>
              <a:rPr lang="en-US" sz="1650"/>
              <a:t>Funnel email copy</a:t>
            </a:r>
            <a:endParaRPr sz="1650"/>
          </a:p>
          <a:p>
            <a:pPr indent="0" lvl="0" marL="0" rtl="0" algn="l">
              <a:lnSpc>
                <a:spcPct val="100000"/>
              </a:lnSpc>
              <a:spcBef>
                <a:spcPts val="600"/>
              </a:spcBef>
              <a:spcAft>
                <a:spcPts val="600"/>
              </a:spcAft>
              <a:buNone/>
            </a:pPr>
            <a:r>
              <a:t/>
            </a:r>
            <a:endParaRPr sz="175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83"/>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solidFill>
                  <a:schemeClr val="accent5"/>
                </a:solidFill>
              </a:rPr>
              <a:t>Marketing Strategy </a:t>
            </a:r>
            <a:endParaRPr>
              <a:solidFill>
                <a:schemeClr val="accent5"/>
              </a:solidFill>
            </a:endParaRPr>
          </a:p>
          <a:p>
            <a:pPr indent="0" lvl="0" marL="0" rtl="0" algn="ctr">
              <a:lnSpc>
                <a:spcPct val="90000"/>
              </a:lnSpc>
              <a:spcBef>
                <a:spcPts val="0"/>
              </a:spcBef>
              <a:spcAft>
                <a:spcPts val="0"/>
              </a:spcAft>
              <a:buClr>
                <a:schemeClr val="accent2"/>
              </a:buClr>
              <a:buSzPts val="4400"/>
              <a:buFont typeface="Calibri"/>
              <a:buNone/>
            </a:pPr>
            <a:r>
              <a:rPr i="1" lang="en-US"/>
              <a:t>Awareness &amp; </a:t>
            </a:r>
            <a:r>
              <a:rPr i="1" lang="en-US"/>
              <a:t>Lead Generation - Inbound</a:t>
            </a:r>
            <a:endParaRPr i="1"/>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84"/>
          <p:cNvSpPr txBox="1"/>
          <p:nvPr>
            <p:ph type="title"/>
          </p:nvPr>
        </p:nvSpPr>
        <p:spPr>
          <a:xfrm>
            <a:off x="842700" y="763900"/>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800">
                <a:solidFill>
                  <a:schemeClr val="accent5"/>
                </a:solidFill>
              </a:rPr>
              <a:t>SEO/Local SEO</a:t>
            </a:r>
            <a:endParaRPr b="0" i="1" sz="3800">
              <a:solidFill>
                <a:schemeClr val="accent5"/>
              </a:solidFill>
              <a:latin typeface="Calibri"/>
              <a:ea typeface="Calibri"/>
              <a:cs typeface="Calibri"/>
              <a:sym typeface="Calibri"/>
            </a:endParaRPr>
          </a:p>
        </p:txBody>
      </p:sp>
      <p:sp>
        <p:nvSpPr>
          <p:cNvPr id="642" name="Google Shape;642;p84"/>
          <p:cNvSpPr txBox="1"/>
          <p:nvPr>
            <p:ph idx="1" type="body"/>
          </p:nvPr>
        </p:nvSpPr>
        <p:spPr>
          <a:xfrm>
            <a:off x="842700" y="1612650"/>
            <a:ext cx="7117800" cy="4630200"/>
          </a:xfrm>
          <a:prstGeom prst="rect">
            <a:avLst/>
          </a:prstGeom>
          <a:noFill/>
          <a:ln>
            <a:noFill/>
          </a:ln>
        </p:spPr>
        <p:txBody>
          <a:bodyPr anchorCtr="0" anchor="t" bIns="45700" lIns="91425" spcFirstLastPara="1" rIns="91425" wrap="square" tIns="45700">
            <a:noAutofit/>
          </a:bodyPr>
          <a:lstStyle/>
          <a:p>
            <a:pPr indent="-260350" lvl="1" marL="685800" rtl="0" algn="l">
              <a:lnSpc>
                <a:spcPct val="115000"/>
              </a:lnSpc>
              <a:spcBef>
                <a:spcPts val="1000"/>
              </a:spcBef>
              <a:spcAft>
                <a:spcPts val="0"/>
              </a:spcAft>
              <a:buClr>
                <a:schemeClr val="accent2"/>
              </a:buClr>
              <a:buSzPts val="2300"/>
              <a:buChar char="✔"/>
            </a:pPr>
            <a:r>
              <a:rPr b="1" lang="en-US" sz="2000"/>
              <a:t>Keyword Research</a:t>
            </a:r>
            <a:r>
              <a:rPr b="1" lang="en-US" sz="2000"/>
              <a:t>:</a:t>
            </a:r>
            <a:r>
              <a:rPr lang="en-US" sz="2000"/>
              <a:t> Identify top keywords based on services, problems, and location</a:t>
            </a:r>
            <a:endParaRPr sz="2000"/>
          </a:p>
          <a:p>
            <a:pPr indent="-241300" lvl="1" marL="685800" rtl="0" algn="l">
              <a:lnSpc>
                <a:spcPct val="130000"/>
              </a:lnSpc>
              <a:spcBef>
                <a:spcPts val="1000"/>
              </a:spcBef>
              <a:spcAft>
                <a:spcPts val="0"/>
              </a:spcAft>
              <a:buClr>
                <a:schemeClr val="accent2"/>
              </a:buClr>
              <a:buSzPts val="2000"/>
              <a:buChar char="✔"/>
            </a:pPr>
            <a:r>
              <a:rPr b="1" lang="en-US" sz="2000"/>
              <a:t>Optimize Website:</a:t>
            </a:r>
            <a:r>
              <a:rPr lang="en-US" sz="2000"/>
              <a:t> Add key landing pages (local, audience, and service based) and optimize all pages for SEO</a:t>
            </a:r>
            <a:endParaRPr sz="2000"/>
          </a:p>
          <a:p>
            <a:pPr indent="-241300" lvl="1" marL="685800" rtl="0" algn="l">
              <a:lnSpc>
                <a:spcPct val="130000"/>
              </a:lnSpc>
              <a:spcBef>
                <a:spcPts val="1000"/>
              </a:spcBef>
              <a:spcAft>
                <a:spcPts val="0"/>
              </a:spcAft>
              <a:buClr>
                <a:schemeClr val="accent2"/>
              </a:buClr>
              <a:buSzPts val="2000"/>
              <a:buChar char="✔"/>
            </a:pPr>
            <a:r>
              <a:rPr b="1" lang="en-US" sz="2000"/>
              <a:t>Google Business Profile: </a:t>
            </a:r>
            <a:r>
              <a:rPr lang="en-US" sz="2000"/>
              <a:t>Optimize Halifax profile; add and optimize Toronto profile</a:t>
            </a:r>
            <a:endParaRPr sz="2000"/>
          </a:p>
          <a:p>
            <a:pPr indent="-241300" lvl="1" marL="685800" rtl="0" algn="l">
              <a:lnSpc>
                <a:spcPct val="130000"/>
              </a:lnSpc>
              <a:spcBef>
                <a:spcPts val="1000"/>
              </a:spcBef>
              <a:spcAft>
                <a:spcPts val="0"/>
              </a:spcAft>
              <a:buClr>
                <a:schemeClr val="accent2"/>
              </a:buClr>
              <a:buSzPts val="2000"/>
              <a:buChar char="✔"/>
            </a:pPr>
            <a:r>
              <a:rPr b="1" lang="en-US" sz="2000"/>
              <a:t>Social Media</a:t>
            </a:r>
            <a:r>
              <a:rPr b="1" lang="en-US" sz="2000"/>
              <a:t>:</a:t>
            </a:r>
            <a:r>
              <a:rPr lang="en-US" sz="2000"/>
              <a:t> Update all social media sites </a:t>
            </a:r>
            <a:endParaRPr sz="2000"/>
          </a:p>
          <a:p>
            <a:pPr indent="0" lvl="0" marL="685800" rtl="0" algn="l">
              <a:lnSpc>
                <a:spcPct val="130000"/>
              </a:lnSpc>
              <a:spcBef>
                <a:spcPts val="1000"/>
              </a:spcBef>
              <a:spcAft>
                <a:spcPts val="0"/>
              </a:spcAft>
              <a:buNone/>
            </a:pPr>
            <a:r>
              <a:t/>
            </a:r>
            <a:endParaRPr sz="2000"/>
          </a:p>
          <a:p>
            <a:pPr indent="0" lvl="0" marL="0" rtl="0" algn="l">
              <a:lnSpc>
                <a:spcPct val="130000"/>
              </a:lnSpc>
              <a:spcBef>
                <a:spcPts val="1000"/>
              </a:spcBef>
              <a:spcAft>
                <a:spcPts val="0"/>
              </a:spcAft>
              <a:buNone/>
            </a:pPr>
            <a:r>
              <a:t/>
            </a:r>
            <a:endParaRPr sz="2000"/>
          </a:p>
          <a:p>
            <a:pPr indent="0" lvl="0" marL="0" rtl="0" algn="l">
              <a:lnSpc>
                <a:spcPct val="130000"/>
              </a:lnSpc>
              <a:spcBef>
                <a:spcPts val="1000"/>
              </a:spcBef>
              <a:spcAft>
                <a:spcPts val="0"/>
              </a:spcAft>
              <a:buNone/>
            </a:pPr>
            <a:r>
              <a:t/>
            </a:r>
            <a:endParaRPr sz="2000"/>
          </a:p>
          <a:p>
            <a:pPr indent="0" lvl="0" marL="0" rtl="0" algn="l">
              <a:lnSpc>
                <a:spcPct val="100000"/>
              </a:lnSpc>
              <a:spcBef>
                <a:spcPts val="1000"/>
              </a:spcBef>
              <a:spcAft>
                <a:spcPts val="0"/>
              </a:spcAft>
              <a:buNone/>
            </a:pPr>
            <a:r>
              <a:t/>
            </a:r>
            <a:endParaRPr sz="1850"/>
          </a:p>
          <a:p>
            <a:pPr indent="0" lvl="0" marL="0" marR="0" rtl="0" algn="l">
              <a:lnSpc>
                <a:spcPct val="100000"/>
              </a:lnSpc>
              <a:spcBef>
                <a:spcPts val="1000"/>
              </a:spcBef>
              <a:spcAft>
                <a:spcPts val="0"/>
              </a:spcAft>
              <a:buNone/>
            </a:pPr>
            <a:r>
              <a:t/>
            </a:r>
            <a:endParaRPr sz="1850"/>
          </a:p>
        </p:txBody>
      </p:sp>
      <p:pic>
        <p:nvPicPr>
          <p:cNvPr id="643" name="Google Shape;643;p84"/>
          <p:cNvPicPr preferRelativeResize="0"/>
          <p:nvPr/>
        </p:nvPicPr>
        <p:blipFill rotWithShape="1">
          <a:blip r:embed="rId3">
            <a:alphaModFix/>
          </a:blip>
          <a:srcRect b="0" l="0" r="0" t="0"/>
          <a:stretch/>
        </p:blipFill>
        <p:spPr>
          <a:xfrm>
            <a:off x="8232075" y="1612650"/>
            <a:ext cx="3271025" cy="3945999"/>
          </a:xfrm>
          <a:prstGeom prst="rect">
            <a:avLst/>
          </a:prstGeom>
          <a:noFill/>
          <a:ln>
            <a:noFill/>
          </a:ln>
        </p:spPr>
      </p:pic>
      <p:sp>
        <p:nvSpPr>
          <p:cNvPr id="644" name="Google Shape;644;p84"/>
          <p:cNvSpPr txBox="1"/>
          <p:nvPr/>
        </p:nvSpPr>
        <p:spPr>
          <a:xfrm>
            <a:off x="8472975" y="2002200"/>
            <a:ext cx="2814900" cy="24819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900">
                <a:solidFill>
                  <a:srgbClr val="434343"/>
                </a:solidFill>
                <a:latin typeface="Calibri"/>
                <a:ea typeface="Calibri"/>
                <a:cs typeface="Calibri"/>
                <a:sym typeface="Calibri"/>
              </a:rPr>
              <a:t>Action Steps:</a:t>
            </a:r>
            <a:endParaRPr sz="1800">
              <a:solidFill>
                <a:srgbClr val="434343"/>
              </a:solidFill>
            </a:endParaRPr>
          </a:p>
          <a:p>
            <a:pPr indent="-292100" lvl="0" marL="285750" marR="0" rtl="0" algn="l">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Association &amp; Event Marketing</a:t>
            </a:r>
            <a:endParaRPr sz="1500">
              <a:solidFill>
                <a:srgbClr val="434343"/>
              </a:solidFill>
              <a:latin typeface="Calibri"/>
              <a:ea typeface="Calibri"/>
              <a:cs typeface="Calibri"/>
              <a:sym typeface="Calibri"/>
            </a:endParaRPr>
          </a:p>
          <a:p>
            <a:pPr indent="-292100" lvl="0" marL="285750" marR="0" rtl="0" algn="l">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Account Based Marketing Campaigns</a:t>
            </a:r>
            <a:endParaRPr sz="1500">
              <a:solidFill>
                <a:srgbClr val="434343"/>
              </a:solidFill>
              <a:latin typeface="Calibri"/>
              <a:ea typeface="Calibri"/>
              <a:cs typeface="Calibri"/>
              <a:sym typeface="Calibri"/>
            </a:endParaRPr>
          </a:p>
          <a:p>
            <a:pPr indent="0" lvl="0" marL="457200" marR="0" rtl="0" algn="l">
              <a:lnSpc>
                <a:spcPct val="115000"/>
              </a:lnSpc>
              <a:spcBef>
                <a:spcPts val="0"/>
              </a:spcBef>
              <a:spcAft>
                <a:spcPts val="0"/>
              </a:spcAft>
              <a:buNone/>
            </a:pPr>
            <a:r>
              <a:t/>
            </a:r>
            <a:endParaRPr sz="1500">
              <a:solidFill>
                <a:srgbClr val="434343"/>
              </a:solidFill>
              <a:latin typeface="Calibri"/>
              <a:ea typeface="Calibri"/>
              <a:cs typeface="Calibri"/>
              <a:sym typeface="Calibri"/>
            </a:endParaRPr>
          </a:p>
          <a:p>
            <a:pPr indent="0" lvl="0" marL="457200" marR="0" rtl="0" algn="l">
              <a:lnSpc>
                <a:spcPct val="115000"/>
              </a:lnSpc>
              <a:spcBef>
                <a:spcPts val="0"/>
              </a:spcBef>
              <a:spcAft>
                <a:spcPts val="0"/>
              </a:spcAft>
              <a:buNone/>
            </a:pPr>
            <a:r>
              <a:t/>
            </a:r>
            <a:endParaRPr sz="15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
        <p:nvSpPr>
          <p:cNvPr id="645" name="Google Shape;645;p84"/>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awareness and </a:t>
            </a:r>
            <a:r>
              <a:rPr b="0" i="1" lang="en-US" sz="1900">
                <a:solidFill>
                  <a:schemeClr val="accent5"/>
                </a:solidFill>
                <a:latin typeface="Calibri"/>
                <a:ea typeface="Calibri"/>
                <a:cs typeface="Calibri"/>
                <a:sym typeface="Calibri"/>
              </a:rPr>
              <a:t>lead generation (inbound) </a:t>
            </a:r>
            <a:endParaRPr b="0" i="1" sz="1900">
              <a:solidFill>
                <a:schemeClr val="accent5"/>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pic>
        <p:nvPicPr>
          <p:cNvPr id="650" name="Google Shape;650;p85"/>
          <p:cNvPicPr preferRelativeResize="0"/>
          <p:nvPr/>
        </p:nvPicPr>
        <p:blipFill rotWithShape="1">
          <a:blip r:embed="rId3">
            <a:alphaModFix/>
          </a:blip>
          <a:srcRect b="0" l="0" r="0" t="0"/>
          <a:stretch/>
        </p:blipFill>
        <p:spPr>
          <a:xfrm>
            <a:off x="983800" y="1877525"/>
            <a:ext cx="5434825" cy="3070174"/>
          </a:xfrm>
          <a:prstGeom prst="rect">
            <a:avLst/>
          </a:prstGeom>
          <a:noFill/>
          <a:ln>
            <a:noFill/>
          </a:ln>
        </p:spPr>
      </p:pic>
      <p:sp>
        <p:nvSpPr>
          <p:cNvPr id="651" name="Google Shape;651;p85"/>
          <p:cNvSpPr txBox="1"/>
          <p:nvPr>
            <p:ph type="title"/>
          </p:nvPr>
        </p:nvSpPr>
        <p:spPr>
          <a:xfrm>
            <a:off x="725875" y="708025"/>
            <a:ext cx="11060400" cy="75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SEO/Local SEO</a:t>
            </a:r>
            <a:r>
              <a:rPr b="0" i="1" lang="en-US" sz="3800">
                <a:solidFill>
                  <a:srgbClr val="073763"/>
                </a:solidFill>
                <a:latin typeface="Calibri"/>
                <a:ea typeface="Calibri"/>
                <a:cs typeface="Calibri"/>
                <a:sym typeface="Calibri"/>
              </a:rPr>
              <a:t> </a:t>
            </a:r>
            <a:r>
              <a:rPr b="0" i="1" lang="en-US" sz="3800">
                <a:solidFill>
                  <a:schemeClr val="accent4"/>
                </a:solidFill>
                <a:latin typeface="Calibri"/>
                <a:ea typeface="Calibri"/>
                <a:cs typeface="Calibri"/>
                <a:sym typeface="Calibri"/>
              </a:rPr>
              <a:t>Assets</a:t>
            </a:r>
            <a:endParaRPr b="0" i="1" sz="3800">
              <a:solidFill>
                <a:schemeClr val="accent4"/>
              </a:solidFill>
              <a:latin typeface="Calibri"/>
              <a:ea typeface="Calibri"/>
              <a:cs typeface="Calibri"/>
              <a:sym typeface="Calibri"/>
            </a:endParaRPr>
          </a:p>
        </p:txBody>
      </p:sp>
      <p:sp>
        <p:nvSpPr>
          <p:cNvPr id="652" name="Google Shape;652;p85"/>
          <p:cNvSpPr txBox="1"/>
          <p:nvPr>
            <p:ph idx="1" type="body"/>
          </p:nvPr>
        </p:nvSpPr>
        <p:spPr>
          <a:xfrm>
            <a:off x="1451800" y="2208775"/>
            <a:ext cx="5769300" cy="2211900"/>
          </a:xfrm>
          <a:prstGeom prst="rect">
            <a:avLst/>
          </a:prstGeom>
          <a:noFill/>
          <a:ln>
            <a:noFill/>
          </a:ln>
        </p:spPr>
        <p:txBody>
          <a:bodyPr anchorCtr="0" anchor="t" bIns="45700" lIns="91425" spcFirstLastPara="1" rIns="91425" wrap="square" tIns="45700">
            <a:noAutofit/>
          </a:bodyPr>
          <a:lstStyle/>
          <a:p>
            <a:pPr indent="-238125" lvl="0" marL="228600" rtl="0" algn="l">
              <a:lnSpc>
                <a:spcPct val="100000"/>
              </a:lnSpc>
              <a:spcBef>
                <a:spcPts val="600"/>
              </a:spcBef>
              <a:spcAft>
                <a:spcPts val="0"/>
              </a:spcAft>
              <a:buClr>
                <a:schemeClr val="accent2"/>
              </a:buClr>
              <a:buSzPts val="1950"/>
              <a:buFont typeface="Noto Sans Symbols"/>
              <a:buChar char="➔"/>
            </a:pPr>
            <a:r>
              <a:rPr b="1" lang="en-US" sz="1950"/>
              <a:t>Bonus SEO/Local SEO Assets:</a:t>
            </a:r>
            <a:endParaRPr b="1" sz="1950"/>
          </a:p>
          <a:p>
            <a:pPr indent="-219075" lvl="1" marL="685800" rtl="0" algn="l">
              <a:lnSpc>
                <a:spcPct val="100000"/>
              </a:lnSpc>
              <a:spcBef>
                <a:spcPts val="600"/>
              </a:spcBef>
              <a:spcAft>
                <a:spcPts val="0"/>
              </a:spcAft>
              <a:buClr>
                <a:schemeClr val="accent2"/>
              </a:buClr>
              <a:buSzPts val="1650"/>
              <a:buFont typeface="Noto Sans Symbols"/>
              <a:buChar char="◆"/>
            </a:pPr>
            <a:r>
              <a:rPr lang="en-US" sz="1650"/>
              <a:t>Website Keyword Strategy</a:t>
            </a:r>
            <a:endParaRPr sz="1650"/>
          </a:p>
          <a:p>
            <a:pPr indent="0" lvl="0" marL="0" rtl="0" algn="l">
              <a:lnSpc>
                <a:spcPct val="100000"/>
              </a:lnSpc>
              <a:spcBef>
                <a:spcPts val="600"/>
              </a:spcBef>
              <a:spcAft>
                <a:spcPts val="0"/>
              </a:spcAft>
              <a:buNone/>
            </a:pPr>
            <a:r>
              <a:t/>
            </a:r>
            <a:endParaRPr sz="1650"/>
          </a:p>
          <a:p>
            <a:pPr indent="0" lvl="0" marL="0" rtl="0" algn="l">
              <a:lnSpc>
                <a:spcPct val="100000"/>
              </a:lnSpc>
              <a:spcBef>
                <a:spcPts val="600"/>
              </a:spcBef>
              <a:spcAft>
                <a:spcPts val="0"/>
              </a:spcAft>
              <a:buNone/>
            </a:pPr>
            <a:r>
              <a:t/>
            </a:r>
            <a:endParaRPr sz="1650"/>
          </a:p>
          <a:p>
            <a:pPr indent="0" lvl="0" marL="0" rtl="0" algn="l">
              <a:lnSpc>
                <a:spcPct val="100000"/>
              </a:lnSpc>
              <a:spcBef>
                <a:spcPts val="600"/>
              </a:spcBef>
              <a:spcAft>
                <a:spcPts val="600"/>
              </a:spcAft>
              <a:buNone/>
            </a:pPr>
            <a:r>
              <a:t/>
            </a:r>
            <a:endParaRPr sz="175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86"/>
          <p:cNvSpPr txBox="1"/>
          <p:nvPr>
            <p:ph type="title"/>
          </p:nvPr>
        </p:nvSpPr>
        <p:spPr>
          <a:xfrm>
            <a:off x="8625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chemeClr val="accent5"/>
                </a:solidFill>
              </a:rPr>
              <a:t>Content </a:t>
            </a:r>
            <a:r>
              <a:rPr lang="en-US">
                <a:solidFill>
                  <a:schemeClr val="accent5"/>
                </a:solidFill>
              </a:rPr>
              <a:t>Marketing </a:t>
            </a:r>
            <a:endParaRPr>
              <a:solidFill>
                <a:schemeClr val="accent5"/>
              </a:solidFill>
            </a:endParaRPr>
          </a:p>
        </p:txBody>
      </p:sp>
      <p:sp>
        <p:nvSpPr>
          <p:cNvPr id="658" name="Google Shape;658;p86"/>
          <p:cNvSpPr txBox="1"/>
          <p:nvPr>
            <p:ph idx="1" type="body"/>
          </p:nvPr>
        </p:nvSpPr>
        <p:spPr>
          <a:xfrm>
            <a:off x="862575" y="1664975"/>
            <a:ext cx="6730800" cy="4768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None/>
            </a:pPr>
            <a:r>
              <a:rPr b="1" lang="en-US" sz="2000">
                <a:solidFill>
                  <a:schemeClr val="accent2"/>
                </a:solidFill>
              </a:rPr>
              <a:t>Produce Continual Resources</a:t>
            </a:r>
            <a:endParaRPr b="1" sz="1650"/>
          </a:p>
          <a:p>
            <a:pPr indent="-225425" lvl="1" marL="457200" marR="0" rtl="0" algn="l">
              <a:lnSpc>
                <a:spcPct val="100000"/>
              </a:lnSpc>
              <a:spcBef>
                <a:spcPts val="1000"/>
              </a:spcBef>
              <a:spcAft>
                <a:spcPts val="0"/>
              </a:spcAft>
              <a:buClr>
                <a:schemeClr val="accent2"/>
              </a:buClr>
              <a:buSzPts val="1750"/>
              <a:buFont typeface="Noto Sans Symbols"/>
              <a:buChar char="✔"/>
            </a:pPr>
            <a:r>
              <a:rPr b="1" lang="en-US" sz="1750"/>
              <a:t>As you hear problems</a:t>
            </a:r>
            <a:r>
              <a:rPr b="1" lang="en-US" sz="1750"/>
              <a:t>: </a:t>
            </a:r>
            <a:r>
              <a:rPr lang="en-US" sz="1750"/>
              <a:t>Sales calls and work with clients are </a:t>
            </a:r>
            <a:r>
              <a:rPr lang="en-US" sz="1750"/>
              <a:t>excellent</a:t>
            </a:r>
            <a:r>
              <a:rPr lang="en-US" sz="1750"/>
              <a:t> places to learn about more problems they have that PUL may have a service to solve the problem. Also, sometimes hearing the problem you know you solve expressed a different way can lead to a different angle to promote your services</a:t>
            </a:r>
            <a:endParaRPr sz="1750"/>
          </a:p>
          <a:p>
            <a:pPr indent="-225425" lvl="1" marL="457200" marR="0" rtl="0" algn="l">
              <a:lnSpc>
                <a:spcPct val="100000"/>
              </a:lnSpc>
              <a:spcBef>
                <a:spcPts val="1000"/>
              </a:spcBef>
              <a:spcAft>
                <a:spcPts val="0"/>
              </a:spcAft>
              <a:buClr>
                <a:schemeClr val="accent2"/>
              </a:buClr>
              <a:buSzPts val="1750"/>
              <a:buFont typeface="Noto Sans Symbols"/>
              <a:buChar char="✔"/>
            </a:pPr>
            <a:r>
              <a:rPr b="1" lang="en-US" sz="1750"/>
              <a:t>Idea #1:</a:t>
            </a:r>
            <a:r>
              <a:rPr b="1" lang="en-US" sz="1750"/>
              <a:t> </a:t>
            </a:r>
            <a:r>
              <a:rPr lang="en-US" sz="1750"/>
              <a:t>A dedicated webinar/ebook on How Hands On Private Equity Firms Can Use Talent Road Maps to Exit Faster</a:t>
            </a:r>
            <a:endParaRPr sz="1750"/>
          </a:p>
          <a:p>
            <a:pPr indent="-225425" lvl="2" marL="1143000" marR="0" rtl="0" algn="l">
              <a:lnSpc>
                <a:spcPct val="100000"/>
              </a:lnSpc>
              <a:spcBef>
                <a:spcPts val="1000"/>
              </a:spcBef>
              <a:spcAft>
                <a:spcPts val="0"/>
              </a:spcAft>
              <a:buClr>
                <a:schemeClr val="accent2"/>
              </a:buClr>
              <a:buSzPts val="1750"/>
              <a:buFont typeface="Noto Sans Symbols"/>
              <a:buChar char="•"/>
            </a:pPr>
            <a:r>
              <a:rPr lang="en-US" sz="1750"/>
              <a:t>This hits to the ultimate goal of PE firms, a successful exit means profit. Ebook can be the basis of the webinar or vice versa. Once you have the content, repackage it.</a:t>
            </a:r>
            <a:endParaRPr sz="1750"/>
          </a:p>
          <a:p>
            <a:pPr indent="-225425" lvl="1" marL="457200" marR="0" rtl="0" algn="l">
              <a:lnSpc>
                <a:spcPct val="100000"/>
              </a:lnSpc>
              <a:spcBef>
                <a:spcPts val="1000"/>
              </a:spcBef>
              <a:spcAft>
                <a:spcPts val="0"/>
              </a:spcAft>
              <a:buClr>
                <a:schemeClr val="accent2"/>
              </a:buClr>
              <a:buSzPts val="1750"/>
              <a:buFont typeface="Noto Sans Symbols"/>
              <a:buChar char="✔"/>
            </a:pPr>
            <a:r>
              <a:rPr b="1" lang="en-US" sz="1750"/>
              <a:t>Idea #2: </a:t>
            </a:r>
            <a:r>
              <a:rPr lang="en-US" sz="1750"/>
              <a:t>A dedicated webinar/ebook for fast growing private companies on the importance of ensuring your talent can grow as fast as your company can.</a:t>
            </a:r>
            <a:endParaRPr sz="1750"/>
          </a:p>
          <a:p>
            <a:pPr indent="0" lvl="0" marL="1143000" marR="0" rtl="0" algn="l">
              <a:lnSpc>
                <a:spcPct val="100000"/>
              </a:lnSpc>
              <a:spcBef>
                <a:spcPts val="1000"/>
              </a:spcBef>
              <a:spcAft>
                <a:spcPts val="0"/>
              </a:spcAft>
              <a:buNone/>
            </a:pPr>
            <a:r>
              <a:t/>
            </a:r>
            <a:endParaRPr sz="1650"/>
          </a:p>
          <a:p>
            <a:pPr indent="0" lvl="0" marL="1143000" marR="0" rtl="0" algn="l">
              <a:lnSpc>
                <a:spcPct val="100000"/>
              </a:lnSpc>
              <a:spcBef>
                <a:spcPts val="1000"/>
              </a:spcBef>
              <a:spcAft>
                <a:spcPts val="0"/>
              </a:spcAft>
              <a:buNone/>
            </a:pPr>
            <a:r>
              <a:t/>
            </a:r>
            <a:endParaRPr sz="1650"/>
          </a:p>
        </p:txBody>
      </p:sp>
      <p:pic>
        <p:nvPicPr>
          <p:cNvPr id="659" name="Google Shape;659;p86"/>
          <p:cNvPicPr preferRelativeResize="0"/>
          <p:nvPr/>
        </p:nvPicPr>
        <p:blipFill rotWithShape="1">
          <a:blip r:embed="rId3">
            <a:alphaModFix/>
          </a:blip>
          <a:srcRect b="0" l="0" r="0" t="0"/>
          <a:stretch/>
        </p:blipFill>
        <p:spPr>
          <a:xfrm>
            <a:off x="7990825" y="1611500"/>
            <a:ext cx="3566725" cy="3987425"/>
          </a:xfrm>
          <a:prstGeom prst="rect">
            <a:avLst/>
          </a:prstGeom>
          <a:noFill/>
          <a:ln>
            <a:noFill/>
          </a:ln>
        </p:spPr>
      </p:pic>
      <p:sp>
        <p:nvSpPr>
          <p:cNvPr id="660" name="Google Shape;660;p86"/>
          <p:cNvSpPr txBox="1"/>
          <p:nvPr/>
        </p:nvSpPr>
        <p:spPr>
          <a:xfrm>
            <a:off x="8282300" y="1816950"/>
            <a:ext cx="2983800" cy="30234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Insights:</a:t>
            </a:r>
            <a:endParaRPr sz="1600">
              <a:solidFill>
                <a:srgbClr val="434343"/>
              </a:solidFill>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Aim for 1 new resource per quarter</a:t>
            </a:r>
            <a:r>
              <a:rPr lang="en-US" sz="1600">
                <a:solidFill>
                  <a:srgbClr val="434343"/>
                </a:solidFill>
                <a:latin typeface="Calibri"/>
                <a:ea typeface="Calibri"/>
                <a:cs typeface="Calibri"/>
                <a:sym typeface="Calibri"/>
              </a:rPr>
              <a:t>. </a:t>
            </a:r>
            <a:endParaRPr sz="1600">
              <a:solidFill>
                <a:srgbClr val="434343"/>
              </a:solidFill>
              <a:latin typeface="Calibri"/>
              <a:ea typeface="Calibri"/>
              <a:cs typeface="Calibri"/>
              <a:sym typeface="Calibri"/>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Begin promoting the new </a:t>
            </a:r>
            <a:r>
              <a:rPr lang="en-US" sz="1600">
                <a:solidFill>
                  <a:srgbClr val="434343"/>
                </a:solidFill>
                <a:latin typeface="Calibri"/>
                <a:ea typeface="Calibri"/>
                <a:cs typeface="Calibri"/>
                <a:sym typeface="Calibri"/>
              </a:rPr>
              <a:t>resource</a:t>
            </a:r>
            <a:r>
              <a:rPr lang="en-US" sz="1600">
                <a:solidFill>
                  <a:srgbClr val="434343"/>
                </a:solidFill>
                <a:latin typeface="Calibri"/>
                <a:ea typeface="Calibri"/>
                <a:cs typeface="Calibri"/>
                <a:sym typeface="Calibri"/>
              </a:rPr>
              <a:t> to your mailing list, on social and to existing clients</a:t>
            </a:r>
            <a:endParaRPr sz="16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87"/>
          <p:cNvSpPr txBox="1"/>
          <p:nvPr>
            <p:ph type="title"/>
          </p:nvPr>
        </p:nvSpPr>
        <p:spPr>
          <a:xfrm>
            <a:off x="8625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chemeClr val="accent5"/>
                </a:solidFill>
              </a:rPr>
              <a:t>Ongoing Content &amp; Social Media</a:t>
            </a:r>
            <a:endParaRPr>
              <a:solidFill>
                <a:schemeClr val="accent5"/>
              </a:solidFill>
            </a:endParaRPr>
          </a:p>
        </p:txBody>
      </p:sp>
      <p:sp>
        <p:nvSpPr>
          <p:cNvPr id="666" name="Google Shape;666;p87"/>
          <p:cNvSpPr txBox="1"/>
          <p:nvPr>
            <p:ph idx="1" type="body"/>
          </p:nvPr>
        </p:nvSpPr>
        <p:spPr>
          <a:xfrm>
            <a:off x="862575" y="1664975"/>
            <a:ext cx="6730800" cy="4768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None/>
            </a:pPr>
            <a:r>
              <a:rPr b="1" lang="en-US" sz="2000">
                <a:solidFill>
                  <a:schemeClr val="accent2"/>
                </a:solidFill>
              </a:rPr>
              <a:t>Continually Share Content &amp; </a:t>
            </a:r>
            <a:r>
              <a:rPr b="1" lang="en-US" sz="2000">
                <a:solidFill>
                  <a:schemeClr val="accent2"/>
                </a:solidFill>
              </a:rPr>
              <a:t>Resources</a:t>
            </a:r>
            <a:endParaRPr b="1" sz="1650"/>
          </a:p>
          <a:p>
            <a:pPr indent="-225425" lvl="1" marL="457200" marR="0" rtl="0" algn="l">
              <a:lnSpc>
                <a:spcPct val="100000"/>
              </a:lnSpc>
              <a:spcBef>
                <a:spcPts val="1000"/>
              </a:spcBef>
              <a:spcAft>
                <a:spcPts val="0"/>
              </a:spcAft>
              <a:buClr>
                <a:schemeClr val="accent2"/>
              </a:buClr>
              <a:buSzPts val="1750"/>
              <a:buFont typeface="Noto Sans Symbols"/>
              <a:buChar char="✔"/>
            </a:pPr>
            <a:r>
              <a:rPr lang="en-US" sz="1750"/>
              <a:t>Create a content marketing calendar outlining the content you will create and share on an ongoing basis</a:t>
            </a:r>
            <a:endParaRPr sz="1750"/>
          </a:p>
          <a:p>
            <a:pPr indent="-225425" lvl="1" marL="457200" rtl="0" algn="l">
              <a:lnSpc>
                <a:spcPct val="100000"/>
              </a:lnSpc>
              <a:spcBef>
                <a:spcPts val="1000"/>
              </a:spcBef>
              <a:spcAft>
                <a:spcPts val="0"/>
              </a:spcAft>
              <a:buClr>
                <a:schemeClr val="accent2"/>
              </a:buClr>
              <a:buSzPts val="1750"/>
              <a:buFont typeface="Noto Sans Symbols"/>
              <a:buChar char="✔"/>
            </a:pPr>
            <a:r>
              <a:rPr lang="en-US" sz="1750"/>
              <a:t>Identify blog topics that align with key problem areas for Private Equity and Private Company clients</a:t>
            </a:r>
            <a:endParaRPr sz="1750"/>
          </a:p>
          <a:p>
            <a:pPr indent="-225425" lvl="2" marL="1143000" rtl="0" algn="l">
              <a:lnSpc>
                <a:spcPct val="100000"/>
              </a:lnSpc>
              <a:spcBef>
                <a:spcPts val="1000"/>
              </a:spcBef>
              <a:spcAft>
                <a:spcPts val="0"/>
              </a:spcAft>
              <a:buSzPts val="1750"/>
              <a:buChar char="•"/>
            </a:pPr>
            <a:r>
              <a:rPr lang="en-US" sz="1750"/>
              <a:t>Write blog posts</a:t>
            </a:r>
            <a:endParaRPr sz="1750"/>
          </a:p>
          <a:p>
            <a:pPr indent="-225425" lvl="2" marL="1143000" rtl="0" algn="l">
              <a:lnSpc>
                <a:spcPct val="100000"/>
              </a:lnSpc>
              <a:spcBef>
                <a:spcPts val="1000"/>
              </a:spcBef>
              <a:spcAft>
                <a:spcPts val="0"/>
              </a:spcAft>
              <a:buSzPts val="1750"/>
              <a:buChar char="•"/>
            </a:pPr>
            <a:r>
              <a:rPr lang="en-US" sz="1750"/>
              <a:t>Optimize blog posts</a:t>
            </a:r>
            <a:endParaRPr sz="1750"/>
          </a:p>
          <a:p>
            <a:pPr indent="-225425" lvl="2" marL="1143000" rtl="0" algn="l">
              <a:lnSpc>
                <a:spcPct val="100000"/>
              </a:lnSpc>
              <a:spcBef>
                <a:spcPts val="1000"/>
              </a:spcBef>
              <a:spcAft>
                <a:spcPts val="0"/>
              </a:spcAft>
              <a:buSzPts val="1750"/>
              <a:buChar char="•"/>
            </a:pPr>
            <a:r>
              <a:rPr lang="en-US" sz="1750"/>
              <a:t>Share blog posts on social media and in your ongoing newsletter</a:t>
            </a:r>
            <a:endParaRPr sz="1750"/>
          </a:p>
          <a:p>
            <a:pPr indent="-225425" lvl="1" marL="457200" marR="0" rtl="0" algn="l">
              <a:lnSpc>
                <a:spcPct val="100000"/>
              </a:lnSpc>
              <a:spcBef>
                <a:spcPts val="1000"/>
              </a:spcBef>
              <a:spcAft>
                <a:spcPts val="0"/>
              </a:spcAft>
              <a:buClr>
                <a:schemeClr val="accent2"/>
              </a:buClr>
              <a:buSzPts val="1750"/>
              <a:buFont typeface="Noto Sans Symbols"/>
              <a:buChar char="✔"/>
            </a:pPr>
            <a:r>
              <a:rPr lang="en-US" sz="1750"/>
              <a:t>Share and repurpose content via all active social pages</a:t>
            </a:r>
            <a:endParaRPr sz="1750"/>
          </a:p>
          <a:p>
            <a:pPr indent="-225425" lvl="2" marL="1143000" marR="0" rtl="0" algn="l">
              <a:lnSpc>
                <a:spcPct val="100000"/>
              </a:lnSpc>
              <a:spcBef>
                <a:spcPts val="1000"/>
              </a:spcBef>
              <a:spcAft>
                <a:spcPts val="0"/>
              </a:spcAft>
              <a:buSzPts val="1750"/>
              <a:buChar char="•"/>
            </a:pPr>
            <a:r>
              <a:rPr lang="en-US" sz="1750"/>
              <a:t>Choose one or two socials to focus on for organic content or advertising </a:t>
            </a:r>
            <a:endParaRPr sz="1750"/>
          </a:p>
          <a:p>
            <a:pPr indent="0" lvl="0" marL="0" marR="0" rtl="0" algn="l">
              <a:lnSpc>
                <a:spcPct val="100000"/>
              </a:lnSpc>
              <a:spcBef>
                <a:spcPts val="1000"/>
              </a:spcBef>
              <a:spcAft>
                <a:spcPts val="0"/>
              </a:spcAft>
              <a:buNone/>
            </a:pPr>
            <a:r>
              <a:t/>
            </a:r>
            <a:endParaRPr sz="1750"/>
          </a:p>
          <a:p>
            <a:pPr indent="0" lvl="0" marL="685800" marR="0" rtl="0" algn="l">
              <a:lnSpc>
                <a:spcPct val="100000"/>
              </a:lnSpc>
              <a:spcBef>
                <a:spcPts val="1000"/>
              </a:spcBef>
              <a:spcAft>
                <a:spcPts val="0"/>
              </a:spcAft>
              <a:buNone/>
            </a:pPr>
            <a:r>
              <a:t/>
            </a:r>
            <a:endParaRPr sz="1750"/>
          </a:p>
          <a:p>
            <a:pPr indent="0" lvl="0" marL="1143000" marR="0" rtl="0" algn="l">
              <a:lnSpc>
                <a:spcPct val="100000"/>
              </a:lnSpc>
              <a:spcBef>
                <a:spcPts val="1000"/>
              </a:spcBef>
              <a:spcAft>
                <a:spcPts val="0"/>
              </a:spcAft>
              <a:buNone/>
            </a:pPr>
            <a:r>
              <a:t/>
            </a:r>
            <a:endParaRPr sz="1650"/>
          </a:p>
          <a:p>
            <a:pPr indent="0" lvl="0" marL="1143000" marR="0" rtl="0" algn="l">
              <a:lnSpc>
                <a:spcPct val="100000"/>
              </a:lnSpc>
              <a:spcBef>
                <a:spcPts val="1000"/>
              </a:spcBef>
              <a:spcAft>
                <a:spcPts val="0"/>
              </a:spcAft>
              <a:buNone/>
            </a:pPr>
            <a:r>
              <a:t/>
            </a:r>
            <a:endParaRPr sz="1650"/>
          </a:p>
        </p:txBody>
      </p:sp>
      <p:pic>
        <p:nvPicPr>
          <p:cNvPr id="667" name="Google Shape;667;p87"/>
          <p:cNvPicPr preferRelativeResize="0"/>
          <p:nvPr/>
        </p:nvPicPr>
        <p:blipFill rotWithShape="1">
          <a:blip r:embed="rId3">
            <a:alphaModFix/>
          </a:blip>
          <a:srcRect b="0" l="0" r="0" t="0"/>
          <a:stretch/>
        </p:blipFill>
        <p:spPr>
          <a:xfrm>
            <a:off x="7990825" y="1611500"/>
            <a:ext cx="3566725" cy="3987425"/>
          </a:xfrm>
          <a:prstGeom prst="rect">
            <a:avLst/>
          </a:prstGeom>
          <a:noFill/>
          <a:ln>
            <a:noFill/>
          </a:ln>
        </p:spPr>
      </p:pic>
      <p:sp>
        <p:nvSpPr>
          <p:cNvPr id="668" name="Google Shape;668;p87"/>
          <p:cNvSpPr txBox="1"/>
          <p:nvPr/>
        </p:nvSpPr>
        <p:spPr>
          <a:xfrm>
            <a:off x="8282300" y="1816950"/>
            <a:ext cx="2983800" cy="18909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Insights:</a:t>
            </a:r>
            <a:endParaRPr sz="1600">
              <a:solidFill>
                <a:srgbClr val="434343"/>
              </a:solidFill>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Content becomes the hub of your marketing strategy </a:t>
            </a:r>
            <a:endParaRPr sz="16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pic>
        <p:nvPicPr>
          <p:cNvPr id="673" name="Google Shape;673;p88"/>
          <p:cNvPicPr preferRelativeResize="0"/>
          <p:nvPr/>
        </p:nvPicPr>
        <p:blipFill rotWithShape="1">
          <a:blip r:embed="rId3">
            <a:alphaModFix/>
          </a:blip>
          <a:srcRect b="0" l="0" r="0" t="0"/>
          <a:stretch/>
        </p:blipFill>
        <p:spPr>
          <a:xfrm>
            <a:off x="983800" y="1877525"/>
            <a:ext cx="5434825" cy="3070174"/>
          </a:xfrm>
          <a:prstGeom prst="rect">
            <a:avLst/>
          </a:prstGeom>
          <a:noFill/>
          <a:ln>
            <a:noFill/>
          </a:ln>
        </p:spPr>
      </p:pic>
      <p:sp>
        <p:nvSpPr>
          <p:cNvPr id="674" name="Google Shape;674;p88"/>
          <p:cNvSpPr txBox="1"/>
          <p:nvPr>
            <p:ph type="title"/>
          </p:nvPr>
        </p:nvSpPr>
        <p:spPr>
          <a:xfrm>
            <a:off x="725875" y="708025"/>
            <a:ext cx="11060400" cy="75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Content Marketing</a:t>
            </a:r>
            <a:r>
              <a:rPr b="0" i="1" lang="en-US" sz="3800">
                <a:solidFill>
                  <a:srgbClr val="073763"/>
                </a:solidFill>
                <a:latin typeface="Calibri"/>
                <a:ea typeface="Calibri"/>
                <a:cs typeface="Calibri"/>
                <a:sym typeface="Calibri"/>
              </a:rPr>
              <a:t> </a:t>
            </a:r>
            <a:r>
              <a:rPr b="0" i="1" lang="en-US" sz="3800">
                <a:solidFill>
                  <a:schemeClr val="accent4"/>
                </a:solidFill>
                <a:latin typeface="Calibri"/>
                <a:ea typeface="Calibri"/>
                <a:cs typeface="Calibri"/>
                <a:sym typeface="Calibri"/>
              </a:rPr>
              <a:t>Assets</a:t>
            </a:r>
            <a:endParaRPr b="0" i="1" sz="3800">
              <a:solidFill>
                <a:schemeClr val="accent4"/>
              </a:solidFill>
              <a:latin typeface="Calibri"/>
              <a:ea typeface="Calibri"/>
              <a:cs typeface="Calibri"/>
              <a:sym typeface="Calibri"/>
            </a:endParaRPr>
          </a:p>
        </p:txBody>
      </p:sp>
      <p:sp>
        <p:nvSpPr>
          <p:cNvPr id="675" name="Google Shape;675;p88"/>
          <p:cNvSpPr txBox="1"/>
          <p:nvPr>
            <p:ph idx="1" type="body"/>
          </p:nvPr>
        </p:nvSpPr>
        <p:spPr>
          <a:xfrm>
            <a:off x="1451800" y="2208775"/>
            <a:ext cx="5769300" cy="2211900"/>
          </a:xfrm>
          <a:prstGeom prst="rect">
            <a:avLst/>
          </a:prstGeom>
          <a:noFill/>
          <a:ln>
            <a:noFill/>
          </a:ln>
        </p:spPr>
        <p:txBody>
          <a:bodyPr anchorCtr="0" anchor="t" bIns="45700" lIns="91425" spcFirstLastPara="1" rIns="91425" wrap="square" tIns="45700">
            <a:noAutofit/>
          </a:bodyPr>
          <a:lstStyle/>
          <a:p>
            <a:pPr indent="-238125" lvl="0" marL="228600" rtl="0" algn="l">
              <a:lnSpc>
                <a:spcPct val="100000"/>
              </a:lnSpc>
              <a:spcBef>
                <a:spcPts val="600"/>
              </a:spcBef>
              <a:spcAft>
                <a:spcPts val="0"/>
              </a:spcAft>
              <a:buClr>
                <a:schemeClr val="accent2"/>
              </a:buClr>
              <a:buSzPts val="1950"/>
              <a:buFont typeface="Noto Sans Symbols"/>
              <a:buChar char="➔"/>
            </a:pPr>
            <a:r>
              <a:rPr b="1" lang="en-US" sz="1950"/>
              <a:t>Bonus Content Marketing Assets:</a:t>
            </a:r>
            <a:endParaRPr b="1" sz="1950"/>
          </a:p>
          <a:p>
            <a:pPr indent="-219075" lvl="1" marL="685800" rtl="0" algn="l">
              <a:lnSpc>
                <a:spcPct val="100000"/>
              </a:lnSpc>
              <a:spcBef>
                <a:spcPts val="600"/>
              </a:spcBef>
              <a:spcAft>
                <a:spcPts val="0"/>
              </a:spcAft>
              <a:buClr>
                <a:schemeClr val="accent2"/>
              </a:buClr>
              <a:buSzPts val="1650"/>
              <a:buFont typeface="Noto Sans Symbols"/>
              <a:buChar char="◆"/>
            </a:pPr>
            <a:r>
              <a:rPr lang="en-US" sz="1650"/>
              <a:t>Content calendar</a:t>
            </a:r>
            <a:endParaRPr sz="1650"/>
          </a:p>
          <a:p>
            <a:pPr indent="-219075" lvl="1" marL="685800" rtl="0" algn="l">
              <a:lnSpc>
                <a:spcPct val="100000"/>
              </a:lnSpc>
              <a:spcBef>
                <a:spcPts val="600"/>
              </a:spcBef>
              <a:spcAft>
                <a:spcPts val="0"/>
              </a:spcAft>
              <a:buClr>
                <a:schemeClr val="accent2"/>
              </a:buClr>
              <a:buSzPts val="1650"/>
              <a:buFont typeface="Noto Sans Symbols"/>
              <a:buChar char="◆"/>
            </a:pPr>
            <a:r>
              <a:rPr lang="en-US" sz="1650"/>
              <a:t>24 Blog posts</a:t>
            </a:r>
            <a:endParaRPr sz="1650"/>
          </a:p>
          <a:p>
            <a:pPr indent="0" lvl="0" marL="0" rtl="0" algn="l">
              <a:lnSpc>
                <a:spcPct val="100000"/>
              </a:lnSpc>
              <a:spcBef>
                <a:spcPts val="600"/>
              </a:spcBef>
              <a:spcAft>
                <a:spcPts val="0"/>
              </a:spcAft>
              <a:buNone/>
            </a:pPr>
            <a:r>
              <a:t/>
            </a:r>
            <a:endParaRPr sz="1650"/>
          </a:p>
          <a:p>
            <a:pPr indent="0" lvl="0" marL="0" rtl="0" algn="l">
              <a:lnSpc>
                <a:spcPct val="100000"/>
              </a:lnSpc>
              <a:spcBef>
                <a:spcPts val="600"/>
              </a:spcBef>
              <a:spcAft>
                <a:spcPts val="600"/>
              </a:spcAft>
              <a:buNone/>
            </a:pPr>
            <a:r>
              <a:t/>
            </a:r>
            <a:endParaRPr sz="175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89"/>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solidFill>
                  <a:schemeClr val="accent5"/>
                </a:solidFill>
              </a:rPr>
              <a:t>Marketing Strategy </a:t>
            </a:r>
            <a:endParaRPr>
              <a:solidFill>
                <a:schemeClr val="accent5"/>
              </a:solidFill>
            </a:endParaRPr>
          </a:p>
          <a:p>
            <a:pPr indent="0" lvl="0" marL="0" rtl="0" algn="ctr">
              <a:lnSpc>
                <a:spcPct val="90000"/>
              </a:lnSpc>
              <a:spcBef>
                <a:spcPts val="0"/>
              </a:spcBef>
              <a:spcAft>
                <a:spcPts val="0"/>
              </a:spcAft>
              <a:buClr>
                <a:schemeClr val="accent2"/>
              </a:buClr>
              <a:buSzPts val="4400"/>
              <a:buFont typeface="Calibri"/>
              <a:buNone/>
            </a:pPr>
            <a:r>
              <a:rPr i="1" lang="en-US"/>
              <a:t>Lead Generation - Outbound</a:t>
            </a:r>
            <a:endParaRPr i="1"/>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90"/>
          <p:cNvSpPr txBox="1"/>
          <p:nvPr>
            <p:ph type="title"/>
          </p:nvPr>
        </p:nvSpPr>
        <p:spPr>
          <a:xfrm>
            <a:off x="842700" y="763900"/>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800">
                <a:solidFill>
                  <a:schemeClr val="accent5"/>
                </a:solidFill>
              </a:rPr>
              <a:t>Lead Generation (outbound) </a:t>
            </a:r>
            <a:r>
              <a:rPr b="0" i="1" lang="en-US" sz="3800">
                <a:solidFill>
                  <a:schemeClr val="accent5"/>
                </a:solidFill>
                <a:latin typeface="Calibri"/>
                <a:ea typeface="Calibri"/>
                <a:cs typeface="Calibri"/>
                <a:sym typeface="Calibri"/>
              </a:rPr>
              <a:t>Goals</a:t>
            </a:r>
            <a:endParaRPr b="0" i="1" sz="3800">
              <a:solidFill>
                <a:schemeClr val="accent5"/>
              </a:solidFill>
              <a:latin typeface="Calibri"/>
              <a:ea typeface="Calibri"/>
              <a:cs typeface="Calibri"/>
              <a:sym typeface="Calibri"/>
            </a:endParaRPr>
          </a:p>
        </p:txBody>
      </p:sp>
      <p:sp>
        <p:nvSpPr>
          <p:cNvPr id="686" name="Google Shape;686;p90"/>
          <p:cNvSpPr txBox="1"/>
          <p:nvPr>
            <p:ph idx="1" type="body"/>
          </p:nvPr>
        </p:nvSpPr>
        <p:spPr>
          <a:xfrm>
            <a:off x="842700" y="1612650"/>
            <a:ext cx="7117800" cy="4630200"/>
          </a:xfrm>
          <a:prstGeom prst="rect">
            <a:avLst/>
          </a:prstGeom>
          <a:noFill/>
          <a:ln>
            <a:noFill/>
          </a:ln>
        </p:spPr>
        <p:txBody>
          <a:bodyPr anchorCtr="0" anchor="t" bIns="45700" lIns="91425" spcFirstLastPara="1" rIns="91425" wrap="square" tIns="45700">
            <a:noAutofit/>
          </a:bodyPr>
          <a:lstStyle/>
          <a:p>
            <a:pPr indent="-260350" lvl="1" marL="685800" rtl="0" algn="l">
              <a:lnSpc>
                <a:spcPct val="115000"/>
              </a:lnSpc>
              <a:spcBef>
                <a:spcPts val="1000"/>
              </a:spcBef>
              <a:spcAft>
                <a:spcPts val="0"/>
              </a:spcAft>
              <a:buClr>
                <a:schemeClr val="accent2"/>
              </a:buClr>
              <a:buSzPts val="2300"/>
              <a:buChar char="✔"/>
            </a:pPr>
            <a:r>
              <a:rPr b="1" lang="en-US" sz="2000"/>
              <a:t>Challenge:</a:t>
            </a:r>
            <a:r>
              <a:rPr lang="en-US" sz="2000"/>
              <a:t> PowerUp needs to significantly increase awareness and leads in both Halifax and Toronto for the new PE and Private Company direction</a:t>
            </a:r>
            <a:endParaRPr sz="2000"/>
          </a:p>
          <a:p>
            <a:pPr indent="-241300" lvl="1" marL="685800" rtl="0" algn="l">
              <a:lnSpc>
                <a:spcPct val="130000"/>
              </a:lnSpc>
              <a:spcBef>
                <a:spcPts val="1000"/>
              </a:spcBef>
              <a:spcAft>
                <a:spcPts val="0"/>
              </a:spcAft>
              <a:buClr>
                <a:schemeClr val="accent2"/>
              </a:buClr>
              <a:buSzPts val="2000"/>
              <a:buChar char="✔"/>
            </a:pPr>
            <a:r>
              <a:rPr b="1" lang="en-US" sz="2000"/>
              <a:t>Goals:</a:t>
            </a:r>
            <a:r>
              <a:rPr lang="en-US" sz="2000"/>
              <a:t> Get more new marketing qualified leads into the email nurture sequence (so they will eventually convert to sales qualified leads)</a:t>
            </a:r>
            <a:endParaRPr sz="2000"/>
          </a:p>
          <a:p>
            <a:pPr indent="0" lvl="0" marL="0" rtl="0" algn="l">
              <a:lnSpc>
                <a:spcPct val="130000"/>
              </a:lnSpc>
              <a:spcBef>
                <a:spcPts val="1000"/>
              </a:spcBef>
              <a:spcAft>
                <a:spcPts val="0"/>
              </a:spcAft>
              <a:buNone/>
            </a:pPr>
            <a:r>
              <a:t/>
            </a:r>
            <a:endParaRPr sz="2000"/>
          </a:p>
          <a:p>
            <a:pPr indent="0" lvl="0" marL="0" rtl="0" algn="l">
              <a:lnSpc>
                <a:spcPct val="130000"/>
              </a:lnSpc>
              <a:spcBef>
                <a:spcPts val="1000"/>
              </a:spcBef>
              <a:spcAft>
                <a:spcPts val="0"/>
              </a:spcAft>
              <a:buNone/>
            </a:pPr>
            <a:r>
              <a:t/>
            </a:r>
            <a:endParaRPr sz="2000"/>
          </a:p>
          <a:p>
            <a:pPr indent="0" lvl="0" marL="0" rtl="0" algn="l">
              <a:lnSpc>
                <a:spcPct val="100000"/>
              </a:lnSpc>
              <a:spcBef>
                <a:spcPts val="1000"/>
              </a:spcBef>
              <a:spcAft>
                <a:spcPts val="0"/>
              </a:spcAft>
              <a:buNone/>
            </a:pPr>
            <a:r>
              <a:t/>
            </a:r>
            <a:endParaRPr sz="1850"/>
          </a:p>
          <a:p>
            <a:pPr indent="0" lvl="0" marL="0" marR="0" rtl="0" algn="l">
              <a:lnSpc>
                <a:spcPct val="100000"/>
              </a:lnSpc>
              <a:spcBef>
                <a:spcPts val="1000"/>
              </a:spcBef>
              <a:spcAft>
                <a:spcPts val="0"/>
              </a:spcAft>
              <a:buNone/>
            </a:pPr>
            <a:r>
              <a:t/>
            </a:r>
            <a:endParaRPr sz="1850"/>
          </a:p>
        </p:txBody>
      </p:sp>
      <p:pic>
        <p:nvPicPr>
          <p:cNvPr id="687" name="Google Shape;687;p90"/>
          <p:cNvPicPr preferRelativeResize="0"/>
          <p:nvPr/>
        </p:nvPicPr>
        <p:blipFill rotWithShape="1">
          <a:blip r:embed="rId3">
            <a:alphaModFix/>
          </a:blip>
          <a:srcRect b="0" l="0" r="0" t="0"/>
          <a:stretch/>
        </p:blipFill>
        <p:spPr>
          <a:xfrm>
            <a:off x="8232075" y="1612650"/>
            <a:ext cx="3271025" cy="3945999"/>
          </a:xfrm>
          <a:prstGeom prst="rect">
            <a:avLst/>
          </a:prstGeom>
          <a:noFill/>
          <a:ln>
            <a:noFill/>
          </a:ln>
        </p:spPr>
      </p:pic>
      <p:sp>
        <p:nvSpPr>
          <p:cNvPr id="688" name="Google Shape;688;p90"/>
          <p:cNvSpPr txBox="1"/>
          <p:nvPr/>
        </p:nvSpPr>
        <p:spPr>
          <a:xfrm>
            <a:off x="8472975" y="2002200"/>
            <a:ext cx="2814900" cy="24819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900">
                <a:solidFill>
                  <a:srgbClr val="434343"/>
                </a:solidFill>
                <a:latin typeface="Calibri"/>
                <a:ea typeface="Calibri"/>
                <a:cs typeface="Calibri"/>
                <a:sym typeface="Calibri"/>
              </a:rPr>
              <a:t>Action Steps:</a:t>
            </a:r>
            <a:endParaRPr sz="1800">
              <a:solidFill>
                <a:srgbClr val="434343"/>
              </a:solidFill>
            </a:endParaRPr>
          </a:p>
          <a:p>
            <a:pPr indent="-292100" lvl="0" marL="285750" marR="0" rtl="0" algn="l">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Association &amp; Event Marketing</a:t>
            </a:r>
            <a:endParaRPr sz="1500">
              <a:solidFill>
                <a:srgbClr val="434343"/>
              </a:solidFill>
              <a:latin typeface="Calibri"/>
              <a:ea typeface="Calibri"/>
              <a:cs typeface="Calibri"/>
              <a:sym typeface="Calibri"/>
            </a:endParaRPr>
          </a:p>
          <a:p>
            <a:pPr indent="-292100" lvl="0" marL="285750" marR="0" rtl="0" algn="l">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Account Based Marketing Campaigns</a:t>
            </a:r>
            <a:endParaRPr sz="1500">
              <a:solidFill>
                <a:srgbClr val="434343"/>
              </a:solidFill>
              <a:latin typeface="Calibri"/>
              <a:ea typeface="Calibri"/>
              <a:cs typeface="Calibri"/>
              <a:sym typeface="Calibri"/>
            </a:endParaRPr>
          </a:p>
          <a:p>
            <a:pPr indent="0" lvl="0" marL="457200" marR="0" rtl="0" algn="l">
              <a:lnSpc>
                <a:spcPct val="115000"/>
              </a:lnSpc>
              <a:spcBef>
                <a:spcPts val="0"/>
              </a:spcBef>
              <a:spcAft>
                <a:spcPts val="0"/>
              </a:spcAft>
              <a:buNone/>
            </a:pPr>
            <a:r>
              <a:t/>
            </a:r>
            <a:endParaRPr sz="1500">
              <a:solidFill>
                <a:srgbClr val="434343"/>
              </a:solidFill>
              <a:latin typeface="Calibri"/>
              <a:ea typeface="Calibri"/>
              <a:cs typeface="Calibri"/>
              <a:sym typeface="Calibri"/>
            </a:endParaRPr>
          </a:p>
          <a:p>
            <a:pPr indent="0" lvl="0" marL="457200" marR="0" rtl="0" algn="l">
              <a:lnSpc>
                <a:spcPct val="115000"/>
              </a:lnSpc>
              <a:spcBef>
                <a:spcPts val="0"/>
              </a:spcBef>
              <a:spcAft>
                <a:spcPts val="0"/>
              </a:spcAft>
              <a:buNone/>
            </a:pPr>
            <a:r>
              <a:t/>
            </a:r>
            <a:endParaRPr sz="15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
        <p:nvSpPr>
          <p:cNvPr id="689" name="Google Shape;689;p90"/>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lead generation (outbound) </a:t>
            </a:r>
            <a:endParaRPr b="0" i="1" sz="1900">
              <a:solidFill>
                <a:schemeClr val="accent5"/>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91"/>
          <p:cNvSpPr txBox="1"/>
          <p:nvPr>
            <p:ph type="title"/>
          </p:nvPr>
        </p:nvSpPr>
        <p:spPr>
          <a:xfrm>
            <a:off x="710875" y="2156550"/>
            <a:ext cx="10515600" cy="1325700"/>
          </a:xfrm>
          <a:prstGeom prst="rect">
            <a:avLst/>
          </a:prstGeom>
          <a:noFill/>
          <a:ln>
            <a:noFill/>
          </a:ln>
        </p:spPr>
        <p:txBody>
          <a:bodyPr anchorCtr="0" anchor="t" bIns="45700" lIns="91425" spcFirstLastPara="1" rIns="91425" wrap="square" tIns="45700">
            <a:normAutofit fontScale="90000"/>
          </a:bodyPr>
          <a:lstStyle/>
          <a:p>
            <a:pPr indent="0" lvl="0" marL="457200" rtl="0" algn="ctr">
              <a:lnSpc>
                <a:spcPct val="90000"/>
              </a:lnSpc>
              <a:spcBef>
                <a:spcPts val="0"/>
              </a:spcBef>
              <a:spcAft>
                <a:spcPts val="0"/>
              </a:spcAft>
              <a:buNone/>
            </a:pPr>
            <a:r>
              <a:rPr b="0" i="1" lang="en-US" sz="1956">
                <a:solidFill>
                  <a:srgbClr val="9E9E9E"/>
                </a:solidFill>
                <a:latin typeface="Calibri"/>
                <a:ea typeface="Calibri"/>
                <a:cs typeface="Calibri"/>
                <a:sym typeface="Calibri"/>
              </a:rPr>
              <a:t>lead generation (outbound)</a:t>
            </a:r>
            <a:endParaRPr b="0" i="1" sz="1956">
              <a:solidFill>
                <a:srgbClr val="9E9E9E"/>
              </a:solidFill>
              <a:latin typeface="Calibri"/>
              <a:ea typeface="Calibri"/>
              <a:cs typeface="Calibri"/>
              <a:sym typeface="Calibri"/>
            </a:endParaRPr>
          </a:p>
          <a:p>
            <a:pPr indent="0" lvl="0" marL="457200" rtl="0" algn="ctr">
              <a:lnSpc>
                <a:spcPct val="90000"/>
              </a:lnSpc>
              <a:spcBef>
                <a:spcPts val="0"/>
              </a:spcBef>
              <a:spcAft>
                <a:spcPts val="0"/>
              </a:spcAft>
              <a:buNone/>
            </a:pPr>
            <a:r>
              <a:t/>
            </a:r>
            <a:endParaRPr b="0" i="1" sz="2622">
              <a:latin typeface="Calibri"/>
              <a:ea typeface="Calibri"/>
              <a:cs typeface="Calibri"/>
              <a:sym typeface="Calibri"/>
            </a:endParaRPr>
          </a:p>
          <a:p>
            <a:pPr indent="0" lvl="0" marL="457200" rtl="0" algn="ctr">
              <a:lnSpc>
                <a:spcPct val="90000"/>
              </a:lnSpc>
              <a:spcBef>
                <a:spcPts val="0"/>
              </a:spcBef>
              <a:spcAft>
                <a:spcPts val="0"/>
              </a:spcAft>
              <a:buNone/>
            </a:pPr>
            <a:r>
              <a:rPr lang="en-US">
                <a:latin typeface="Calibri"/>
                <a:ea typeface="Calibri"/>
                <a:cs typeface="Calibri"/>
                <a:sym typeface="Calibri"/>
              </a:rPr>
              <a:t>Action Step 1: </a:t>
            </a:r>
            <a:endParaRPr>
              <a:latin typeface="Calibri"/>
              <a:ea typeface="Calibri"/>
              <a:cs typeface="Calibri"/>
              <a:sym typeface="Calibri"/>
            </a:endParaRPr>
          </a:p>
          <a:p>
            <a:pPr indent="0" lvl="0" marL="457200" rtl="0" algn="ctr">
              <a:lnSpc>
                <a:spcPct val="90000"/>
              </a:lnSpc>
              <a:spcBef>
                <a:spcPts val="0"/>
              </a:spcBef>
              <a:spcAft>
                <a:spcPts val="0"/>
              </a:spcAft>
              <a:buNone/>
            </a:pPr>
            <a:r>
              <a:rPr lang="en-US">
                <a:latin typeface="Calibri"/>
                <a:ea typeface="Calibri"/>
                <a:cs typeface="Calibri"/>
                <a:sym typeface="Calibri"/>
              </a:rPr>
              <a:t>Association &amp; Event Marketing</a:t>
            </a:r>
            <a:br>
              <a:rPr lang="en-US"/>
            </a:br>
            <a:endParaRPr/>
          </a:p>
          <a:p>
            <a:pPr indent="0" lvl="0" marL="0" rtl="0" algn="ctr">
              <a:lnSpc>
                <a:spcPct val="90000"/>
              </a:lnSpc>
              <a:spcBef>
                <a:spcPts val="0"/>
              </a:spcBef>
              <a:spcAft>
                <a:spcPts val="0"/>
              </a:spcAft>
              <a:buClr>
                <a:schemeClr val="accent2"/>
              </a:buClr>
              <a:buSzPct val="121472"/>
              <a:buFont typeface="Calibri"/>
              <a:buNone/>
            </a:pPr>
            <a:r>
              <a:t/>
            </a:r>
            <a:endParaRPr sz="3622">
              <a:solidFill>
                <a:schemeClr val="accent4"/>
              </a:solidFill>
            </a:endParaRPr>
          </a:p>
          <a:p>
            <a:pPr indent="0" lvl="0" marL="457200" rtl="0" algn="ctr">
              <a:lnSpc>
                <a:spcPct val="90000"/>
              </a:lnSpc>
              <a:spcBef>
                <a:spcPts val="0"/>
              </a:spcBef>
              <a:spcAft>
                <a:spcPts val="0"/>
              </a:spcAft>
              <a:buNone/>
            </a:pPr>
            <a:r>
              <a:t/>
            </a:r>
            <a:endParaRPr sz="3622">
              <a:solidFill>
                <a:schemeClr val="accent4"/>
              </a:solidFill>
            </a:endParaRPr>
          </a:p>
          <a:p>
            <a:pPr indent="0" lvl="0" marL="0" rtl="0" algn="ctr">
              <a:lnSpc>
                <a:spcPct val="90000"/>
              </a:lnSpc>
              <a:spcBef>
                <a:spcPts val="0"/>
              </a:spcBef>
              <a:spcAft>
                <a:spcPts val="0"/>
              </a:spcAft>
              <a:buClr>
                <a:schemeClr val="accent2"/>
              </a:buClr>
              <a:buSzPct val="100000"/>
              <a:buFont typeface="Calibri"/>
              <a:buNone/>
            </a:pPr>
            <a:r>
              <a:t/>
            </a:r>
            <a:endParaRPr/>
          </a:p>
          <a:p>
            <a:pPr indent="0" lvl="0" marL="457200" rtl="0" algn="l">
              <a:lnSpc>
                <a:spcPct val="90000"/>
              </a:lnSpc>
              <a:spcBef>
                <a:spcPts val="0"/>
              </a:spcBef>
              <a:spcAft>
                <a:spcPts val="0"/>
              </a:spcAft>
              <a:buNone/>
            </a:pPr>
            <a:r>
              <a:t/>
            </a:r>
            <a:endParaRPr/>
          </a:p>
        </p:txBody>
      </p:sp>
      <p:sp>
        <p:nvSpPr>
          <p:cNvPr id="695" name="Google Shape;695;p91"/>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lead generation (outbound) </a:t>
            </a:r>
            <a:endParaRPr b="0" i="1" sz="1900">
              <a:solidFill>
                <a:schemeClr val="accent5"/>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92"/>
          <p:cNvSpPr txBox="1"/>
          <p:nvPr>
            <p:ph type="title"/>
          </p:nvPr>
        </p:nvSpPr>
        <p:spPr>
          <a:xfrm>
            <a:off x="960775" y="784225"/>
            <a:ext cx="105969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800">
                <a:solidFill>
                  <a:schemeClr val="accent5"/>
                </a:solidFill>
              </a:rPr>
              <a:t>Associations/Events </a:t>
            </a:r>
            <a:r>
              <a:rPr b="0" i="1" lang="en-US" sz="3800">
                <a:solidFill>
                  <a:schemeClr val="accent5"/>
                </a:solidFill>
                <a:latin typeface="Calibri"/>
                <a:ea typeface="Calibri"/>
                <a:cs typeface="Calibri"/>
                <a:sym typeface="Calibri"/>
              </a:rPr>
              <a:t>Overview</a:t>
            </a:r>
            <a:endParaRPr b="0" i="1" sz="3800">
              <a:latin typeface="Calibri"/>
              <a:ea typeface="Calibri"/>
              <a:cs typeface="Calibri"/>
              <a:sym typeface="Calibri"/>
            </a:endParaRPr>
          </a:p>
        </p:txBody>
      </p:sp>
      <p:sp>
        <p:nvSpPr>
          <p:cNvPr id="701" name="Google Shape;701;p92"/>
          <p:cNvSpPr txBox="1"/>
          <p:nvPr>
            <p:ph idx="1" type="body"/>
          </p:nvPr>
        </p:nvSpPr>
        <p:spPr>
          <a:xfrm>
            <a:off x="548450" y="1727325"/>
            <a:ext cx="5717100" cy="4630200"/>
          </a:xfrm>
          <a:prstGeom prst="rect">
            <a:avLst/>
          </a:prstGeom>
          <a:noFill/>
          <a:ln>
            <a:noFill/>
          </a:ln>
        </p:spPr>
        <p:txBody>
          <a:bodyPr anchorCtr="0" anchor="t" bIns="45700" lIns="91425" spcFirstLastPara="1" rIns="91425" wrap="square" tIns="45700">
            <a:noAutofit/>
          </a:bodyPr>
          <a:lstStyle/>
          <a:p>
            <a:pPr indent="-339725" lvl="1" marL="800100" marR="0" rtl="0" algn="l">
              <a:lnSpc>
                <a:spcPct val="100000"/>
              </a:lnSpc>
              <a:spcBef>
                <a:spcPts val="1000"/>
              </a:spcBef>
              <a:spcAft>
                <a:spcPts val="0"/>
              </a:spcAft>
              <a:buClr>
                <a:schemeClr val="accent2"/>
              </a:buClr>
              <a:buSzPts val="1750"/>
              <a:buFont typeface="Noto Sans Symbols"/>
              <a:buChar char="✔"/>
            </a:pPr>
            <a:r>
              <a:rPr lang="en-US" sz="1750"/>
              <a:t>Industry associations and events are one of the fastest ways to build awareness &amp; generate leads with your ideal clients</a:t>
            </a:r>
            <a:endParaRPr sz="1750"/>
          </a:p>
          <a:p>
            <a:pPr indent="-339725" lvl="1" marL="800100" marR="0" rtl="0" algn="l">
              <a:lnSpc>
                <a:spcPct val="100000"/>
              </a:lnSpc>
              <a:spcBef>
                <a:spcPts val="1000"/>
              </a:spcBef>
              <a:spcAft>
                <a:spcPts val="0"/>
              </a:spcAft>
              <a:buClr>
                <a:schemeClr val="accent2"/>
              </a:buClr>
              <a:buSzPts val="1750"/>
              <a:buFont typeface="Noto Sans Symbols"/>
              <a:buChar char="✔"/>
            </a:pPr>
            <a:r>
              <a:rPr lang="en-US" sz="1750"/>
              <a:t>When you don’t have a large audience of your own, you can use associations and events </a:t>
            </a:r>
            <a:r>
              <a:rPr i="1" lang="en-US" sz="1750"/>
              <a:t>to access other people’s audiences (and your ideal clients)</a:t>
            </a:r>
            <a:endParaRPr i="1" sz="1750"/>
          </a:p>
          <a:p>
            <a:pPr indent="-339725" lvl="1" marL="800100" marR="0" rtl="0" algn="l">
              <a:lnSpc>
                <a:spcPct val="100000"/>
              </a:lnSpc>
              <a:spcBef>
                <a:spcPts val="1000"/>
              </a:spcBef>
              <a:spcAft>
                <a:spcPts val="0"/>
              </a:spcAft>
              <a:buClr>
                <a:schemeClr val="accent2"/>
              </a:buClr>
              <a:buSzPts val="1750"/>
              <a:buFont typeface="Noto Sans Symbols"/>
              <a:buChar char="✔"/>
            </a:pPr>
            <a:r>
              <a:rPr lang="en-US" sz="1750"/>
              <a:t>Use a strategic and integrated marketing approach - </a:t>
            </a:r>
            <a:r>
              <a:rPr i="1" lang="en-US" sz="1750"/>
              <a:t>this is not about showing up at a booth</a:t>
            </a:r>
            <a:endParaRPr i="1" sz="1750"/>
          </a:p>
          <a:p>
            <a:pPr indent="-339725" lvl="1" marL="800100" marR="0" rtl="0" algn="l">
              <a:lnSpc>
                <a:spcPct val="100000"/>
              </a:lnSpc>
              <a:spcBef>
                <a:spcPts val="1000"/>
              </a:spcBef>
              <a:spcAft>
                <a:spcPts val="0"/>
              </a:spcAft>
              <a:buClr>
                <a:schemeClr val="accent2"/>
              </a:buClr>
              <a:buSzPts val="1750"/>
              <a:buFont typeface="Noto Sans Symbols"/>
              <a:buChar char="✔"/>
            </a:pPr>
            <a:r>
              <a:rPr lang="en-US" sz="1750"/>
              <a:t>Associations &amp; events offer a large number of marketing opportunities - and we can integrate these with our internal marketing funnels to maximize results</a:t>
            </a:r>
            <a:endParaRPr sz="2050"/>
          </a:p>
          <a:p>
            <a:pPr indent="0" lvl="0" marL="0" marR="0" rtl="0" algn="l">
              <a:lnSpc>
                <a:spcPct val="100000"/>
              </a:lnSpc>
              <a:spcBef>
                <a:spcPts val="1000"/>
              </a:spcBef>
              <a:spcAft>
                <a:spcPts val="0"/>
              </a:spcAft>
              <a:buNone/>
            </a:pPr>
            <a:r>
              <a:t/>
            </a:r>
            <a:endParaRPr sz="2050"/>
          </a:p>
        </p:txBody>
      </p:sp>
      <p:sp>
        <p:nvSpPr>
          <p:cNvPr id="702" name="Google Shape;702;p92"/>
          <p:cNvSpPr txBox="1"/>
          <p:nvPr>
            <p:ph idx="1" type="body"/>
          </p:nvPr>
        </p:nvSpPr>
        <p:spPr>
          <a:xfrm>
            <a:off x="6171675" y="1557325"/>
            <a:ext cx="57171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rPr lang="en-US" sz="1750"/>
              <a:t>	</a:t>
            </a:r>
            <a:r>
              <a:rPr b="1" lang="en-US" sz="1750"/>
              <a:t>Action Steps:</a:t>
            </a:r>
            <a:endParaRPr b="1" sz="1750"/>
          </a:p>
          <a:p>
            <a:pPr indent="-352425" lvl="1" marL="800100" marR="0" rtl="0" algn="l">
              <a:lnSpc>
                <a:spcPct val="100000"/>
              </a:lnSpc>
              <a:spcBef>
                <a:spcPts val="1000"/>
              </a:spcBef>
              <a:spcAft>
                <a:spcPts val="0"/>
              </a:spcAft>
              <a:buClr>
                <a:schemeClr val="accent2"/>
              </a:buClr>
              <a:buSzPts val="1750"/>
              <a:buFont typeface="Noto Sans Symbols"/>
              <a:buChar char="✔"/>
            </a:pPr>
            <a:r>
              <a:rPr lang="en-US" sz="1750"/>
              <a:t>Create key printed and online assets</a:t>
            </a:r>
            <a:endParaRPr sz="1750"/>
          </a:p>
          <a:p>
            <a:pPr indent="-352425" lvl="1" marL="800100" marR="0" rtl="0" algn="l">
              <a:lnSpc>
                <a:spcPct val="100000"/>
              </a:lnSpc>
              <a:spcBef>
                <a:spcPts val="1000"/>
              </a:spcBef>
              <a:spcAft>
                <a:spcPts val="0"/>
              </a:spcAft>
              <a:buClr>
                <a:schemeClr val="accent2"/>
              </a:buClr>
              <a:buSzPts val="1750"/>
              <a:buFont typeface="Noto Sans Symbols"/>
              <a:buChar char="✔"/>
            </a:pPr>
            <a:r>
              <a:rPr lang="en-US" sz="1750"/>
              <a:t>Identify key associations and events in Halifax and Toronto</a:t>
            </a:r>
            <a:endParaRPr sz="1750"/>
          </a:p>
          <a:p>
            <a:pPr indent="-339725" lvl="1" marL="800100" marR="0" rtl="0" algn="l">
              <a:lnSpc>
                <a:spcPct val="100000"/>
              </a:lnSpc>
              <a:spcBef>
                <a:spcPts val="1000"/>
              </a:spcBef>
              <a:spcAft>
                <a:spcPts val="0"/>
              </a:spcAft>
              <a:buClr>
                <a:schemeClr val="accent2"/>
              </a:buClr>
              <a:buSzPts val="1750"/>
              <a:buFont typeface="Noto Sans Symbols"/>
              <a:buChar char="✔"/>
            </a:pPr>
            <a:r>
              <a:rPr lang="en-US" sz="1750"/>
              <a:t>Identify the best associations to join as members, and the best marketing opportunities to take advantage of</a:t>
            </a:r>
            <a:endParaRPr sz="1750"/>
          </a:p>
          <a:p>
            <a:pPr indent="-339725" lvl="1" marL="800100" marR="0" rtl="0" algn="l">
              <a:lnSpc>
                <a:spcPct val="100000"/>
              </a:lnSpc>
              <a:spcBef>
                <a:spcPts val="1000"/>
              </a:spcBef>
              <a:spcAft>
                <a:spcPts val="0"/>
              </a:spcAft>
              <a:buClr>
                <a:schemeClr val="accent2"/>
              </a:buClr>
              <a:buSzPts val="1750"/>
              <a:buFont typeface="Noto Sans Symbols"/>
              <a:buChar char="✔"/>
            </a:pPr>
            <a:r>
              <a:rPr lang="en-US" sz="1750"/>
              <a:t>Identify the best events to attend/sponsor and the best marketing opportunities to take advantage of</a:t>
            </a:r>
            <a:endParaRPr sz="1750"/>
          </a:p>
          <a:p>
            <a:pPr indent="-339725" lvl="1" marL="800100" marR="0" rtl="0" algn="l">
              <a:lnSpc>
                <a:spcPct val="100000"/>
              </a:lnSpc>
              <a:spcBef>
                <a:spcPts val="1000"/>
              </a:spcBef>
              <a:spcAft>
                <a:spcPts val="0"/>
              </a:spcAft>
              <a:buClr>
                <a:schemeClr val="accent2"/>
              </a:buClr>
              <a:buSzPts val="1750"/>
              <a:buFont typeface="Noto Sans Symbols"/>
              <a:buChar char="✔"/>
            </a:pPr>
            <a:r>
              <a:rPr lang="en-US" sz="1750"/>
              <a:t>Consider sponsorship or marketing opportunities - driving to PowerUp’s lead nurturing funnels.</a:t>
            </a:r>
            <a:endParaRPr sz="1750"/>
          </a:p>
          <a:p>
            <a:pPr indent="0" lvl="0" marL="685800" marR="0" rtl="0" algn="l">
              <a:lnSpc>
                <a:spcPct val="100000"/>
              </a:lnSpc>
              <a:spcBef>
                <a:spcPts val="1000"/>
              </a:spcBef>
              <a:spcAft>
                <a:spcPts val="0"/>
              </a:spcAft>
              <a:buNone/>
            </a:pPr>
            <a:r>
              <a:t/>
            </a:r>
            <a:endParaRPr sz="1750"/>
          </a:p>
        </p:txBody>
      </p:sp>
      <p:cxnSp>
        <p:nvCxnSpPr>
          <p:cNvPr id="703" name="Google Shape;703;p92"/>
          <p:cNvCxnSpPr/>
          <p:nvPr/>
        </p:nvCxnSpPr>
        <p:spPr>
          <a:xfrm>
            <a:off x="6429375" y="1709875"/>
            <a:ext cx="23100" cy="4622100"/>
          </a:xfrm>
          <a:prstGeom prst="straightConnector1">
            <a:avLst/>
          </a:prstGeom>
          <a:noFill/>
          <a:ln cap="flat" cmpd="sng" w="9525">
            <a:solidFill>
              <a:srgbClr val="62C9D7"/>
            </a:solidFill>
            <a:prstDash val="solid"/>
            <a:round/>
            <a:headEnd len="med" w="med" type="none"/>
            <a:tailEnd len="med" w="med" type="none"/>
          </a:ln>
        </p:spPr>
      </p:cxnSp>
      <p:sp>
        <p:nvSpPr>
          <p:cNvPr id="704" name="Google Shape;704;p92"/>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awareness - media relations</a:t>
            </a:r>
            <a:endParaRPr b="0" i="1" sz="1900">
              <a:solidFill>
                <a:schemeClr val="accent5"/>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93"/>
          <p:cNvSpPr txBox="1"/>
          <p:nvPr>
            <p:ph type="title"/>
          </p:nvPr>
        </p:nvSpPr>
        <p:spPr>
          <a:xfrm>
            <a:off x="745425" y="784225"/>
            <a:ext cx="108123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300">
                <a:solidFill>
                  <a:srgbClr val="073763"/>
                </a:solidFill>
              </a:rPr>
              <a:t>Event/Association Marketing </a:t>
            </a:r>
            <a:r>
              <a:rPr b="0" i="1" lang="en-US" sz="3300">
                <a:solidFill>
                  <a:srgbClr val="073763"/>
                </a:solidFill>
                <a:latin typeface="Calibri"/>
                <a:ea typeface="Calibri"/>
                <a:cs typeface="Calibri"/>
                <a:sym typeface="Calibri"/>
              </a:rPr>
              <a:t>Sample Events - Halifax</a:t>
            </a:r>
            <a:endParaRPr b="0" i="1">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chemeClr val="accent5"/>
              </a:solidFill>
            </a:endParaRPr>
          </a:p>
        </p:txBody>
      </p:sp>
      <p:sp>
        <p:nvSpPr>
          <p:cNvPr id="710" name="Google Shape;710;p93"/>
          <p:cNvSpPr txBox="1"/>
          <p:nvPr>
            <p:ph idx="1" type="body"/>
          </p:nvPr>
        </p:nvSpPr>
        <p:spPr>
          <a:xfrm>
            <a:off x="183125" y="1956625"/>
            <a:ext cx="2547600" cy="4260600"/>
          </a:xfrm>
          <a:prstGeom prst="rect">
            <a:avLst/>
          </a:prstGeom>
          <a:noFill/>
          <a:ln>
            <a:noFill/>
          </a:ln>
        </p:spPr>
        <p:txBody>
          <a:bodyPr anchorCtr="0" anchor="t" bIns="45700" lIns="91425" spcFirstLastPara="1" rIns="91425" wrap="square" tIns="45700">
            <a:noAutofit/>
          </a:bodyPr>
          <a:lstStyle/>
          <a:p>
            <a:pPr indent="-228600" lvl="1" marL="685800" rtl="0" algn="l">
              <a:lnSpc>
                <a:spcPct val="130000"/>
              </a:lnSpc>
              <a:spcBef>
                <a:spcPts val="1000"/>
              </a:spcBef>
              <a:spcAft>
                <a:spcPts val="0"/>
              </a:spcAft>
              <a:buClr>
                <a:schemeClr val="accent2"/>
              </a:buClr>
              <a:buSzPts val="1800"/>
              <a:buFont typeface="Calibri"/>
              <a:buChar char="✔"/>
            </a:pPr>
            <a:r>
              <a:rPr lang="en-US" sz="1500"/>
              <a:t>Identify associations &amp; events </a:t>
            </a:r>
            <a:endParaRPr sz="1500"/>
          </a:p>
          <a:p>
            <a:pPr indent="-209550" lvl="1" marL="685800" rtl="0" algn="l">
              <a:lnSpc>
                <a:spcPct val="130000"/>
              </a:lnSpc>
              <a:spcBef>
                <a:spcPts val="1000"/>
              </a:spcBef>
              <a:spcAft>
                <a:spcPts val="0"/>
              </a:spcAft>
              <a:buClr>
                <a:schemeClr val="accent2"/>
              </a:buClr>
              <a:buSzPts val="1500"/>
              <a:buFont typeface="Calibri"/>
              <a:buChar char="✔"/>
            </a:pPr>
            <a:r>
              <a:rPr lang="en-US" sz="1500"/>
              <a:t>Review opportunities &amp; fit to target market</a:t>
            </a:r>
            <a:endParaRPr sz="1500"/>
          </a:p>
          <a:p>
            <a:pPr indent="-209550" lvl="1" marL="685800" rtl="0" algn="l">
              <a:lnSpc>
                <a:spcPct val="130000"/>
              </a:lnSpc>
              <a:spcBef>
                <a:spcPts val="1000"/>
              </a:spcBef>
              <a:spcAft>
                <a:spcPts val="0"/>
              </a:spcAft>
              <a:buClr>
                <a:schemeClr val="accent2"/>
              </a:buClr>
              <a:buSzPts val="1500"/>
              <a:buFont typeface="Calibri"/>
              <a:buChar char="✔"/>
            </a:pPr>
            <a:r>
              <a:rPr lang="en-US" sz="1500"/>
              <a:t>Select associations to target</a:t>
            </a:r>
            <a:endParaRPr sz="1500"/>
          </a:p>
          <a:p>
            <a:pPr indent="0" lvl="0" marL="0" rtl="0" algn="l">
              <a:lnSpc>
                <a:spcPct val="130000"/>
              </a:lnSpc>
              <a:spcBef>
                <a:spcPts val="1000"/>
              </a:spcBef>
              <a:spcAft>
                <a:spcPts val="0"/>
              </a:spcAft>
              <a:buNone/>
            </a:pPr>
            <a:r>
              <a:t/>
            </a:r>
            <a:endParaRPr sz="190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graphicFrame>
        <p:nvGraphicFramePr>
          <p:cNvPr id="711" name="Google Shape;711;p93"/>
          <p:cNvGraphicFramePr/>
          <p:nvPr/>
        </p:nvGraphicFramePr>
        <p:xfrm>
          <a:off x="3143350" y="1882788"/>
          <a:ext cx="3000000" cy="3000000"/>
        </p:xfrm>
        <a:graphic>
          <a:graphicData uri="http://schemas.openxmlformats.org/drawingml/2006/table">
            <a:tbl>
              <a:tblPr>
                <a:noFill/>
                <a:tableStyleId>{5BBB0059-F52F-4E20-A1E7-41198E15CC08}</a:tableStyleId>
              </a:tblPr>
              <a:tblGrid>
                <a:gridCol w="2177900"/>
                <a:gridCol w="2538575"/>
                <a:gridCol w="2947150"/>
              </a:tblGrid>
              <a:tr h="423250">
                <a:tc>
                  <a:txBody>
                    <a:bodyPr/>
                    <a:lstStyle/>
                    <a:p>
                      <a:pPr indent="0" lvl="0" marL="0" rtl="0" algn="ctr">
                        <a:lnSpc>
                          <a:spcPct val="115000"/>
                        </a:lnSpc>
                        <a:spcBef>
                          <a:spcPts val="0"/>
                        </a:spcBef>
                        <a:spcAft>
                          <a:spcPts val="0"/>
                        </a:spcAft>
                        <a:buSzPts val="1000"/>
                        <a:buNone/>
                      </a:pPr>
                      <a:r>
                        <a:rPr b="1" lang="en-US" sz="1600">
                          <a:latin typeface="Calibri"/>
                          <a:ea typeface="Calibri"/>
                          <a:cs typeface="Calibri"/>
                          <a:sym typeface="Calibri"/>
                        </a:rPr>
                        <a:t>Partner / Event</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00">
                          <a:latin typeface="Calibri"/>
                          <a:ea typeface="Calibri"/>
                          <a:cs typeface="Calibri"/>
                          <a:sym typeface="Calibri"/>
                        </a:rPr>
                        <a:t>Opportunity</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00">
                          <a:latin typeface="Calibri"/>
                          <a:ea typeface="Calibri"/>
                          <a:cs typeface="Calibri"/>
                          <a:sym typeface="Calibri"/>
                        </a:rPr>
                        <a:t>Recommended Action</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049075">
                <a:tc>
                  <a:txBody>
                    <a:bodyPr/>
                    <a:lstStyle/>
                    <a:p>
                      <a:pPr indent="0" lvl="0" marL="0" rtl="0" algn="l">
                        <a:lnSpc>
                          <a:spcPct val="115000"/>
                        </a:lnSpc>
                        <a:spcBef>
                          <a:spcPts val="0"/>
                        </a:spcBef>
                        <a:spcAft>
                          <a:spcPts val="0"/>
                        </a:spcAft>
                        <a:buSzPts val="1000"/>
                        <a:buNone/>
                      </a:pPr>
                      <a:r>
                        <a:rPr lang="en-US" sz="1600">
                          <a:latin typeface="Calibri"/>
                          <a:ea typeface="Calibri"/>
                          <a:cs typeface="Calibri"/>
                          <a:sym typeface="Calibri"/>
                        </a:rPr>
                        <a:t>Halifax Chamber of Commerce</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Meet growth-focused company leaders</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Attend 2–3 key events, speak at a roundtable or sponsor a leadership track</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736150">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Volta</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Access to tech startups and scale-ups</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Offer a leadership talk or mini-workshop on scaling teams</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736150">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Startup Atlantic / Invest NS</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Support talent scaling for local firms</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Partner on leadership resources or diagnostics</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736150">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Halifax Business Awards</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Network with fast-growth companies</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Attend and connect with nominees and sponsors</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sp>
        <p:nvSpPr>
          <p:cNvPr id="712" name="Google Shape;712;p93"/>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lead generation (outbound) - associations &amp; events </a:t>
            </a:r>
            <a:endParaRPr b="0" i="1" sz="1900">
              <a:solidFill>
                <a:schemeClr val="accent5"/>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94"/>
          <p:cNvSpPr txBox="1"/>
          <p:nvPr>
            <p:ph type="title"/>
          </p:nvPr>
        </p:nvSpPr>
        <p:spPr>
          <a:xfrm>
            <a:off x="745425" y="784225"/>
            <a:ext cx="108123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300">
                <a:solidFill>
                  <a:srgbClr val="073763"/>
                </a:solidFill>
              </a:rPr>
              <a:t>Event/Association Marketing </a:t>
            </a:r>
            <a:r>
              <a:rPr b="0" i="1" lang="en-US" sz="3300">
                <a:solidFill>
                  <a:srgbClr val="073763"/>
                </a:solidFill>
                <a:latin typeface="Calibri"/>
                <a:ea typeface="Calibri"/>
                <a:cs typeface="Calibri"/>
                <a:sym typeface="Calibri"/>
              </a:rPr>
              <a:t>Sample Events - Toronto</a:t>
            </a:r>
            <a:endParaRPr b="0" i="1">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chemeClr val="accent5"/>
              </a:solidFill>
            </a:endParaRPr>
          </a:p>
        </p:txBody>
      </p:sp>
      <p:sp>
        <p:nvSpPr>
          <p:cNvPr id="718" name="Google Shape;718;p94"/>
          <p:cNvSpPr txBox="1"/>
          <p:nvPr>
            <p:ph idx="1" type="body"/>
          </p:nvPr>
        </p:nvSpPr>
        <p:spPr>
          <a:xfrm>
            <a:off x="183125" y="1956625"/>
            <a:ext cx="2547600" cy="4260600"/>
          </a:xfrm>
          <a:prstGeom prst="rect">
            <a:avLst/>
          </a:prstGeom>
          <a:noFill/>
          <a:ln>
            <a:noFill/>
          </a:ln>
        </p:spPr>
        <p:txBody>
          <a:bodyPr anchorCtr="0" anchor="t" bIns="45700" lIns="91425" spcFirstLastPara="1" rIns="91425" wrap="square" tIns="45700">
            <a:noAutofit/>
          </a:bodyPr>
          <a:lstStyle/>
          <a:p>
            <a:pPr indent="-228600" lvl="1" marL="685800" rtl="0" algn="l">
              <a:lnSpc>
                <a:spcPct val="130000"/>
              </a:lnSpc>
              <a:spcBef>
                <a:spcPts val="1000"/>
              </a:spcBef>
              <a:spcAft>
                <a:spcPts val="0"/>
              </a:spcAft>
              <a:buClr>
                <a:schemeClr val="accent2"/>
              </a:buClr>
              <a:buSzPts val="1800"/>
              <a:buFont typeface="Calibri"/>
              <a:buChar char="✔"/>
            </a:pPr>
            <a:r>
              <a:rPr lang="en-US" sz="1500"/>
              <a:t>Identify associations &amp; events </a:t>
            </a:r>
            <a:endParaRPr sz="1500"/>
          </a:p>
          <a:p>
            <a:pPr indent="-209550" lvl="1" marL="685800" rtl="0" algn="l">
              <a:lnSpc>
                <a:spcPct val="130000"/>
              </a:lnSpc>
              <a:spcBef>
                <a:spcPts val="1000"/>
              </a:spcBef>
              <a:spcAft>
                <a:spcPts val="0"/>
              </a:spcAft>
              <a:buClr>
                <a:schemeClr val="accent2"/>
              </a:buClr>
              <a:buSzPts val="1500"/>
              <a:buFont typeface="Calibri"/>
              <a:buChar char="✔"/>
            </a:pPr>
            <a:r>
              <a:rPr lang="en-US" sz="1500"/>
              <a:t>Review opportunities &amp; fit to target market</a:t>
            </a:r>
            <a:endParaRPr sz="1500"/>
          </a:p>
          <a:p>
            <a:pPr indent="-209550" lvl="1" marL="685800" rtl="0" algn="l">
              <a:lnSpc>
                <a:spcPct val="130000"/>
              </a:lnSpc>
              <a:spcBef>
                <a:spcPts val="1000"/>
              </a:spcBef>
              <a:spcAft>
                <a:spcPts val="0"/>
              </a:spcAft>
              <a:buClr>
                <a:schemeClr val="accent2"/>
              </a:buClr>
              <a:buSzPts val="1500"/>
              <a:buFont typeface="Calibri"/>
              <a:buChar char="✔"/>
            </a:pPr>
            <a:r>
              <a:rPr lang="en-US" sz="1500"/>
              <a:t>Select associations to target</a:t>
            </a:r>
            <a:endParaRPr sz="1500"/>
          </a:p>
          <a:p>
            <a:pPr indent="0" lvl="0" marL="0" rtl="0" algn="l">
              <a:lnSpc>
                <a:spcPct val="130000"/>
              </a:lnSpc>
              <a:spcBef>
                <a:spcPts val="1000"/>
              </a:spcBef>
              <a:spcAft>
                <a:spcPts val="0"/>
              </a:spcAft>
              <a:buNone/>
            </a:pPr>
            <a:r>
              <a:t/>
            </a:r>
            <a:endParaRPr sz="190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graphicFrame>
        <p:nvGraphicFramePr>
          <p:cNvPr id="719" name="Google Shape;719;p94"/>
          <p:cNvGraphicFramePr/>
          <p:nvPr/>
        </p:nvGraphicFramePr>
        <p:xfrm>
          <a:off x="3143350" y="1882788"/>
          <a:ext cx="3000000" cy="3000000"/>
        </p:xfrm>
        <a:graphic>
          <a:graphicData uri="http://schemas.openxmlformats.org/drawingml/2006/table">
            <a:tbl>
              <a:tblPr>
                <a:noFill/>
                <a:tableStyleId>{5BBB0059-F52F-4E20-A1E7-41198E15CC08}</a:tableStyleId>
              </a:tblPr>
              <a:tblGrid>
                <a:gridCol w="2177900"/>
                <a:gridCol w="2538575"/>
                <a:gridCol w="2947150"/>
              </a:tblGrid>
              <a:tr h="423250">
                <a:tc>
                  <a:txBody>
                    <a:bodyPr/>
                    <a:lstStyle/>
                    <a:p>
                      <a:pPr indent="0" lvl="0" marL="0" rtl="0" algn="ctr">
                        <a:lnSpc>
                          <a:spcPct val="115000"/>
                        </a:lnSpc>
                        <a:spcBef>
                          <a:spcPts val="0"/>
                        </a:spcBef>
                        <a:spcAft>
                          <a:spcPts val="0"/>
                        </a:spcAft>
                        <a:buSzPts val="1000"/>
                        <a:buNone/>
                      </a:pPr>
                      <a:r>
                        <a:rPr b="1" lang="en-US" sz="1600">
                          <a:latin typeface="Calibri"/>
                          <a:ea typeface="Calibri"/>
                          <a:cs typeface="Calibri"/>
                          <a:sym typeface="Calibri"/>
                        </a:rPr>
                        <a:t>Partner / Event</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00">
                          <a:latin typeface="Calibri"/>
                          <a:ea typeface="Calibri"/>
                          <a:cs typeface="Calibri"/>
                          <a:sym typeface="Calibri"/>
                        </a:rPr>
                        <a:t>Opportunity</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00">
                          <a:latin typeface="Calibri"/>
                          <a:ea typeface="Calibri"/>
                          <a:cs typeface="Calibri"/>
                          <a:sym typeface="Calibri"/>
                        </a:rPr>
                        <a:t>Recommended Action</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0490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Toronto Region Board of Trade</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Mid-market private company access</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Attend and explore hosting small executive briefings</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736150">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TechTO / StartupTO</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Founders of scaling tech firms</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Sponsor a talk or host a workshop on internal leadership scaling</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736150">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ACG Toronto (Capital Connection)</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Direct access to PE decision-makers</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Attend and meet operating partners + portfolio execs</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736150">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Toronto Global Forum</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Visibility with national/international firms</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Attend with PE portfolio focus in mind</a:t>
                      </a:r>
                      <a:endParaRPr sz="16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sp>
        <p:nvSpPr>
          <p:cNvPr id="720" name="Google Shape;720;p94"/>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lead generation (outbound) - associations &amp; events </a:t>
            </a:r>
            <a:endParaRPr b="0" i="1" sz="1900">
              <a:solidFill>
                <a:schemeClr val="accent5"/>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95"/>
          <p:cNvSpPr txBox="1"/>
          <p:nvPr>
            <p:ph type="title"/>
          </p:nvPr>
        </p:nvSpPr>
        <p:spPr>
          <a:xfrm>
            <a:off x="831275" y="784225"/>
            <a:ext cx="107265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300">
                <a:solidFill>
                  <a:srgbClr val="073763"/>
                </a:solidFill>
              </a:rPr>
              <a:t>Event/Association Marketing </a:t>
            </a:r>
            <a:r>
              <a:rPr b="0" i="1" lang="en-US" sz="3300">
                <a:solidFill>
                  <a:srgbClr val="073763"/>
                </a:solidFill>
                <a:latin typeface="Calibri"/>
                <a:ea typeface="Calibri"/>
                <a:cs typeface="Calibri"/>
                <a:sym typeface="Calibri"/>
              </a:rPr>
              <a:t>Action Plan - General</a:t>
            </a:r>
            <a:endParaRPr b="0" i="1" sz="3300">
              <a:solidFill>
                <a:srgbClr val="073763"/>
              </a:solidFill>
              <a:latin typeface="Calibri"/>
              <a:ea typeface="Calibri"/>
              <a:cs typeface="Calibri"/>
              <a:sym typeface="Calibri"/>
            </a:endParaRPr>
          </a:p>
        </p:txBody>
      </p:sp>
      <p:sp>
        <p:nvSpPr>
          <p:cNvPr id="726" name="Google Shape;726;p95"/>
          <p:cNvSpPr txBox="1"/>
          <p:nvPr>
            <p:ph idx="1" type="body"/>
          </p:nvPr>
        </p:nvSpPr>
        <p:spPr>
          <a:xfrm>
            <a:off x="1021400" y="1516825"/>
            <a:ext cx="88236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b="1" lang="en-US" sz="2250">
                <a:solidFill>
                  <a:schemeClr val="accent2"/>
                </a:solidFill>
              </a:rPr>
              <a:t>Phase 1 – Halifax</a:t>
            </a:r>
            <a:endParaRPr b="1" sz="2250">
              <a:solidFill>
                <a:schemeClr val="accent2"/>
              </a:solidFill>
            </a:endParaRPr>
          </a:p>
          <a:p>
            <a:pPr indent="-238125" lvl="1" marL="685800" marR="0" rtl="0" algn="l">
              <a:lnSpc>
                <a:spcPct val="115000"/>
              </a:lnSpc>
              <a:spcBef>
                <a:spcPts val="0"/>
              </a:spcBef>
              <a:spcAft>
                <a:spcPts val="0"/>
              </a:spcAft>
              <a:buClr>
                <a:schemeClr val="accent2"/>
              </a:buClr>
              <a:buSzPts val="1950"/>
              <a:buFont typeface="Calibri"/>
              <a:buChar char="✔"/>
            </a:pPr>
            <a:r>
              <a:rPr lang="en-US" sz="1950"/>
              <a:t>Identify and attend 3–4 Halifax-based events</a:t>
            </a:r>
            <a:endParaRPr sz="1950"/>
          </a:p>
          <a:p>
            <a:pPr indent="-238125" lvl="1" marL="685800" marR="0" rtl="0" algn="l">
              <a:lnSpc>
                <a:spcPct val="115000"/>
              </a:lnSpc>
              <a:spcBef>
                <a:spcPts val="0"/>
              </a:spcBef>
              <a:spcAft>
                <a:spcPts val="0"/>
              </a:spcAft>
              <a:buClr>
                <a:schemeClr val="accent2"/>
              </a:buClr>
              <a:buSzPts val="1950"/>
              <a:buFont typeface="Calibri"/>
              <a:buChar char="✔"/>
            </a:pPr>
            <a:r>
              <a:rPr lang="en-US" sz="1950"/>
              <a:t>Create 1–2 region-specific leadership resources (e.g., checklist, case study)</a:t>
            </a:r>
            <a:endParaRPr sz="1950"/>
          </a:p>
          <a:p>
            <a:pPr indent="-238125" lvl="1" marL="685800" marR="0" rtl="0" algn="l">
              <a:lnSpc>
                <a:spcPct val="115000"/>
              </a:lnSpc>
              <a:spcBef>
                <a:spcPts val="0"/>
              </a:spcBef>
              <a:spcAft>
                <a:spcPts val="0"/>
              </a:spcAft>
              <a:buClr>
                <a:schemeClr val="accent2"/>
              </a:buClr>
              <a:buSzPts val="1950"/>
              <a:buFont typeface="Calibri"/>
              <a:buChar char="✔"/>
            </a:pPr>
            <a:r>
              <a:rPr lang="en-US" sz="1950"/>
              <a:t>Offer a session or panel on leadership readiness for growth</a:t>
            </a:r>
            <a:endParaRPr sz="1950"/>
          </a:p>
          <a:p>
            <a:pPr indent="-238125" lvl="1" marL="685800" marR="0" rtl="0" algn="l">
              <a:lnSpc>
                <a:spcPct val="115000"/>
              </a:lnSpc>
              <a:spcBef>
                <a:spcPts val="0"/>
              </a:spcBef>
              <a:spcAft>
                <a:spcPts val="0"/>
              </a:spcAft>
              <a:buClr>
                <a:schemeClr val="accent2"/>
              </a:buClr>
              <a:buSzPts val="1950"/>
              <a:buFont typeface="Calibri"/>
              <a:buChar char="✔"/>
            </a:pPr>
            <a:r>
              <a:rPr lang="en-US" sz="1950"/>
              <a:t>Use events to book strategy calls with 5–10 local prospects</a:t>
            </a:r>
            <a:endParaRPr sz="1950"/>
          </a:p>
          <a:p>
            <a:pPr indent="0" lvl="0" marL="685800" marR="0" rtl="0" algn="l">
              <a:lnSpc>
                <a:spcPct val="115000"/>
              </a:lnSpc>
              <a:spcBef>
                <a:spcPts val="0"/>
              </a:spcBef>
              <a:spcAft>
                <a:spcPts val="0"/>
              </a:spcAft>
              <a:buNone/>
            </a:pPr>
            <a:r>
              <a:t/>
            </a:r>
            <a:endParaRPr sz="1950"/>
          </a:p>
          <a:p>
            <a:pPr indent="0" lvl="0" marL="0" marR="0" rtl="0" algn="l">
              <a:lnSpc>
                <a:spcPct val="115000"/>
              </a:lnSpc>
              <a:spcBef>
                <a:spcPts val="0"/>
              </a:spcBef>
              <a:spcAft>
                <a:spcPts val="0"/>
              </a:spcAft>
              <a:buNone/>
            </a:pPr>
            <a:r>
              <a:rPr b="1" lang="en-US" sz="2250">
                <a:solidFill>
                  <a:schemeClr val="accent2"/>
                </a:solidFill>
              </a:rPr>
              <a:t>Phase 2 – Toronto </a:t>
            </a:r>
            <a:endParaRPr sz="1950"/>
          </a:p>
          <a:p>
            <a:pPr indent="-238125" lvl="1" marL="685800" marR="0" rtl="0" algn="l">
              <a:lnSpc>
                <a:spcPct val="115000"/>
              </a:lnSpc>
              <a:spcBef>
                <a:spcPts val="0"/>
              </a:spcBef>
              <a:spcAft>
                <a:spcPts val="0"/>
              </a:spcAft>
              <a:buClr>
                <a:schemeClr val="accent2"/>
              </a:buClr>
              <a:buSzPts val="1950"/>
              <a:buFont typeface="Calibri"/>
              <a:buChar char="✔"/>
            </a:pPr>
            <a:r>
              <a:rPr lang="en-US" sz="1950"/>
              <a:t>Attend 2–3 select business/PE-focused events in Toronto</a:t>
            </a:r>
            <a:endParaRPr sz="1950"/>
          </a:p>
          <a:p>
            <a:pPr indent="-238125" lvl="1" marL="685800" marR="0" rtl="0" algn="l">
              <a:lnSpc>
                <a:spcPct val="115000"/>
              </a:lnSpc>
              <a:spcBef>
                <a:spcPts val="0"/>
              </a:spcBef>
              <a:spcAft>
                <a:spcPts val="0"/>
              </a:spcAft>
              <a:buClr>
                <a:schemeClr val="accent2"/>
              </a:buClr>
              <a:buSzPts val="1950"/>
              <a:buFont typeface="Calibri"/>
              <a:buChar char="✔"/>
            </a:pPr>
            <a:r>
              <a:rPr lang="en-US" sz="1950"/>
              <a:t>Partner with a known group (Board of Trade or ACG) for visibility</a:t>
            </a:r>
            <a:endParaRPr sz="1950"/>
          </a:p>
          <a:p>
            <a:pPr indent="-238125" lvl="1" marL="685800" marR="0" rtl="0" algn="l">
              <a:lnSpc>
                <a:spcPct val="115000"/>
              </a:lnSpc>
              <a:spcBef>
                <a:spcPts val="0"/>
              </a:spcBef>
              <a:spcAft>
                <a:spcPts val="0"/>
              </a:spcAft>
              <a:buClr>
                <a:schemeClr val="accent2"/>
              </a:buClr>
              <a:buSzPts val="1950"/>
              <a:buFont typeface="Calibri"/>
              <a:buChar char="✔"/>
            </a:pPr>
            <a:r>
              <a:rPr lang="en-US" sz="1950"/>
              <a:t>Introduce Toronto case studies from Halifax as proof points</a:t>
            </a:r>
            <a:endParaRPr sz="1950"/>
          </a:p>
          <a:p>
            <a:pPr indent="-238125" lvl="1" marL="685800" marR="0" rtl="0" algn="l">
              <a:lnSpc>
                <a:spcPct val="115000"/>
              </a:lnSpc>
              <a:spcBef>
                <a:spcPts val="0"/>
              </a:spcBef>
              <a:spcAft>
                <a:spcPts val="0"/>
              </a:spcAft>
              <a:buClr>
                <a:schemeClr val="accent2"/>
              </a:buClr>
              <a:buSzPts val="1950"/>
              <a:buFont typeface="Calibri"/>
              <a:buChar char="✔"/>
            </a:pPr>
            <a:r>
              <a:rPr lang="en-US" sz="1950"/>
              <a:t>Begin event-driven ABM campaign (LinkedIn ads around event cities)</a:t>
            </a:r>
            <a:endParaRPr sz="1950"/>
          </a:p>
          <a:p>
            <a:pPr indent="0" lvl="0" marL="1143000" marR="0" rtl="0" algn="l">
              <a:lnSpc>
                <a:spcPct val="100000"/>
              </a:lnSpc>
              <a:spcBef>
                <a:spcPts val="1000"/>
              </a:spcBef>
              <a:spcAft>
                <a:spcPts val="0"/>
              </a:spcAft>
              <a:buNone/>
            </a:pPr>
            <a:r>
              <a:t/>
            </a:r>
            <a:endParaRPr sz="1550"/>
          </a:p>
        </p:txBody>
      </p:sp>
      <p:sp>
        <p:nvSpPr>
          <p:cNvPr id="727" name="Google Shape;727;p95"/>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lead generation (outbound) - associations &amp; events </a:t>
            </a:r>
            <a:endParaRPr b="0" i="1" sz="1900">
              <a:solidFill>
                <a:schemeClr val="accent5"/>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96"/>
          <p:cNvSpPr txBox="1"/>
          <p:nvPr>
            <p:ph type="title"/>
          </p:nvPr>
        </p:nvSpPr>
        <p:spPr>
          <a:xfrm>
            <a:off x="745425" y="784225"/>
            <a:ext cx="10812300" cy="8403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2"/>
              </a:buClr>
              <a:buSzPct val="133333"/>
              <a:buFont typeface="Calibri"/>
              <a:buNone/>
            </a:pPr>
            <a:r>
              <a:rPr lang="en-US" sz="3300">
                <a:solidFill>
                  <a:srgbClr val="073763"/>
                </a:solidFill>
              </a:rPr>
              <a:t>Event/Association Marketing </a:t>
            </a:r>
            <a:r>
              <a:rPr b="0" i="1" lang="en-US" sz="3300">
                <a:solidFill>
                  <a:srgbClr val="073763"/>
                </a:solidFill>
                <a:latin typeface="Calibri"/>
                <a:ea typeface="Calibri"/>
                <a:cs typeface="Calibri"/>
                <a:sym typeface="Calibri"/>
              </a:rPr>
              <a:t>Action Plan - At Events</a:t>
            </a:r>
            <a:endParaRPr b="0" i="1">
              <a:latin typeface="Calibri"/>
              <a:ea typeface="Calibri"/>
              <a:cs typeface="Calibri"/>
              <a:sym typeface="Calibri"/>
            </a:endParaRPr>
          </a:p>
          <a:p>
            <a:pPr indent="0" lvl="0" marL="0" rtl="0" algn="l">
              <a:lnSpc>
                <a:spcPct val="90000"/>
              </a:lnSpc>
              <a:spcBef>
                <a:spcPts val="0"/>
              </a:spcBef>
              <a:spcAft>
                <a:spcPts val="0"/>
              </a:spcAft>
              <a:buClr>
                <a:schemeClr val="accent2"/>
              </a:buClr>
              <a:buSzPct val="100000"/>
              <a:buFont typeface="Calibri"/>
              <a:buNone/>
            </a:pPr>
            <a:r>
              <a:t/>
            </a:r>
            <a:endParaRPr>
              <a:solidFill>
                <a:schemeClr val="accent5"/>
              </a:solidFill>
            </a:endParaRPr>
          </a:p>
        </p:txBody>
      </p:sp>
      <p:graphicFrame>
        <p:nvGraphicFramePr>
          <p:cNvPr id="733" name="Google Shape;733;p96"/>
          <p:cNvGraphicFramePr/>
          <p:nvPr/>
        </p:nvGraphicFramePr>
        <p:xfrm>
          <a:off x="937025" y="1882788"/>
          <a:ext cx="3000000" cy="3000000"/>
        </p:xfrm>
        <a:graphic>
          <a:graphicData uri="http://schemas.openxmlformats.org/drawingml/2006/table">
            <a:tbl>
              <a:tblPr>
                <a:noFill/>
                <a:tableStyleId>{5BBB0059-F52F-4E20-A1E7-41198E15CC08}</a:tableStyleId>
              </a:tblPr>
              <a:tblGrid>
                <a:gridCol w="2313475"/>
                <a:gridCol w="4597875"/>
                <a:gridCol w="2942275"/>
              </a:tblGrid>
              <a:tr h="411700">
                <a:tc>
                  <a:txBody>
                    <a:bodyPr/>
                    <a:lstStyle/>
                    <a:p>
                      <a:pPr indent="0" lvl="0" marL="0" rtl="0" algn="ctr">
                        <a:lnSpc>
                          <a:spcPct val="115000"/>
                        </a:lnSpc>
                        <a:spcBef>
                          <a:spcPts val="0"/>
                        </a:spcBef>
                        <a:spcAft>
                          <a:spcPts val="0"/>
                        </a:spcAft>
                        <a:buNone/>
                      </a:pPr>
                      <a:r>
                        <a:rPr b="1" lang="en-US" sz="1800">
                          <a:latin typeface="Calibri"/>
                          <a:ea typeface="Calibri"/>
                          <a:cs typeface="Calibri"/>
                          <a:sym typeface="Calibri"/>
                        </a:rPr>
                        <a:t>Objective</a:t>
                      </a:r>
                      <a:endParaRPr sz="18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latin typeface="Calibri"/>
                          <a:ea typeface="Calibri"/>
                          <a:cs typeface="Calibri"/>
                          <a:sym typeface="Calibri"/>
                        </a:rPr>
                        <a:t>Actions at the Event</a:t>
                      </a:r>
                      <a:endParaRPr sz="18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latin typeface="Calibri"/>
                          <a:ea typeface="Calibri"/>
                          <a:cs typeface="Calibri"/>
                          <a:sym typeface="Calibri"/>
                        </a:rPr>
                        <a:t>Tools &amp; Materials</a:t>
                      </a:r>
                      <a:endParaRPr sz="18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736150">
                <a:tc>
                  <a:txBody>
                    <a:bodyPr/>
                    <a:lstStyle/>
                    <a:p>
                      <a:pPr indent="0" lvl="0" marL="0" rtl="0" algn="l">
                        <a:lnSpc>
                          <a:spcPct val="115000"/>
                        </a:lnSpc>
                        <a:spcBef>
                          <a:spcPts val="0"/>
                        </a:spcBef>
                        <a:spcAft>
                          <a:spcPts val="0"/>
                        </a:spcAft>
                        <a:buNone/>
                      </a:pPr>
                      <a:r>
                        <a:rPr lang="en-US" sz="1800">
                          <a:latin typeface="Calibri"/>
                          <a:ea typeface="Calibri"/>
                          <a:cs typeface="Calibri"/>
                          <a:sym typeface="Calibri"/>
                        </a:rPr>
                        <a:t>Build awareness</a:t>
                      </a:r>
                      <a:endParaRPr sz="18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800">
                          <a:latin typeface="Calibri"/>
                          <a:ea typeface="Calibri"/>
                          <a:cs typeface="Calibri"/>
                          <a:sym typeface="Calibri"/>
                        </a:rPr>
                        <a:t>Attend with intention, not anonymously — engage speakers, ask questions, post online with event hashtags</a:t>
                      </a:r>
                      <a:endParaRPr sz="18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800">
                          <a:latin typeface="Calibri"/>
                          <a:ea typeface="Calibri"/>
                          <a:cs typeface="Calibri"/>
                          <a:sym typeface="Calibri"/>
                        </a:rPr>
                        <a:t>Printed 1-pager, business cards, lead magnet QR codes</a:t>
                      </a:r>
                      <a:endParaRPr sz="18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736150">
                <a:tc>
                  <a:txBody>
                    <a:bodyPr/>
                    <a:lstStyle/>
                    <a:p>
                      <a:pPr indent="0" lvl="0" marL="0" rtl="0" algn="l">
                        <a:lnSpc>
                          <a:spcPct val="115000"/>
                        </a:lnSpc>
                        <a:spcBef>
                          <a:spcPts val="0"/>
                        </a:spcBef>
                        <a:spcAft>
                          <a:spcPts val="0"/>
                        </a:spcAft>
                        <a:buNone/>
                      </a:pPr>
                      <a:r>
                        <a:rPr lang="en-US" sz="1800">
                          <a:latin typeface="Calibri"/>
                          <a:ea typeface="Calibri"/>
                          <a:cs typeface="Calibri"/>
                          <a:sym typeface="Calibri"/>
                        </a:rPr>
                        <a:t>Collect leads</a:t>
                      </a:r>
                      <a:endParaRPr sz="18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800">
                          <a:latin typeface="Calibri"/>
                          <a:ea typeface="Calibri"/>
                          <a:cs typeface="Calibri"/>
                          <a:sym typeface="Calibri"/>
                        </a:rPr>
                        <a:t>Network selectively, aim for 5–10 meaningful conversations</a:t>
                      </a:r>
                      <a:endParaRPr sz="18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800">
                          <a:latin typeface="Calibri"/>
                          <a:ea typeface="Calibri"/>
                          <a:cs typeface="Calibri"/>
                          <a:sym typeface="Calibri"/>
                        </a:rPr>
                        <a:t>Short notes on badge scanner / app / LinkedIn</a:t>
                      </a:r>
                      <a:endParaRPr sz="18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736150">
                <a:tc>
                  <a:txBody>
                    <a:bodyPr/>
                    <a:lstStyle/>
                    <a:p>
                      <a:pPr indent="0" lvl="0" marL="0" rtl="0" algn="l">
                        <a:lnSpc>
                          <a:spcPct val="115000"/>
                        </a:lnSpc>
                        <a:spcBef>
                          <a:spcPts val="0"/>
                        </a:spcBef>
                        <a:spcAft>
                          <a:spcPts val="0"/>
                        </a:spcAft>
                        <a:buNone/>
                      </a:pPr>
                      <a:r>
                        <a:rPr lang="en-US" sz="1800">
                          <a:latin typeface="Calibri"/>
                          <a:ea typeface="Calibri"/>
                          <a:cs typeface="Calibri"/>
                          <a:sym typeface="Calibri"/>
                        </a:rPr>
                        <a:t>Book calls</a:t>
                      </a:r>
                      <a:endParaRPr sz="18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800">
                          <a:latin typeface="Calibri"/>
                          <a:ea typeface="Calibri"/>
                          <a:cs typeface="Calibri"/>
                          <a:sym typeface="Calibri"/>
                        </a:rPr>
                        <a:t>Offer a Leadership Strategy Call during follow-ups</a:t>
                      </a:r>
                      <a:endParaRPr sz="18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800">
                          <a:latin typeface="Calibri"/>
                          <a:ea typeface="Calibri"/>
                          <a:cs typeface="Calibri"/>
                          <a:sym typeface="Calibri"/>
                        </a:rPr>
                        <a:t>Calendly or manual follow-up message with CTA</a:t>
                      </a:r>
                      <a:endParaRPr sz="18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736150">
                <a:tc>
                  <a:txBody>
                    <a:bodyPr/>
                    <a:lstStyle/>
                    <a:p>
                      <a:pPr indent="0" lvl="0" marL="0" rtl="0" algn="l">
                        <a:lnSpc>
                          <a:spcPct val="115000"/>
                        </a:lnSpc>
                        <a:spcBef>
                          <a:spcPts val="0"/>
                        </a:spcBef>
                        <a:spcAft>
                          <a:spcPts val="0"/>
                        </a:spcAft>
                        <a:buNone/>
                      </a:pPr>
                      <a:r>
                        <a:rPr lang="en-US" sz="1800">
                          <a:latin typeface="Calibri"/>
                          <a:ea typeface="Calibri"/>
                          <a:cs typeface="Calibri"/>
                          <a:sym typeface="Calibri"/>
                        </a:rPr>
                        <a:t>Reinforce presence</a:t>
                      </a:r>
                      <a:endParaRPr sz="18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800">
                          <a:latin typeface="Calibri"/>
                          <a:ea typeface="Calibri"/>
                          <a:cs typeface="Calibri"/>
                          <a:sym typeface="Calibri"/>
                        </a:rPr>
                        <a:t>Share live takeaways or event insights on LinkedIn</a:t>
                      </a:r>
                      <a:endParaRPr sz="18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800">
                          <a:latin typeface="Calibri"/>
                          <a:ea typeface="Calibri"/>
                          <a:cs typeface="Calibri"/>
                          <a:sym typeface="Calibri"/>
                        </a:rPr>
                        <a:t>Pre-drafted LinkedIn posts, graphics, photos</a:t>
                      </a:r>
                      <a:endParaRPr sz="1800">
                        <a:latin typeface="Calibri"/>
                        <a:ea typeface="Calibri"/>
                        <a:cs typeface="Calibri"/>
                        <a:sym typeface="Calibri"/>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sp>
        <p:nvSpPr>
          <p:cNvPr id="734" name="Google Shape;734;p96"/>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lead generation (outbound) - associations &amp; events </a:t>
            </a:r>
            <a:endParaRPr b="0" i="1" sz="1900">
              <a:solidFill>
                <a:schemeClr val="accent5"/>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pic>
        <p:nvPicPr>
          <p:cNvPr id="739" name="Google Shape;739;p97"/>
          <p:cNvPicPr preferRelativeResize="0"/>
          <p:nvPr/>
        </p:nvPicPr>
        <p:blipFill rotWithShape="1">
          <a:blip r:embed="rId3">
            <a:alphaModFix/>
          </a:blip>
          <a:srcRect b="0" l="0" r="0" t="0"/>
          <a:stretch/>
        </p:blipFill>
        <p:spPr>
          <a:xfrm>
            <a:off x="983800" y="1877525"/>
            <a:ext cx="5434825" cy="3070174"/>
          </a:xfrm>
          <a:prstGeom prst="rect">
            <a:avLst/>
          </a:prstGeom>
          <a:noFill/>
          <a:ln>
            <a:noFill/>
          </a:ln>
        </p:spPr>
      </p:pic>
      <p:sp>
        <p:nvSpPr>
          <p:cNvPr id="740" name="Google Shape;740;p97"/>
          <p:cNvSpPr txBox="1"/>
          <p:nvPr>
            <p:ph type="title"/>
          </p:nvPr>
        </p:nvSpPr>
        <p:spPr>
          <a:xfrm>
            <a:off x="725875" y="708025"/>
            <a:ext cx="11060400" cy="75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Events &amp; Association</a:t>
            </a:r>
            <a:r>
              <a:rPr b="0" i="1" lang="en-US" sz="3800">
                <a:solidFill>
                  <a:srgbClr val="073763"/>
                </a:solidFill>
                <a:latin typeface="Calibri"/>
                <a:ea typeface="Calibri"/>
                <a:cs typeface="Calibri"/>
                <a:sym typeface="Calibri"/>
              </a:rPr>
              <a:t> </a:t>
            </a:r>
            <a:r>
              <a:rPr b="0" i="1" lang="en-US" sz="3800">
                <a:solidFill>
                  <a:schemeClr val="accent4"/>
                </a:solidFill>
                <a:latin typeface="Calibri"/>
                <a:ea typeface="Calibri"/>
                <a:cs typeface="Calibri"/>
                <a:sym typeface="Calibri"/>
              </a:rPr>
              <a:t>Assets</a:t>
            </a:r>
            <a:endParaRPr b="0" i="1" sz="3800">
              <a:solidFill>
                <a:schemeClr val="accent4"/>
              </a:solidFill>
              <a:latin typeface="Calibri"/>
              <a:ea typeface="Calibri"/>
              <a:cs typeface="Calibri"/>
              <a:sym typeface="Calibri"/>
            </a:endParaRPr>
          </a:p>
        </p:txBody>
      </p:sp>
      <p:sp>
        <p:nvSpPr>
          <p:cNvPr id="741" name="Google Shape;741;p97"/>
          <p:cNvSpPr txBox="1"/>
          <p:nvPr>
            <p:ph idx="1" type="body"/>
          </p:nvPr>
        </p:nvSpPr>
        <p:spPr>
          <a:xfrm>
            <a:off x="1451800" y="2208775"/>
            <a:ext cx="5769300" cy="2211900"/>
          </a:xfrm>
          <a:prstGeom prst="rect">
            <a:avLst/>
          </a:prstGeom>
          <a:noFill/>
          <a:ln>
            <a:noFill/>
          </a:ln>
        </p:spPr>
        <p:txBody>
          <a:bodyPr anchorCtr="0" anchor="t" bIns="45700" lIns="91425" spcFirstLastPara="1" rIns="91425" wrap="square" tIns="45700">
            <a:noAutofit/>
          </a:bodyPr>
          <a:lstStyle/>
          <a:p>
            <a:pPr indent="-238125" lvl="0" marL="228600" rtl="0" algn="l">
              <a:lnSpc>
                <a:spcPct val="100000"/>
              </a:lnSpc>
              <a:spcBef>
                <a:spcPts val="600"/>
              </a:spcBef>
              <a:spcAft>
                <a:spcPts val="0"/>
              </a:spcAft>
              <a:buClr>
                <a:schemeClr val="accent2"/>
              </a:buClr>
              <a:buSzPts val="1950"/>
              <a:buFont typeface="Noto Sans Symbols"/>
              <a:buChar char="➔"/>
            </a:pPr>
            <a:r>
              <a:rPr b="1" lang="en-US" sz="1950"/>
              <a:t>Bonus Event and Association Assets:</a:t>
            </a:r>
            <a:endParaRPr b="1" sz="1950"/>
          </a:p>
          <a:p>
            <a:pPr indent="-231775" lvl="1" marL="685800" rtl="0" algn="l">
              <a:lnSpc>
                <a:spcPct val="100000"/>
              </a:lnSpc>
              <a:spcBef>
                <a:spcPts val="600"/>
              </a:spcBef>
              <a:spcAft>
                <a:spcPts val="0"/>
              </a:spcAft>
              <a:buClr>
                <a:schemeClr val="accent2"/>
              </a:buClr>
              <a:buSzPts val="1850"/>
              <a:buFont typeface="Noto Sans Symbols"/>
              <a:buChar char="◆"/>
            </a:pPr>
            <a:r>
              <a:rPr lang="en-US" sz="1850"/>
              <a:t>Events &amp; Associations Strategy </a:t>
            </a:r>
            <a:endParaRPr sz="1850"/>
          </a:p>
          <a:p>
            <a:pPr indent="0" lvl="0" marL="0" rtl="0" algn="l">
              <a:lnSpc>
                <a:spcPct val="100000"/>
              </a:lnSpc>
              <a:spcBef>
                <a:spcPts val="600"/>
              </a:spcBef>
              <a:spcAft>
                <a:spcPts val="0"/>
              </a:spcAft>
              <a:buNone/>
            </a:pPr>
            <a:r>
              <a:t/>
            </a:r>
            <a:endParaRPr sz="1650"/>
          </a:p>
          <a:p>
            <a:pPr indent="0" lvl="0" marL="0" rtl="0" algn="l">
              <a:lnSpc>
                <a:spcPct val="100000"/>
              </a:lnSpc>
              <a:spcBef>
                <a:spcPts val="600"/>
              </a:spcBef>
              <a:spcAft>
                <a:spcPts val="600"/>
              </a:spcAft>
              <a:buNone/>
            </a:pPr>
            <a:r>
              <a:t/>
            </a:r>
            <a:endParaRPr sz="175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98"/>
          <p:cNvSpPr txBox="1"/>
          <p:nvPr>
            <p:ph type="title"/>
          </p:nvPr>
        </p:nvSpPr>
        <p:spPr>
          <a:xfrm>
            <a:off x="710875" y="2156550"/>
            <a:ext cx="10515600" cy="1325700"/>
          </a:xfrm>
          <a:prstGeom prst="rect">
            <a:avLst/>
          </a:prstGeom>
          <a:noFill/>
          <a:ln>
            <a:noFill/>
          </a:ln>
        </p:spPr>
        <p:txBody>
          <a:bodyPr anchorCtr="0" anchor="t" bIns="45700" lIns="91425" spcFirstLastPara="1" rIns="91425" wrap="square" tIns="45700">
            <a:normAutofit fontScale="90000"/>
          </a:bodyPr>
          <a:lstStyle/>
          <a:p>
            <a:pPr indent="0" lvl="0" marL="457200" rtl="0" algn="ctr">
              <a:lnSpc>
                <a:spcPct val="90000"/>
              </a:lnSpc>
              <a:spcBef>
                <a:spcPts val="0"/>
              </a:spcBef>
              <a:spcAft>
                <a:spcPts val="0"/>
              </a:spcAft>
              <a:buNone/>
            </a:pPr>
            <a:r>
              <a:rPr b="0" i="1" lang="en-US" sz="1956">
                <a:solidFill>
                  <a:srgbClr val="9E9E9E"/>
                </a:solidFill>
                <a:latin typeface="Calibri"/>
                <a:ea typeface="Calibri"/>
                <a:cs typeface="Calibri"/>
                <a:sym typeface="Calibri"/>
              </a:rPr>
              <a:t>lead generation (outbound)</a:t>
            </a:r>
            <a:endParaRPr b="0" i="1" sz="1956">
              <a:solidFill>
                <a:srgbClr val="9E9E9E"/>
              </a:solidFill>
              <a:latin typeface="Calibri"/>
              <a:ea typeface="Calibri"/>
              <a:cs typeface="Calibri"/>
              <a:sym typeface="Calibri"/>
            </a:endParaRPr>
          </a:p>
          <a:p>
            <a:pPr indent="0" lvl="0" marL="457200" rtl="0" algn="ctr">
              <a:lnSpc>
                <a:spcPct val="90000"/>
              </a:lnSpc>
              <a:spcBef>
                <a:spcPts val="0"/>
              </a:spcBef>
              <a:spcAft>
                <a:spcPts val="0"/>
              </a:spcAft>
              <a:buNone/>
            </a:pPr>
            <a:r>
              <a:t/>
            </a:r>
            <a:endParaRPr b="0" i="1" sz="2622">
              <a:latin typeface="Calibri"/>
              <a:ea typeface="Calibri"/>
              <a:cs typeface="Calibri"/>
              <a:sym typeface="Calibri"/>
            </a:endParaRPr>
          </a:p>
          <a:p>
            <a:pPr indent="0" lvl="0" marL="457200" rtl="0" algn="ctr">
              <a:lnSpc>
                <a:spcPct val="90000"/>
              </a:lnSpc>
              <a:spcBef>
                <a:spcPts val="0"/>
              </a:spcBef>
              <a:spcAft>
                <a:spcPts val="0"/>
              </a:spcAft>
              <a:buNone/>
            </a:pPr>
            <a:r>
              <a:rPr lang="en-US">
                <a:latin typeface="Calibri"/>
                <a:ea typeface="Calibri"/>
                <a:cs typeface="Calibri"/>
                <a:sym typeface="Calibri"/>
              </a:rPr>
              <a:t>Action Step 2: </a:t>
            </a:r>
            <a:endParaRPr>
              <a:latin typeface="Calibri"/>
              <a:ea typeface="Calibri"/>
              <a:cs typeface="Calibri"/>
              <a:sym typeface="Calibri"/>
            </a:endParaRPr>
          </a:p>
          <a:p>
            <a:pPr indent="0" lvl="0" marL="457200" rtl="0" algn="ctr">
              <a:lnSpc>
                <a:spcPct val="90000"/>
              </a:lnSpc>
              <a:spcBef>
                <a:spcPts val="0"/>
              </a:spcBef>
              <a:spcAft>
                <a:spcPts val="0"/>
              </a:spcAft>
              <a:buNone/>
            </a:pPr>
            <a:r>
              <a:rPr lang="en-US">
                <a:latin typeface="Calibri"/>
                <a:ea typeface="Calibri"/>
                <a:cs typeface="Calibri"/>
                <a:sym typeface="Calibri"/>
              </a:rPr>
              <a:t>Account Based Marketing</a:t>
            </a:r>
            <a:br>
              <a:rPr lang="en-US"/>
            </a:br>
            <a:endParaRPr/>
          </a:p>
          <a:p>
            <a:pPr indent="0" lvl="0" marL="0" rtl="0" algn="ctr">
              <a:lnSpc>
                <a:spcPct val="90000"/>
              </a:lnSpc>
              <a:spcBef>
                <a:spcPts val="0"/>
              </a:spcBef>
              <a:spcAft>
                <a:spcPts val="0"/>
              </a:spcAft>
              <a:buClr>
                <a:schemeClr val="accent2"/>
              </a:buClr>
              <a:buSzPct val="121472"/>
              <a:buFont typeface="Calibri"/>
              <a:buNone/>
            </a:pPr>
            <a:r>
              <a:t/>
            </a:r>
            <a:endParaRPr sz="3622">
              <a:solidFill>
                <a:schemeClr val="accent4"/>
              </a:solidFill>
            </a:endParaRPr>
          </a:p>
          <a:p>
            <a:pPr indent="0" lvl="0" marL="457200" rtl="0" algn="ctr">
              <a:lnSpc>
                <a:spcPct val="90000"/>
              </a:lnSpc>
              <a:spcBef>
                <a:spcPts val="0"/>
              </a:spcBef>
              <a:spcAft>
                <a:spcPts val="0"/>
              </a:spcAft>
              <a:buNone/>
            </a:pPr>
            <a:r>
              <a:t/>
            </a:r>
            <a:endParaRPr sz="3622">
              <a:solidFill>
                <a:schemeClr val="accent4"/>
              </a:solidFill>
            </a:endParaRPr>
          </a:p>
          <a:p>
            <a:pPr indent="0" lvl="0" marL="0" rtl="0" algn="ctr">
              <a:lnSpc>
                <a:spcPct val="90000"/>
              </a:lnSpc>
              <a:spcBef>
                <a:spcPts val="0"/>
              </a:spcBef>
              <a:spcAft>
                <a:spcPts val="0"/>
              </a:spcAft>
              <a:buClr>
                <a:schemeClr val="accent2"/>
              </a:buClr>
              <a:buSzPct val="100000"/>
              <a:buFont typeface="Calibri"/>
              <a:buNone/>
            </a:pPr>
            <a:r>
              <a:t/>
            </a:r>
            <a:endParaRPr/>
          </a:p>
          <a:p>
            <a:pPr indent="0" lvl="0" marL="457200" rtl="0" algn="l">
              <a:lnSpc>
                <a:spcPct val="90000"/>
              </a:lnSpc>
              <a:spcBef>
                <a:spcPts val="0"/>
              </a:spcBef>
              <a:spcAft>
                <a:spcPts val="0"/>
              </a:spcAft>
              <a:buNone/>
            </a:pPr>
            <a:r>
              <a:t/>
            </a:r>
            <a:endParaRPr/>
          </a:p>
        </p:txBody>
      </p:sp>
      <p:sp>
        <p:nvSpPr>
          <p:cNvPr id="747" name="Google Shape;747;p98"/>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lead generation (outbound) </a:t>
            </a:r>
            <a:endParaRPr b="0" i="1" sz="1900">
              <a:solidFill>
                <a:schemeClr val="accent5"/>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99"/>
          <p:cNvSpPr txBox="1"/>
          <p:nvPr>
            <p:ph type="title"/>
          </p:nvPr>
        </p:nvSpPr>
        <p:spPr>
          <a:xfrm>
            <a:off x="831275" y="784225"/>
            <a:ext cx="107265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300">
                <a:solidFill>
                  <a:srgbClr val="073763"/>
                </a:solidFill>
              </a:rPr>
              <a:t>Account Based Marketing</a:t>
            </a:r>
            <a:endParaRPr b="0" i="1" sz="3300">
              <a:solidFill>
                <a:srgbClr val="073763"/>
              </a:solidFill>
              <a:latin typeface="Calibri"/>
              <a:ea typeface="Calibri"/>
              <a:cs typeface="Calibri"/>
              <a:sym typeface="Calibri"/>
            </a:endParaRPr>
          </a:p>
        </p:txBody>
      </p:sp>
      <p:sp>
        <p:nvSpPr>
          <p:cNvPr id="753" name="Google Shape;753;p99"/>
          <p:cNvSpPr txBox="1"/>
          <p:nvPr>
            <p:ph idx="1" type="body"/>
          </p:nvPr>
        </p:nvSpPr>
        <p:spPr>
          <a:xfrm>
            <a:off x="920850" y="1516825"/>
            <a:ext cx="10038300" cy="463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None/>
            </a:pPr>
            <a:r>
              <a:rPr lang="en-US" sz="1750"/>
              <a:t>Account-Based Marketing (ABM) is a focused B2B strategy where marketing and sales work together to target high-value accounts and convert them into clients through personalized outreach and relationship-building.</a:t>
            </a:r>
            <a:endParaRPr b="1" sz="1750"/>
          </a:p>
          <a:p>
            <a:pPr indent="-225425" lvl="1" marL="685800" marR="0" rtl="0" algn="l">
              <a:lnSpc>
                <a:spcPct val="100000"/>
              </a:lnSpc>
              <a:spcBef>
                <a:spcPts val="600"/>
              </a:spcBef>
              <a:spcAft>
                <a:spcPts val="0"/>
              </a:spcAft>
              <a:buClr>
                <a:schemeClr val="accent2"/>
              </a:buClr>
              <a:buSzPts val="1750"/>
              <a:buFont typeface="Calibri"/>
              <a:buChar char="✔"/>
            </a:pPr>
            <a:r>
              <a:rPr b="1" lang="en-US" sz="1750"/>
              <a:t>Objective: </a:t>
            </a:r>
            <a:endParaRPr b="1" sz="1750"/>
          </a:p>
          <a:p>
            <a:pPr indent="-225425" lvl="2" marL="1143000" marR="0" rtl="0" algn="l">
              <a:lnSpc>
                <a:spcPct val="100000"/>
              </a:lnSpc>
              <a:spcBef>
                <a:spcPts val="600"/>
              </a:spcBef>
              <a:spcAft>
                <a:spcPts val="0"/>
              </a:spcAft>
              <a:buSzPts val="1750"/>
              <a:buChar char="•"/>
            </a:pPr>
            <a:r>
              <a:rPr lang="en-US" sz="1750"/>
              <a:t>Land high-fit private companies and operational private equity firms in Halifax and Toronto through personalized, focused outreach.</a:t>
            </a:r>
            <a:endParaRPr sz="1750"/>
          </a:p>
          <a:p>
            <a:pPr indent="-225425" lvl="1" marL="685800" marR="0" rtl="0" algn="l">
              <a:lnSpc>
                <a:spcPct val="100000"/>
              </a:lnSpc>
              <a:spcBef>
                <a:spcPts val="600"/>
              </a:spcBef>
              <a:spcAft>
                <a:spcPts val="0"/>
              </a:spcAft>
              <a:buClr>
                <a:schemeClr val="accent2"/>
              </a:buClr>
              <a:buSzPts val="1750"/>
              <a:buFont typeface="Calibri"/>
              <a:buChar char="✔"/>
            </a:pPr>
            <a:r>
              <a:rPr b="1" lang="en-US" sz="1750"/>
              <a:t>Why ABM for PowerUp: </a:t>
            </a:r>
            <a:endParaRPr b="1" sz="1750"/>
          </a:p>
          <a:p>
            <a:pPr indent="-225425" lvl="2" marL="1143000" marR="0" rtl="0" algn="l">
              <a:lnSpc>
                <a:spcPct val="100000"/>
              </a:lnSpc>
              <a:spcBef>
                <a:spcPts val="600"/>
              </a:spcBef>
              <a:spcAft>
                <a:spcPts val="0"/>
              </a:spcAft>
              <a:buSzPts val="1750"/>
              <a:buChar char="•"/>
            </a:pPr>
            <a:r>
              <a:rPr lang="en-US" sz="1750"/>
              <a:t>Targets specific high-value companies, not broad audiences</a:t>
            </a:r>
            <a:endParaRPr sz="1750"/>
          </a:p>
          <a:p>
            <a:pPr indent="-225425" lvl="2" marL="1143000" marR="0" rtl="0" algn="l">
              <a:lnSpc>
                <a:spcPct val="100000"/>
              </a:lnSpc>
              <a:spcBef>
                <a:spcPts val="600"/>
              </a:spcBef>
              <a:spcAft>
                <a:spcPts val="0"/>
              </a:spcAft>
              <a:buSzPts val="1750"/>
              <a:buChar char="•"/>
            </a:pPr>
            <a:r>
              <a:rPr lang="en-US" sz="1750"/>
              <a:t>Emphasizes relationship-building over mass marketing</a:t>
            </a:r>
            <a:endParaRPr sz="1750"/>
          </a:p>
          <a:p>
            <a:pPr indent="-225425" lvl="2" marL="1143000" marR="0" rtl="0" algn="l">
              <a:lnSpc>
                <a:spcPct val="100000"/>
              </a:lnSpc>
              <a:spcBef>
                <a:spcPts val="600"/>
              </a:spcBef>
              <a:spcAft>
                <a:spcPts val="0"/>
              </a:spcAft>
              <a:buSzPts val="1750"/>
              <a:buChar char="•"/>
            </a:pPr>
            <a:r>
              <a:rPr lang="en-US" sz="1750"/>
              <a:t>Aligns with PowerUp’s leadership and talent transformation positioning</a:t>
            </a:r>
            <a:endParaRPr sz="1750"/>
          </a:p>
          <a:p>
            <a:pPr indent="-225425" lvl="1" marL="685800" marR="0" rtl="0" algn="l">
              <a:lnSpc>
                <a:spcPct val="100000"/>
              </a:lnSpc>
              <a:spcBef>
                <a:spcPts val="600"/>
              </a:spcBef>
              <a:spcAft>
                <a:spcPts val="0"/>
              </a:spcAft>
              <a:buClr>
                <a:schemeClr val="accent2"/>
              </a:buClr>
              <a:buSzPts val="1750"/>
              <a:buFont typeface="Calibri"/>
              <a:buChar char="✔"/>
            </a:pPr>
            <a:r>
              <a:rPr b="1" lang="en-US" sz="1750"/>
              <a:t>Key Components:</a:t>
            </a:r>
            <a:endParaRPr b="1" sz="1750"/>
          </a:p>
          <a:p>
            <a:pPr indent="-225425" lvl="2" marL="1143000" marR="0" rtl="0" algn="l">
              <a:lnSpc>
                <a:spcPct val="100000"/>
              </a:lnSpc>
              <a:spcBef>
                <a:spcPts val="600"/>
              </a:spcBef>
              <a:spcAft>
                <a:spcPts val="0"/>
              </a:spcAft>
              <a:buSzPts val="1750"/>
              <a:buChar char="•"/>
            </a:pPr>
            <a:r>
              <a:rPr lang="en-US" sz="1750"/>
              <a:t>Build targeted account lists (Halifax and Toronto)</a:t>
            </a:r>
            <a:endParaRPr sz="1750"/>
          </a:p>
          <a:p>
            <a:pPr indent="-225425" lvl="2" marL="1143000" marR="0" rtl="0" algn="l">
              <a:lnSpc>
                <a:spcPct val="100000"/>
              </a:lnSpc>
              <a:spcBef>
                <a:spcPts val="600"/>
              </a:spcBef>
              <a:spcAft>
                <a:spcPts val="0"/>
              </a:spcAft>
              <a:buSzPts val="1750"/>
              <a:buChar char="•"/>
            </a:pPr>
            <a:r>
              <a:rPr lang="en-US" sz="1750"/>
              <a:t>Personalized email outreach and LinkedIn engagement</a:t>
            </a:r>
            <a:endParaRPr sz="1750"/>
          </a:p>
          <a:p>
            <a:pPr indent="-225425" lvl="2" marL="1143000" marR="0" rtl="0" algn="l">
              <a:lnSpc>
                <a:spcPct val="100000"/>
              </a:lnSpc>
              <a:spcBef>
                <a:spcPts val="600"/>
              </a:spcBef>
              <a:spcAft>
                <a:spcPts val="0"/>
              </a:spcAft>
              <a:buSzPts val="1750"/>
              <a:buChar char="•"/>
            </a:pPr>
            <a:r>
              <a:rPr lang="en-US" sz="1750"/>
              <a:t>Offer value-first lead magnets and strategic calls</a:t>
            </a:r>
            <a:endParaRPr sz="1750"/>
          </a:p>
          <a:p>
            <a:pPr indent="-225425" lvl="2" marL="1143000" marR="0" rtl="0" algn="l">
              <a:lnSpc>
                <a:spcPct val="100000"/>
              </a:lnSpc>
              <a:spcBef>
                <a:spcPts val="600"/>
              </a:spcBef>
              <a:spcAft>
                <a:spcPts val="0"/>
              </a:spcAft>
              <a:buSzPts val="1750"/>
              <a:buChar char="•"/>
            </a:pPr>
            <a:r>
              <a:rPr lang="en-US" sz="1750"/>
              <a:t>Light, focused paid LinkedIn promotion if needed</a:t>
            </a:r>
            <a:endParaRPr sz="1750"/>
          </a:p>
          <a:p>
            <a:pPr indent="0" lvl="0" marL="685800" marR="0" rtl="0" algn="l">
              <a:lnSpc>
                <a:spcPct val="115000"/>
              </a:lnSpc>
              <a:spcBef>
                <a:spcPts val="0"/>
              </a:spcBef>
              <a:spcAft>
                <a:spcPts val="0"/>
              </a:spcAft>
              <a:buNone/>
            </a:pPr>
            <a:r>
              <a:t/>
            </a:r>
            <a:endParaRPr sz="1550"/>
          </a:p>
        </p:txBody>
      </p:sp>
      <p:sp>
        <p:nvSpPr>
          <p:cNvPr id="754" name="Google Shape;754;p99"/>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lead generation (outbound) - targeted account campaigns</a:t>
            </a:r>
            <a:endParaRPr b="0" i="1" sz="1900">
              <a:solidFill>
                <a:schemeClr val="accent5"/>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100"/>
          <p:cNvSpPr txBox="1"/>
          <p:nvPr>
            <p:ph type="title"/>
          </p:nvPr>
        </p:nvSpPr>
        <p:spPr>
          <a:xfrm>
            <a:off x="831275" y="784225"/>
            <a:ext cx="107265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300">
                <a:solidFill>
                  <a:srgbClr val="073763"/>
                </a:solidFill>
              </a:rPr>
              <a:t>Account Based Marketing</a:t>
            </a:r>
            <a:r>
              <a:rPr lang="en-US" sz="3300">
                <a:solidFill>
                  <a:srgbClr val="073763"/>
                </a:solidFill>
              </a:rPr>
              <a:t>: </a:t>
            </a:r>
            <a:r>
              <a:rPr b="0" i="1" lang="en-US" sz="3300">
                <a:solidFill>
                  <a:srgbClr val="073763"/>
                </a:solidFill>
                <a:latin typeface="Calibri"/>
                <a:ea typeface="Calibri"/>
                <a:cs typeface="Calibri"/>
                <a:sym typeface="Calibri"/>
              </a:rPr>
              <a:t>PowerUp Approach</a:t>
            </a:r>
            <a:endParaRPr b="0" i="1" sz="3300">
              <a:solidFill>
                <a:srgbClr val="073763"/>
              </a:solidFill>
              <a:latin typeface="Calibri"/>
              <a:ea typeface="Calibri"/>
              <a:cs typeface="Calibri"/>
              <a:sym typeface="Calibri"/>
            </a:endParaRPr>
          </a:p>
        </p:txBody>
      </p:sp>
      <p:sp>
        <p:nvSpPr>
          <p:cNvPr id="760" name="Google Shape;760;p100"/>
          <p:cNvSpPr txBox="1"/>
          <p:nvPr>
            <p:ph idx="1" type="body"/>
          </p:nvPr>
        </p:nvSpPr>
        <p:spPr>
          <a:xfrm>
            <a:off x="596575" y="1243575"/>
            <a:ext cx="10499100" cy="463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None/>
            </a:pPr>
            <a:r>
              <a:t/>
            </a:r>
            <a:endParaRPr sz="1750"/>
          </a:p>
          <a:p>
            <a:pPr indent="-225425" lvl="1" marL="685800" marR="0" rtl="0" algn="l">
              <a:lnSpc>
                <a:spcPct val="100000"/>
              </a:lnSpc>
              <a:spcBef>
                <a:spcPts val="600"/>
              </a:spcBef>
              <a:spcAft>
                <a:spcPts val="0"/>
              </a:spcAft>
              <a:buClr>
                <a:schemeClr val="accent2"/>
              </a:buClr>
              <a:buSzPts val="1750"/>
              <a:buFont typeface="Calibri"/>
              <a:buChar char="✔"/>
            </a:pPr>
            <a:r>
              <a:rPr b="1" lang="en-US" sz="1750"/>
              <a:t>Step 1: </a:t>
            </a:r>
            <a:r>
              <a:rPr lang="en-US" sz="1750"/>
              <a:t>Identify Priority Accounts: Use research, LinkedIn Sales Navigator, and existing networks to identify highly qualified accounts:</a:t>
            </a:r>
            <a:endParaRPr sz="1750"/>
          </a:p>
          <a:p>
            <a:pPr indent="-225425" lvl="2" marL="1143000" marR="0" rtl="0" algn="l">
              <a:lnSpc>
                <a:spcPct val="100000"/>
              </a:lnSpc>
              <a:spcBef>
                <a:spcPts val="600"/>
              </a:spcBef>
              <a:spcAft>
                <a:spcPts val="0"/>
              </a:spcAft>
              <a:buSzPts val="1750"/>
              <a:buChar char="•"/>
            </a:pPr>
            <a:r>
              <a:rPr lang="en-US" sz="1750"/>
              <a:t>Private Equity Firms: Operating Partners, Portfolio Talent Leaders</a:t>
            </a:r>
            <a:endParaRPr sz="1750"/>
          </a:p>
          <a:p>
            <a:pPr indent="-225425" lvl="2" marL="1143000" marR="0" rtl="0" algn="l">
              <a:lnSpc>
                <a:spcPct val="100000"/>
              </a:lnSpc>
              <a:spcBef>
                <a:spcPts val="600"/>
              </a:spcBef>
              <a:spcAft>
                <a:spcPts val="0"/>
              </a:spcAft>
              <a:buSzPts val="1750"/>
              <a:buChar char="•"/>
            </a:pPr>
            <a:r>
              <a:rPr lang="en-US" sz="1750"/>
              <a:t>Private Companies: Founders, CEOs, COOs, Chief People Officers</a:t>
            </a:r>
            <a:endParaRPr sz="1750"/>
          </a:p>
          <a:p>
            <a:pPr indent="-225425" lvl="1" marL="685800" marR="0" rtl="0" algn="l">
              <a:lnSpc>
                <a:spcPct val="100000"/>
              </a:lnSpc>
              <a:spcBef>
                <a:spcPts val="600"/>
              </a:spcBef>
              <a:spcAft>
                <a:spcPts val="0"/>
              </a:spcAft>
              <a:buClr>
                <a:schemeClr val="accent2"/>
              </a:buClr>
              <a:buSzPts val="1750"/>
              <a:buFont typeface="Calibri"/>
              <a:buChar char="✔"/>
            </a:pPr>
            <a:r>
              <a:rPr b="1" lang="en-US" sz="1750"/>
              <a:t>Step 2: </a:t>
            </a:r>
            <a:r>
              <a:rPr lang="en-US" sz="1750"/>
              <a:t>Personalize Targeted Outreach: Create an integrated marketing-sales campaign for each account:</a:t>
            </a:r>
            <a:endParaRPr sz="1750"/>
          </a:p>
          <a:p>
            <a:pPr indent="-225425" lvl="2" marL="1143000" marR="0" rtl="0" algn="l">
              <a:lnSpc>
                <a:spcPct val="100000"/>
              </a:lnSpc>
              <a:spcBef>
                <a:spcPts val="600"/>
              </a:spcBef>
              <a:spcAft>
                <a:spcPts val="0"/>
              </a:spcAft>
              <a:buSzPts val="1750"/>
              <a:buChar char="•"/>
            </a:pPr>
            <a:r>
              <a:rPr b="1" lang="en-US" sz="1750"/>
              <a:t>Personalized Email Outreach: </a:t>
            </a:r>
            <a:r>
              <a:rPr lang="en-US" sz="1750"/>
              <a:t>Targeted 1:1 emails with relevant lead magnets (e.g., checklist or brief)</a:t>
            </a:r>
            <a:endParaRPr sz="1750"/>
          </a:p>
          <a:p>
            <a:pPr indent="-225425" lvl="2" marL="1143000" marR="0" rtl="0" algn="l">
              <a:lnSpc>
                <a:spcPct val="100000"/>
              </a:lnSpc>
              <a:spcBef>
                <a:spcPts val="600"/>
              </a:spcBef>
              <a:spcAft>
                <a:spcPts val="0"/>
              </a:spcAft>
              <a:buSzPts val="1750"/>
              <a:buChar char="•"/>
            </a:pPr>
            <a:r>
              <a:rPr b="1" lang="en-US" sz="1750"/>
              <a:t>LinkedIn Engagement: </a:t>
            </a:r>
            <a:r>
              <a:rPr lang="en-US" sz="1750"/>
              <a:t>Connection requests, comments, and light ad targeting by geography/role</a:t>
            </a:r>
            <a:endParaRPr sz="1750"/>
          </a:p>
          <a:p>
            <a:pPr indent="-225425" lvl="2" marL="1143000" marR="0" rtl="0" algn="l">
              <a:lnSpc>
                <a:spcPct val="100000"/>
              </a:lnSpc>
              <a:spcBef>
                <a:spcPts val="600"/>
              </a:spcBef>
              <a:spcAft>
                <a:spcPts val="0"/>
              </a:spcAft>
              <a:buSzPts val="1750"/>
              <a:buChar char="•"/>
            </a:pPr>
            <a:r>
              <a:rPr b="1" lang="en-US" sz="1750"/>
              <a:t>Optional Landing Page:</a:t>
            </a:r>
            <a:r>
              <a:rPr lang="en-US" sz="1750"/>
              <a:t> Tailored content or industry-specific page with leadership strategy CTA</a:t>
            </a:r>
            <a:endParaRPr sz="1750"/>
          </a:p>
          <a:p>
            <a:pPr indent="-225425" lvl="2" marL="1143000" marR="0" rtl="0" algn="l">
              <a:lnSpc>
                <a:spcPct val="100000"/>
              </a:lnSpc>
              <a:spcBef>
                <a:spcPts val="600"/>
              </a:spcBef>
              <a:spcAft>
                <a:spcPts val="0"/>
              </a:spcAft>
              <a:buSzPts val="1750"/>
              <a:buChar char="•"/>
            </a:pPr>
            <a:r>
              <a:rPr b="1" lang="en-US" sz="1750"/>
              <a:t>Direct Mail (Top Accounts): </a:t>
            </a:r>
            <a:r>
              <a:rPr lang="en-US" sz="1750"/>
              <a:t>Handwritten notes, short leadership reports, or small branded gifts</a:t>
            </a:r>
            <a:endParaRPr sz="1750"/>
          </a:p>
          <a:p>
            <a:pPr indent="-225425" lvl="2" marL="1143000" marR="0" rtl="0" algn="l">
              <a:lnSpc>
                <a:spcPct val="100000"/>
              </a:lnSpc>
              <a:spcBef>
                <a:spcPts val="600"/>
              </a:spcBef>
              <a:spcAft>
                <a:spcPts val="0"/>
              </a:spcAft>
              <a:buSzPts val="1750"/>
              <a:buChar char="•"/>
            </a:pPr>
            <a:r>
              <a:rPr b="1" lang="en-US" sz="1750"/>
              <a:t>Sales Follow-Up:</a:t>
            </a:r>
            <a:r>
              <a:rPr lang="en-US" sz="1750"/>
              <a:t> Invitation to book a 15–20 min Leadership Strategy Call</a:t>
            </a:r>
            <a:endParaRPr sz="1750"/>
          </a:p>
          <a:p>
            <a:pPr indent="0" lvl="0" marL="685800" marR="0" rtl="0" algn="l">
              <a:lnSpc>
                <a:spcPct val="115000"/>
              </a:lnSpc>
              <a:spcBef>
                <a:spcPts val="0"/>
              </a:spcBef>
              <a:spcAft>
                <a:spcPts val="0"/>
              </a:spcAft>
              <a:buNone/>
            </a:pPr>
            <a:r>
              <a:t/>
            </a:r>
            <a:endParaRPr sz="1550"/>
          </a:p>
        </p:txBody>
      </p:sp>
      <p:sp>
        <p:nvSpPr>
          <p:cNvPr id="761" name="Google Shape;761;p100"/>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lead generation (outbound) - targeted account campaigns</a:t>
            </a:r>
            <a:endParaRPr b="0" i="1" sz="1900">
              <a:solidFill>
                <a:schemeClr val="accent5"/>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01"/>
          <p:cNvSpPr txBox="1"/>
          <p:nvPr>
            <p:ph type="title"/>
          </p:nvPr>
        </p:nvSpPr>
        <p:spPr>
          <a:xfrm>
            <a:off x="831275" y="784225"/>
            <a:ext cx="10726500" cy="674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300">
                <a:solidFill>
                  <a:srgbClr val="073763"/>
                </a:solidFill>
              </a:rPr>
              <a:t>Account Based Marketing: </a:t>
            </a:r>
            <a:r>
              <a:rPr b="0" i="1" lang="en-US" sz="3300">
                <a:solidFill>
                  <a:srgbClr val="073763"/>
                </a:solidFill>
                <a:latin typeface="Calibri"/>
                <a:ea typeface="Calibri"/>
                <a:cs typeface="Calibri"/>
                <a:sym typeface="Calibri"/>
              </a:rPr>
              <a:t>90 Day Plan</a:t>
            </a:r>
            <a:endParaRPr b="0" i="1" sz="3300">
              <a:solidFill>
                <a:srgbClr val="073763"/>
              </a:solidFill>
              <a:latin typeface="Calibri"/>
              <a:ea typeface="Calibri"/>
              <a:cs typeface="Calibri"/>
              <a:sym typeface="Calibri"/>
            </a:endParaRPr>
          </a:p>
        </p:txBody>
      </p:sp>
      <p:sp>
        <p:nvSpPr>
          <p:cNvPr id="767" name="Google Shape;767;p101"/>
          <p:cNvSpPr txBox="1"/>
          <p:nvPr>
            <p:ph idx="1" type="body"/>
          </p:nvPr>
        </p:nvSpPr>
        <p:spPr>
          <a:xfrm>
            <a:off x="920850" y="1516825"/>
            <a:ext cx="34263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b="1" lang="en-US" sz="1750"/>
              <a:t>Month 1 – Prepare &amp; Build</a:t>
            </a:r>
            <a:endParaRPr b="1" sz="1750"/>
          </a:p>
          <a:p>
            <a:pPr indent="0" lvl="0" marL="0" marR="0" rtl="0" algn="l">
              <a:lnSpc>
                <a:spcPct val="100000"/>
              </a:lnSpc>
              <a:spcBef>
                <a:spcPts val="600"/>
              </a:spcBef>
              <a:spcAft>
                <a:spcPts val="0"/>
              </a:spcAft>
              <a:buNone/>
            </a:pPr>
            <a:r>
              <a:rPr i="1" lang="en-US" sz="1750"/>
              <a:t>Objective: Define your focus and set up infrastructure</a:t>
            </a:r>
            <a:br>
              <a:rPr i="1" lang="en-US" sz="1750"/>
            </a:br>
            <a:endParaRPr i="1" sz="1750"/>
          </a:p>
          <a:p>
            <a:pPr indent="-212725" lvl="1" marL="285750" marR="0" rtl="0" algn="l">
              <a:lnSpc>
                <a:spcPct val="100000"/>
              </a:lnSpc>
              <a:spcBef>
                <a:spcPts val="600"/>
              </a:spcBef>
              <a:spcAft>
                <a:spcPts val="0"/>
              </a:spcAft>
              <a:buClr>
                <a:schemeClr val="accent2"/>
              </a:buClr>
              <a:buSzPts val="1550"/>
              <a:buFont typeface="Calibri"/>
              <a:buChar char="✔"/>
            </a:pPr>
            <a:r>
              <a:rPr lang="en-US" sz="1550"/>
              <a:t>Identify top 50–100 high-value accounts (Halifax + Toronto)</a:t>
            </a:r>
            <a:endParaRPr sz="1550"/>
          </a:p>
          <a:p>
            <a:pPr indent="-212725" lvl="1" marL="285750" marR="0" rtl="0" algn="l">
              <a:lnSpc>
                <a:spcPct val="100000"/>
              </a:lnSpc>
              <a:spcBef>
                <a:spcPts val="600"/>
              </a:spcBef>
              <a:spcAft>
                <a:spcPts val="0"/>
              </a:spcAft>
              <a:buClr>
                <a:schemeClr val="accent2"/>
              </a:buClr>
              <a:buSzPts val="1550"/>
              <a:buFont typeface="Calibri"/>
              <a:buChar char="✔"/>
            </a:pPr>
            <a:r>
              <a:rPr lang="en-US" sz="1550"/>
              <a:t>Segment by Private Companies vs. PE Firms</a:t>
            </a:r>
            <a:endParaRPr sz="1550"/>
          </a:p>
          <a:p>
            <a:pPr indent="-212725" lvl="1" marL="285750" marR="0" rtl="0" algn="l">
              <a:lnSpc>
                <a:spcPct val="100000"/>
              </a:lnSpc>
              <a:spcBef>
                <a:spcPts val="600"/>
              </a:spcBef>
              <a:spcAft>
                <a:spcPts val="0"/>
              </a:spcAft>
              <a:buClr>
                <a:schemeClr val="accent2"/>
              </a:buClr>
              <a:buSzPts val="1550"/>
              <a:buFont typeface="Calibri"/>
              <a:buChar char="✔"/>
            </a:pPr>
            <a:r>
              <a:rPr lang="en-US" sz="1550"/>
              <a:t>Research and gather contacts (CEOs, COOs, Operating Partners)</a:t>
            </a:r>
            <a:endParaRPr sz="1550"/>
          </a:p>
          <a:p>
            <a:pPr indent="-212725" lvl="1" marL="285750" marR="0" rtl="0" algn="l">
              <a:lnSpc>
                <a:spcPct val="100000"/>
              </a:lnSpc>
              <a:spcBef>
                <a:spcPts val="600"/>
              </a:spcBef>
              <a:spcAft>
                <a:spcPts val="0"/>
              </a:spcAft>
              <a:buClr>
                <a:schemeClr val="accent2"/>
              </a:buClr>
              <a:buSzPts val="1550"/>
              <a:buFont typeface="Calibri"/>
              <a:buChar char="✔"/>
            </a:pPr>
            <a:r>
              <a:rPr lang="en-US" sz="1550"/>
              <a:t>Create email templates and LinkedIn messages</a:t>
            </a:r>
            <a:endParaRPr sz="1550"/>
          </a:p>
          <a:p>
            <a:pPr indent="-212725" lvl="1" marL="285750" marR="0" rtl="0" algn="l">
              <a:lnSpc>
                <a:spcPct val="100000"/>
              </a:lnSpc>
              <a:spcBef>
                <a:spcPts val="600"/>
              </a:spcBef>
              <a:spcAft>
                <a:spcPts val="0"/>
              </a:spcAft>
              <a:buClr>
                <a:schemeClr val="accent2"/>
              </a:buClr>
              <a:buSzPts val="1550"/>
              <a:buFont typeface="Calibri"/>
              <a:buChar char="✔"/>
            </a:pPr>
            <a:r>
              <a:rPr lang="en-US" sz="1550"/>
              <a:t>Set up CRM tracking (HubSpot Free or Google Sheet)</a:t>
            </a:r>
            <a:endParaRPr sz="1550"/>
          </a:p>
          <a:p>
            <a:pPr indent="0" lvl="0" marL="685800" marR="0" rtl="0" algn="l">
              <a:lnSpc>
                <a:spcPct val="115000"/>
              </a:lnSpc>
              <a:spcBef>
                <a:spcPts val="0"/>
              </a:spcBef>
              <a:spcAft>
                <a:spcPts val="0"/>
              </a:spcAft>
              <a:buNone/>
            </a:pPr>
            <a:r>
              <a:t/>
            </a:r>
            <a:endParaRPr sz="1550"/>
          </a:p>
        </p:txBody>
      </p:sp>
      <p:sp>
        <p:nvSpPr>
          <p:cNvPr id="768" name="Google Shape;768;p101"/>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lead generation (outbound) - targeted account campaigns</a:t>
            </a:r>
            <a:endParaRPr b="0" i="1" sz="1900">
              <a:solidFill>
                <a:schemeClr val="accent5"/>
              </a:solidFill>
              <a:latin typeface="Calibri"/>
              <a:ea typeface="Calibri"/>
              <a:cs typeface="Calibri"/>
              <a:sym typeface="Calibri"/>
            </a:endParaRPr>
          </a:p>
        </p:txBody>
      </p:sp>
      <p:sp>
        <p:nvSpPr>
          <p:cNvPr id="769" name="Google Shape;769;p101"/>
          <p:cNvSpPr txBox="1"/>
          <p:nvPr>
            <p:ph idx="1" type="body"/>
          </p:nvPr>
        </p:nvSpPr>
        <p:spPr>
          <a:xfrm>
            <a:off x="4679825" y="1516825"/>
            <a:ext cx="34263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b="1" lang="en-US" sz="1750"/>
              <a:t>Month 2 – Outreach &amp; Engage</a:t>
            </a:r>
            <a:endParaRPr b="1" sz="1750"/>
          </a:p>
          <a:p>
            <a:pPr indent="0" lvl="0" marL="0" marR="0" rtl="0" algn="l">
              <a:lnSpc>
                <a:spcPct val="100000"/>
              </a:lnSpc>
              <a:spcBef>
                <a:spcPts val="600"/>
              </a:spcBef>
              <a:spcAft>
                <a:spcPts val="0"/>
              </a:spcAft>
              <a:buNone/>
            </a:pPr>
            <a:r>
              <a:rPr i="1" lang="en-US" sz="1650"/>
              <a:t>Objective: Launch personal outreach &amp; begin relationship building</a:t>
            </a:r>
            <a:br>
              <a:rPr i="1" lang="en-US" sz="1650"/>
            </a:br>
            <a:endParaRPr i="1" sz="1650"/>
          </a:p>
          <a:p>
            <a:pPr indent="-212725" lvl="1" marL="285750" marR="0" rtl="0" algn="l">
              <a:lnSpc>
                <a:spcPct val="100000"/>
              </a:lnSpc>
              <a:spcBef>
                <a:spcPts val="600"/>
              </a:spcBef>
              <a:spcAft>
                <a:spcPts val="0"/>
              </a:spcAft>
              <a:buClr>
                <a:schemeClr val="accent2"/>
              </a:buClr>
              <a:buSzPts val="1550"/>
              <a:buFont typeface="Calibri"/>
              <a:buChar char="✔"/>
            </a:pPr>
            <a:r>
              <a:rPr lang="en-US" sz="1550"/>
              <a:t>Send personalized 1:1 emails with relevant lead magnets</a:t>
            </a:r>
            <a:endParaRPr sz="1550"/>
          </a:p>
          <a:p>
            <a:pPr indent="-212725" lvl="1" marL="285750" marR="0" rtl="0" algn="l">
              <a:lnSpc>
                <a:spcPct val="100000"/>
              </a:lnSpc>
              <a:spcBef>
                <a:spcPts val="600"/>
              </a:spcBef>
              <a:spcAft>
                <a:spcPts val="0"/>
              </a:spcAft>
              <a:buClr>
                <a:schemeClr val="accent2"/>
              </a:buClr>
              <a:buSzPts val="1550"/>
              <a:buFont typeface="Calibri"/>
              <a:buChar char="✔"/>
            </a:pPr>
            <a:r>
              <a:rPr lang="en-US" sz="1550"/>
              <a:t>Connect with key contacts on LinkedIn</a:t>
            </a:r>
            <a:endParaRPr sz="1550"/>
          </a:p>
          <a:p>
            <a:pPr indent="-212725" lvl="1" marL="285750" marR="0" rtl="0" algn="l">
              <a:lnSpc>
                <a:spcPct val="100000"/>
              </a:lnSpc>
              <a:spcBef>
                <a:spcPts val="600"/>
              </a:spcBef>
              <a:spcAft>
                <a:spcPts val="0"/>
              </a:spcAft>
              <a:buClr>
                <a:schemeClr val="accent2"/>
              </a:buClr>
              <a:buSzPts val="1550"/>
              <a:buFont typeface="Calibri"/>
              <a:buChar char="✔"/>
            </a:pPr>
            <a:r>
              <a:rPr lang="en-US" sz="1550"/>
              <a:t>Publish 1–2 thought leadership posts per week</a:t>
            </a:r>
            <a:endParaRPr sz="1550"/>
          </a:p>
          <a:p>
            <a:pPr indent="-212725" lvl="1" marL="285750" marR="0" rtl="0" algn="l">
              <a:lnSpc>
                <a:spcPct val="100000"/>
              </a:lnSpc>
              <a:spcBef>
                <a:spcPts val="600"/>
              </a:spcBef>
              <a:spcAft>
                <a:spcPts val="0"/>
              </a:spcAft>
              <a:buClr>
                <a:schemeClr val="accent2"/>
              </a:buClr>
              <a:buSzPts val="1550"/>
              <a:buFont typeface="Calibri"/>
              <a:buChar char="✔"/>
            </a:pPr>
            <a:r>
              <a:rPr lang="en-US" sz="1550"/>
              <a:t>Monitor open rates, replies, and LinkedIn engagement</a:t>
            </a:r>
            <a:endParaRPr sz="1550"/>
          </a:p>
          <a:p>
            <a:pPr indent="-212725" lvl="1" marL="285750" marR="0" rtl="0" algn="l">
              <a:lnSpc>
                <a:spcPct val="100000"/>
              </a:lnSpc>
              <a:spcBef>
                <a:spcPts val="600"/>
              </a:spcBef>
              <a:spcAft>
                <a:spcPts val="0"/>
              </a:spcAft>
              <a:buClr>
                <a:schemeClr val="accent2"/>
              </a:buClr>
              <a:buSzPts val="1550"/>
              <a:buFont typeface="Calibri"/>
              <a:buChar char="✔"/>
            </a:pPr>
            <a:r>
              <a:rPr lang="en-US" sz="1550"/>
              <a:t>Optional: build 1–2 custom landing pages or microsites per segment</a:t>
            </a:r>
            <a:endParaRPr sz="1550"/>
          </a:p>
          <a:p>
            <a:pPr indent="0" lvl="0" marL="685800" marR="0" rtl="0" algn="l">
              <a:lnSpc>
                <a:spcPct val="115000"/>
              </a:lnSpc>
              <a:spcBef>
                <a:spcPts val="0"/>
              </a:spcBef>
              <a:spcAft>
                <a:spcPts val="0"/>
              </a:spcAft>
              <a:buNone/>
            </a:pPr>
            <a:r>
              <a:t/>
            </a:r>
            <a:endParaRPr sz="1550"/>
          </a:p>
        </p:txBody>
      </p:sp>
      <p:sp>
        <p:nvSpPr>
          <p:cNvPr id="770" name="Google Shape;770;p101"/>
          <p:cNvSpPr txBox="1"/>
          <p:nvPr>
            <p:ph idx="1" type="body"/>
          </p:nvPr>
        </p:nvSpPr>
        <p:spPr>
          <a:xfrm>
            <a:off x="8370493" y="1521080"/>
            <a:ext cx="34263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b="1" lang="en-US" sz="1750"/>
              <a:t>Month 3 – Deepen &amp; Convert</a:t>
            </a:r>
            <a:endParaRPr b="1" sz="1750"/>
          </a:p>
          <a:p>
            <a:pPr indent="0" lvl="0" marL="0" marR="0" rtl="0" algn="l">
              <a:lnSpc>
                <a:spcPct val="100000"/>
              </a:lnSpc>
              <a:spcBef>
                <a:spcPts val="600"/>
              </a:spcBef>
              <a:spcAft>
                <a:spcPts val="0"/>
              </a:spcAft>
              <a:buNone/>
            </a:pPr>
            <a:r>
              <a:rPr i="1" lang="en-US" sz="1750"/>
              <a:t>Objective: Move warm accounts towards conversations</a:t>
            </a:r>
            <a:br>
              <a:rPr i="1" lang="en-US" sz="1750"/>
            </a:br>
            <a:endParaRPr i="1" sz="1750"/>
          </a:p>
          <a:p>
            <a:pPr indent="-212725" lvl="1" marL="285750" marR="0" rtl="0" algn="l">
              <a:lnSpc>
                <a:spcPct val="100000"/>
              </a:lnSpc>
              <a:spcBef>
                <a:spcPts val="600"/>
              </a:spcBef>
              <a:spcAft>
                <a:spcPts val="0"/>
              </a:spcAft>
              <a:buClr>
                <a:schemeClr val="accent2"/>
              </a:buClr>
              <a:buSzPts val="1550"/>
              <a:buFont typeface="Calibri"/>
              <a:buChar char="✔"/>
            </a:pPr>
            <a:r>
              <a:rPr lang="en-US" sz="1550"/>
              <a:t>Follow up with second emails and LinkedIn touchpoints</a:t>
            </a:r>
            <a:endParaRPr sz="1550"/>
          </a:p>
          <a:p>
            <a:pPr indent="-212725" lvl="1" marL="285750" marR="0" rtl="0" algn="l">
              <a:lnSpc>
                <a:spcPct val="100000"/>
              </a:lnSpc>
              <a:spcBef>
                <a:spcPts val="600"/>
              </a:spcBef>
              <a:spcAft>
                <a:spcPts val="0"/>
              </a:spcAft>
              <a:buClr>
                <a:schemeClr val="accent2"/>
              </a:buClr>
              <a:buSzPts val="1550"/>
              <a:buFont typeface="Calibri"/>
              <a:buChar char="✔"/>
            </a:pPr>
            <a:r>
              <a:rPr lang="en-US" sz="1550"/>
              <a:t>Invite engaged leads to a Leadership Strategy Call</a:t>
            </a:r>
            <a:endParaRPr sz="1550"/>
          </a:p>
          <a:p>
            <a:pPr indent="-212725" lvl="1" marL="285750" marR="0" rtl="0" algn="l">
              <a:lnSpc>
                <a:spcPct val="100000"/>
              </a:lnSpc>
              <a:spcBef>
                <a:spcPts val="600"/>
              </a:spcBef>
              <a:spcAft>
                <a:spcPts val="0"/>
              </a:spcAft>
              <a:buClr>
                <a:schemeClr val="accent2"/>
              </a:buClr>
              <a:buSzPts val="1550"/>
              <a:buFont typeface="Calibri"/>
              <a:buChar char="✔"/>
            </a:pPr>
            <a:r>
              <a:rPr lang="en-US" sz="1550"/>
              <a:t>Optional: mail physical assets to top 10–15 accounts (e.g., note or report)</a:t>
            </a:r>
            <a:endParaRPr sz="1550"/>
          </a:p>
          <a:p>
            <a:pPr indent="-212725" lvl="1" marL="285750" marR="0" rtl="0" algn="l">
              <a:lnSpc>
                <a:spcPct val="100000"/>
              </a:lnSpc>
              <a:spcBef>
                <a:spcPts val="600"/>
              </a:spcBef>
              <a:spcAft>
                <a:spcPts val="0"/>
              </a:spcAft>
              <a:buClr>
                <a:schemeClr val="accent2"/>
              </a:buClr>
              <a:buSzPts val="1550"/>
              <a:buFont typeface="Calibri"/>
              <a:buChar char="✔"/>
            </a:pPr>
            <a:r>
              <a:rPr lang="en-US" sz="1550"/>
              <a:t>Track engagement, refine messaging, and prioritize top performers</a:t>
            </a:r>
            <a:endParaRPr sz="1550"/>
          </a:p>
          <a:p>
            <a:pPr indent="-212725" lvl="1" marL="285750" marR="0" rtl="0" algn="l">
              <a:lnSpc>
                <a:spcPct val="100000"/>
              </a:lnSpc>
              <a:spcBef>
                <a:spcPts val="600"/>
              </a:spcBef>
              <a:spcAft>
                <a:spcPts val="0"/>
              </a:spcAft>
              <a:buClr>
                <a:schemeClr val="accent2"/>
              </a:buClr>
              <a:buSzPts val="1550"/>
              <a:buFont typeface="Calibri"/>
              <a:buChar char="✔"/>
            </a:pPr>
            <a:r>
              <a:rPr lang="en-US" sz="1550"/>
              <a:t>Evaluate results: # of conversations started, % engaged, lessons learned</a:t>
            </a:r>
            <a:endParaRPr sz="1550"/>
          </a:p>
          <a:p>
            <a:pPr indent="0" lvl="0" marL="685800" marR="0" rtl="0" algn="l">
              <a:lnSpc>
                <a:spcPct val="115000"/>
              </a:lnSpc>
              <a:spcBef>
                <a:spcPts val="0"/>
              </a:spcBef>
              <a:spcAft>
                <a:spcPts val="0"/>
              </a:spcAft>
              <a:buNone/>
            </a:pPr>
            <a:r>
              <a:t/>
            </a:r>
            <a:endParaRPr sz="155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102"/>
          <p:cNvSpPr txBox="1"/>
          <p:nvPr>
            <p:ph type="title"/>
          </p:nvPr>
        </p:nvSpPr>
        <p:spPr>
          <a:xfrm>
            <a:off x="831275" y="784225"/>
            <a:ext cx="107265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300">
                <a:solidFill>
                  <a:srgbClr val="073763"/>
                </a:solidFill>
              </a:rPr>
              <a:t>Account Based Marketing: </a:t>
            </a:r>
            <a:r>
              <a:rPr b="0" i="1" lang="en-US" sz="3300">
                <a:solidFill>
                  <a:srgbClr val="073763"/>
                </a:solidFill>
                <a:latin typeface="Calibri"/>
                <a:ea typeface="Calibri"/>
                <a:cs typeface="Calibri"/>
                <a:sym typeface="Calibri"/>
              </a:rPr>
              <a:t>Potential target accounts</a:t>
            </a:r>
            <a:endParaRPr b="0" i="1" sz="3300">
              <a:solidFill>
                <a:srgbClr val="073763"/>
              </a:solidFill>
              <a:latin typeface="Calibri"/>
              <a:ea typeface="Calibri"/>
              <a:cs typeface="Calibri"/>
              <a:sym typeface="Calibri"/>
            </a:endParaRPr>
          </a:p>
        </p:txBody>
      </p:sp>
      <p:sp>
        <p:nvSpPr>
          <p:cNvPr id="776" name="Google Shape;776;p102"/>
          <p:cNvSpPr txBox="1"/>
          <p:nvPr>
            <p:ph idx="1" type="body"/>
          </p:nvPr>
        </p:nvSpPr>
        <p:spPr>
          <a:xfrm>
            <a:off x="920850" y="1516825"/>
            <a:ext cx="10038300" cy="593100"/>
          </a:xfrm>
          <a:prstGeom prst="rect">
            <a:avLst/>
          </a:prstGeom>
          <a:noFill/>
          <a:ln>
            <a:noFill/>
          </a:ln>
        </p:spPr>
        <p:txBody>
          <a:bodyPr anchorCtr="0" anchor="t" bIns="45700" lIns="91425" spcFirstLastPara="1" rIns="91425" wrap="square" tIns="45700">
            <a:noAutofit/>
          </a:bodyPr>
          <a:lstStyle/>
          <a:p>
            <a:pPr indent="-225425" lvl="1" marL="685800" marR="0" rtl="0" algn="l">
              <a:lnSpc>
                <a:spcPct val="100000"/>
              </a:lnSpc>
              <a:spcBef>
                <a:spcPts val="600"/>
              </a:spcBef>
              <a:spcAft>
                <a:spcPts val="0"/>
              </a:spcAft>
              <a:buClr>
                <a:schemeClr val="accent2"/>
              </a:buClr>
              <a:buSzPts val="1750"/>
              <a:buFont typeface="Calibri"/>
              <a:buChar char="✔"/>
            </a:pPr>
            <a:r>
              <a:rPr b="1" lang="en-US" sz="1750"/>
              <a:t>Tier 1: Private Equity Firms in Halifax and Toronto</a:t>
            </a:r>
            <a:endParaRPr sz="1750"/>
          </a:p>
          <a:p>
            <a:pPr indent="0" lvl="0" marL="685800" marR="0" rtl="0" algn="l">
              <a:lnSpc>
                <a:spcPct val="115000"/>
              </a:lnSpc>
              <a:spcBef>
                <a:spcPts val="0"/>
              </a:spcBef>
              <a:spcAft>
                <a:spcPts val="0"/>
              </a:spcAft>
              <a:buNone/>
            </a:pPr>
            <a:r>
              <a:t/>
            </a:r>
            <a:endParaRPr sz="1550"/>
          </a:p>
        </p:txBody>
      </p:sp>
      <p:sp>
        <p:nvSpPr>
          <p:cNvPr id="777" name="Google Shape;777;p102"/>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lead generation (outbound) - targeted account campaigns</a:t>
            </a:r>
            <a:endParaRPr b="0" i="1" sz="1900">
              <a:solidFill>
                <a:schemeClr val="accent5"/>
              </a:solidFill>
              <a:latin typeface="Calibri"/>
              <a:ea typeface="Calibri"/>
              <a:cs typeface="Calibri"/>
              <a:sym typeface="Calibri"/>
            </a:endParaRPr>
          </a:p>
        </p:txBody>
      </p:sp>
      <p:graphicFrame>
        <p:nvGraphicFramePr>
          <p:cNvPr id="778" name="Google Shape;778;p102"/>
          <p:cNvGraphicFramePr/>
          <p:nvPr/>
        </p:nvGraphicFramePr>
        <p:xfrm>
          <a:off x="1629950" y="2163500"/>
          <a:ext cx="3000000" cy="3000000"/>
        </p:xfrm>
        <a:graphic>
          <a:graphicData uri="http://schemas.openxmlformats.org/drawingml/2006/table">
            <a:tbl>
              <a:tblPr>
                <a:noFill/>
                <a:tableStyleId>{0E18FF08-E23F-4524-BA8D-48A48CBE8C8F}</a:tableStyleId>
              </a:tblPr>
              <a:tblGrid>
                <a:gridCol w="2944225"/>
                <a:gridCol w="1008900"/>
                <a:gridCol w="3700800"/>
              </a:tblGrid>
              <a:tr h="567200">
                <a:tc>
                  <a:txBody>
                    <a:bodyPr/>
                    <a:lstStyle/>
                    <a:p>
                      <a:pPr indent="0" lvl="0" marL="0" rtl="0" algn="ctr">
                        <a:lnSpc>
                          <a:spcPct val="115000"/>
                        </a:lnSpc>
                        <a:spcBef>
                          <a:spcPts val="0"/>
                        </a:spcBef>
                        <a:spcAft>
                          <a:spcPts val="0"/>
                        </a:spcAft>
                        <a:buNone/>
                      </a:pPr>
                      <a:r>
                        <a:rPr b="1" lang="en-US" sz="1500">
                          <a:latin typeface="Calibri"/>
                          <a:ea typeface="Calibri"/>
                          <a:cs typeface="Calibri"/>
                          <a:sym typeface="Calibri"/>
                        </a:rPr>
                        <a:t>Firm</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500">
                          <a:latin typeface="Calibri"/>
                          <a:ea typeface="Calibri"/>
                          <a:cs typeface="Calibri"/>
                          <a:sym typeface="Calibri"/>
                        </a:rPr>
                        <a:t>Location</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500">
                          <a:latin typeface="Calibri"/>
                          <a:ea typeface="Calibri"/>
                          <a:cs typeface="Calibri"/>
                          <a:sym typeface="Calibri"/>
                        </a:rPr>
                        <a:t>Focus Area</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67200">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SeaFort Capital</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Halifax</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Industrials, business services</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67200">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Killick Capital</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Atlantic</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Transportation, energy, defence</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67200">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Ironbridge Equity Partners</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Toronto</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Manufacturing, distribution, services</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67200">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Clairvest Group</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Toronto</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Business services, healthcare, industrials</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67200">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Peloton Capital Management</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Toronto</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Healthcare, consumer services</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67200">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Banyan Capital Partners</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Toronto</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500">
                          <a:latin typeface="Calibri"/>
                          <a:ea typeface="Calibri"/>
                          <a:cs typeface="Calibri"/>
                          <a:sym typeface="Calibri"/>
                        </a:rPr>
                        <a:t>Industrial and business services</a:t>
                      </a:r>
                      <a:endParaRPr sz="15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103"/>
          <p:cNvSpPr txBox="1"/>
          <p:nvPr>
            <p:ph type="title"/>
          </p:nvPr>
        </p:nvSpPr>
        <p:spPr>
          <a:xfrm>
            <a:off x="831275" y="784225"/>
            <a:ext cx="107265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300">
                <a:solidFill>
                  <a:srgbClr val="073763"/>
                </a:solidFill>
              </a:rPr>
              <a:t>Account Based Marketing: </a:t>
            </a:r>
            <a:r>
              <a:rPr b="0" i="1" lang="en-US" sz="3300">
                <a:solidFill>
                  <a:srgbClr val="073763"/>
                </a:solidFill>
                <a:latin typeface="Calibri"/>
                <a:ea typeface="Calibri"/>
                <a:cs typeface="Calibri"/>
                <a:sym typeface="Calibri"/>
              </a:rPr>
              <a:t>Potential target accounts</a:t>
            </a:r>
            <a:endParaRPr b="0" i="1" sz="3300">
              <a:solidFill>
                <a:srgbClr val="073763"/>
              </a:solidFill>
              <a:latin typeface="Calibri"/>
              <a:ea typeface="Calibri"/>
              <a:cs typeface="Calibri"/>
              <a:sym typeface="Calibri"/>
            </a:endParaRPr>
          </a:p>
        </p:txBody>
      </p:sp>
      <p:sp>
        <p:nvSpPr>
          <p:cNvPr id="784" name="Google Shape;784;p103"/>
          <p:cNvSpPr txBox="1"/>
          <p:nvPr>
            <p:ph idx="1" type="body"/>
          </p:nvPr>
        </p:nvSpPr>
        <p:spPr>
          <a:xfrm>
            <a:off x="920850" y="1516825"/>
            <a:ext cx="10038300" cy="593100"/>
          </a:xfrm>
          <a:prstGeom prst="rect">
            <a:avLst/>
          </a:prstGeom>
          <a:noFill/>
          <a:ln>
            <a:noFill/>
          </a:ln>
        </p:spPr>
        <p:txBody>
          <a:bodyPr anchorCtr="0" anchor="t" bIns="45700" lIns="91425" spcFirstLastPara="1" rIns="91425" wrap="square" tIns="45700">
            <a:noAutofit/>
          </a:bodyPr>
          <a:lstStyle/>
          <a:p>
            <a:pPr indent="-225425" lvl="1" marL="685800" marR="0" rtl="0" algn="l">
              <a:lnSpc>
                <a:spcPct val="100000"/>
              </a:lnSpc>
              <a:spcBef>
                <a:spcPts val="600"/>
              </a:spcBef>
              <a:spcAft>
                <a:spcPts val="0"/>
              </a:spcAft>
              <a:buClr>
                <a:schemeClr val="accent2"/>
              </a:buClr>
              <a:buSzPts val="1750"/>
              <a:buFont typeface="Calibri"/>
              <a:buChar char="✔"/>
            </a:pPr>
            <a:r>
              <a:rPr b="1" lang="en-US" sz="1750"/>
              <a:t>Tier 2: Scaling Private Companies in Halifax and Toronto</a:t>
            </a:r>
            <a:endParaRPr sz="1750"/>
          </a:p>
          <a:p>
            <a:pPr indent="0" lvl="0" marL="685800" marR="0" rtl="0" algn="l">
              <a:lnSpc>
                <a:spcPct val="115000"/>
              </a:lnSpc>
              <a:spcBef>
                <a:spcPts val="0"/>
              </a:spcBef>
              <a:spcAft>
                <a:spcPts val="0"/>
              </a:spcAft>
              <a:buNone/>
            </a:pPr>
            <a:r>
              <a:t/>
            </a:r>
            <a:endParaRPr sz="1550"/>
          </a:p>
        </p:txBody>
      </p:sp>
      <p:sp>
        <p:nvSpPr>
          <p:cNvPr id="785" name="Google Shape;785;p103"/>
          <p:cNvSpPr txBox="1"/>
          <p:nvPr>
            <p:ph type="title"/>
          </p:nvPr>
        </p:nvSpPr>
        <p:spPr>
          <a:xfrm>
            <a:off x="862300" y="286950"/>
            <a:ext cx="10695300" cy="443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b="0" i="1" lang="en-US" sz="1900">
                <a:solidFill>
                  <a:schemeClr val="accent5"/>
                </a:solidFill>
                <a:latin typeface="Calibri"/>
                <a:ea typeface="Calibri"/>
                <a:cs typeface="Calibri"/>
                <a:sym typeface="Calibri"/>
              </a:rPr>
              <a:t>lead generation (outbound) - targeted account campaigns</a:t>
            </a:r>
            <a:endParaRPr b="0" i="1" sz="1900">
              <a:solidFill>
                <a:schemeClr val="accent5"/>
              </a:solidFill>
              <a:latin typeface="Calibri"/>
              <a:ea typeface="Calibri"/>
              <a:cs typeface="Calibri"/>
              <a:sym typeface="Calibri"/>
            </a:endParaRPr>
          </a:p>
        </p:txBody>
      </p:sp>
      <p:graphicFrame>
        <p:nvGraphicFramePr>
          <p:cNvPr id="786" name="Google Shape;786;p103"/>
          <p:cNvGraphicFramePr/>
          <p:nvPr/>
        </p:nvGraphicFramePr>
        <p:xfrm>
          <a:off x="1395600" y="2109850"/>
          <a:ext cx="3000000" cy="3000000"/>
        </p:xfrm>
        <a:graphic>
          <a:graphicData uri="http://schemas.openxmlformats.org/drawingml/2006/table">
            <a:tbl>
              <a:tblPr>
                <a:noFill/>
                <a:tableStyleId>{0E18FF08-E23F-4524-BA8D-48A48CBE8C8F}</a:tableStyleId>
              </a:tblPr>
              <a:tblGrid>
                <a:gridCol w="1761550"/>
                <a:gridCol w="2702275"/>
                <a:gridCol w="3518500"/>
              </a:tblGrid>
              <a:tr h="403175">
                <a:tc>
                  <a:txBody>
                    <a:bodyPr/>
                    <a:lstStyle/>
                    <a:p>
                      <a:pPr indent="0" lvl="0" marL="0" rtl="0" algn="ctr">
                        <a:lnSpc>
                          <a:spcPct val="115000"/>
                        </a:lnSpc>
                        <a:spcBef>
                          <a:spcPts val="0"/>
                        </a:spcBef>
                        <a:spcAft>
                          <a:spcPts val="0"/>
                        </a:spcAft>
                        <a:buNone/>
                      </a:pPr>
                      <a:r>
                        <a:rPr b="1" lang="en-US" sz="1600">
                          <a:latin typeface="Calibri"/>
                          <a:ea typeface="Calibri"/>
                          <a:cs typeface="Calibri"/>
                          <a:sym typeface="Calibri"/>
                        </a:rPr>
                        <a:t>Company</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00">
                          <a:latin typeface="Calibri"/>
                          <a:ea typeface="Calibri"/>
                          <a:cs typeface="Calibri"/>
                          <a:sym typeface="Calibri"/>
                        </a:rPr>
                        <a:t>Location</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00">
                          <a:latin typeface="Calibri"/>
                          <a:ea typeface="Calibri"/>
                          <a:cs typeface="Calibri"/>
                          <a:sym typeface="Calibri"/>
                        </a:rPr>
                        <a:t>Focus Area</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31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Dash Hudson</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Halifax</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Social media analytics SaaS</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31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Milk Moovement</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Halifax</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Agri-tech, logistics SaaS</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31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Proposify</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Halifax</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B2B proposal software</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31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Kinduct</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Halifax</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Health performance platform (check)</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31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Fiix Software</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Toronto</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CMMS software</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31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Loopio</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Toronto</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RFP management SaaS</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31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BenchSci</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Toronto</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Life sciences AI/ML</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31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Clio</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National (Toronto presence)</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Legal tech</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3175">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Think Research</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Toronto</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latin typeface="Calibri"/>
                          <a:ea typeface="Calibri"/>
                          <a:cs typeface="Calibri"/>
                          <a:sym typeface="Calibri"/>
                        </a:rPr>
                        <a:t>Healthcare IT</a:t>
                      </a:r>
                      <a:endParaRPr sz="1600">
                        <a:latin typeface="Calibri"/>
                        <a:ea typeface="Calibri"/>
                        <a:cs typeface="Calibri"/>
                        <a:sym typeface="Calibri"/>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pic>
        <p:nvPicPr>
          <p:cNvPr id="791" name="Google Shape;791;p104"/>
          <p:cNvPicPr preferRelativeResize="0"/>
          <p:nvPr/>
        </p:nvPicPr>
        <p:blipFill rotWithShape="1">
          <a:blip r:embed="rId3">
            <a:alphaModFix/>
          </a:blip>
          <a:srcRect b="0" l="0" r="0" t="0"/>
          <a:stretch/>
        </p:blipFill>
        <p:spPr>
          <a:xfrm>
            <a:off x="983800" y="1877525"/>
            <a:ext cx="5434825" cy="3070174"/>
          </a:xfrm>
          <a:prstGeom prst="rect">
            <a:avLst/>
          </a:prstGeom>
          <a:noFill/>
          <a:ln>
            <a:noFill/>
          </a:ln>
        </p:spPr>
      </p:pic>
      <p:sp>
        <p:nvSpPr>
          <p:cNvPr id="792" name="Google Shape;792;p104"/>
          <p:cNvSpPr txBox="1"/>
          <p:nvPr>
            <p:ph type="title"/>
          </p:nvPr>
        </p:nvSpPr>
        <p:spPr>
          <a:xfrm>
            <a:off x="725875" y="708025"/>
            <a:ext cx="11060400" cy="75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ABM</a:t>
            </a:r>
            <a:r>
              <a:rPr b="0" i="1" lang="en-US" sz="3800">
                <a:solidFill>
                  <a:srgbClr val="073763"/>
                </a:solidFill>
                <a:latin typeface="Calibri"/>
                <a:ea typeface="Calibri"/>
                <a:cs typeface="Calibri"/>
                <a:sym typeface="Calibri"/>
              </a:rPr>
              <a:t> </a:t>
            </a:r>
            <a:r>
              <a:rPr b="0" i="1" lang="en-US" sz="3800">
                <a:solidFill>
                  <a:schemeClr val="accent4"/>
                </a:solidFill>
                <a:latin typeface="Calibri"/>
                <a:ea typeface="Calibri"/>
                <a:cs typeface="Calibri"/>
                <a:sym typeface="Calibri"/>
              </a:rPr>
              <a:t>Assets</a:t>
            </a:r>
            <a:endParaRPr b="0" i="1" sz="3800">
              <a:solidFill>
                <a:schemeClr val="accent4"/>
              </a:solidFill>
              <a:latin typeface="Calibri"/>
              <a:ea typeface="Calibri"/>
              <a:cs typeface="Calibri"/>
              <a:sym typeface="Calibri"/>
            </a:endParaRPr>
          </a:p>
        </p:txBody>
      </p:sp>
      <p:sp>
        <p:nvSpPr>
          <p:cNvPr id="793" name="Google Shape;793;p104"/>
          <p:cNvSpPr txBox="1"/>
          <p:nvPr>
            <p:ph idx="1" type="body"/>
          </p:nvPr>
        </p:nvSpPr>
        <p:spPr>
          <a:xfrm>
            <a:off x="1451800" y="2208775"/>
            <a:ext cx="5769300" cy="2211900"/>
          </a:xfrm>
          <a:prstGeom prst="rect">
            <a:avLst/>
          </a:prstGeom>
          <a:noFill/>
          <a:ln>
            <a:noFill/>
          </a:ln>
        </p:spPr>
        <p:txBody>
          <a:bodyPr anchorCtr="0" anchor="t" bIns="45700" lIns="91425" spcFirstLastPara="1" rIns="91425" wrap="square" tIns="45700">
            <a:noAutofit/>
          </a:bodyPr>
          <a:lstStyle/>
          <a:p>
            <a:pPr indent="-238125" lvl="0" marL="228600" rtl="0" algn="l">
              <a:lnSpc>
                <a:spcPct val="100000"/>
              </a:lnSpc>
              <a:spcBef>
                <a:spcPts val="600"/>
              </a:spcBef>
              <a:spcAft>
                <a:spcPts val="0"/>
              </a:spcAft>
              <a:buClr>
                <a:schemeClr val="accent2"/>
              </a:buClr>
              <a:buSzPts val="1950"/>
              <a:buFont typeface="Noto Sans Symbols"/>
              <a:buChar char="➔"/>
            </a:pPr>
            <a:r>
              <a:rPr b="1" lang="en-US" sz="1950"/>
              <a:t>Bonus ABM Assets:</a:t>
            </a:r>
            <a:endParaRPr b="1" sz="1950"/>
          </a:p>
          <a:p>
            <a:pPr indent="-231775" lvl="1" marL="685800" rtl="0" algn="l">
              <a:lnSpc>
                <a:spcPct val="100000"/>
              </a:lnSpc>
              <a:spcBef>
                <a:spcPts val="600"/>
              </a:spcBef>
              <a:spcAft>
                <a:spcPts val="0"/>
              </a:spcAft>
              <a:buClr>
                <a:schemeClr val="accent2"/>
              </a:buClr>
              <a:buSzPts val="1850"/>
              <a:buFont typeface="Noto Sans Symbols"/>
              <a:buChar char="◆"/>
            </a:pPr>
            <a:r>
              <a:rPr lang="en-US" sz="1850"/>
              <a:t>ABM Strategy</a:t>
            </a:r>
            <a:endParaRPr sz="1850"/>
          </a:p>
          <a:p>
            <a:pPr indent="-231775" lvl="1" marL="685800" rtl="0" algn="l">
              <a:lnSpc>
                <a:spcPct val="100000"/>
              </a:lnSpc>
              <a:spcBef>
                <a:spcPts val="600"/>
              </a:spcBef>
              <a:spcAft>
                <a:spcPts val="0"/>
              </a:spcAft>
              <a:buClr>
                <a:schemeClr val="accent2"/>
              </a:buClr>
              <a:buSzPts val="1850"/>
              <a:buFont typeface="Noto Sans Symbols"/>
              <a:buChar char="◆"/>
            </a:pPr>
            <a:r>
              <a:rPr lang="en-US" sz="1850"/>
              <a:t>Initial Target Accounts</a:t>
            </a:r>
            <a:endParaRPr sz="1850"/>
          </a:p>
          <a:p>
            <a:pPr indent="0" lvl="0" marL="0" rtl="0" algn="l">
              <a:lnSpc>
                <a:spcPct val="100000"/>
              </a:lnSpc>
              <a:spcBef>
                <a:spcPts val="600"/>
              </a:spcBef>
              <a:spcAft>
                <a:spcPts val="0"/>
              </a:spcAft>
              <a:buNone/>
            </a:pPr>
            <a:r>
              <a:t/>
            </a:r>
            <a:endParaRPr sz="1650"/>
          </a:p>
          <a:p>
            <a:pPr indent="0" lvl="0" marL="0" rtl="0" algn="l">
              <a:lnSpc>
                <a:spcPct val="100000"/>
              </a:lnSpc>
              <a:spcBef>
                <a:spcPts val="600"/>
              </a:spcBef>
              <a:spcAft>
                <a:spcPts val="0"/>
              </a:spcAft>
              <a:buNone/>
            </a:pPr>
            <a:r>
              <a:t/>
            </a:r>
            <a:endParaRPr sz="1650"/>
          </a:p>
          <a:p>
            <a:pPr indent="0" lvl="0" marL="0" rtl="0" algn="l">
              <a:lnSpc>
                <a:spcPct val="100000"/>
              </a:lnSpc>
              <a:spcBef>
                <a:spcPts val="600"/>
              </a:spcBef>
              <a:spcAft>
                <a:spcPts val="600"/>
              </a:spcAft>
              <a:buNone/>
            </a:pPr>
            <a:r>
              <a:t/>
            </a:r>
            <a:endParaRPr sz="1750"/>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pic>
        <p:nvPicPr>
          <p:cNvPr id="798" name="Google Shape;798;p105"/>
          <p:cNvPicPr preferRelativeResize="0"/>
          <p:nvPr/>
        </p:nvPicPr>
        <p:blipFill rotWithShape="1">
          <a:blip r:embed="rId3">
            <a:alphaModFix/>
          </a:blip>
          <a:srcRect b="0" l="0" r="0" t="0"/>
          <a:stretch/>
        </p:blipFill>
        <p:spPr>
          <a:xfrm>
            <a:off x="983800" y="1877525"/>
            <a:ext cx="9222375" cy="3070174"/>
          </a:xfrm>
          <a:prstGeom prst="rect">
            <a:avLst/>
          </a:prstGeom>
          <a:noFill/>
          <a:ln>
            <a:noFill/>
          </a:ln>
        </p:spPr>
      </p:pic>
      <p:sp>
        <p:nvSpPr>
          <p:cNvPr id="799" name="Google Shape;799;p105"/>
          <p:cNvSpPr txBox="1"/>
          <p:nvPr>
            <p:ph type="title"/>
          </p:nvPr>
        </p:nvSpPr>
        <p:spPr>
          <a:xfrm>
            <a:off x="725875" y="708025"/>
            <a:ext cx="11060400" cy="751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b="0" i="1" lang="en-US" sz="3800">
                <a:solidFill>
                  <a:srgbClr val="073763"/>
                </a:solidFill>
                <a:latin typeface="Calibri"/>
                <a:ea typeface="Calibri"/>
                <a:cs typeface="Calibri"/>
                <a:sym typeface="Calibri"/>
              </a:rPr>
              <a:t>Action Plan </a:t>
            </a:r>
            <a:endParaRPr b="0" i="1" sz="3800">
              <a:solidFill>
                <a:schemeClr val="accent4"/>
              </a:solidFill>
              <a:latin typeface="Calibri"/>
              <a:ea typeface="Calibri"/>
              <a:cs typeface="Calibri"/>
              <a:sym typeface="Calibri"/>
            </a:endParaRPr>
          </a:p>
        </p:txBody>
      </p:sp>
      <p:sp>
        <p:nvSpPr>
          <p:cNvPr id="800" name="Google Shape;800;p105"/>
          <p:cNvSpPr txBox="1"/>
          <p:nvPr>
            <p:ph idx="1" type="body"/>
          </p:nvPr>
        </p:nvSpPr>
        <p:spPr>
          <a:xfrm>
            <a:off x="1451800" y="2208775"/>
            <a:ext cx="5769300" cy="2211900"/>
          </a:xfrm>
          <a:prstGeom prst="rect">
            <a:avLst/>
          </a:prstGeom>
          <a:noFill/>
          <a:ln>
            <a:noFill/>
          </a:ln>
        </p:spPr>
        <p:txBody>
          <a:bodyPr anchorCtr="0" anchor="t" bIns="45700" lIns="91425" spcFirstLastPara="1" rIns="91425" wrap="square" tIns="45700">
            <a:noAutofit/>
          </a:bodyPr>
          <a:lstStyle/>
          <a:p>
            <a:pPr indent="-238125" lvl="0" marL="228600" rtl="0" algn="l">
              <a:lnSpc>
                <a:spcPct val="100000"/>
              </a:lnSpc>
              <a:spcBef>
                <a:spcPts val="600"/>
              </a:spcBef>
              <a:spcAft>
                <a:spcPts val="0"/>
              </a:spcAft>
              <a:buClr>
                <a:schemeClr val="accent2"/>
              </a:buClr>
              <a:buSzPts val="1950"/>
              <a:buFont typeface="Noto Sans Symbols"/>
              <a:buChar char="➔"/>
            </a:pPr>
            <a:r>
              <a:rPr b="1" lang="en-US" sz="1950"/>
              <a:t>One year action plan</a:t>
            </a:r>
            <a:endParaRPr b="1" sz="1950"/>
          </a:p>
          <a:p>
            <a:pPr indent="-238125" lvl="0" marL="228600" rtl="0" algn="l">
              <a:lnSpc>
                <a:spcPct val="100000"/>
              </a:lnSpc>
              <a:spcBef>
                <a:spcPts val="600"/>
              </a:spcBef>
              <a:spcAft>
                <a:spcPts val="0"/>
              </a:spcAft>
              <a:buClr>
                <a:schemeClr val="accent2"/>
              </a:buClr>
              <a:buSzPts val="1950"/>
              <a:buFont typeface="Noto Sans Symbols"/>
              <a:buChar char="➔"/>
            </a:pPr>
            <a:r>
              <a:rPr b="1" lang="en-US" sz="1950"/>
              <a:t>What to do and when</a:t>
            </a:r>
            <a:endParaRPr sz="1850"/>
          </a:p>
          <a:p>
            <a:pPr indent="0" lvl="0" marL="0" rtl="0" algn="l">
              <a:lnSpc>
                <a:spcPct val="100000"/>
              </a:lnSpc>
              <a:spcBef>
                <a:spcPts val="600"/>
              </a:spcBef>
              <a:spcAft>
                <a:spcPts val="0"/>
              </a:spcAft>
              <a:buNone/>
            </a:pPr>
            <a:r>
              <a:t/>
            </a:r>
            <a:endParaRPr sz="1650"/>
          </a:p>
          <a:p>
            <a:pPr indent="0" lvl="0" marL="0" rtl="0" algn="l">
              <a:lnSpc>
                <a:spcPct val="100000"/>
              </a:lnSpc>
              <a:spcBef>
                <a:spcPts val="600"/>
              </a:spcBef>
              <a:spcAft>
                <a:spcPts val="0"/>
              </a:spcAft>
              <a:buNone/>
            </a:pPr>
            <a:r>
              <a:t/>
            </a:r>
            <a:endParaRPr sz="1650"/>
          </a:p>
          <a:p>
            <a:pPr indent="0" lvl="0" marL="0" rtl="0" algn="l">
              <a:lnSpc>
                <a:spcPct val="100000"/>
              </a:lnSpc>
              <a:spcBef>
                <a:spcPts val="600"/>
              </a:spcBef>
              <a:spcAft>
                <a:spcPts val="600"/>
              </a:spcAft>
              <a:buNone/>
            </a:pPr>
            <a:r>
              <a:t/>
            </a:r>
            <a:endParaRPr sz="175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06"/>
          <p:cNvSpPr txBox="1"/>
          <p:nvPr>
            <p:ph type="title"/>
          </p:nvPr>
        </p:nvSpPr>
        <p:spPr>
          <a:xfrm>
            <a:off x="816000" y="852100"/>
            <a:ext cx="10560000" cy="1325700"/>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chemeClr val="accent2"/>
              </a:buClr>
              <a:buSzPct val="100000"/>
              <a:buFont typeface="Calibri"/>
              <a:buNone/>
            </a:pPr>
            <a:r>
              <a:rPr lang="en-US">
                <a:solidFill>
                  <a:schemeClr val="accent5"/>
                </a:solidFill>
              </a:rPr>
              <a:t>Next Steps</a:t>
            </a:r>
            <a:endParaRPr>
              <a:solidFill>
                <a:schemeClr val="accent5"/>
              </a:solidFill>
            </a:endParaRPr>
          </a:p>
          <a:p>
            <a:pPr indent="0" lvl="0" marL="0" rtl="0" algn="ctr">
              <a:lnSpc>
                <a:spcPct val="90000"/>
              </a:lnSpc>
              <a:spcBef>
                <a:spcPts val="0"/>
              </a:spcBef>
              <a:spcAft>
                <a:spcPts val="0"/>
              </a:spcAft>
              <a:buClr>
                <a:schemeClr val="accent2"/>
              </a:buClr>
              <a:buSzPct val="100000"/>
              <a:buFont typeface="Calibri"/>
              <a:buNone/>
            </a:pPr>
            <a:r>
              <a:t/>
            </a:r>
            <a:endParaRPr>
              <a:solidFill>
                <a:schemeClr val="accent5"/>
              </a:solidFill>
            </a:endParaRPr>
          </a:p>
          <a:p>
            <a:pPr indent="-422910" lvl="0" marL="457200" rtl="0" algn="ctr">
              <a:lnSpc>
                <a:spcPct val="90000"/>
              </a:lnSpc>
              <a:spcBef>
                <a:spcPts val="0"/>
              </a:spcBef>
              <a:spcAft>
                <a:spcPts val="0"/>
              </a:spcAft>
              <a:buClr>
                <a:srgbClr val="F36E25"/>
              </a:buClr>
              <a:buSzPct val="100000"/>
              <a:buAutoNum type="arabicPeriod"/>
            </a:pPr>
            <a:r>
              <a:rPr lang="en-US" sz="3400">
                <a:solidFill>
                  <a:srgbClr val="F36E25"/>
                </a:solidFill>
              </a:rPr>
              <a:t>Done for you. </a:t>
            </a:r>
            <a:br>
              <a:rPr lang="en-US" sz="3400">
                <a:solidFill>
                  <a:srgbClr val="F36E25"/>
                </a:solidFill>
              </a:rPr>
            </a:br>
            <a:r>
              <a:rPr lang="en-US" sz="3400">
                <a:solidFill>
                  <a:srgbClr val="F36E25"/>
                </a:solidFill>
              </a:rPr>
              <a:t>We are your marketing department.</a:t>
            </a:r>
            <a:br>
              <a:rPr lang="en-US" sz="3400">
                <a:solidFill>
                  <a:srgbClr val="F36E25"/>
                </a:solidFill>
              </a:rPr>
            </a:br>
            <a:endParaRPr sz="3400">
              <a:solidFill>
                <a:srgbClr val="F36E25"/>
              </a:solidFill>
            </a:endParaRPr>
          </a:p>
          <a:p>
            <a:pPr indent="-422910" lvl="0" marL="457200" rtl="0" algn="ctr">
              <a:lnSpc>
                <a:spcPct val="90000"/>
              </a:lnSpc>
              <a:spcBef>
                <a:spcPts val="0"/>
              </a:spcBef>
              <a:spcAft>
                <a:spcPts val="0"/>
              </a:spcAft>
              <a:buClr>
                <a:srgbClr val="F36E25"/>
              </a:buClr>
              <a:buSzPct val="100000"/>
              <a:buAutoNum type="arabicPeriod"/>
            </a:pPr>
            <a:r>
              <a:rPr lang="en-US" sz="3400">
                <a:solidFill>
                  <a:srgbClr val="F36E25"/>
                </a:solidFill>
              </a:rPr>
              <a:t>Advisory - done with you. </a:t>
            </a:r>
            <a:br>
              <a:rPr lang="en-US" sz="3400">
                <a:solidFill>
                  <a:srgbClr val="F36E25"/>
                </a:solidFill>
              </a:rPr>
            </a:br>
            <a:r>
              <a:rPr lang="en-US" sz="3400">
                <a:solidFill>
                  <a:srgbClr val="F36E25"/>
                </a:solidFill>
              </a:rPr>
              <a:t>We’d advise, your team implements. </a:t>
            </a:r>
            <a:endParaRPr sz="3400">
              <a:solidFill>
                <a:srgbClr val="F36E25"/>
              </a:solidFill>
            </a:endParaRPr>
          </a:p>
          <a:p>
            <a:pPr indent="0" lvl="0" marL="457200" rtl="0" algn="ctr">
              <a:lnSpc>
                <a:spcPct val="90000"/>
              </a:lnSpc>
              <a:spcBef>
                <a:spcPts val="0"/>
              </a:spcBef>
              <a:spcAft>
                <a:spcPts val="0"/>
              </a:spcAft>
              <a:buNone/>
            </a:pPr>
            <a:r>
              <a:t/>
            </a:r>
            <a:endParaRPr sz="3400">
              <a:solidFill>
                <a:srgbClr val="F36E25"/>
              </a:solidFill>
            </a:endParaRPr>
          </a:p>
          <a:p>
            <a:pPr indent="-422910" lvl="0" marL="457200" rtl="0" algn="ctr">
              <a:lnSpc>
                <a:spcPct val="90000"/>
              </a:lnSpc>
              <a:spcBef>
                <a:spcPts val="0"/>
              </a:spcBef>
              <a:spcAft>
                <a:spcPts val="0"/>
              </a:spcAft>
              <a:buClr>
                <a:srgbClr val="F36E25"/>
              </a:buClr>
              <a:buSzPct val="100000"/>
              <a:buAutoNum type="arabicPeriod"/>
            </a:pPr>
            <a:r>
              <a:rPr lang="en-US" sz="3400">
                <a:solidFill>
                  <a:srgbClr val="F36E25"/>
                </a:solidFill>
              </a:rPr>
              <a:t>You do it all yourself.</a:t>
            </a:r>
            <a:endParaRPr sz="3400">
              <a:solidFill>
                <a:srgbClr val="F36E25"/>
              </a:solidFill>
            </a:endParaRPr>
          </a:p>
          <a:p>
            <a:pPr indent="0" lvl="0" marL="0" rtl="0" algn="ctr">
              <a:lnSpc>
                <a:spcPct val="90000"/>
              </a:lnSpc>
              <a:spcBef>
                <a:spcPts val="0"/>
              </a:spcBef>
              <a:spcAft>
                <a:spcPts val="0"/>
              </a:spcAft>
              <a:buClr>
                <a:schemeClr val="accent2"/>
              </a:buClr>
              <a:buSzPct val="100000"/>
              <a:buFont typeface="Calibri"/>
              <a:buNone/>
            </a:pPr>
            <a:r>
              <a:t/>
            </a:r>
            <a:endParaRPr>
              <a:solidFill>
                <a:schemeClr val="accent5"/>
              </a:solidFill>
            </a:endParaRPr>
          </a:p>
        </p:txBody>
      </p:sp>
      <p:sp>
        <p:nvSpPr>
          <p:cNvPr id="806" name="Google Shape;806;p106"/>
          <p:cNvSpPr txBox="1"/>
          <p:nvPr/>
        </p:nvSpPr>
        <p:spPr>
          <a:xfrm>
            <a:off x="2890950" y="5787425"/>
            <a:ext cx="6105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900">
                <a:solidFill>
                  <a:schemeClr val="dk1"/>
                </a:solidFill>
                <a:latin typeface="Calibri"/>
                <a:ea typeface="Calibri"/>
                <a:cs typeface="Calibri"/>
                <a:sym typeface="Calibri"/>
              </a:rPr>
              <a:t>This strategy only works if the content and recommendations are put into action</a:t>
            </a:r>
            <a:r>
              <a:rPr lang="en-US" sz="900">
                <a:solidFill>
                  <a:schemeClr val="dk1"/>
                </a:solidFill>
                <a:latin typeface="Calibri"/>
                <a:ea typeface="Calibri"/>
                <a:cs typeface="Calibri"/>
                <a:sym typeface="Calibri"/>
              </a:rPr>
              <a:t>.</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NIM colors">
      <a:dk1>
        <a:srgbClr val="000000"/>
      </a:dk1>
      <a:lt1>
        <a:srgbClr val="FFFFFF"/>
      </a:lt1>
      <a:dk2>
        <a:srgbClr val="44546A"/>
      </a:dk2>
      <a:lt2>
        <a:srgbClr val="E7E6E6"/>
      </a:lt2>
      <a:accent1>
        <a:srgbClr val="F36E25"/>
      </a:accent1>
      <a:accent2>
        <a:srgbClr val="F7BB49"/>
      </a:accent2>
      <a:accent3>
        <a:srgbClr val="F2E390"/>
      </a:accent3>
      <a:accent4>
        <a:srgbClr val="63C9D7"/>
      </a:accent4>
      <a:accent5>
        <a:srgbClr val="413F5E"/>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NIM colors">
      <a:dk1>
        <a:srgbClr val="000000"/>
      </a:dk1>
      <a:lt1>
        <a:srgbClr val="FFFFFF"/>
      </a:lt1>
      <a:dk2>
        <a:srgbClr val="44546A"/>
      </a:dk2>
      <a:lt2>
        <a:srgbClr val="E7E6E6"/>
      </a:lt2>
      <a:accent1>
        <a:srgbClr val="F36E25"/>
      </a:accent1>
      <a:accent2>
        <a:srgbClr val="F7BB49"/>
      </a:accent2>
      <a:accent3>
        <a:srgbClr val="F2E390"/>
      </a:accent3>
      <a:accent4>
        <a:srgbClr val="63C9D7"/>
      </a:accent4>
      <a:accent5>
        <a:srgbClr val="413F5E"/>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